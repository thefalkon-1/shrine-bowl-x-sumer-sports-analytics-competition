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compatMode="1" embedTrueTypeFonts="1" saveSubsetFonts="1" autoCompressPictures="0">
  <p:sldMasterIdLst>
    <p:sldMasterId id="2147483648" r:id="rId1"/>
  </p:sldMasterIdLst>
  <p:notesMasterIdLst>
    <p:notesMasterId r:id="rId12"/>
  </p:notesMasterIdLst>
  <p:sldIdLst>
    <p:sldId id="266" r:id="rId2"/>
    <p:sldId id="267" r:id="rId3"/>
    <p:sldId id="258" r:id="rId4"/>
    <p:sldId id="268" r:id="rId5"/>
    <p:sldId id="272" r:id="rId6"/>
    <p:sldId id="261" r:id="rId7"/>
    <p:sldId id="269" r:id="rId8"/>
    <p:sldId id="262" r:id="rId9"/>
    <p:sldId id="264" r:id="rId10"/>
    <p:sldId id="271" r:id="rId11"/>
  </p:sldIdLst>
  <p:sldSz cx="12192000" cy="6858000"/>
  <p:notesSz cx="6858000" cy="12192000"/>
  <p:embeddedFontLst>
    <p:embeddedFont>
      <p:font typeface="Liter" panose="02000503030000020004" pitchFamily="2" charset="0"/>
      <p:regular r:id="rId13"/>
    </p:embeddedFont>
    <p:embeddedFont>
      <p:font typeface="Quattrocento Sans" panose="020B0502050000020003" pitchFamily="34" charset="0"/>
      <p:regular r:id="rId14"/>
      <p:bold r:id="rId15"/>
      <p:italic r:id="rId16"/>
      <p:boldItalic r:id="rId17"/>
    </p:embeddedFont>
  </p:embeddedFontLst>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2"/>
    <p:restoredTop sz="94610"/>
  </p:normalViewPr>
  <p:slideViewPr>
    <p:cSldViewPr snapToGrid="0" snapToObjects="1">
      <p:cViewPr varScale="1">
        <p:scale>
          <a:sx n="116" d="100"/>
          <a:sy n="116" d="100"/>
        </p:scale>
        <p:origin x="3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Slide Image Placeholder 1">
            <a:extLst>
              <a:ext uri="{FF2B5EF4-FFF2-40B4-BE49-F238E27FC236}">
                <a16:creationId xmlns:a16="http://schemas.microsoft.com/office/drawing/2014/main" id="{EE57DED7-33DD-26EC-6778-D6DC15EEAFDA}"/>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1" name="Notes Placeholder 2">
            <a:extLst>
              <a:ext uri="{FF2B5EF4-FFF2-40B4-BE49-F238E27FC236}">
                <a16:creationId xmlns:a16="http://schemas.microsoft.com/office/drawing/2014/main" id="{34048760-40E7-51C8-5456-0AC70D0283B1}"/>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
        <p:nvSpPr>
          <p:cNvPr id="2052" name="Slide Number Placeholder 3">
            <a:extLst>
              <a:ext uri="{FF2B5EF4-FFF2-40B4-BE49-F238E27FC236}">
                <a16:creationId xmlns:a16="http://schemas.microsoft.com/office/drawing/2014/main" id="{72DB5C8D-E1E2-0C9E-4F1A-961D679A0FCE}"/>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fld id="{A60315AA-B5C9-1344-9767-0C73EEF53655}" type="slidenum">
              <a:rPr lang="en-US" altLang="en-US">
                <a:latin typeface="Aptos" panose="020B0004020202020204" pitchFamily="34" charset="0"/>
              </a:rPr>
              <a:pPr eaLnBrk="1" hangingPunct="1"/>
              <a:t>1</a:t>
            </a:fld>
            <a:endParaRPr lang="en-US" altLang="en-US">
              <a:latin typeface="Aptos" panose="020B00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a:extLst>
              <a:ext uri="{FF2B5EF4-FFF2-40B4-BE49-F238E27FC236}">
                <a16:creationId xmlns:a16="http://schemas.microsoft.com/office/drawing/2014/main" id="{BFDF92BB-15DB-CE12-2615-5827D453B18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4099" name="Notes Placeholder 2">
            <a:extLst>
              <a:ext uri="{FF2B5EF4-FFF2-40B4-BE49-F238E27FC236}">
                <a16:creationId xmlns:a16="http://schemas.microsoft.com/office/drawing/2014/main" id="{4F3E41C8-7E61-84DD-EA5C-6B03F9070977}"/>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
        <p:nvSpPr>
          <p:cNvPr id="4100" name="Slide Number Placeholder 3">
            <a:extLst>
              <a:ext uri="{FF2B5EF4-FFF2-40B4-BE49-F238E27FC236}">
                <a16:creationId xmlns:a16="http://schemas.microsoft.com/office/drawing/2014/main" id="{AFCB5FCE-E6F1-407F-FF92-BD7110276F2A}"/>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fld id="{678D1C96-043F-884C-B133-949EDBDE48AC}" type="slidenum">
              <a:rPr lang="en-US" altLang="en-US">
                <a:latin typeface="Aptos" panose="020B0004020202020204" pitchFamily="34" charset="0"/>
              </a:rPr>
              <a:pPr eaLnBrk="1" hangingPunct="1"/>
              <a:t>2</a:t>
            </a:fld>
            <a:endParaRPr lang="en-US" altLang="en-US">
              <a:latin typeface="Aptos" panose="020B00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C1BEF17E-0B6E-EF53-83B8-6F130066868F}"/>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6147" name="Notes Placeholder 2">
            <a:extLst>
              <a:ext uri="{FF2B5EF4-FFF2-40B4-BE49-F238E27FC236}">
                <a16:creationId xmlns:a16="http://schemas.microsoft.com/office/drawing/2014/main" id="{A82BAD38-C74B-8A15-B192-1CC97217A110}"/>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
        <p:nvSpPr>
          <p:cNvPr id="6148" name="Slide Number Placeholder 3">
            <a:extLst>
              <a:ext uri="{FF2B5EF4-FFF2-40B4-BE49-F238E27FC236}">
                <a16:creationId xmlns:a16="http://schemas.microsoft.com/office/drawing/2014/main" id="{4769AE1A-1B06-BD6E-E29A-7B06B17658EA}"/>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fld id="{2EE09A4F-E97B-664D-A710-D81039103493}" type="slidenum">
              <a:rPr lang="en-US" altLang="en-US">
                <a:latin typeface="Aptos" panose="020B0004020202020204" pitchFamily="34" charset="0"/>
              </a:rPr>
              <a:pPr eaLnBrk="1" hangingPunct="1"/>
              <a:t>3</a:t>
            </a:fld>
            <a:endParaRPr lang="en-US" altLang="en-US">
              <a:latin typeface="Aptos" panose="020B00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7AB59723-D2B1-C8BA-A312-8226E2676E9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8195" name="Notes Placeholder 2">
            <a:extLst>
              <a:ext uri="{FF2B5EF4-FFF2-40B4-BE49-F238E27FC236}">
                <a16:creationId xmlns:a16="http://schemas.microsoft.com/office/drawing/2014/main" id="{159912CA-F99E-96B3-57FD-CA84657544E5}"/>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
        <p:nvSpPr>
          <p:cNvPr id="8196" name="Slide Number Placeholder 3">
            <a:extLst>
              <a:ext uri="{FF2B5EF4-FFF2-40B4-BE49-F238E27FC236}">
                <a16:creationId xmlns:a16="http://schemas.microsoft.com/office/drawing/2014/main" id="{DBA7A83C-F181-6083-48B3-361185817B77}"/>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fld id="{4468D600-4EAB-9042-9EC7-2987BDE0F60E}" type="slidenum">
              <a:rPr lang="en-US" altLang="en-US">
                <a:latin typeface="Aptos" panose="020B0004020202020204" pitchFamily="34" charset="0"/>
              </a:rPr>
              <a:pPr eaLnBrk="1" hangingPunct="1"/>
              <a:t>4</a:t>
            </a:fld>
            <a:endParaRPr lang="en-US" altLang="en-US">
              <a:latin typeface="Aptos" panose="020B00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41D511E7-9E4B-7D0B-C66A-0FB958AD6064}"/>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0243" name="Notes Placeholder 2">
            <a:extLst>
              <a:ext uri="{FF2B5EF4-FFF2-40B4-BE49-F238E27FC236}">
                <a16:creationId xmlns:a16="http://schemas.microsoft.com/office/drawing/2014/main" id="{3BB6160F-FBF9-8641-0967-297D81865620}"/>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
        <p:nvSpPr>
          <p:cNvPr id="10244" name="Slide Number Placeholder 3">
            <a:extLst>
              <a:ext uri="{FF2B5EF4-FFF2-40B4-BE49-F238E27FC236}">
                <a16:creationId xmlns:a16="http://schemas.microsoft.com/office/drawing/2014/main" id="{E53CF0B4-5FCD-A710-B989-1360908611FF}"/>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fld id="{B246CA78-61AF-4648-89DD-86F200E02B5E}" type="slidenum">
              <a:rPr lang="en-US" altLang="en-US">
                <a:latin typeface="Aptos" panose="020B0004020202020204" pitchFamily="34" charset="0"/>
              </a:rPr>
              <a:pPr eaLnBrk="1" hangingPunct="1"/>
              <a:t>5</a:t>
            </a:fld>
            <a:endParaRPr lang="en-US" altLang="en-US">
              <a:latin typeface="Aptos" panose="020B00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18FD2FFC-DD47-B30A-72D1-30124560A597}"/>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2291" name="Notes Placeholder 2">
            <a:extLst>
              <a:ext uri="{FF2B5EF4-FFF2-40B4-BE49-F238E27FC236}">
                <a16:creationId xmlns:a16="http://schemas.microsoft.com/office/drawing/2014/main" id="{ECC7C107-00E7-CFCE-3E12-8EAD4081D827}"/>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
        <p:nvSpPr>
          <p:cNvPr id="12292" name="Slide Number Placeholder 3">
            <a:extLst>
              <a:ext uri="{FF2B5EF4-FFF2-40B4-BE49-F238E27FC236}">
                <a16:creationId xmlns:a16="http://schemas.microsoft.com/office/drawing/2014/main" id="{321A2CDD-8219-E365-B6AF-6219B3CF4B2C}"/>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fld id="{46B3742B-98EE-724C-8C81-A41A84F3F46B}" type="slidenum">
              <a:rPr lang="en-US" altLang="en-US">
                <a:latin typeface="Aptos" panose="020B0004020202020204" pitchFamily="34" charset="0"/>
              </a:rPr>
              <a:pPr eaLnBrk="1" hangingPunct="1"/>
              <a:t>6</a:t>
            </a:fld>
            <a:endParaRPr lang="en-US" altLang="en-US">
              <a:latin typeface="Aptos" panose="020B00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4EC1307A-94B5-8AE2-267F-3292D43F271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4339" name="Notes Placeholder 2">
            <a:extLst>
              <a:ext uri="{FF2B5EF4-FFF2-40B4-BE49-F238E27FC236}">
                <a16:creationId xmlns:a16="http://schemas.microsoft.com/office/drawing/2014/main" id="{7DD6011B-6F01-AE18-7E65-AD93EA803542}"/>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
        <p:nvSpPr>
          <p:cNvPr id="14340" name="Slide Number Placeholder 3">
            <a:extLst>
              <a:ext uri="{FF2B5EF4-FFF2-40B4-BE49-F238E27FC236}">
                <a16:creationId xmlns:a16="http://schemas.microsoft.com/office/drawing/2014/main" id="{89A02212-B643-164C-CC3E-F6B69DCAC03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fld id="{67FA184F-1D6F-2D40-B79A-84FE8CF1B19C}" type="slidenum">
              <a:rPr lang="en-US" altLang="en-US">
                <a:latin typeface="Aptos" panose="020B0004020202020204" pitchFamily="34" charset="0"/>
              </a:rPr>
              <a:pPr eaLnBrk="1" hangingPunct="1"/>
              <a:t>7</a:t>
            </a:fld>
            <a:endParaRPr lang="en-US" altLang="en-US">
              <a:latin typeface="Aptos" panose="020B00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5EB72E07-5905-22DC-31CF-A10A39763A7E}"/>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6387" name="Notes Placeholder 2">
            <a:extLst>
              <a:ext uri="{FF2B5EF4-FFF2-40B4-BE49-F238E27FC236}">
                <a16:creationId xmlns:a16="http://schemas.microsoft.com/office/drawing/2014/main" id="{D9B260A7-661D-C3A7-1EF2-41DFEF63ABE3}"/>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
        <p:nvSpPr>
          <p:cNvPr id="16388" name="Slide Number Placeholder 3">
            <a:extLst>
              <a:ext uri="{FF2B5EF4-FFF2-40B4-BE49-F238E27FC236}">
                <a16:creationId xmlns:a16="http://schemas.microsoft.com/office/drawing/2014/main" id="{690160C5-FF38-5866-79B3-4621BFED0B50}"/>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fld id="{5FF02148-E338-0A4A-BB75-3989D011C0D4}" type="slidenum">
              <a:rPr lang="en-US" altLang="en-US">
                <a:latin typeface="Aptos" panose="020B0004020202020204" pitchFamily="34" charset="0"/>
              </a:rPr>
              <a:pPr eaLnBrk="1" hangingPunct="1"/>
              <a:t>8</a:t>
            </a:fld>
            <a:endParaRPr lang="en-US" altLang="en-US">
              <a:latin typeface="Aptos" panose="020B00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E51E4DCC-E333-7156-C2A8-E2E9FA886EC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8435" name="Notes Placeholder 2">
            <a:extLst>
              <a:ext uri="{FF2B5EF4-FFF2-40B4-BE49-F238E27FC236}">
                <a16:creationId xmlns:a16="http://schemas.microsoft.com/office/drawing/2014/main" id="{BFDAECE5-9798-B979-350D-D6588DDE0768}"/>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
        <p:nvSpPr>
          <p:cNvPr id="18436" name="Slide Number Placeholder 3">
            <a:extLst>
              <a:ext uri="{FF2B5EF4-FFF2-40B4-BE49-F238E27FC236}">
                <a16:creationId xmlns:a16="http://schemas.microsoft.com/office/drawing/2014/main" id="{96C301F2-EC97-81C8-68D6-4DD86C18342C}"/>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fld id="{6217B3A6-917C-2444-A5C4-3BAA5BADD36E}" type="slidenum">
              <a:rPr lang="en-US" altLang="en-US">
                <a:latin typeface="Aptos" panose="020B0004020202020204" pitchFamily="34" charset="0"/>
              </a:rPr>
              <a:pPr eaLnBrk="1" hangingPunct="1"/>
              <a:t>9</a:t>
            </a:fld>
            <a:endParaRPr lang="en-US" altLang="en-US">
              <a:latin typeface="Aptos" panose="020B00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EDE52872-7EE4-33D2-9F8E-CD7CE00B6A4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483" name="Notes Placeholder 2">
            <a:extLst>
              <a:ext uri="{FF2B5EF4-FFF2-40B4-BE49-F238E27FC236}">
                <a16:creationId xmlns:a16="http://schemas.microsoft.com/office/drawing/2014/main" id="{1F66C4EA-03D8-3EB0-E80B-CE3B6EB99A3D}"/>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0"/>
              </a:spcBef>
            </a:pPr>
            <a:endParaRPr lang="en-US" altLang="en-US"/>
          </a:p>
        </p:txBody>
      </p:sp>
      <p:sp>
        <p:nvSpPr>
          <p:cNvPr id="20484" name="Slide Number Placeholder 3">
            <a:extLst>
              <a:ext uri="{FF2B5EF4-FFF2-40B4-BE49-F238E27FC236}">
                <a16:creationId xmlns:a16="http://schemas.microsoft.com/office/drawing/2014/main" id="{0BAE4A52-B028-59A8-ECE4-9BFA3F6DBD1F}"/>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fld id="{9AC23CE6-86B5-424C-B5B6-EB193970582E}" type="slidenum">
              <a:rPr lang="en-US" altLang="en-US">
                <a:latin typeface="Aptos" panose="020B0004020202020204" pitchFamily="34" charset="0"/>
              </a:rPr>
              <a:pPr eaLnBrk="1" hangingPunct="1"/>
              <a:t>10</a:t>
            </a:fld>
            <a:endParaRPr lang="en-US" altLang="en-US">
              <a:latin typeface="Aptos" panose="020B00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6585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59180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 id="2147483654" r:id="rId2"/>
  </p:sldLayoutIdLst>
  <p:hf sldNum="0"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Light" panose="020F0302020204030204" pitchFamily="34" charset="0"/>
        </a:defRPr>
      </a:lvl2pPr>
      <a:lvl3pPr algn="ctr" rtl="0" fontAlgn="base">
        <a:spcBef>
          <a:spcPct val="0"/>
        </a:spcBef>
        <a:spcAft>
          <a:spcPct val="0"/>
        </a:spcAft>
        <a:defRPr sz="4400">
          <a:solidFill>
            <a:schemeClr val="tx1"/>
          </a:solidFill>
          <a:latin typeface="Calibri Light" panose="020F0302020204030204" pitchFamily="34" charset="0"/>
        </a:defRPr>
      </a:lvl3pPr>
      <a:lvl4pPr algn="ctr" rtl="0" fontAlgn="base">
        <a:spcBef>
          <a:spcPct val="0"/>
        </a:spcBef>
        <a:spcAft>
          <a:spcPct val="0"/>
        </a:spcAft>
        <a:defRPr sz="4400">
          <a:solidFill>
            <a:schemeClr val="tx1"/>
          </a:solidFill>
          <a:latin typeface="Calibri Light" panose="020F0302020204030204" pitchFamily="34" charset="0"/>
        </a:defRPr>
      </a:lvl4pPr>
      <a:lvl5pPr algn="ctr" rtl="0" fontAlgn="base">
        <a:spcBef>
          <a:spcPct val="0"/>
        </a:spcBef>
        <a:spcAft>
          <a:spcPct val="0"/>
        </a:spcAft>
        <a:defRPr sz="4400">
          <a:solidFill>
            <a:schemeClr val="tx1"/>
          </a:solidFill>
          <a:latin typeface="Calibri Light" panose="020F0302020204030204" pitchFamily="34" charset="0"/>
        </a:defRPr>
      </a:lvl5pPr>
      <a:lvl6pPr marL="457200" algn="ctr" rtl="0" fontAlgn="base">
        <a:spcBef>
          <a:spcPct val="0"/>
        </a:spcBef>
        <a:spcAft>
          <a:spcPct val="0"/>
        </a:spcAft>
        <a:defRPr sz="4400">
          <a:solidFill>
            <a:schemeClr val="tx1"/>
          </a:solidFill>
          <a:latin typeface="Calibri Light" panose="020F0302020204030204" pitchFamily="34" charset="0"/>
        </a:defRPr>
      </a:lvl6pPr>
      <a:lvl7pPr marL="914400" algn="ctr" rtl="0" fontAlgn="base">
        <a:spcBef>
          <a:spcPct val="0"/>
        </a:spcBef>
        <a:spcAft>
          <a:spcPct val="0"/>
        </a:spcAft>
        <a:defRPr sz="4400">
          <a:solidFill>
            <a:schemeClr val="tx1"/>
          </a:solidFill>
          <a:latin typeface="Calibri Light" panose="020F0302020204030204" pitchFamily="34" charset="0"/>
        </a:defRPr>
      </a:lvl7pPr>
      <a:lvl8pPr marL="1371600" algn="ctr" rtl="0" fontAlgn="base">
        <a:spcBef>
          <a:spcPct val="0"/>
        </a:spcBef>
        <a:spcAft>
          <a:spcPct val="0"/>
        </a:spcAft>
        <a:defRPr sz="4400">
          <a:solidFill>
            <a:schemeClr val="tx1"/>
          </a:solidFill>
          <a:latin typeface="Calibri Light" panose="020F0302020204030204" pitchFamily="34" charset="0"/>
        </a:defRPr>
      </a:lvl8pPr>
      <a:lvl9pPr marL="1828800" algn="ctr" rtl="0" fontAlgn="base">
        <a:spcBef>
          <a:spcPct val="0"/>
        </a:spcBef>
        <a:spcAft>
          <a:spcPct val="0"/>
        </a:spcAft>
        <a:defRPr sz="4400">
          <a:solidFill>
            <a:schemeClr val="tx1"/>
          </a:solidFill>
          <a:latin typeface="Calibri Light" panose="020F03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hyperlink" Target="https://sumersports.com/players/quarterback/?plays=100"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hyperlink" Target="https://www.espn.com/nfl/story/_/id/46138675/2025-nfl-win-rates-top-teams-players-rankings-pass-run-block" TargetMode="External"/><Relationship Id="rId4" Type="http://schemas.openxmlformats.org/officeDocument/2006/relationships/hyperlink" Target="https://www.nfl.com/news/next-gen-stats-introduction-to-pressure-probability"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sumersports.com/players/quarterback/?plays=100"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hyperlink" Target="https://www.espn.com/nfl/story/_/id/46138675/2025-nfl-win-rates-top-teams-players-rankings-pass-run-block" TargetMode="External"/><Relationship Id="rId4" Type="http://schemas.openxmlformats.org/officeDocument/2006/relationships/hyperlink" Target="https://www.nfl.com/news/next-gen-stats-introduction-to-pressure-probability"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www.allaccessfootball.com/p/on-location-2024-east-west-shrine" TargetMode="External"/><Relationship Id="rId3" Type="http://schemas.openxmlformats.org/officeDocument/2006/relationships/image" Target="../media/image16.png"/><Relationship Id="rId7" Type="http://schemas.openxmlformats.org/officeDocument/2006/relationships/hyperlink" Target="https://steelersdepot.com/2024/01/2024-east-west-shrine-bowl-practice-notes-day-1/"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www.windycitygridiron.com/2024/1/27/24052964/shrine-bowl-standouts-christian-mahogany-malik-washington-tahj-washington" TargetMode="External"/><Relationship Id="rId11" Type="http://schemas.openxmlformats.org/officeDocument/2006/relationships/image" Target="../media/image20.gif"/><Relationship Id="rId5" Type="http://schemas.openxmlformats.org/officeDocument/2006/relationships/hyperlink" Target="https://www.giants.com/news/practice-report-notes-from-east-west-shrine-bowl-nfl-draft-2024" TargetMode="External"/><Relationship Id="rId10" Type="http://schemas.openxmlformats.org/officeDocument/2006/relationships/image" Target="../media/image19.gif"/><Relationship Id="rId4" Type="http://schemas.openxmlformats.org/officeDocument/2006/relationships/image" Target="../media/image17.pn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317"/>
        </a:solidFill>
        <a:effectLst/>
      </p:bgPr>
    </p:b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D1C5478B-4704-A425-069C-8A3856EE6399}"/>
              </a:ext>
            </a:extLst>
          </p:cNvPr>
          <p:cNvSpPr/>
          <p:nvPr/>
        </p:nvSpPr>
        <p:spPr>
          <a:xfrm>
            <a:off x="0" y="138896"/>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11317">
                  <a:alpha val="95000"/>
                </a:srgbClr>
              </a:gs>
              <a:gs pos="50000">
                <a:srgbClr val="111317">
                  <a:alpha val="85000"/>
                </a:srgbClr>
              </a:gs>
              <a:gs pos="100000">
                <a:srgbClr val="3A506B">
                  <a:alpha val="60000"/>
                </a:srgbClr>
              </a:gs>
            </a:gsLst>
            <a:lin ang="2700000" scaled="1"/>
          </a:gradFill>
          <a:ln>
            <a:solidFill>
              <a:schemeClr val="accent1"/>
            </a:solidFill>
          </a:ln>
        </p:spPr>
        <p:txBody>
          <a:bodyPr/>
          <a:lstStyle/>
          <a:p>
            <a:pPr eaLnBrk="1" fontAlgn="auto" hangingPunct="1">
              <a:spcBef>
                <a:spcPts val="0"/>
              </a:spcBef>
              <a:spcAft>
                <a:spcPts val="0"/>
              </a:spcAft>
              <a:defRPr/>
            </a:pPr>
            <a:endParaRPr lang="en-US">
              <a:latin typeface="+mn-lt"/>
            </a:endParaRPr>
          </a:p>
        </p:txBody>
      </p:sp>
      <p:sp>
        <p:nvSpPr>
          <p:cNvPr id="1029" name="Shape 1">
            <a:extLst>
              <a:ext uri="{FF2B5EF4-FFF2-40B4-BE49-F238E27FC236}">
                <a16:creationId xmlns:a16="http://schemas.microsoft.com/office/drawing/2014/main" id="{8E291BA2-64F8-D5E3-B73F-5B90AA7E9047}"/>
              </a:ext>
            </a:extLst>
          </p:cNvPr>
          <p:cNvSpPr>
            <a:spLocks/>
          </p:cNvSpPr>
          <p:nvPr/>
        </p:nvSpPr>
        <p:spPr bwMode="auto">
          <a:xfrm>
            <a:off x="381000" y="476250"/>
            <a:ext cx="762000" cy="38100"/>
          </a:xfrm>
          <a:custGeom>
            <a:avLst/>
            <a:gdLst>
              <a:gd name="T0" fmla="*/ 0 w 762000"/>
              <a:gd name="T1" fmla="*/ 0 h 38100"/>
              <a:gd name="T2" fmla="*/ 762000 w 762000"/>
              <a:gd name="T3" fmla="*/ 0 h 38100"/>
              <a:gd name="T4" fmla="*/ 762000 w 762000"/>
              <a:gd name="T5" fmla="*/ 38100 h 38100"/>
              <a:gd name="T6" fmla="*/ 0 w 762000"/>
              <a:gd name="T7" fmla="*/ 38100 h 38100"/>
              <a:gd name="T8" fmla="*/ 0 w 762000"/>
              <a:gd name="T9" fmla="*/ 0 h 38100"/>
            </a:gdLst>
            <a:ahLst/>
            <a:cxnLst>
              <a:cxn ang="0">
                <a:pos x="T0" y="T1"/>
              </a:cxn>
              <a:cxn ang="0">
                <a:pos x="T2" y="T3"/>
              </a:cxn>
              <a:cxn ang="0">
                <a:pos x="T4" y="T5"/>
              </a:cxn>
              <a:cxn ang="0">
                <a:pos x="T6" y="T7"/>
              </a:cxn>
              <a:cxn ang="0">
                <a:pos x="T8" y="T9"/>
              </a:cxn>
            </a:cxnLst>
            <a:rect l="0" t="0" r="r" b="b"/>
            <a:pathLst>
              <a:path w="762000" h="38100">
                <a:moveTo>
                  <a:pt x="0" y="0"/>
                </a:moveTo>
                <a:lnTo>
                  <a:pt x="762000" y="0"/>
                </a:lnTo>
                <a:lnTo>
                  <a:pt x="762000" y="38100"/>
                </a:lnTo>
                <a:lnTo>
                  <a:pt x="0" y="38100"/>
                </a:lnTo>
                <a:lnTo>
                  <a:pt x="0" y="0"/>
                </a:lnTo>
                <a:close/>
              </a:path>
            </a:pathLst>
          </a:custGeom>
          <a:solidFill>
            <a:srgbClr val="D8A03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 name="Text 2">
            <a:extLst>
              <a:ext uri="{FF2B5EF4-FFF2-40B4-BE49-F238E27FC236}">
                <a16:creationId xmlns:a16="http://schemas.microsoft.com/office/drawing/2014/main" id="{FF17F411-FE8B-8A6C-AC3A-777A7C4B3A04}"/>
              </a:ext>
            </a:extLst>
          </p:cNvPr>
          <p:cNvSpPr/>
          <p:nvPr/>
        </p:nvSpPr>
        <p:spPr>
          <a:xfrm>
            <a:off x="1257300" y="381000"/>
            <a:ext cx="8001000" cy="190500"/>
          </a:xfrm>
          <a:prstGeom prst="rect">
            <a:avLst/>
          </a:prstGeom>
          <a:noFill/>
          <a:ln/>
        </p:spPr>
        <p:txBody>
          <a:bodyPr lIns="0" tIns="0" rIns="0" bIns="0" anchor="ctr"/>
          <a:lstStyle/>
          <a:p>
            <a:pPr eaLnBrk="1" fontAlgn="auto" hangingPunct="1">
              <a:lnSpc>
                <a:spcPct val="130000"/>
              </a:lnSpc>
              <a:spcBef>
                <a:spcPts val="0"/>
              </a:spcBef>
              <a:spcAft>
                <a:spcPts val="0"/>
              </a:spcAft>
              <a:defRPr/>
            </a:pPr>
            <a:r>
              <a:rPr lang="en-US" sz="1200" b="1" kern="0" spc="360" dirty="0">
                <a:solidFill>
                  <a:srgbClr val="D8A03D"/>
                </a:solidFill>
                <a:latin typeface="Quattrocento Sans" pitchFamily="34" charset="0"/>
              </a:rPr>
              <a:t>Shrine Bowl x </a:t>
            </a:r>
            <a:r>
              <a:rPr lang="en-US" sz="1200" b="1" kern="0" spc="360" dirty="0" err="1">
                <a:solidFill>
                  <a:srgbClr val="D8A03D"/>
                </a:solidFill>
                <a:latin typeface="Quattrocento Sans" pitchFamily="34" charset="0"/>
              </a:rPr>
              <a:t>S</a:t>
            </a:r>
            <a:r>
              <a:rPr lang="en-US" sz="1200" b="1" dirty="0" err="1">
                <a:solidFill>
                  <a:srgbClr val="D8A03D"/>
                </a:solidFill>
                <a:latin typeface="+mn-lt"/>
              </a:rPr>
              <a:t>ū</a:t>
            </a:r>
            <a:r>
              <a:rPr lang="en-US" sz="1200" b="1" dirty="0">
                <a:solidFill>
                  <a:srgbClr val="D8A03D"/>
                </a:solidFill>
                <a:latin typeface="+mn-lt"/>
              </a:rPr>
              <a:t> </a:t>
            </a:r>
            <a:r>
              <a:rPr lang="en-US" sz="1200" b="1" kern="0" spc="360" dirty="0" err="1">
                <a:solidFill>
                  <a:srgbClr val="D8A03D"/>
                </a:solidFill>
                <a:latin typeface="Quattrocento Sans" pitchFamily="34" charset="0"/>
              </a:rPr>
              <a:t>mer</a:t>
            </a:r>
            <a:r>
              <a:rPr lang="en-US" sz="1200" b="1" kern="0" spc="360" dirty="0">
                <a:solidFill>
                  <a:srgbClr val="D8A03D"/>
                </a:solidFill>
                <a:latin typeface="Quattrocento Sans" pitchFamily="34" charset="0"/>
              </a:rPr>
              <a:t> Sports 2026 Analytics Competition</a:t>
            </a:r>
            <a:endParaRPr lang="en-US" sz="1600" dirty="0">
              <a:latin typeface="+mn-lt"/>
            </a:endParaRPr>
          </a:p>
        </p:txBody>
      </p:sp>
      <p:sp>
        <p:nvSpPr>
          <p:cNvPr id="1031" name="Text 3">
            <a:extLst>
              <a:ext uri="{FF2B5EF4-FFF2-40B4-BE49-F238E27FC236}">
                <a16:creationId xmlns:a16="http://schemas.microsoft.com/office/drawing/2014/main" id="{A7F75870-F023-6ED1-BC63-16872CB5FAC4}"/>
              </a:ext>
            </a:extLst>
          </p:cNvPr>
          <p:cNvSpPr>
            <a:spLocks noChangeArrowheads="1"/>
          </p:cNvSpPr>
          <p:nvPr/>
        </p:nvSpPr>
        <p:spPr bwMode="auto">
          <a:xfrm>
            <a:off x="0" y="1262063"/>
            <a:ext cx="1219200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4800" b="1">
                <a:solidFill>
                  <a:srgbClr val="E7E7E7"/>
                </a:solidFill>
                <a:latin typeface="Liter" panose="02000503030000020004" pitchFamily="2" charset="0"/>
                <a:ea typeface="Liter" panose="02000503030000020004" pitchFamily="2" charset="0"/>
                <a:cs typeface="Liter" panose="02000503030000020004" pitchFamily="2" charset="0"/>
              </a:rPr>
              <a:t>OL-DL Drill Evaluation</a:t>
            </a:r>
            <a:r>
              <a:rPr lang="en-US" altLang="en-US" sz="4800">
                <a:solidFill>
                  <a:srgbClr val="E7E7E7"/>
                </a:solidFill>
              </a:rPr>
              <a:t> </a:t>
            </a:r>
          </a:p>
          <a:p>
            <a:pPr algn="ctr" eaLnBrk="1" hangingPunct="1"/>
            <a:r>
              <a:rPr lang="en-US" altLang="en-US" sz="4800" b="1">
                <a:solidFill>
                  <a:srgbClr val="E7E7E7"/>
                </a:solidFill>
                <a:latin typeface="Liter" panose="02000503030000020004" pitchFamily="2" charset="0"/>
                <a:ea typeface="Liter" panose="02000503030000020004" pitchFamily="2" charset="0"/>
                <a:cs typeface="Liter" panose="02000503030000020004" pitchFamily="2" charset="0"/>
              </a:rPr>
              <a:t>from Tracking Data</a:t>
            </a:r>
            <a:endParaRPr lang="en-US" altLang="en-US" sz="4800">
              <a:solidFill>
                <a:srgbClr val="E7E7E7"/>
              </a:solidFill>
            </a:endParaRPr>
          </a:p>
        </p:txBody>
      </p:sp>
      <p:sp>
        <p:nvSpPr>
          <p:cNvPr id="7" name="Text 4">
            <a:extLst>
              <a:ext uri="{FF2B5EF4-FFF2-40B4-BE49-F238E27FC236}">
                <a16:creationId xmlns:a16="http://schemas.microsoft.com/office/drawing/2014/main" id="{21E8CF3B-4C5F-C2F9-BB4D-F86272E21371}"/>
              </a:ext>
            </a:extLst>
          </p:cNvPr>
          <p:cNvSpPr/>
          <p:nvPr/>
        </p:nvSpPr>
        <p:spPr>
          <a:xfrm>
            <a:off x="0" y="4625048"/>
            <a:ext cx="12192000" cy="371475"/>
          </a:xfrm>
          <a:prstGeom prst="rect">
            <a:avLst/>
          </a:prstGeom>
          <a:noFill/>
          <a:ln/>
        </p:spPr>
        <p:txBody>
          <a:bodyPr lIns="0" tIns="0" rIns="0" bIns="0" anchor="ctr"/>
          <a:lstStyle/>
          <a:p>
            <a:pPr algn="ctr" eaLnBrk="1" fontAlgn="auto" hangingPunct="1">
              <a:lnSpc>
                <a:spcPct val="140000"/>
              </a:lnSpc>
              <a:spcBef>
                <a:spcPts val="0"/>
              </a:spcBef>
              <a:spcAft>
                <a:spcPts val="0"/>
              </a:spcAft>
              <a:defRPr/>
            </a:pPr>
            <a:r>
              <a:rPr lang="en-US" dirty="0">
                <a:solidFill>
                  <a:srgbClr val="E1E3E6">
                    <a:alpha val="80000"/>
                  </a:srgbClr>
                </a:solidFill>
                <a:latin typeface="Quattrocento Sans" pitchFamily="34" charset="0"/>
                <a:ea typeface="Quattrocento Sans" pitchFamily="34" charset="-122"/>
                <a:cs typeface="Quattrocento Sans" pitchFamily="34" charset="-120"/>
              </a:rPr>
              <a:t>Automated Data Pipeline to Advanced Metrics for Interior Linemen</a:t>
            </a:r>
            <a:endParaRPr lang="en-US" sz="1600" dirty="0">
              <a:latin typeface="+mn-lt"/>
            </a:endParaRPr>
          </a:p>
        </p:txBody>
      </p:sp>
      <p:sp>
        <p:nvSpPr>
          <p:cNvPr id="15" name="Text 12">
            <a:extLst>
              <a:ext uri="{FF2B5EF4-FFF2-40B4-BE49-F238E27FC236}">
                <a16:creationId xmlns:a16="http://schemas.microsoft.com/office/drawing/2014/main" id="{EF790E5D-8260-09AC-F445-288644397AE1}"/>
              </a:ext>
            </a:extLst>
          </p:cNvPr>
          <p:cNvSpPr/>
          <p:nvPr/>
        </p:nvSpPr>
        <p:spPr>
          <a:xfrm>
            <a:off x="7614285" y="6248400"/>
            <a:ext cx="4276725" cy="228600"/>
          </a:xfrm>
          <a:prstGeom prst="rect">
            <a:avLst/>
          </a:prstGeom>
          <a:noFill/>
          <a:ln/>
        </p:spPr>
        <p:txBody>
          <a:bodyPr lIns="0" tIns="0" rIns="0" bIns="0" anchor="ctr"/>
          <a:lstStyle/>
          <a:p>
            <a:pPr algn="r" eaLnBrk="1" fontAlgn="auto" hangingPunct="1">
              <a:lnSpc>
                <a:spcPct val="130000"/>
              </a:lnSpc>
              <a:spcBef>
                <a:spcPts val="0"/>
              </a:spcBef>
              <a:spcAft>
                <a:spcPts val="0"/>
              </a:spcAft>
              <a:defRPr/>
            </a:pPr>
            <a:r>
              <a:rPr lang="en-US" sz="1200" dirty="0">
                <a:solidFill>
                  <a:srgbClr val="E1E3E6">
                    <a:alpha val="60000"/>
                  </a:srgbClr>
                </a:solidFill>
                <a:latin typeface="Quattrocento Sans" pitchFamily="34" charset="0"/>
                <a:ea typeface="Quattrocento Sans" pitchFamily="34" charset="-122"/>
                <a:cs typeface="Quattrocento Sans" pitchFamily="34" charset="-120"/>
              </a:rPr>
              <a:t>Submission by Dan Falkenheim</a:t>
            </a:r>
            <a:endParaRPr lang="en-US" sz="1600" dirty="0">
              <a:latin typeface="+mn-lt"/>
            </a:endParaRPr>
          </a:p>
        </p:txBody>
      </p:sp>
      <p:sp>
        <p:nvSpPr>
          <p:cNvPr id="14" name="Oval 13">
            <a:extLst>
              <a:ext uri="{FF2B5EF4-FFF2-40B4-BE49-F238E27FC236}">
                <a16:creationId xmlns:a16="http://schemas.microsoft.com/office/drawing/2014/main" id="{7857AE2E-AFD0-EE95-6C10-B584F8FAA3E2}"/>
              </a:ext>
            </a:extLst>
          </p:cNvPr>
          <p:cNvSpPr/>
          <p:nvPr/>
        </p:nvSpPr>
        <p:spPr>
          <a:xfrm>
            <a:off x="5611813" y="3405188"/>
            <a:ext cx="319087" cy="319087"/>
          </a:xfrm>
          <a:prstGeom prst="ellipse">
            <a:avLst/>
          </a:prstGeom>
          <a:solidFill>
            <a:srgbClr val="FF26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p>
        </p:txBody>
      </p:sp>
      <p:sp>
        <p:nvSpPr>
          <p:cNvPr id="16" name="Oval 15">
            <a:extLst>
              <a:ext uri="{FF2B5EF4-FFF2-40B4-BE49-F238E27FC236}">
                <a16:creationId xmlns:a16="http://schemas.microsoft.com/office/drawing/2014/main" id="{82CF6EE0-0AE6-11F6-1AEA-78DBE588817F}"/>
              </a:ext>
            </a:extLst>
          </p:cNvPr>
          <p:cNvSpPr/>
          <p:nvPr/>
        </p:nvSpPr>
        <p:spPr>
          <a:xfrm>
            <a:off x="6261100" y="3768725"/>
            <a:ext cx="319088" cy="319088"/>
          </a:xfrm>
          <a:prstGeom prst="ellipse">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p>
        </p:txBody>
      </p:sp>
      <p:cxnSp>
        <p:nvCxnSpPr>
          <p:cNvPr id="18" name="Straight Connector 17">
            <a:extLst>
              <a:ext uri="{FF2B5EF4-FFF2-40B4-BE49-F238E27FC236}">
                <a16:creationId xmlns:a16="http://schemas.microsoft.com/office/drawing/2014/main" id="{721D1E2F-E417-22F4-771E-B091EE317375}"/>
              </a:ext>
            </a:extLst>
          </p:cNvPr>
          <p:cNvCxnSpPr/>
          <p:nvPr/>
        </p:nvCxnSpPr>
        <p:spPr>
          <a:xfrm>
            <a:off x="6096000" y="3114675"/>
            <a:ext cx="0" cy="1223963"/>
          </a:xfrm>
          <a:prstGeom prst="line">
            <a:avLst/>
          </a:prstGeom>
          <a:ln>
            <a:solidFill>
              <a:srgbClr val="D8A03D"/>
            </a:solidFill>
          </a:ln>
        </p:spPr>
        <p:style>
          <a:lnRef idx="1">
            <a:schemeClr val="accent1"/>
          </a:lnRef>
          <a:fillRef idx="0">
            <a:schemeClr val="accent1"/>
          </a:fillRef>
          <a:effectRef idx="0">
            <a:schemeClr val="accent1"/>
          </a:effectRef>
          <a:fontRef idx="minor">
            <a:schemeClr val="tx1"/>
          </a:fontRef>
        </p:style>
      </p:cxnSp>
      <p:sp>
        <p:nvSpPr>
          <p:cNvPr id="1037" name="TextBox 18">
            <a:extLst>
              <a:ext uri="{FF2B5EF4-FFF2-40B4-BE49-F238E27FC236}">
                <a16:creationId xmlns:a16="http://schemas.microsoft.com/office/drawing/2014/main" id="{D1162271-68C6-FA79-0A21-A24DEF3AC78B}"/>
              </a:ext>
            </a:extLst>
          </p:cNvPr>
          <p:cNvSpPr txBox="1">
            <a:spLocks noChangeArrowheads="1"/>
          </p:cNvSpPr>
          <p:nvPr/>
        </p:nvSpPr>
        <p:spPr bwMode="auto">
          <a:xfrm>
            <a:off x="5605463" y="3425825"/>
            <a:ext cx="3508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200">
                <a:solidFill>
                  <a:srgbClr val="E7E7E7"/>
                </a:solidFill>
              </a:rPr>
              <a:t>99</a:t>
            </a:r>
          </a:p>
        </p:txBody>
      </p:sp>
      <p:sp>
        <p:nvSpPr>
          <p:cNvPr id="1038" name="TextBox 20">
            <a:extLst>
              <a:ext uri="{FF2B5EF4-FFF2-40B4-BE49-F238E27FC236}">
                <a16:creationId xmlns:a16="http://schemas.microsoft.com/office/drawing/2014/main" id="{80239759-BB25-E566-0B82-6D16BB0E45EE}"/>
              </a:ext>
            </a:extLst>
          </p:cNvPr>
          <p:cNvSpPr txBox="1">
            <a:spLocks noChangeArrowheads="1"/>
          </p:cNvSpPr>
          <p:nvPr/>
        </p:nvSpPr>
        <p:spPr bwMode="auto">
          <a:xfrm>
            <a:off x="6251575" y="3786188"/>
            <a:ext cx="40481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200">
                <a:solidFill>
                  <a:srgbClr val="E7E7E7"/>
                </a:solidFill>
              </a:rPr>
              <a:t>68</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317"/>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155370A-7956-7FB5-9BA3-D4BACE369E8A}"/>
              </a:ext>
            </a:extLst>
          </p:cNvPr>
          <p:cNvSpPr/>
          <p:nvPr/>
        </p:nvSpPr>
        <p:spPr>
          <a:xfrm>
            <a:off x="381000" y="381000"/>
            <a:ext cx="1149667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50" b="1" kern="0" spc="263" dirty="0">
                <a:solidFill>
                  <a:srgbClr val="D8A03D"/>
                </a:solidFill>
                <a:latin typeface="Quattrocento Sans" pitchFamily="34" charset="0"/>
                <a:ea typeface="Quattrocento Sans" pitchFamily="34" charset="-122"/>
                <a:cs typeface="Quattrocento Sans" pitchFamily="34" charset="-120"/>
              </a:rPr>
              <a:t>END-TO-END WORKFLOW</a:t>
            </a:r>
            <a:endParaRPr lang="en-US" sz="1600" dirty="0">
              <a:latin typeface="+mn-lt"/>
            </a:endParaRPr>
          </a:p>
        </p:txBody>
      </p:sp>
      <p:sp>
        <p:nvSpPr>
          <p:cNvPr id="3075" name="Text 1">
            <a:extLst>
              <a:ext uri="{FF2B5EF4-FFF2-40B4-BE49-F238E27FC236}">
                <a16:creationId xmlns:a16="http://schemas.microsoft.com/office/drawing/2014/main" id="{7ACB854F-C6C6-011D-3311-31A276F144D0}"/>
              </a:ext>
            </a:extLst>
          </p:cNvPr>
          <p:cNvSpPr>
            <a:spLocks noChangeArrowheads="1"/>
          </p:cNvSpPr>
          <p:nvPr/>
        </p:nvSpPr>
        <p:spPr bwMode="auto">
          <a:xfrm>
            <a:off x="381000" y="647700"/>
            <a:ext cx="116014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90000"/>
              </a:lnSpc>
            </a:pPr>
            <a:r>
              <a:rPr lang="en-US" altLang="en-US" sz="2000" b="1">
                <a:solidFill>
                  <a:srgbClr val="E1E3E6"/>
                </a:solidFill>
                <a:latin typeface="Liter" panose="02000503030000020004" pitchFamily="2" charset="0"/>
                <a:ea typeface="Liter" panose="02000503030000020004" pitchFamily="2" charset="0"/>
                <a:cs typeface="Liter" panose="02000503030000020004" pitchFamily="2" charset="0"/>
              </a:rPr>
              <a:t>Converting Raw Tracking Data  Into Meaningful Metrics</a:t>
            </a:r>
            <a:endParaRPr lang="en-US" altLang="en-US" sz="2000"/>
          </a:p>
        </p:txBody>
      </p:sp>
      <p:sp>
        <p:nvSpPr>
          <p:cNvPr id="3076" name="Shape 2">
            <a:extLst>
              <a:ext uri="{FF2B5EF4-FFF2-40B4-BE49-F238E27FC236}">
                <a16:creationId xmlns:a16="http://schemas.microsoft.com/office/drawing/2014/main" id="{6142D059-AE5F-F844-3DB1-06492FEC058A}"/>
              </a:ext>
            </a:extLst>
          </p:cNvPr>
          <p:cNvSpPr>
            <a:spLocks/>
          </p:cNvSpPr>
          <p:nvPr/>
        </p:nvSpPr>
        <p:spPr bwMode="auto">
          <a:xfrm>
            <a:off x="400050" y="1219200"/>
            <a:ext cx="2887663" cy="5257800"/>
          </a:xfrm>
          <a:custGeom>
            <a:avLst/>
            <a:gdLst>
              <a:gd name="T0" fmla="*/ 0 w 8172450"/>
              <a:gd name="T1" fmla="*/ 0 h 1447800"/>
              <a:gd name="T2" fmla="*/ 8134344 w 8172450"/>
              <a:gd name="T3" fmla="*/ 0 h 1447800"/>
              <a:gd name="T4" fmla="*/ 8172450 w 8172450"/>
              <a:gd name="T5" fmla="*/ 38106 h 1447800"/>
              <a:gd name="T6" fmla="*/ 8172450 w 8172450"/>
              <a:gd name="T7" fmla="*/ 1409694 h 1447800"/>
              <a:gd name="T8" fmla="*/ 8134344 w 8172450"/>
              <a:gd name="T9" fmla="*/ 1447800 h 1447800"/>
              <a:gd name="T10" fmla="*/ 0 w 8172450"/>
              <a:gd name="T11" fmla="*/ 1447800 h 1447800"/>
              <a:gd name="T12" fmla="*/ 0 w 8172450"/>
              <a:gd name="T13" fmla="*/ 0 h 1447800"/>
            </a:gdLst>
            <a:ahLst/>
            <a:cxnLst>
              <a:cxn ang="0">
                <a:pos x="T0" y="T1"/>
              </a:cxn>
              <a:cxn ang="0">
                <a:pos x="T2" y="T3"/>
              </a:cxn>
              <a:cxn ang="0">
                <a:pos x="T4" y="T5"/>
              </a:cxn>
              <a:cxn ang="0">
                <a:pos x="T6" y="T7"/>
              </a:cxn>
              <a:cxn ang="0">
                <a:pos x="T8" y="T9"/>
              </a:cxn>
              <a:cxn ang="0">
                <a:pos x="T10" y="T11"/>
              </a:cxn>
              <a:cxn ang="0">
                <a:pos x="T12" y="T13"/>
              </a:cxn>
            </a:cxnLst>
            <a:rect l="0" t="0" r="r" b="b"/>
            <a:pathLst>
              <a:path w="8172450" h="1447800">
                <a:moveTo>
                  <a:pt x="0" y="0"/>
                </a:moveTo>
                <a:lnTo>
                  <a:pt x="8134344" y="0"/>
                </a:lnTo>
                <a:cubicBezTo>
                  <a:pt x="8155389" y="0"/>
                  <a:pt x="8172450" y="17061"/>
                  <a:pt x="8172450" y="38106"/>
                </a:cubicBezTo>
                <a:lnTo>
                  <a:pt x="8172450" y="1409694"/>
                </a:lnTo>
                <a:cubicBezTo>
                  <a:pt x="8172450" y="1430739"/>
                  <a:pt x="8155389" y="1447800"/>
                  <a:pt x="8134344" y="1447800"/>
                </a:cubicBezTo>
                <a:lnTo>
                  <a:pt x="0" y="1447800"/>
                </a:lnTo>
                <a:lnTo>
                  <a:pt x="0" y="0"/>
                </a:lnTo>
                <a:close/>
              </a:path>
            </a:pathLst>
          </a:custGeom>
          <a:solidFill>
            <a:srgbClr val="1E202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77" name="Shape 3">
            <a:extLst>
              <a:ext uri="{FF2B5EF4-FFF2-40B4-BE49-F238E27FC236}">
                <a16:creationId xmlns:a16="http://schemas.microsoft.com/office/drawing/2014/main" id="{FDC67CE7-51CD-D4E0-EB70-A9E890FEEBE9}"/>
              </a:ext>
            </a:extLst>
          </p:cNvPr>
          <p:cNvSpPr>
            <a:spLocks/>
          </p:cNvSpPr>
          <p:nvPr/>
        </p:nvSpPr>
        <p:spPr bwMode="auto">
          <a:xfrm flipH="1">
            <a:off x="354013" y="1219200"/>
            <a:ext cx="46037" cy="5257800"/>
          </a:xfrm>
          <a:custGeom>
            <a:avLst/>
            <a:gdLst>
              <a:gd name="T0" fmla="*/ 0 w 38100"/>
              <a:gd name="T1" fmla="*/ 0 h 1447800"/>
              <a:gd name="T2" fmla="*/ 38100 w 38100"/>
              <a:gd name="T3" fmla="*/ 0 h 1447800"/>
              <a:gd name="T4" fmla="*/ 38100 w 38100"/>
              <a:gd name="T5" fmla="*/ 1447800 h 1447800"/>
              <a:gd name="T6" fmla="*/ 0 w 38100"/>
              <a:gd name="T7" fmla="*/ 1447800 h 1447800"/>
              <a:gd name="T8" fmla="*/ 0 w 38100"/>
              <a:gd name="T9" fmla="*/ 0 h 1447800"/>
            </a:gdLst>
            <a:ahLst/>
            <a:cxnLst>
              <a:cxn ang="0">
                <a:pos x="T0" y="T1"/>
              </a:cxn>
              <a:cxn ang="0">
                <a:pos x="T2" y="T3"/>
              </a:cxn>
              <a:cxn ang="0">
                <a:pos x="T4" y="T5"/>
              </a:cxn>
              <a:cxn ang="0">
                <a:pos x="T6" y="T7"/>
              </a:cxn>
              <a:cxn ang="0">
                <a:pos x="T8" y="T9"/>
              </a:cxn>
            </a:cxnLst>
            <a:rect l="0" t="0" r="r" b="b"/>
            <a:pathLst>
              <a:path w="38100" h="1447800">
                <a:moveTo>
                  <a:pt x="0" y="0"/>
                </a:moveTo>
                <a:lnTo>
                  <a:pt x="38100" y="0"/>
                </a:lnTo>
                <a:lnTo>
                  <a:pt x="38100" y="1447800"/>
                </a:lnTo>
                <a:lnTo>
                  <a:pt x="0" y="1447800"/>
                </a:lnTo>
                <a:lnTo>
                  <a:pt x="0" y="0"/>
                </a:lnTo>
                <a:close/>
              </a:path>
            </a:pathLst>
          </a:custGeom>
          <a:solidFill>
            <a:srgbClr val="4C7E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78" name="Text 6">
            <a:extLst>
              <a:ext uri="{FF2B5EF4-FFF2-40B4-BE49-F238E27FC236}">
                <a16:creationId xmlns:a16="http://schemas.microsoft.com/office/drawing/2014/main" id="{2C3DA250-CC5A-AF03-A71B-6D0C752C9587}"/>
              </a:ext>
            </a:extLst>
          </p:cNvPr>
          <p:cNvSpPr>
            <a:spLocks noChangeArrowheads="1"/>
          </p:cNvSpPr>
          <p:nvPr/>
        </p:nvSpPr>
        <p:spPr bwMode="auto">
          <a:xfrm>
            <a:off x="487363" y="1257300"/>
            <a:ext cx="733425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20000"/>
              </a:lnSpc>
            </a:pPr>
            <a:r>
              <a:rPr lang="en-US" altLang="en-US" sz="1500" b="1">
                <a:solidFill>
                  <a:srgbClr val="4C7E9A"/>
                </a:solidFill>
                <a:latin typeface="Liter" panose="02000503030000020004" pitchFamily="2" charset="0"/>
                <a:ea typeface="Liter" panose="02000503030000020004" pitchFamily="2" charset="0"/>
                <a:cs typeface="Liter" panose="02000503030000020004" pitchFamily="2" charset="0"/>
              </a:rPr>
              <a:t>The Problem</a:t>
            </a:r>
            <a:endParaRPr lang="en-US" altLang="en-US" sz="1600"/>
          </a:p>
        </p:txBody>
      </p:sp>
      <p:sp>
        <p:nvSpPr>
          <p:cNvPr id="3079" name="Shape 4">
            <a:extLst>
              <a:ext uri="{FF2B5EF4-FFF2-40B4-BE49-F238E27FC236}">
                <a16:creationId xmlns:a16="http://schemas.microsoft.com/office/drawing/2014/main" id="{0E8F5D47-952C-1319-A90D-2E6E75ACBB74}"/>
              </a:ext>
            </a:extLst>
          </p:cNvPr>
          <p:cNvSpPr>
            <a:spLocks/>
          </p:cNvSpPr>
          <p:nvPr/>
        </p:nvSpPr>
        <p:spPr bwMode="auto">
          <a:xfrm>
            <a:off x="487363" y="1698625"/>
            <a:ext cx="457200" cy="457200"/>
          </a:xfrm>
          <a:custGeom>
            <a:avLst/>
            <a:gdLst>
              <a:gd name="T0" fmla="*/ 38098 w 457200"/>
              <a:gd name="T1" fmla="*/ 0 h 457200"/>
              <a:gd name="T2" fmla="*/ 419102 w 457200"/>
              <a:gd name="T3" fmla="*/ 0 h 457200"/>
              <a:gd name="T4" fmla="*/ 457200 w 457200"/>
              <a:gd name="T5" fmla="*/ 38098 h 457200"/>
              <a:gd name="T6" fmla="*/ 457200 w 457200"/>
              <a:gd name="T7" fmla="*/ 419102 h 457200"/>
              <a:gd name="T8" fmla="*/ 419102 w 457200"/>
              <a:gd name="T9" fmla="*/ 457200 h 457200"/>
              <a:gd name="T10" fmla="*/ 38098 w 457200"/>
              <a:gd name="T11" fmla="*/ 457200 h 457200"/>
              <a:gd name="T12" fmla="*/ 0 w 457200"/>
              <a:gd name="T13" fmla="*/ 419102 h 457200"/>
              <a:gd name="T14" fmla="*/ 0 w 457200"/>
              <a:gd name="T15" fmla="*/ 38098 h 457200"/>
              <a:gd name="T16" fmla="*/ 38098 w 457200"/>
              <a:gd name="T17" fmla="*/ 0 h 457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7200" h="457200">
                <a:moveTo>
                  <a:pt x="38098" y="0"/>
                </a:moveTo>
                <a:lnTo>
                  <a:pt x="419102" y="0"/>
                </a:lnTo>
                <a:cubicBezTo>
                  <a:pt x="440143" y="0"/>
                  <a:pt x="457200" y="17057"/>
                  <a:pt x="457200" y="38098"/>
                </a:cubicBezTo>
                <a:lnTo>
                  <a:pt x="457200" y="419102"/>
                </a:lnTo>
                <a:cubicBezTo>
                  <a:pt x="457200" y="440143"/>
                  <a:pt x="440143" y="457200"/>
                  <a:pt x="419102" y="457200"/>
                </a:cubicBezTo>
                <a:lnTo>
                  <a:pt x="38098" y="457200"/>
                </a:lnTo>
                <a:cubicBezTo>
                  <a:pt x="17057" y="457200"/>
                  <a:pt x="0" y="440143"/>
                  <a:pt x="0" y="419102"/>
                </a:cubicBezTo>
                <a:lnTo>
                  <a:pt x="0" y="38098"/>
                </a:lnTo>
                <a:cubicBezTo>
                  <a:pt x="0" y="17071"/>
                  <a:pt x="17071" y="0"/>
                  <a:pt x="38098" y="0"/>
                </a:cubicBezTo>
                <a:close/>
              </a:path>
            </a:pathLst>
          </a:custGeom>
          <a:solidFill>
            <a:srgbClr val="4C7E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80" name="Text 5">
            <a:extLst>
              <a:ext uri="{FF2B5EF4-FFF2-40B4-BE49-F238E27FC236}">
                <a16:creationId xmlns:a16="http://schemas.microsoft.com/office/drawing/2014/main" id="{4E0B1C61-0581-6B76-91B5-80F3C4963A7B}"/>
              </a:ext>
            </a:extLst>
          </p:cNvPr>
          <p:cNvSpPr>
            <a:spLocks noChangeArrowheads="1"/>
          </p:cNvSpPr>
          <p:nvPr/>
        </p:nvSpPr>
        <p:spPr bwMode="auto">
          <a:xfrm>
            <a:off x="487363" y="169862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lnSpc>
                <a:spcPct val="120000"/>
              </a:lnSpc>
            </a:pPr>
            <a:r>
              <a:rPr lang="en-US" altLang="en-US" sz="1500" b="1">
                <a:solidFill>
                  <a:srgbClr val="FFFFFF"/>
                </a:solidFill>
                <a:latin typeface="Quattrocento Sans" panose="020B0502050000020003" pitchFamily="34" charset="0"/>
                <a:ea typeface="Quattrocento Sans" panose="020B0502050000020003" pitchFamily="34" charset="0"/>
                <a:cs typeface="Quattrocento Sans" panose="020B0502050000020003" pitchFamily="34" charset="0"/>
              </a:rPr>
              <a:t>01</a:t>
            </a:r>
            <a:endParaRPr lang="en-US" altLang="en-US" sz="1600"/>
          </a:p>
        </p:txBody>
      </p:sp>
      <p:sp>
        <p:nvSpPr>
          <p:cNvPr id="80" name="Text 7">
            <a:extLst>
              <a:ext uri="{FF2B5EF4-FFF2-40B4-BE49-F238E27FC236}">
                <a16:creationId xmlns:a16="http://schemas.microsoft.com/office/drawing/2014/main" id="{98EE1C6E-00F4-DDE2-B73D-34BE20058F11}"/>
              </a:ext>
            </a:extLst>
          </p:cNvPr>
          <p:cNvSpPr/>
          <p:nvPr/>
        </p:nvSpPr>
        <p:spPr>
          <a:xfrm>
            <a:off x="1041722" y="1641192"/>
            <a:ext cx="2106592" cy="1460821"/>
          </a:xfrm>
          <a:prstGeom prst="rect">
            <a:avLst/>
          </a:prstGeom>
          <a:noFill/>
          <a:ln/>
        </p:spPr>
        <p:txBody>
          <a:bodyPr lIns="0" tIns="0" rIns="0" bIns="0"/>
          <a:lstStyle/>
          <a:p>
            <a:pPr eaLnBrk="1" fontAlgn="auto" hangingPunct="1">
              <a:lnSpc>
                <a:spcPct val="140000"/>
              </a:lnSpc>
              <a:spcBef>
                <a:spcPts val="0"/>
              </a:spcBef>
              <a:spcAft>
                <a:spcPts val="0"/>
              </a:spcAft>
              <a:defRPr/>
            </a:pPr>
            <a:r>
              <a:rPr lang="en-US" sz="1200" dirty="0">
                <a:solidFill>
                  <a:srgbClr val="E1E3E6">
                    <a:alpha val="80000"/>
                  </a:srgbClr>
                </a:solidFill>
                <a:latin typeface="Quattrocento Sans" pitchFamily="34" charset="0"/>
                <a:ea typeface="Quattrocento Sans" pitchFamily="34" charset="-122"/>
                <a:cs typeface="Quattrocento Sans" pitchFamily="34" charset="-120"/>
              </a:rPr>
              <a:t>Inputs are continuous stream of Zebra tracking data without distinct “stop” or “start” markers for individual reps or labels for which two players are participating in the active rep.</a:t>
            </a:r>
            <a:endParaRPr lang="en-US" sz="1600" dirty="0">
              <a:latin typeface="+mn-lt"/>
            </a:endParaRPr>
          </a:p>
        </p:txBody>
      </p:sp>
      <p:sp>
        <p:nvSpPr>
          <p:cNvPr id="3082" name="Shape 4">
            <a:extLst>
              <a:ext uri="{FF2B5EF4-FFF2-40B4-BE49-F238E27FC236}">
                <a16:creationId xmlns:a16="http://schemas.microsoft.com/office/drawing/2014/main" id="{FFAA3326-1E80-0FE1-C98A-F152C5CA8A54}"/>
              </a:ext>
            </a:extLst>
          </p:cNvPr>
          <p:cNvSpPr>
            <a:spLocks/>
          </p:cNvSpPr>
          <p:nvPr/>
        </p:nvSpPr>
        <p:spPr bwMode="auto">
          <a:xfrm>
            <a:off x="487363" y="3413125"/>
            <a:ext cx="457200" cy="457200"/>
          </a:xfrm>
          <a:custGeom>
            <a:avLst/>
            <a:gdLst>
              <a:gd name="T0" fmla="*/ 38098 w 457200"/>
              <a:gd name="T1" fmla="*/ 0 h 457200"/>
              <a:gd name="T2" fmla="*/ 419102 w 457200"/>
              <a:gd name="T3" fmla="*/ 0 h 457200"/>
              <a:gd name="T4" fmla="*/ 457200 w 457200"/>
              <a:gd name="T5" fmla="*/ 38098 h 457200"/>
              <a:gd name="T6" fmla="*/ 457200 w 457200"/>
              <a:gd name="T7" fmla="*/ 419102 h 457200"/>
              <a:gd name="T8" fmla="*/ 419102 w 457200"/>
              <a:gd name="T9" fmla="*/ 457200 h 457200"/>
              <a:gd name="T10" fmla="*/ 38098 w 457200"/>
              <a:gd name="T11" fmla="*/ 457200 h 457200"/>
              <a:gd name="T12" fmla="*/ 0 w 457200"/>
              <a:gd name="T13" fmla="*/ 419102 h 457200"/>
              <a:gd name="T14" fmla="*/ 0 w 457200"/>
              <a:gd name="T15" fmla="*/ 38098 h 457200"/>
              <a:gd name="T16" fmla="*/ 38098 w 457200"/>
              <a:gd name="T17" fmla="*/ 0 h 457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7200" h="457200">
                <a:moveTo>
                  <a:pt x="38098" y="0"/>
                </a:moveTo>
                <a:lnTo>
                  <a:pt x="419102" y="0"/>
                </a:lnTo>
                <a:cubicBezTo>
                  <a:pt x="440143" y="0"/>
                  <a:pt x="457200" y="17057"/>
                  <a:pt x="457200" y="38098"/>
                </a:cubicBezTo>
                <a:lnTo>
                  <a:pt x="457200" y="419102"/>
                </a:lnTo>
                <a:cubicBezTo>
                  <a:pt x="457200" y="440143"/>
                  <a:pt x="440143" y="457200"/>
                  <a:pt x="419102" y="457200"/>
                </a:cubicBezTo>
                <a:lnTo>
                  <a:pt x="38098" y="457200"/>
                </a:lnTo>
                <a:cubicBezTo>
                  <a:pt x="17057" y="457200"/>
                  <a:pt x="0" y="440143"/>
                  <a:pt x="0" y="419102"/>
                </a:cubicBezTo>
                <a:lnTo>
                  <a:pt x="0" y="38098"/>
                </a:lnTo>
                <a:cubicBezTo>
                  <a:pt x="0" y="17071"/>
                  <a:pt x="17071" y="0"/>
                  <a:pt x="38098" y="0"/>
                </a:cubicBezTo>
                <a:close/>
              </a:path>
            </a:pathLst>
          </a:custGeom>
          <a:solidFill>
            <a:srgbClr val="4C7E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 name="Text 7">
            <a:extLst>
              <a:ext uri="{FF2B5EF4-FFF2-40B4-BE49-F238E27FC236}">
                <a16:creationId xmlns:a16="http://schemas.microsoft.com/office/drawing/2014/main" id="{EC71E875-EB2F-E102-92E0-95F90A431C1B}"/>
              </a:ext>
            </a:extLst>
          </p:cNvPr>
          <p:cNvSpPr/>
          <p:nvPr/>
        </p:nvSpPr>
        <p:spPr>
          <a:xfrm>
            <a:off x="1041721" y="3359552"/>
            <a:ext cx="2106592" cy="1445389"/>
          </a:xfrm>
          <a:prstGeom prst="rect">
            <a:avLst/>
          </a:prstGeom>
          <a:noFill/>
          <a:ln/>
        </p:spPr>
        <p:txBody>
          <a:bodyPr lIns="0" tIns="0" rIns="0" bIns="0"/>
          <a:lstStyle/>
          <a:p>
            <a:pPr eaLnBrk="1" fontAlgn="auto" hangingPunct="1">
              <a:lnSpc>
                <a:spcPct val="140000"/>
              </a:lnSpc>
              <a:spcBef>
                <a:spcPts val="0"/>
              </a:spcBef>
              <a:spcAft>
                <a:spcPts val="0"/>
              </a:spcAft>
              <a:defRPr/>
            </a:pPr>
            <a:r>
              <a:rPr lang="en-US" sz="1200" dirty="0">
                <a:solidFill>
                  <a:srgbClr val="E1E3E6">
                    <a:alpha val="80000"/>
                  </a:srgbClr>
                </a:solidFill>
                <a:latin typeface="Quattrocento Sans" pitchFamily="34" charset="0"/>
                <a:ea typeface="Quattrocento Sans" pitchFamily="34" charset="-122"/>
                <a:cs typeface="Quattrocento Sans" pitchFamily="34" charset="-120"/>
              </a:rPr>
              <a:t>Manual charting can be slow and hard to scale.</a:t>
            </a:r>
            <a:endParaRPr lang="en-US" sz="1600" dirty="0">
              <a:latin typeface="+mn-lt"/>
            </a:endParaRPr>
          </a:p>
        </p:txBody>
      </p:sp>
      <p:sp>
        <p:nvSpPr>
          <p:cNvPr id="3084" name="Text 5">
            <a:extLst>
              <a:ext uri="{FF2B5EF4-FFF2-40B4-BE49-F238E27FC236}">
                <a16:creationId xmlns:a16="http://schemas.microsoft.com/office/drawing/2014/main" id="{05210E42-2CE4-4868-24D9-D8AF28BCB409}"/>
              </a:ext>
            </a:extLst>
          </p:cNvPr>
          <p:cNvSpPr>
            <a:spLocks noChangeArrowheads="1"/>
          </p:cNvSpPr>
          <p:nvPr/>
        </p:nvSpPr>
        <p:spPr bwMode="auto">
          <a:xfrm>
            <a:off x="487363" y="341312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lnSpc>
                <a:spcPct val="120000"/>
              </a:lnSpc>
            </a:pPr>
            <a:r>
              <a:rPr lang="en-US" altLang="en-US" sz="1500" b="1">
                <a:solidFill>
                  <a:srgbClr val="FFFFFF"/>
                </a:solidFill>
                <a:latin typeface="Quattrocento Sans" panose="020B0502050000020003" pitchFamily="34" charset="0"/>
                <a:ea typeface="Quattrocento Sans" panose="020B0502050000020003" pitchFamily="34" charset="0"/>
                <a:cs typeface="Quattrocento Sans" panose="020B0502050000020003" pitchFamily="34" charset="0"/>
              </a:rPr>
              <a:t>02</a:t>
            </a:r>
            <a:endParaRPr lang="en-US" altLang="en-US" sz="1600"/>
          </a:p>
        </p:txBody>
      </p:sp>
      <p:sp>
        <p:nvSpPr>
          <p:cNvPr id="3085" name="Shape 4">
            <a:extLst>
              <a:ext uri="{FF2B5EF4-FFF2-40B4-BE49-F238E27FC236}">
                <a16:creationId xmlns:a16="http://schemas.microsoft.com/office/drawing/2014/main" id="{182E2978-18DB-9C7D-4F10-BDC35458CC5C}"/>
              </a:ext>
            </a:extLst>
          </p:cNvPr>
          <p:cNvSpPr>
            <a:spLocks/>
          </p:cNvSpPr>
          <p:nvPr/>
        </p:nvSpPr>
        <p:spPr bwMode="auto">
          <a:xfrm>
            <a:off x="487363" y="4248150"/>
            <a:ext cx="457200" cy="457200"/>
          </a:xfrm>
          <a:custGeom>
            <a:avLst/>
            <a:gdLst>
              <a:gd name="T0" fmla="*/ 38098 w 457200"/>
              <a:gd name="T1" fmla="*/ 0 h 457200"/>
              <a:gd name="T2" fmla="*/ 419102 w 457200"/>
              <a:gd name="T3" fmla="*/ 0 h 457200"/>
              <a:gd name="T4" fmla="*/ 457200 w 457200"/>
              <a:gd name="T5" fmla="*/ 38098 h 457200"/>
              <a:gd name="T6" fmla="*/ 457200 w 457200"/>
              <a:gd name="T7" fmla="*/ 419102 h 457200"/>
              <a:gd name="T8" fmla="*/ 419102 w 457200"/>
              <a:gd name="T9" fmla="*/ 457200 h 457200"/>
              <a:gd name="T10" fmla="*/ 38098 w 457200"/>
              <a:gd name="T11" fmla="*/ 457200 h 457200"/>
              <a:gd name="T12" fmla="*/ 0 w 457200"/>
              <a:gd name="T13" fmla="*/ 419102 h 457200"/>
              <a:gd name="T14" fmla="*/ 0 w 457200"/>
              <a:gd name="T15" fmla="*/ 38098 h 457200"/>
              <a:gd name="T16" fmla="*/ 38098 w 457200"/>
              <a:gd name="T17" fmla="*/ 0 h 457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7200" h="457200">
                <a:moveTo>
                  <a:pt x="38098" y="0"/>
                </a:moveTo>
                <a:lnTo>
                  <a:pt x="419102" y="0"/>
                </a:lnTo>
                <a:cubicBezTo>
                  <a:pt x="440143" y="0"/>
                  <a:pt x="457200" y="17057"/>
                  <a:pt x="457200" y="38098"/>
                </a:cubicBezTo>
                <a:lnTo>
                  <a:pt x="457200" y="419102"/>
                </a:lnTo>
                <a:cubicBezTo>
                  <a:pt x="457200" y="440143"/>
                  <a:pt x="440143" y="457200"/>
                  <a:pt x="419102" y="457200"/>
                </a:cubicBezTo>
                <a:lnTo>
                  <a:pt x="38098" y="457200"/>
                </a:lnTo>
                <a:cubicBezTo>
                  <a:pt x="17057" y="457200"/>
                  <a:pt x="0" y="440143"/>
                  <a:pt x="0" y="419102"/>
                </a:cubicBezTo>
                <a:lnTo>
                  <a:pt x="0" y="38098"/>
                </a:lnTo>
                <a:cubicBezTo>
                  <a:pt x="0" y="17071"/>
                  <a:pt x="17071" y="0"/>
                  <a:pt x="38098" y="0"/>
                </a:cubicBezTo>
                <a:close/>
              </a:path>
            </a:pathLst>
          </a:custGeom>
          <a:solidFill>
            <a:srgbClr val="4C7E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5" name="Text 7">
            <a:extLst>
              <a:ext uri="{FF2B5EF4-FFF2-40B4-BE49-F238E27FC236}">
                <a16:creationId xmlns:a16="http://schemas.microsoft.com/office/drawing/2014/main" id="{F1ACAFED-33ED-BD12-B84B-74B2AA2E6F28}"/>
              </a:ext>
            </a:extLst>
          </p:cNvPr>
          <p:cNvSpPr/>
          <p:nvPr/>
        </p:nvSpPr>
        <p:spPr>
          <a:xfrm>
            <a:off x="1041721" y="4193411"/>
            <a:ext cx="2106592" cy="2184240"/>
          </a:xfrm>
          <a:prstGeom prst="rect">
            <a:avLst/>
          </a:prstGeom>
          <a:noFill/>
          <a:ln/>
        </p:spPr>
        <p:txBody>
          <a:bodyPr lIns="0" tIns="0" rIns="0" bIns="0"/>
          <a:lstStyle/>
          <a:p>
            <a:pPr eaLnBrk="1" fontAlgn="auto" hangingPunct="1">
              <a:lnSpc>
                <a:spcPct val="140000"/>
              </a:lnSpc>
              <a:spcBef>
                <a:spcPts val="0"/>
              </a:spcBef>
              <a:spcAft>
                <a:spcPts val="0"/>
              </a:spcAft>
              <a:defRPr/>
            </a:pPr>
            <a:r>
              <a:rPr lang="en-US" sz="1200" dirty="0">
                <a:solidFill>
                  <a:srgbClr val="E1E3E6">
                    <a:alpha val="80000"/>
                  </a:srgbClr>
                </a:solidFill>
                <a:latin typeface="Quattrocento Sans" pitchFamily="34" charset="0"/>
                <a:ea typeface="Quattrocento Sans" pitchFamily="34" charset="-122"/>
                <a:cs typeface="Quattrocento Sans" pitchFamily="34" charset="-120"/>
              </a:rPr>
              <a:t>An individual 1-on-1 OL-DL rep has several phases (get off, set, engagement, anchor, finish) and properly quantifying a lineman’s performance requires phase-aware measurements that anchor to consistent events.</a:t>
            </a:r>
            <a:endParaRPr lang="en-US" sz="1600" dirty="0">
              <a:latin typeface="+mn-lt"/>
            </a:endParaRPr>
          </a:p>
        </p:txBody>
      </p:sp>
      <p:sp>
        <p:nvSpPr>
          <p:cNvPr id="3087" name="Text 5">
            <a:extLst>
              <a:ext uri="{FF2B5EF4-FFF2-40B4-BE49-F238E27FC236}">
                <a16:creationId xmlns:a16="http://schemas.microsoft.com/office/drawing/2014/main" id="{7A36A5A1-129F-8F5A-13B2-7C14374648DB}"/>
              </a:ext>
            </a:extLst>
          </p:cNvPr>
          <p:cNvSpPr>
            <a:spLocks noChangeArrowheads="1"/>
          </p:cNvSpPr>
          <p:nvPr/>
        </p:nvSpPr>
        <p:spPr bwMode="auto">
          <a:xfrm>
            <a:off x="487363" y="424815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lnSpc>
                <a:spcPct val="120000"/>
              </a:lnSpc>
            </a:pPr>
            <a:r>
              <a:rPr lang="en-US" altLang="en-US" sz="1500" b="1">
                <a:solidFill>
                  <a:srgbClr val="FFFFFF"/>
                </a:solidFill>
                <a:latin typeface="Quattrocento Sans" panose="020B0502050000020003" pitchFamily="34" charset="0"/>
                <a:ea typeface="Quattrocento Sans" panose="020B0502050000020003" pitchFamily="34" charset="0"/>
                <a:cs typeface="Quattrocento Sans" panose="020B0502050000020003" pitchFamily="34" charset="0"/>
              </a:rPr>
              <a:t>03</a:t>
            </a:r>
            <a:endParaRPr lang="en-US" altLang="en-US" sz="1600"/>
          </a:p>
        </p:txBody>
      </p:sp>
      <p:sp>
        <p:nvSpPr>
          <p:cNvPr id="3088" name="Shape 2">
            <a:extLst>
              <a:ext uri="{FF2B5EF4-FFF2-40B4-BE49-F238E27FC236}">
                <a16:creationId xmlns:a16="http://schemas.microsoft.com/office/drawing/2014/main" id="{B0DF1D8D-361E-F500-DF00-C6363FBD9C46}"/>
              </a:ext>
            </a:extLst>
          </p:cNvPr>
          <p:cNvSpPr>
            <a:spLocks/>
          </p:cNvSpPr>
          <p:nvPr/>
        </p:nvSpPr>
        <p:spPr bwMode="auto">
          <a:xfrm>
            <a:off x="3433763" y="1219200"/>
            <a:ext cx="8585200" cy="5257800"/>
          </a:xfrm>
          <a:custGeom>
            <a:avLst/>
            <a:gdLst>
              <a:gd name="T0" fmla="*/ 0 w 8172450"/>
              <a:gd name="T1" fmla="*/ 0 h 1447800"/>
              <a:gd name="T2" fmla="*/ 8134344 w 8172450"/>
              <a:gd name="T3" fmla="*/ 0 h 1447800"/>
              <a:gd name="T4" fmla="*/ 8172450 w 8172450"/>
              <a:gd name="T5" fmla="*/ 38106 h 1447800"/>
              <a:gd name="T6" fmla="*/ 8172450 w 8172450"/>
              <a:gd name="T7" fmla="*/ 1409694 h 1447800"/>
              <a:gd name="T8" fmla="*/ 8134344 w 8172450"/>
              <a:gd name="T9" fmla="*/ 1447800 h 1447800"/>
              <a:gd name="T10" fmla="*/ 0 w 8172450"/>
              <a:gd name="T11" fmla="*/ 1447800 h 1447800"/>
              <a:gd name="T12" fmla="*/ 0 w 8172450"/>
              <a:gd name="T13" fmla="*/ 0 h 1447800"/>
            </a:gdLst>
            <a:ahLst/>
            <a:cxnLst>
              <a:cxn ang="0">
                <a:pos x="T0" y="T1"/>
              </a:cxn>
              <a:cxn ang="0">
                <a:pos x="T2" y="T3"/>
              </a:cxn>
              <a:cxn ang="0">
                <a:pos x="T4" y="T5"/>
              </a:cxn>
              <a:cxn ang="0">
                <a:pos x="T6" y="T7"/>
              </a:cxn>
              <a:cxn ang="0">
                <a:pos x="T8" y="T9"/>
              </a:cxn>
              <a:cxn ang="0">
                <a:pos x="T10" y="T11"/>
              </a:cxn>
              <a:cxn ang="0">
                <a:pos x="T12" y="T13"/>
              </a:cxn>
            </a:cxnLst>
            <a:rect l="0" t="0" r="r" b="b"/>
            <a:pathLst>
              <a:path w="8172450" h="1447800">
                <a:moveTo>
                  <a:pt x="0" y="0"/>
                </a:moveTo>
                <a:lnTo>
                  <a:pt x="8134344" y="0"/>
                </a:lnTo>
                <a:cubicBezTo>
                  <a:pt x="8155389" y="0"/>
                  <a:pt x="8172450" y="17061"/>
                  <a:pt x="8172450" y="38106"/>
                </a:cubicBezTo>
                <a:lnTo>
                  <a:pt x="8172450" y="1409694"/>
                </a:lnTo>
                <a:cubicBezTo>
                  <a:pt x="8172450" y="1430739"/>
                  <a:pt x="8155389" y="1447800"/>
                  <a:pt x="8134344" y="1447800"/>
                </a:cubicBezTo>
                <a:lnTo>
                  <a:pt x="0" y="1447800"/>
                </a:lnTo>
                <a:lnTo>
                  <a:pt x="0" y="0"/>
                </a:lnTo>
                <a:close/>
              </a:path>
            </a:pathLst>
          </a:custGeom>
          <a:solidFill>
            <a:srgbClr val="1E202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89" name="Shape 3">
            <a:extLst>
              <a:ext uri="{FF2B5EF4-FFF2-40B4-BE49-F238E27FC236}">
                <a16:creationId xmlns:a16="http://schemas.microsoft.com/office/drawing/2014/main" id="{A571A25C-E6D7-9F67-3F54-09084E4B7F2A}"/>
              </a:ext>
            </a:extLst>
          </p:cNvPr>
          <p:cNvSpPr>
            <a:spLocks/>
          </p:cNvSpPr>
          <p:nvPr/>
        </p:nvSpPr>
        <p:spPr bwMode="auto">
          <a:xfrm flipH="1">
            <a:off x="3389313" y="1219200"/>
            <a:ext cx="44450" cy="5257800"/>
          </a:xfrm>
          <a:custGeom>
            <a:avLst/>
            <a:gdLst>
              <a:gd name="T0" fmla="*/ 0 w 38100"/>
              <a:gd name="T1" fmla="*/ 0 h 1447800"/>
              <a:gd name="T2" fmla="*/ 38100 w 38100"/>
              <a:gd name="T3" fmla="*/ 0 h 1447800"/>
              <a:gd name="T4" fmla="*/ 38100 w 38100"/>
              <a:gd name="T5" fmla="*/ 1447800 h 1447800"/>
              <a:gd name="T6" fmla="*/ 0 w 38100"/>
              <a:gd name="T7" fmla="*/ 1447800 h 1447800"/>
              <a:gd name="T8" fmla="*/ 0 w 38100"/>
              <a:gd name="T9" fmla="*/ 0 h 1447800"/>
            </a:gdLst>
            <a:ahLst/>
            <a:cxnLst>
              <a:cxn ang="0">
                <a:pos x="T0" y="T1"/>
              </a:cxn>
              <a:cxn ang="0">
                <a:pos x="T2" y="T3"/>
              </a:cxn>
              <a:cxn ang="0">
                <a:pos x="T4" y="T5"/>
              </a:cxn>
              <a:cxn ang="0">
                <a:pos x="T6" y="T7"/>
              </a:cxn>
              <a:cxn ang="0">
                <a:pos x="T8" y="T9"/>
              </a:cxn>
            </a:cxnLst>
            <a:rect l="0" t="0" r="r" b="b"/>
            <a:pathLst>
              <a:path w="38100" h="1447800">
                <a:moveTo>
                  <a:pt x="0" y="0"/>
                </a:moveTo>
                <a:lnTo>
                  <a:pt x="38100" y="0"/>
                </a:lnTo>
                <a:lnTo>
                  <a:pt x="38100" y="1447800"/>
                </a:lnTo>
                <a:lnTo>
                  <a:pt x="0" y="1447800"/>
                </a:lnTo>
                <a:lnTo>
                  <a:pt x="0" y="0"/>
                </a:lnTo>
                <a:close/>
              </a:path>
            </a:pathLst>
          </a:custGeom>
          <a:solidFill>
            <a:srgbClr val="D8A03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90" name="Text 6">
            <a:extLst>
              <a:ext uri="{FF2B5EF4-FFF2-40B4-BE49-F238E27FC236}">
                <a16:creationId xmlns:a16="http://schemas.microsoft.com/office/drawing/2014/main" id="{D14C4EF4-B589-A539-B4A2-56E7317DF861}"/>
              </a:ext>
            </a:extLst>
          </p:cNvPr>
          <p:cNvSpPr>
            <a:spLocks noChangeArrowheads="1"/>
          </p:cNvSpPr>
          <p:nvPr/>
        </p:nvSpPr>
        <p:spPr bwMode="auto">
          <a:xfrm>
            <a:off x="3544888" y="1257300"/>
            <a:ext cx="46609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20000"/>
              </a:lnSpc>
            </a:pPr>
            <a:r>
              <a:rPr lang="en-US" altLang="en-US" sz="1500" b="1">
                <a:solidFill>
                  <a:srgbClr val="D8A03D"/>
                </a:solidFill>
                <a:latin typeface="Liter" panose="02000503030000020004" pitchFamily="2" charset="0"/>
                <a:ea typeface="Liter" panose="02000503030000020004" pitchFamily="2" charset="0"/>
                <a:cs typeface="Liter" panose="02000503030000020004" pitchFamily="2" charset="0"/>
              </a:rPr>
              <a:t>The Solution: An automated, reproducible workflow</a:t>
            </a:r>
            <a:endParaRPr lang="en-US" altLang="en-US" sz="1600">
              <a:solidFill>
                <a:srgbClr val="D8A03D"/>
              </a:solidFill>
            </a:endParaRPr>
          </a:p>
        </p:txBody>
      </p:sp>
      <p:sp>
        <p:nvSpPr>
          <p:cNvPr id="91" name="Rounded Rectangle 90">
            <a:extLst>
              <a:ext uri="{FF2B5EF4-FFF2-40B4-BE49-F238E27FC236}">
                <a16:creationId xmlns:a16="http://schemas.microsoft.com/office/drawing/2014/main" id="{43448F5D-6DB7-4A47-522F-92E3740CD1A7}"/>
              </a:ext>
            </a:extLst>
          </p:cNvPr>
          <p:cNvSpPr/>
          <p:nvPr/>
        </p:nvSpPr>
        <p:spPr>
          <a:xfrm>
            <a:off x="3524250" y="1698625"/>
            <a:ext cx="1847850" cy="4511675"/>
          </a:xfrm>
          <a:prstGeom prst="roundRect">
            <a:avLst/>
          </a:prstGeom>
          <a:solidFill>
            <a:srgbClr val="1D2024"/>
          </a:solidFill>
          <a:ln>
            <a:solidFill>
              <a:srgbClr val="E7E7E7"/>
            </a:solidFill>
          </a:ln>
        </p:spPr>
        <p:style>
          <a:lnRef idx="2">
            <a:schemeClr val="accent1">
              <a:shade val="15000"/>
            </a:schemeClr>
          </a:lnRef>
          <a:fillRef idx="1">
            <a:schemeClr val="accent1"/>
          </a:fillRef>
          <a:effectRef idx="0">
            <a:schemeClr val="accent1"/>
          </a:effectRef>
          <a:fontRef idx="minor">
            <a:schemeClr val="lt1"/>
          </a:fontRef>
        </p:style>
        <p:txBody>
          <a:bodyPr/>
          <a:lstStyle/>
          <a:p>
            <a:pPr algn="ctr" eaLnBrk="1" fontAlgn="auto" hangingPunct="1">
              <a:spcBef>
                <a:spcPts val="0"/>
              </a:spcBef>
              <a:spcAft>
                <a:spcPts val="0"/>
              </a:spcAft>
              <a:defRPr/>
            </a:pPr>
            <a:r>
              <a:rPr lang="en-US" sz="1200" dirty="0">
                <a:solidFill>
                  <a:srgbClr val="D8A03D"/>
                </a:solidFill>
              </a:rPr>
              <a:t>Input: Raw Tracking Data</a:t>
            </a:r>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r>
              <a:rPr lang="en-US" sz="1200" dirty="0"/>
              <a:t>Scan to collect drill session start and end timestamps, OL and DL jersey numbers, and the LOS (manual)</a:t>
            </a:r>
          </a:p>
        </p:txBody>
      </p:sp>
      <p:cxnSp>
        <p:nvCxnSpPr>
          <p:cNvPr id="92" name="Straight Connector 91">
            <a:extLst>
              <a:ext uri="{FF2B5EF4-FFF2-40B4-BE49-F238E27FC236}">
                <a16:creationId xmlns:a16="http://schemas.microsoft.com/office/drawing/2014/main" id="{6D4AC4D1-E622-74B3-B5F2-5718D7D529A9}"/>
              </a:ext>
            </a:extLst>
          </p:cNvPr>
          <p:cNvCxnSpPr/>
          <p:nvPr/>
        </p:nvCxnSpPr>
        <p:spPr>
          <a:xfrm>
            <a:off x="4456113" y="2886075"/>
            <a:ext cx="0" cy="1222375"/>
          </a:xfrm>
          <a:prstGeom prst="line">
            <a:avLst/>
          </a:prstGeom>
          <a:ln>
            <a:solidFill>
              <a:srgbClr val="D8A03D"/>
            </a:solidFill>
          </a:ln>
        </p:spPr>
        <p:style>
          <a:lnRef idx="1">
            <a:schemeClr val="accent1"/>
          </a:lnRef>
          <a:fillRef idx="0">
            <a:schemeClr val="accent1"/>
          </a:fillRef>
          <a:effectRef idx="0">
            <a:schemeClr val="accent1"/>
          </a:effectRef>
          <a:fontRef idx="minor">
            <a:schemeClr val="tx1"/>
          </a:fontRef>
        </p:style>
      </p:cxnSp>
      <p:sp>
        <p:nvSpPr>
          <p:cNvPr id="95" name="Oval 94">
            <a:extLst>
              <a:ext uri="{FF2B5EF4-FFF2-40B4-BE49-F238E27FC236}">
                <a16:creationId xmlns:a16="http://schemas.microsoft.com/office/drawing/2014/main" id="{E5DA1242-59B5-0301-B39B-AC009D96C010}"/>
              </a:ext>
            </a:extLst>
          </p:cNvPr>
          <p:cNvSpPr/>
          <p:nvPr/>
        </p:nvSpPr>
        <p:spPr>
          <a:xfrm>
            <a:off x="4497388" y="2932113"/>
            <a:ext cx="127000" cy="127000"/>
          </a:xfrm>
          <a:prstGeom prst="ellipse">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p>
        </p:txBody>
      </p:sp>
      <p:sp>
        <p:nvSpPr>
          <p:cNvPr id="96" name="Oval 95">
            <a:extLst>
              <a:ext uri="{FF2B5EF4-FFF2-40B4-BE49-F238E27FC236}">
                <a16:creationId xmlns:a16="http://schemas.microsoft.com/office/drawing/2014/main" id="{76A9F390-4177-228E-B58D-A09429989A71}"/>
              </a:ext>
            </a:extLst>
          </p:cNvPr>
          <p:cNvSpPr/>
          <p:nvPr/>
        </p:nvSpPr>
        <p:spPr>
          <a:xfrm>
            <a:off x="4514850" y="3197225"/>
            <a:ext cx="127000" cy="127000"/>
          </a:xfrm>
          <a:prstGeom prst="ellipse">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p>
        </p:txBody>
      </p:sp>
      <p:sp>
        <p:nvSpPr>
          <p:cNvPr id="97" name="Oval 96">
            <a:extLst>
              <a:ext uri="{FF2B5EF4-FFF2-40B4-BE49-F238E27FC236}">
                <a16:creationId xmlns:a16="http://schemas.microsoft.com/office/drawing/2014/main" id="{FF3C95B0-E9F3-D33D-4E90-C9B699313F89}"/>
              </a:ext>
            </a:extLst>
          </p:cNvPr>
          <p:cNvSpPr/>
          <p:nvPr/>
        </p:nvSpPr>
        <p:spPr>
          <a:xfrm>
            <a:off x="4470400" y="3444875"/>
            <a:ext cx="127000" cy="127000"/>
          </a:xfrm>
          <a:prstGeom prst="ellipse">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p>
        </p:txBody>
      </p:sp>
      <p:sp>
        <p:nvSpPr>
          <p:cNvPr id="98" name="Oval 97">
            <a:extLst>
              <a:ext uri="{FF2B5EF4-FFF2-40B4-BE49-F238E27FC236}">
                <a16:creationId xmlns:a16="http://schemas.microsoft.com/office/drawing/2014/main" id="{00356F44-A0B9-9929-2A28-8747396CABBA}"/>
              </a:ext>
            </a:extLst>
          </p:cNvPr>
          <p:cNvSpPr/>
          <p:nvPr/>
        </p:nvSpPr>
        <p:spPr>
          <a:xfrm>
            <a:off x="4518025" y="3687763"/>
            <a:ext cx="127000" cy="127000"/>
          </a:xfrm>
          <a:prstGeom prst="ellipse">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p>
        </p:txBody>
      </p:sp>
      <p:sp>
        <p:nvSpPr>
          <p:cNvPr id="99" name="Oval 98">
            <a:extLst>
              <a:ext uri="{FF2B5EF4-FFF2-40B4-BE49-F238E27FC236}">
                <a16:creationId xmlns:a16="http://schemas.microsoft.com/office/drawing/2014/main" id="{4CD29C52-C2E7-C8CF-11FD-5896633B9CCF}"/>
              </a:ext>
            </a:extLst>
          </p:cNvPr>
          <p:cNvSpPr/>
          <p:nvPr/>
        </p:nvSpPr>
        <p:spPr>
          <a:xfrm>
            <a:off x="4505325" y="3898900"/>
            <a:ext cx="127000" cy="127000"/>
          </a:xfrm>
          <a:prstGeom prst="ellipse">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p>
        </p:txBody>
      </p:sp>
      <p:sp>
        <p:nvSpPr>
          <p:cNvPr id="105" name="Oval 104">
            <a:extLst>
              <a:ext uri="{FF2B5EF4-FFF2-40B4-BE49-F238E27FC236}">
                <a16:creationId xmlns:a16="http://schemas.microsoft.com/office/drawing/2014/main" id="{8CCE8318-D651-4B7C-7935-4D4C3776C889}"/>
              </a:ext>
            </a:extLst>
          </p:cNvPr>
          <p:cNvSpPr/>
          <p:nvPr/>
        </p:nvSpPr>
        <p:spPr>
          <a:xfrm>
            <a:off x="3571875" y="3497263"/>
            <a:ext cx="127000" cy="127000"/>
          </a:xfrm>
          <a:prstGeom prst="ellipse">
            <a:avLst/>
          </a:prstGeom>
          <a:solidFill>
            <a:srgbClr val="F7593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p>
        </p:txBody>
      </p:sp>
      <p:sp>
        <p:nvSpPr>
          <p:cNvPr id="106" name="Oval 105">
            <a:extLst>
              <a:ext uri="{FF2B5EF4-FFF2-40B4-BE49-F238E27FC236}">
                <a16:creationId xmlns:a16="http://schemas.microsoft.com/office/drawing/2014/main" id="{4458634B-8F9A-BBAB-2AED-DB4A49F85BCB}"/>
              </a:ext>
            </a:extLst>
          </p:cNvPr>
          <p:cNvSpPr/>
          <p:nvPr/>
        </p:nvSpPr>
        <p:spPr>
          <a:xfrm>
            <a:off x="3738563" y="3470275"/>
            <a:ext cx="127000" cy="127000"/>
          </a:xfrm>
          <a:prstGeom prst="ellipse">
            <a:avLst/>
          </a:prstGeom>
          <a:solidFill>
            <a:srgbClr val="F7593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p>
        </p:txBody>
      </p:sp>
      <p:sp>
        <p:nvSpPr>
          <p:cNvPr id="107" name="Oval 106">
            <a:extLst>
              <a:ext uri="{FF2B5EF4-FFF2-40B4-BE49-F238E27FC236}">
                <a16:creationId xmlns:a16="http://schemas.microsoft.com/office/drawing/2014/main" id="{8BB79CA1-4EB1-A761-D667-E72B878E6348}"/>
              </a:ext>
            </a:extLst>
          </p:cNvPr>
          <p:cNvSpPr/>
          <p:nvPr/>
        </p:nvSpPr>
        <p:spPr>
          <a:xfrm>
            <a:off x="4278313" y="3133725"/>
            <a:ext cx="127000" cy="127000"/>
          </a:xfrm>
          <a:prstGeom prst="ellipse">
            <a:avLst/>
          </a:prstGeom>
          <a:solidFill>
            <a:srgbClr val="F7593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p>
        </p:txBody>
      </p:sp>
      <p:sp>
        <p:nvSpPr>
          <p:cNvPr id="108" name="Oval 107">
            <a:extLst>
              <a:ext uri="{FF2B5EF4-FFF2-40B4-BE49-F238E27FC236}">
                <a16:creationId xmlns:a16="http://schemas.microsoft.com/office/drawing/2014/main" id="{AF5EC1E6-7AEF-2C15-2073-3DC186F4D30D}"/>
              </a:ext>
            </a:extLst>
          </p:cNvPr>
          <p:cNvSpPr/>
          <p:nvPr/>
        </p:nvSpPr>
        <p:spPr>
          <a:xfrm>
            <a:off x="3659188" y="3667125"/>
            <a:ext cx="127000" cy="127000"/>
          </a:xfrm>
          <a:prstGeom prst="ellipse">
            <a:avLst/>
          </a:prstGeom>
          <a:solidFill>
            <a:srgbClr val="F7593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p>
        </p:txBody>
      </p:sp>
      <p:sp>
        <p:nvSpPr>
          <p:cNvPr id="109" name="Oval 108">
            <a:extLst>
              <a:ext uri="{FF2B5EF4-FFF2-40B4-BE49-F238E27FC236}">
                <a16:creationId xmlns:a16="http://schemas.microsoft.com/office/drawing/2014/main" id="{C83E469A-3E5F-85EE-4180-863D3959D7C2}"/>
              </a:ext>
            </a:extLst>
          </p:cNvPr>
          <p:cNvSpPr/>
          <p:nvPr/>
        </p:nvSpPr>
        <p:spPr>
          <a:xfrm>
            <a:off x="3646488" y="3879850"/>
            <a:ext cx="127000" cy="127000"/>
          </a:xfrm>
          <a:prstGeom prst="ellipse">
            <a:avLst/>
          </a:prstGeom>
          <a:solidFill>
            <a:srgbClr val="F7593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p>
        </p:txBody>
      </p:sp>
      <p:sp>
        <p:nvSpPr>
          <p:cNvPr id="110" name="Oval 109">
            <a:extLst>
              <a:ext uri="{FF2B5EF4-FFF2-40B4-BE49-F238E27FC236}">
                <a16:creationId xmlns:a16="http://schemas.microsoft.com/office/drawing/2014/main" id="{0172F9AD-6089-30D2-BF17-E65F9989BC66}"/>
              </a:ext>
            </a:extLst>
          </p:cNvPr>
          <p:cNvSpPr/>
          <p:nvPr/>
        </p:nvSpPr>
        <p:spPr>
          <a:xfrm>
            <a:off x="5114925" y="3998913"/>
            <a:ext cx="127000" cy="127000"/>
          </a:xfrm>
          <a:prstGeom prst="ellipse">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p>
        </p:txBody>
      </p:sp>
      <p:sp>
        <p:nvSpPr>
          <p:cNvPr id="111" name="Oval 110">
            <a:extLst>
              <a:ext uri="{FF2B5EF4-FFF2-40B4-BE49-F238E27FC236}">
                <a16:creationId xmlns:a16="http://schemas.microsoft.com/office/drawing/2014/main" id="{DE49B7A1-9874-2DE7-A982-4378CD54F6EA}"/>
              </a:ext>
            </a:extLst>
          </p:cNvPr>
          <p:cNvSpPr/>
          <p:nvPr/>
        </p:nvSpPr>
        <p:spPr>
          <a:xfrm>
            <a:off x="5154613" y="3806825"/>
            <a:ext cx="127000" cy="127000"/>
          </a:xfrm>
          <a:prstGeom prst="ellipse">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p>
        </p:txBody>
      </p:sp>
      <p:sp>
        <p:nvSpPr>
          <p:cNvPr id="112" name="Oval 111">
            <a:extLst>
              <a:ext uri="{FF2B5EF4-FFF2-40B4-BE49-F238E27FC236}">
                <a16:creationId xmlns:a16="http://schemas.microsoft.com/office/drawing/2014/main" id="{9FF43B4D-D9D8-B350-25A3-B26ED062532E}"/>
              </a:ext>
            </a:extLst>
          </p:cNvPr>
          <p:cNvSpPr/>
          <p:nvPr/>
        </p:nvSpPr>
        <p:spPr>
          <a:xfrm>
            <a:off x="4978400" y="3884613"/>
            <a:ext cx="127000" cy="127000"/>
          </a:xfrm>
          <a:prstGeom prst="ellipse">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p>
        </p:txBody>
      </p:sp>
      <p:sp>
        <p:nvSpPr>
          <p:cNvPr id="113" name="Right Arrow 112">
            <a:extLst>
              <a:ext uri="{FF2B5EF4-FFF2-40B4-BE49-F238E27FC236}">
                <a16:creationId xmlns:a16="http://schemas.microsoft.com/office/drawing/2014/main" id="{CECC17CE-B805-586D-C0D5-96114770C766}"/>
              </a:ext>
            </a:extLst>
          </p:cNvPr>
          <p:cNvSpPr/>
          <p:nvPr/>
        </p:nvSpPr>
        <p:spPr>
          <a:xfrm>
            <a:off x="5373688" y="3032125"/>
            <a:ext cx="311150" cy="339725"/>
          </a:xfrm>
          <a:prstGeom prst="rightArrow">
            <a:avLst/>
          </a:prstGeom>
          <a:solidFill>
            <a:srgbClr val="E7E7E7"/>
          </a:solidFill>
          <a:ln>
            <a:solidFill>
              <a:srgbClr val="E7E7E7"/>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4" name="Rounded Rectangle 113">
            <a:extLst>
              <a:ext uri="{FF2B5EF4-FFF2-40B4-BE49-F238E27FC236}">
                <a16:creationId xmlns:a16="http://schemas.microsoft.com/office/drawing/2014/main" id="{4607114D-2EB9-9391-7145-5181614DA317}"/>
              </a:ext>
            </a:extLst>
          </p:cNvPr>
          <p:cNvSpPr/>
          <p:nvPr/>
        </p:nvSpPr>
        <p:spPr>
          <a:xfrm>
            <a:off x="5680075" y="1712913"/>
            <a:ext cx="1847850" cy="4497387"/>
          </a:xfrm>
          <a:prstGeom prst="roundRect">
            <a:avLst/>
          </a:prstGeom>
          <a:solidFill>
            <a:srgbClr val="1D2024"/>
          </a:solidFill>
          <a:ln>
            <a:solidFill>
              <a:srgbClr val="E7E7E7"/>
            </a:solidFill>
          </a:ln>
        </p:spPr>
        <p:style>
          <a:lnRef idx="2">
            <a:schemeClr val="accent1">
              <a:shade val="15000"/>
            </a:schemeClr>
          </a:lnRef>
          <a:fillRef idx="1">
            <a:schemeClr val="accent1"/>
          </a:fillRef>
          <a:effectRef idx="0">
            <a:schemeClr val="accent1"/>
          </a:effectRef>
          <a:fontRef idx="minor">
            <a:schemeClr val="lt1"/>
          </a:fontRef>
        </p:style>
        <p:txBody>
          <a:bodyPr/>
          <a:lstStyle/>
          <a:p>
            <a:pPr algn="ctr" eaLnBrk="1" fontAlgn="auto" hangingPunct="1">
              <a:spcBef>
                <a:spcPts val="0"/>
              </a:spcBef>
              <a:spcAft>
                <a:spcPts val="0"/>
              </a:spcAft>
              <a:defRPr/>
            </a:pPr>
            <a:r>
              <a:rPr lang="en-US" sz="1200" dirty="0">
                <a:solidFill>
                  <a:srgbClr val="D8A03D"/>
                </a:solidFill>
              </a:rPr>
              <a:t>Step 1: Automated Rep Detection</a:t>
            </a:r>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r>
              <a:rPr lang="en-US" sz="1200" dirty="0"/>
              <a:t>Run an algorithm over the </a:t>
            </a:r>
            <a:r>
              <a:rPr lang="en-US" sz="1200" dirty="0">
                <a:solidFill>
                  <a:srgbClr val="D8A03D"/>
                </a:solidFill>
              </a:rPr>
              <a:t>entire</a:t>
            </a:r>
            <a:r>
              <a:rPr lang="en-US" sz="1200" dirty="0"/>
              <a:t> drill period to detect 12-second windows where an individual rep may have taken place, and then run a second, local algorithm that extracts rep start and rep end frames</a:t>
            </a:r>
          </a:p>
        </p:txBody>
      </p:sp>
      <p:sp>
        <p:nvSpPr>
          <p:cNvPr id="115" name="Left Bracket 114">
            <a:extLst>
              <a:ext uri="{FF2B5EF4-FFF2-40B4-BE49-F238E27FC236}">
                <a16:creationId xmlns:a16="http://schemas.microsoft.com/office/drawing/2014/main" id="{F035C399-A0F9-9F22-59D4-1AE6276306DF}"/>
              </a:ext>
            </a:extLst>
          </p:cNvPr>
          <p:cNvSpPr/>
          <p:nvPr/>
        </p:nvSpPr>
        <p:spPr>
          <a:xfrm>
            <a:off x="5794375" y="2371725"/>
            <a:ext cx="80963" cy="442913"/>
          </a:xfrm>
          <a:prstGeom prst="leftBracket">
            <a:avLst/>
          </a:prstGeom>
          <a:noFill/>
          <a:ln>
            <a:solidFill>
              <a:srgbClr val="D8A03D"/>
            </a:solidFill>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116" name="Left Bracket 115">
            <a:extLst>
              <a:ext uri="{FF2B5EF4-FFF2-40B4-BE49-F238E27FC236}">
                <a16:creationId xmlns:a16="http://schemas.microsoft.com/office/drawing/2014/main" id="{62B7F669-8143-EF36-E6BE-8B1DEC594650}"/>
              </a:ext>
            </a:extLst>
          </p:cNvPr>
          <p:cNvSpPr/>
          <p:nvPr/>
        </p:nvSpPr>
        <p:spPr>
          <a:xfrm rot="10800000">
            <a:off x="7265988" y="3519488"/>
            <a:ext cx="80962" cy="442912"/>
          </a:xfrm>
          <a:prstGeom prst="leftBracket">
            <a:avLst/>
          </a:prstGeom>
          <a:noFill/>
          <a:ln>
            <a:solidFill>
              <a:srgbClr val="D8A03D"/>
            </a:solidFill>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pic>
        <p:nvPicPr>
          <p:cNvPr id="125" name="Graphic 124">
            <a:extLst>
              <a:ext uri="{FF2B5EF4-FFF2-40B4-BE49-F238E27FC236}">
                <a16:creationId xmlns:a16="http://schemas.microsoft.com/office/drawing/2014/main" id="{82FEC533-230D-286C-45AA-5A21BFE8368D}"/>
              </a:ext>
            </a:extLst>
          </p:cNvPr>
          <p:cNvPicPr>
            <a:picLocks noChangeAspect="1"/>
          </p:cNvPicPr>
          <p:nvPr/>
        </p:nvPicPr>
        <p:blipFill>
          <a:blip r:embed="rId3"/>
          <a:stretch>
            <a:fillRect/>
          </a:stretch>
        </p:blipFill>
        <p:spPr>
          <a:xfrm rot="20743849">
            <a:off x="6240463" y="2487613"/>
            <a:ext cx="225425" cy="225425"/>
          </a:xfrm>
          <a:prstGeom prst="rect">
            <a:avLst/>
          </a:prstGeom>
        </p:spPr>
      </p:pic>
      <p:pic>
        <p:nvPicPr>
          <p:cNvPr id="126" name="Graphic 125">
            <a:extLst>
              <a:ext uri="{FF2B5EF4-FFF2-40B4-BE49-F238E27FC236}">
                <a16:creationId xmlns:a16="http://schemas.microsoft.com/office/drawing/2014/main" id="{5145ED69-8572-7EE2-4331-55214C38C72E}"/>
              </a:ext>
            </a:extLst>
          </p:cNvPr>
          <p:cNvPicPr>
            <a:picLocks noChangeAspect="1"/>
          </p:cNvPicPr>
          <p:nvPr/>
        </p:nvPicPr>
        <p:blipFill>
          <a:blip r:embed="rId4"/>
          <a:stretch>
            <a:fillRect/>
          </a:stretch>
        </p:blipFill>
        <p:spPr>
          <a:xfrm rot="856151" flipH="1">
            <a:off x="6046788" y="2493963"/>
            <a:ext cx="227012" cy="227012"/>
          </a:xfrm>
          <a:prstGeom prst="rect">
            <a:avLst/>
          </a:prstGeom>
        </p:spPr>
      </p:pic>
      <p:sp>
        <p:nvSpPr>
          <p:cNvPr id="127" name="Double Bracket 126">
            <a:extLst>
              <a:ext uri="{FF2B5EF4-FFF2-40B4-BE49-F238E27FC236}">
                <a16:creationId xmlns:a16="http://schemas.microsoft.com/office/drawing/2014/main" id="{9519187D-4716-AAF2-C7EA-EA6F631D06E7}"/>
              </a:ext>
            </a:extLst>
          </p:cNvPr>
          <p:cNvSpPr/>
          <p:nvPr/>
        </p:nvSpPr>
        <p:spPr>
          <a:xfrm>
            <a:off x="5959475" y="2462213"/>
            <a:ext cx="588963" cy="276225"/>
          </a:xfrm>
          <a:prstGeom prst="bracketPair">
            <a:avLst/>
          </a:prstGeom>
          <a:ln>
            <a:solidFill>
              <a:srgbClr val="E7E7E7"/>
            </a:solidFill>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pic>
        <p:nvPicPr>
          <p:cNvPr id="131" name="Graphic 130">
            <a:extLst>
              <a:ext uri="{FF2B5EF4-FFF2-40B4-BE49-F238E27FC236}">
                <a16:creationId xmlns:a16="http://schemas.microsoft.com/office/drawing/2014/main" id="{9FC48E72-BAA7-C6B4-5801-F532C2419249}"/>
              </a:ext>
            </a:extLst>
          </p:cNvPr>
          <p:cNvPicPr>
            <a:picLocks noChangeAspect="1"/>
          </p:cNvPicPr>
          <p:nvPr/>
        </p:nvPicPr>
        <p:blipFill>
          <a:blip r:embed="rId3"/>
          <a:stretch>
            <a:fillRect/>
          </a:stretch>
        </p:blipFill>
        <p:spPr>
          <a:xfrm rot="20743849">
            <a:off x="6510338" y="3065463"/>
            <a:ext cx="225425" cy="227012"/>
          </a:xfrm>
          <a:prstGeom prst="rect">
            <a:avLst/>
          </a:prstGeom>
        </p:spPr>
      </p:pic>
      <p:pic>
        <p:nvPicPr>
          <p:cNvPr id="132" name="Graphic 131">
            <a:extLst>
              <a:ext uri="{FF2B5EF4-FFF2-40B4-BE49-F238E27FC236}">
                <a16:creationId xmlns:a16="http://schemas.microsoft.com/office/drawing/2014/main" id="{BF261A85-04A4-65C9-6BAB-D73006116D97}"/>
              </a:ext>
            </a:extLst>
          </p:cNvPr>
          <p:cNvPicPr>
            <a:picLocks noChangeAspect="1"/>
          </p:cNvPicPr>
          <p:nvPr/>
        </p:nvPicPr>
        <p:blipFill>
          <a:blip r:embed="rId4"/>
          <a:stretch>
            <a:fillRect/>
          </a:stretch>
        </p:blipFill>
        <p:spPr>
          <a:xfrm rot="856151" flipH="1">
            <a:off x="6316663" y="3073400"/>
            <a:ext cx="227012" cy="225425"/>
          </a:xfrm>
          <a:prstGeom prst="rect">
            <a:avLst/>
          </a:prstGeom>
        </p:spPr>
      </p:pic>
      <p:sp>
        <p:nvSpPr>
          <p:cNvPr id="133" name="Double Bracket 132">
            <a:extLst>
              <a:ext uri="{FF2B5EF4-FFF2-40B4-BE49-F238E27FC236}">
                <a16:creationId xmlns:a16="http://schemas.microsoft.com/office/drawing/2014/main" id="{9FF1FC13-6F2F-C420-AF58-260B63015D4B}"/>
              </a:ext>
            </a:extLst>
          </p:cNvPr>
          <p:cNvSpPr/>
          <p:nvPr/>
        </p:nvSpPr>
        <p:spPr>
          <a:xfrm>
            <a:off x="6229350" y="3041650"/>
            <a:ext cx="588963" cy="274638"/>
          </a:xfrm>
          <a:prstGeom prst="bracketPair">
            <a:avLst/>
          </a:prstGeom>
          <a:ln>
            <a:solidFill>
              <a:srgbClr val="E7E7E7"/>
            </a:solidFill>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pic>
        <p:nvPicPr>
          <p:cNvPr id="134" name="Graphic 133">
            <a:extLst>
              <a:ext uri="{FF2B5EF4-FFF2-40B4-BE49-F238E27FC236}">
                <a16:creationId xmlns:a16="http://schemas.microsoft.com/office/drawing/2014/main" id="{B0781F75-39C6-4781-B1FC-79874A720933}"/>
              </a:ext>
            </a:extLst>
          </p:cNvPr>
          <p:cNvPicPr>
            <a:picLocks noChangeAspect="1"/>
          </p:cNvPicPr>
          <p:nvPr/>
        </p:nvPicPr>
        <p:blipFill>
          <a:blip r:embed="rId3"/>
          <a:stretch>
            <a:fillRect/>
          </a:stretch>
        </p:blipFill>
        <p:spPr>
          <a:xfrm rot="20743849">
            <a:off x="6891338" y="3611563"/>
            <a:ext cx="225425" cy="227012"/>
          </a:xfrm>
          <a:prstGeom prst="rect">
            <a:avLst/>
          </a:prstGeom>
        </p:spPr>
      </p:pic>
      <p:pic>
        <p:nvPicPr>
          <p:cNvPr id="135" name="Graphic 134">
            <a:extLst>
              <a:ext uri="{FF2B5EF4-FFF2-40B4-BE49-F238E27FC236}">
                <a16:creationId xmlns:a16="http://schemas.microsoft.com/office/drawing/2014/main" id="{262F289E-2197-B15C-6D30-41A144125183}"/>
              </a:ext>
            </a:extLst>
          </p:cNvPr>
          <p:cNvPicPr>
            <a:picLocks noChangeAspect="1"/>
          </p:cNvPicPr>
          <p:nvPr/>
        </p:nvPicPr>
        <p:blipFill>
          <a:blip r:embed="rId4"/>
          <a:stretch>
            <a:fillRect/>
          </a:stretch>
        </p:blipFill>
        <p:spPr>
          <a:xfrm rot="856151" flipH="1">
            <a:off x="6697663" y="3617913"/>
            <a:ext cx="227012" cy="227012"/>
          </a:xfrm>
          <a:prstGeom prst="rect">
            <a:avLst/>
          </a:prstGeom>
        </p:spPr>
      </p:pic>
      <p:sp>
        <p:nvSpPr>
          <p:cNvPr id="136" name="Double Bracket 135">
            <a:extLst>
              <a:ext uri="{FF2B5EF4-FFF2-40B4-BE49-F238E27FC236}">
                <a16:creationId xmlns:a16="http://schemas.microsoft.com/office/drawing/2014/main" id="{FB1AE9BC-B85F-7B87-16D0-9266C936060D}"/>
              </a:ext>
            </a:extLst>
          </p:cNvPr>
          <p:cNvSpPr/>
          <p:nvPr/>
        </p:nvSpPr>
        <p:spPr>
          <a:xfrm>
            <a:off x="6610350" y="3587750"/>
            <a:ext cx="588963" cy="274638"/>
          </a:xfrm>
          <a:prstGeom prst="bracketPair">
            <a:avLst/>
          </a:prstGeom>
          <a:ln>
            <a:solidFill>
              <a:srgbClr val="E7E7E7"/>
            </a:solidFill>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138" name="Oval 137">
            <a:extLst>
              <a:ext uri="{FF2B5EF4-FFF2-40B4-BE49-F238E27FC236}">
                <a16:creationId xmlns:a16="http://schemas.microsoft.com/office/drawing/2014/main" id="{0AC37147-9E33-E172-91DB-95DF7A22B5CB}"/>
              </a:ext>
            </a:extLst>
          </p:cNvPr>
          <p:cNvSpPr/>
          <p:nvPr/>
        </p:nvSpPr>
        <p:spPr>
          <a:xfrm>
            <a:off x="6651625" y="2571750"/>
            <a:ext cx="63500" cy="61913"/>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9" name="Oval 138">
            <a:extLst>
              <a:ext uri="{FF2B5EF4-FFF2-40B4-BE49-F238E27FC236}">
                <a16:creationId xmlns:a16="http://schemas.microsoft.com/office/drawing/2014/main" id="{2FF90C4B-5E0D-9FA7-2AD4-9858CE0B8281}"/>
              </a:ext>
            </a:extLst>
          </p:cNvPr>
          <p:cNvSpPr/>
          <p:nvPr/>
        </p:nvSpPr>
        <p:spPr>
          <a:xfrm>
            <a:off x="6796088" y="2573338"/>
            <a:ext cx="63500" cy="61912"/>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0" name="Oval 139">
            <a:extLst>
              <a:ext uri="{FF2B5EF4-FFF2-40B4-BE49-F238E27FC236}">
                <a16:creationId xmlns:a16="http://schemas.microsoft.com/office/drawing/2014/main" id="{3586819A-E9E0-F9FA-BBFE-0E8E1385AB38}"/>
              </a:ext>
            </a:extLst>
          </p:cNvPr>
          <p:cNvSpPr/>
          <p:nvPr/>
        </p:nvSpPr>
        <p:spPr>
          <a:xfrm>
            <a:off x="6948488" y="2571750"/>
            <a:ext cx="65087" cy="61913"/>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1" name="Oval 140">
            <a:extLst>
              <a:ext uri="{FF2B5EF4-FFF2-40B4-BE49-F238E27FC236}">
                <a16:creationId xmlns:a16="http://schemas.microsoft.com/office/drawing/2014/main" id="{4FC14E0D-8AD2-55EA-2238-C558B1B185A5}"/>
              </a:ext>
            </a:extLst>
          </p:cNvPr>
          <p:cNvSpPr/>
          <p:nvPr/>
        </p:nvSpPr>
        <p:spPr>
          <a:xfrm>
            <a:off x="7107238" y="2573338"/>
            <a:ext cx="65087" cy="61912"/>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45" name="Oval 144">
            <a:extLst>
              <a:ext uri="{FF2B5EF4-FFF2-40B4-BE49-F238E27FC236}">
                <a16:creationId xmlns:a16="http://schemas.microsoft.com/office/drawing/2014/main" id="{6FBA713A-8883-9BA9-FBAA-2C0737E575D5}"/>
              </a:ext>
            </a:extLst>
          </p:cNvPr>
          <p:cNvSpPr/>
          <p:nvPr/>
        </p:nvSpPr>
        <p:spPr>
          <a:xfrm rot="10800000">
            <a:off x="5791200" y="3705225"/>
            <a:ext cx="65088" cy="61913"/>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6" name="Oval 145">
            <a:extLst>
              <a:ext uri="{FF2B5EF4-FFF2-40B4-BE49-F238E27FC236}">
                <a16:creationId xmlns:a16="http://schemas.microsoft.com/office/drawing/2014/main" id="{F3FEDD88-362B-3730-441C-288698B9F866}"/>
              </a:ext>
            </a:extLst>
          </p:cNvPr>
          <p:cNvSpPr/>
          <p:nvPr/>
        </p:nvSpPr>
        <p:spPr>
          <a:xfrm rot="10800000">
            <a:off x="5789613" y="3157538"/>
            <a:ext cx="63500" cy="61912"/>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7" name="Oval 146">
            <a:extLst>
              <a:ext uri="{FF2B5EF4-FFF2-40B4-BE49-F238E27FC236}">
                <a16:creationId xmlns:a16="http://schemas.microsoft.com/office/drawing/2014/main" id="{A64D1CDF-CF67-92B2-37F2-C3E5E5DF5C47}"/>
              </a:ext>
            </a:extLst>
          </p:cNvPr>
          <p:cNvSpPr/>
          <p:nvPr/>
        </p:nvSpPr>
        <p:spPr>
          <a:xfrm rot="10800000">
            <a:off x="5942013" y="3155950"/>
            <a:ext cx="65087" cy="61913"/>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48" name="Oval 147">
            <a:extLst>
              <a:ext uri="{FF2B5EF4-FFF2-40B4-BE49-F238E27FC236}">
                <a16:creationId xmlns:a16="http://schemas.microsoft.com/office/drawing/2014/main" id="{B80884B7-4B80-F0E8-6CBC-2213F585D444}"/>
              </a:ext>
            </a:extLst>
          </p:cNvPr>
          <p:cNvSpPr/>
          <p:nvPr/>
        </p:nvSpPr>
        <p:spPr>
          <a:xfrm rot="10800000">
            <a:off x="6100763" y="3157538"/>
            <a:ext cx="65087" cy="61912"/>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49" name="Oval 148">
            <a:extLst>
              <a:ext uri="{FF2B5EF4-FFF2-40B4-BE49-F238E27FC236}">
                <a16:creationId xmlns:a16="http://schemas.microsoft.com/office/drawing/2014/main" id="{D463F176-8F27-D43E-E389-4D0D3ADFA69D}"/>
              </a:ext>
            </a:extLst>
          </p:cNvPr>
          <p:cNvSpPr/>
          <p:nvPr/>
        </p:nvSpPr>
        <p:spPr>
          <a:xfrm rot="10800000">
            <a:off x="5978525" y="3705225"/>
            <a:ext cx="63500" cy="61913"/>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0" name="Oval 149">
            <a:extLst>
              <a:ext uri="{FF2B5EF4-FFF2-40B4-BE49-F238E27FC236}">
                <a16:creationId xmlns:a16="http://schemas.microsoft.com/office/drawing/2014/main" id="{4E747BE3-20D2-5EE9-5EC2-37E4F5B698B1}"/>
              </a:ext>
            </a:extLst>
          </p:cNvPr>
          <p:cNvSpPr/>
          <p:nvPr/>
        </p:nvSpPr>
        <p:spPr>
          <a:xfrm rot="10800000">
            <a:off x="6170613" y="3706813"/>
            <a:ext cx="63500" cy="61912"/>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1" name="Oval 150">
            <a:extLst>
              <a:ext uri="{FF2B5EF4-FFF2-40B4-BE49-F238E27FC236}">
                <a16:creationId xmlns:a16="http://schemas.microsoft.com/office/drawing/2014/main" id="{D40CB720-EE34-F75B-58EA-A56E4A653222}"/>
              </a:ext>
            </a:extLst>
          </p:cNvPr>
          <p:cNvSpPr/>
          <p:nvPr/>
        </p:nvSpPr>
        <p:spPr>
          <a:xfrm rot="10800000">
            <a:off x="6323013" y="3705225"/>
            <a:ext cx="65087" cy="61913"/>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2" name="Oval 151">
            <a:extLst>
              <a:ext uri="{FF2B5EF4-FFF2-40B4-BE49-F238E27FC236}">
                <a16:creationId xmlns:a16="http://schemas.microsoft.com/office/drawing/2014/main" id="{917884F9-D398-4397-7040-219607426232}"/>
              </a:ext>
            </a:extLst>
          </p:cNvPr>
          <p:cNvSpPr/>
          <p:nvPr/>
        </p:nvSpPr>
        <p:spPr>
          <a:xfrm rot="10800000">
            <a:off x="6481763" y="3706813"/>
            <a:ext cx="65087" cy="61912"/>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53" name="Oval 152">
            <a:extLst>
              <a:ext uri="{FF2B5EF4-FFF2-40B4-BE49-F238E27FC236}">
                <a16:creationId xmlns:a16="http://schemas.microsoft.com/office/drawing/2014/main" id="{3C30E61F-B47C-0941-98B8-02E8A67D4CB0}"/>
              </a:ext>
            </a:extLst>
          </p:cNvPr>
          <p:cNvSpPr/>
          <p:nvPr/>
        </p:nvSpPr>
        <p:spPr>
          <a:xfrm rot="10800000">
            <a:off x="5788025" y="3529013"/>
            <a:ext cx="65088" cy="61912"/>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4" name="Oval 153">
            <a:extLst>
              <a:ext uri="{FF2B5EF4-FFF2-40B4-BE49-F238E27FC236}">
                <a16:creationId xmlns:a16="http://schemas.microsoft.com/office/drawing/2014/main" id="{97F756D8-9BAA-DCE1-C149-790C02E7C003}"/>
              </a:ext>
            </a:extLst>
          </p:cNvPr>
          <p:cNvSpPr/>
          <p:nvPr/>
        </p:nvSpPr>
        <p:spPr>
          <a:xfrm rot="10800000">
            <a:off x="5789613" y="3343275"/>
            <a:ext cx="63500" cy="61913"/>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5" name="Oval 154">
            <a:extLst>
              <a:ext uri="{FF2B5EF4-FFF2-40B4-BE49-F238E27FC236}">
                <a16:creationId xmlns:a16="http://schemas.microsoft.com/office/drawing/2014/main" id="{B703E2AF-FD68-FB5D-7583-1D6D69B906D7}"/>
              </a:ext>
            </a:extLst>
          </p:cNvPr>
          <p:cNvSpPr/>
          <p:nvPr/>
        </p:nvSpPr>
        <p:spPr>
          <a:xfrm rot="10800000">
            <a:off x="7110413" y="3154363"/>
            <a:ext cx="63500" cy="61912"/>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7" name="Oval 156">
            <a:extLst>
              <a:ext uri="{FF2B5EF4-FFF2-40B4-BE49-F238E27FC236}">
                <a16:creationId xmlns:a16="http://schemas.microsoft.com/office/drawing/2014/main" id="{93C0E78D-6833-D4F2-0DD9-B2ACC7CA1FAC}"/>
              </a:ext>
            </a:extLst>
          </p:cNvPr>
          <p:cNvSpPr/>
          <p:nvPr/>
        </p:nvSpPr>
        <p:spPr>
          <a:xfrm rot="10800000">
            <a:off x="7107238" y="2978150"/>
            <a:ext cx="63500" cy="61913"/>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8" name="Oval 157">
            <a:extLst>
              <a:ext uri="{FF2B5EF4-FFF2-40B4-BE49-F238E27FC236}">
                <a16:creationId xmlns:a16="http://schemas.microsoft.com/office/drawing/2014/main" id="{ECA1A9F7-D97F-B3A1-4403-E8C425DF1C51}"/>
              </a:ext>
            </a:extLst>
          </p:cNvPr>
          <p:cNvSpPr/>
          <p:nvPr/>
        </p:nvSpPr>
        <p:spPr>
          <a:xfrm rot="10800000">
            <a:off x="7107238" y="2765425"/>
            <a:ext cx="65087" cy="61913"/>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9" name="Oval 158">
            <a:extLst>
              <a:ext uri="{FF2B5EF4-FFF2-40B4-BE49-F238E27FC236}">
                <a16:creationId xmlns:a16="http://schemas.microsoft.com/office/drawing/2014/main" id="{DC18BEA2-2A98-30CA-4640-AD68C4F72CF5}"/>
              </a:ext>
            </a:extLst>
          </p:cNvPr>
          <p:cNvSpPr/>
          <p:nvPr/>
        </p:nvSpPr>
        <p:spPr>
          <a:xfrm rot="10800000">
            <a:off x="6946900" y="3154363"/>
            <a:ext cx="63500" cy="61912"/>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0" name="Oval 159">
            <a:extLst>
              <a:ext uri="{FF2B5EF4-FFF2-40B4-BE49-F238E27FC236}">
                <a16:creationId xmlns:a16="http://schemas.microsoft.com/office/drawing/2014/main" id="{FA72EF21-F348-61B2-4445-96A767000411}"/>
              </a:ext>
            </a:extLst>
          </p:cNvPr>
          <p:cNvSpPr/>
          <p:nvPr/>
        </p:nvSpPr>
        <p:spPr>
          <a:xfrm rot="10800000">
            <a:off x="5835650" y="2570163"/>
            <a:ext cx="65088" cy="61912"/>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1" name="Oval 160">
            <a:extLst>
              <a:ext uri="{FF2B5EF4-FFF2-40B4-BE49-F238E27FC236}">
                <a16:creationId xmlns:a16="http://schemas.microsoft.com/office/drawing/2014/main" id="{C492CBE9-460C-BEB3-A0D2-F2FBA360BEBF}"/>
              </a:ext>
            </a:extLst>
          </p:cNvPr>
          <p:cNvSpPr/>
          <p:nvPr/>
        </p:nvSpPr>
        <p:spPr>
          <a:xfrm rot="10800000">
            <a:off x="7243763" y="3705225"/>
            <a:ext cx="65087" cy="61913"/>
          </a:xfrm>
          <a:prstGeom prst="ellipse">
            <a:avLst/>
          </a:prstGeom>
          <a:solidFill>
            <a:srgbClr val="E7E7E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0" name="Right Arrow 169">
            <a:extLst>
              <a:ext uri="{FF2B5EF4-FFF2-40B4-BE49-F238E27FC236}">
                <a16:creationId xmlns:a16="http://schemas.microsoft.com/office/drawing/2014/main" id="{CFA968A0-B149-27D8-B03C-FC91A4107DD1}"/>
              </a:ext>
            </a:extLst>
          </p:cNvPr>
          <p:cNvSpPr/>
          <p:nvPr/>
        </p:nvSpPr>
        <p:spPr>
          <a:xfrm>
            <a:off x="7540625" y="3017838"/>
            <a:ext cx="311150" cy="339725"/>
          </a:xfrm>
          <a:prstGeom prst="rightArrow">
            <a:avLst/>
          </a:prstGeom>
          <a:solidFill>
            <a:srgbClr val="E7E7E7"/>
          </a:solidFill>
          <a:ln>
            <a:solidFill>
              <a:srgbClr val="E7E7E7"/>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1" name="Rounded Rectangle 170">
            <a:extLst>
              <a:ext uri="{FF2B5EF4-FFF2-40B4-BE49-F238E27FC236}">
                <a16:creationId xmlns:a16="http://schemas.microsoft.com/office/drawing/2014/main" id="{EB3CCD7E-C83B-C5BF-FB65-14A5A35E161C}"/>
              </a:ext>
            </a:extLst>
          </p:cNvPr>
          <p:cNvSpPr/>
          <p:nvPr/>
        </p:nvSpPr>
        <p:spPr>
          <a:xfrm>
            <a:off x="7847013" y="1698625"/>
            <a:ext cx="1847850" cy="4497388"/>
          </a:xfrm>
          <a:prstGeom prst="roundRect">
            <a:avLst/>
          </a:prstGeom>
          <a:solidFill>
            <a:srgbClr val="1D2024"/>
          </a:solidFill>
          <a:ln>
            <a:solidFill>
              <a:srgbClr val="E7E7E7"/>
            </a:solidFill>
          </a:ln>
        </p:spPr>
        <p:style>
          <a:lnRef idx="2">
            <a:schemeClr val="accent1">
              <a:shade val="15000"/>
            </a:schemeClr>
          </a:lnRef>
          <a:fillRef idx="1">
            <a:schemeClr val="accent1"/>
          </a:fillRef>
          <a:effectRef idx="0">
            <a:schemeClr val="accent1"/>
          </a:effectRef>
          <a:fontRef idx="minor">
            <a:schemeClr val="lt1"/>
          </a:fontRef>
        </p:style>
        <p:txBody>
          <a:bodyPr/>
          <a:lstStyle/>
          <a:p>
            <a:pPr algn="ctr" eaLnBrk="1" fontAlgn="auto" hangingPunct="1">
              <a:spcBef>
                <a:spcPts val="0"/>
              </a:spcBef>
              <a:spcAft>
                <a:spcPts val="0"/>
              </a:spcAft>
              <a:defRPr/>
            </a:pPr>
            <a:r>
              <a:rPr lang="en-US" sz="1200" dirty="0">
                <a:solidFill>
                  <a:srgbClr val="D8A03D"/>
                </a:solidFill>
              </a:rPr>
              <a:t>Step 2: Feature Engineering</a:t>
            </a:r>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r>
              <a:rPr lang="en-US" sz="1200" dirty="0"/>
              <a:t>Define engagement windows, approximate </a:t>
            </a:r>
            <a:r>
              <a:rPr lang="en-US" sz="1200" dirty="0">
                <a:solidFill>
                  <a:srgbClr val="D8A03D"/>
                </a:solidFill>
              </a:rPr>
              <a:t>contact onset</a:t>
            </a:r>
            <a:r>
              <a:rPr lang="en-US" sz="1200" dirty="0"/>
              <a:t>, pair player names and positions with individual tracking IDs, and label edge vs. interior matchups</a:t>
            </a:r>
          </a:p>
        </p:txBody>
      </p:sp>
      <p:sp>
        <p:nvSpPr>
          <p:cNvPr id="172" name="Right Arrow 171">
            <a:extLst>
              <a:ext uri="{FF2B5EF4-FFF2-40B4-BE49-F238E27FC236}">
                <a16:creationId xmlns:a16="http://schemas.microsoft.com/office/drawing/2014/main" id="{2022F0A7-5D31-89B9-840D-AAC0203D60D5}"/>
              </a:ext>
            </a:extLst>
          </p:cNvPr>
          <p:cNvSpPr/>
          <p:nvPr/>
        </p:nvSpPr>
        <p:spPr>
          <a:xfrm>
            <a:off x="9694863" y="3032125"/>
            <a:ext cx="311150" cy="339725"/>
          </a:xfrm>
          <a:prstGeom prst="rightArrow">
            <a:avLst/>
          </a:prstGeom>
          <a:solidFill>
            <a:srgbClr val="E7E7E7"/>
          </a:solidFill>
          <a:ln>
            <a:solidFill>
              <a:srgbClr val="E7E7E7"/>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73" name="Rounded Rectangle 172">
            <a:extLst>
              <a:ext uri="{FF2B5EF4-FFF2-40B4-BE49-F238E27FC236}">
                <a16:creationId xmlns:a16="http://schemas.microsoft.com/office/drawing/2014/main" id="{FC1D3CF0-C748-9A46-CC5F-EC37822A09F5}"/>
              </a:ext>
            </a:extLst>
          </p:cNvPr>
          <p:cNvSpPr/>
          <p:nvPr/>
        </p:nvSpPr>
        <p:spPr>
          <a:xfrm>
            <a:off x="10002838" y="1712913"/>
            <a:ext cx="1847850" cy="4497387"/>
          </a:xfrm>
          <a:prstGeom prst="roundRect">
            <a:avLst/>
          </a:prstGeom>
          <a:solidFill>
            <a:srgbClr val="1D2024"/>
          </a:solidFill>
          <a:ln>
            <a:solidFill>
              <a:srgbClr val="E7E7E7"/>
            </a:solidFill>
          </a:ln>
        </p:spPr>
        <p:style>
          <a:lnRef idx="2">
            <a:schemeClr val="accent1">
              <a:shade val="15000"/>
            </a:schemeClr>
          </a:lnRef>
          <a:fillRef idx="1">
            <a:schemeClr val="accent1"/>
          </a:fillRef>
          <a:effectRef idx="0">
            <a:schemeClr val="accent1"/>
          </a:effectRef>
          <a:fontRef idx="minor">
            <a:schemeClr val="lt1"/>
          </a:fontRef>
        </p:style>
        <p:txBody>
          <a:bodyPr/>
          <a:lstStyle/>
          <a:p>
            <a:pPr algn="ctr" eaLnBrk="1" fontAlgn="auto" hangingPunct="1">
              <a:spcBef>
                <a:spcPts val="0"/>
              </a:spcBef>
              <a:spcAft>
                <a:spcPts val="0"/>
              </a:spcAft>
              <a:defRPr/>
            </a:pPr>
            <a:r>
              <a:rPr lang="en-US" sz="1200" dirty="0">
                <a:solidFill>
                  <a:srgbClr val="D8A03D"/>
                </a:solidFill>
              </a:rPr>
              <a:t>Output: Performance Metrics</a:t>
            </a:r>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endParaRPr lang="en-US" sz="1200" dirty="0"/>
          </a:p>
          <a:p>
            <a:pPr algn="ctr" eaLnBrk="1" fontAlgn="auto" hangingPunct="1">
              <a:spcBef>
                <a:spcPts val="0"/>
              </a:spcBef>
              <a:spcAft>
                <a:spcPts val="0"/>
              </a:spcAft>
              <a:defRPr/>
            </a:pPr>
            <a:r>
              <a:rPr lang="en-US" sz="1200" dirty="0"/>
              <a:t>Compute how much depth a defensive lineman gained or an offensive lineman allowed, and measure </a:t>
            </a:r>
            <a:r>
              <a:rPr lang="en-US" sz="1200" dirty="0">
                <a:solidFill>
                  <a:srgbClr val="D8A03D"/>
                </a:solidFill>
              </a:rPr>
              <a:t>power</a:t>
            </a:r>
            <a:r>
              <a:rPr lang="en-US" sz="1200" dirty="0"/>
              <a:t> (bull rushes, DL walking the OL back) and </a:t>
            </a:r>
            <a:r>
              <a:rPr lang="en-US" sz="1200" dirty="0">
                <a:solidFill>
                  <a:srgbClr val="D8A03D"/>
                </a:solidFill>
              </a:rPr>
              <a:t>stalls</a:t>
            </a:r>
            <a:r>
              <a:rPr lang="en-US" sz="1200" dirty="0"/>
              <a:t> (anchor, OL neutralizes DL) proxies</a:t>
            </a:r>
          </a:p>
        </p:txBody>
      </p:sp>
      <p:pic>
        <p:nvPicPr>
          <p:cNvPr id="175" name="Graphic 174">
            <a:extLst>
              <a:ext uri="{FF2B5EF4-FFF2-40B4-BE49-F238E27FC236}">
                <a16:creationId xmlns:a16="http://schemas.microsoft.com/office/drawing/2014/main" id="{6EAE3AB9-BB62-033F-9B48-AEB0892E2989}"/>
              </a:ext>
            </a:extLst>
          </p:cNvPr>
          <p:cNvPicPr>
            <a:picLocks noChangeAspect="1"/>
          </p:cNvPicPr>
          <p:nvPr/>
        </p:nvPicPr>
        <p:blipFill>
          <a:blip r:embed="rId5"/>
          <a:stretch>
            <a:fillRect/>
          </a:stretch>
        </p:blipFill>
        <p:spPr>
          <a:xfrm>
            <a:off x="7967663" y="2395538"/>
            <a:ext cx="774700" cy="773112"/>
          </a:xfrm>
          <a:prstGeom prst="rect">
            <a:avLst/>
          </a:prstGeom>
        </p:spPr>
      </p:pic>
      <p:pic>
        <p:nvPicPr>
          <p:cNvPr id="181" name="Graphic 180">
            <a:extLst>
              <a:ext uri="{FF2B5EF4-FFF2-40B4-BE49-F238E27FC236}">
                <a16:creationId xmlns:a16="http://schemas.microsoft.com/office/drawing/2014/main" id="{4D691FAC-6D12-8F08-81F6-BA0D54300F87}"/>
              </a:ext>
            </a:extLst>
          </p:cNvPr>
          <p:cNvPicPr>
            <a:picLocks noChangeAspect="1"/>
          </p:cNvPicPr>
          <p:nvPr/>
        </p:nvPicPr>
        <p:blipFill>
          <a:blip r:embed="rId6"/>
          <a:stretch>
            <a:fillRect/>
          </a:stretch>
        </p:blipFill>
        <p:spPr>
          <a:xfrm>
            <a:off x="8315325" y="3405188"/>
            <a:ext cx="1111250" cy="1109662"/>
          </a:xfrm>
          <a:prstGeom prst="rect">
            <a:avLst/>
          </a:prstGeom>
        </p:spPr>
      </p:pic>
      <p:pic>
        <p:nvPicPr>
          <p:cNvPr id="185" name="Graphic 184" descr="Marker with solid fill">
            <a:extLst>
              <a:ext uri="{FF2B5EF4-FFF2-40B4-BE49-F238E27FC236}">
                <a16:creationId xmlns:a16="http://schemas.microsoft.com/office/drawing/2014/main" id="{99923DF1-D0A2-3551-3AF2-2765FFD7B2C3}"/>
              </a:ext>
            </a:extLst>
          </p:cNvPr>
          <p:cNvPicPr>
            <a:picLocks noChangeAspect="1"/>
          </p:cNvPicPr>
          <p:nvPr/>
        </p:nvPicPr>
        <p:blipFill>
          <a:blip r:embed="rId7"/>
          <a:stretch>
            <a:fillRect/>
          </a:stretch>
        </p:blipFill>
        <p:spPr>
          <a:xfrm>
            <a:off x="8555038" y="3403600"/>
            <a:ext cx="368300" cy="368300"/>
          </a:xfrm>
          <a:prstGeom prst="rect">
            <a:avLst/>
          </a:prstGeom>
        </p:spPr>
      </p:pic>
      <p:pic>
        <p:nvPicPr>
          <p:cNvPr id="187" name="Graphic 186">
            <a:extLst>
              <a:ext uri="{FF2B5EF4-FFF2-40B4-BE49-F238E27FC236}">
                <a16:creationId xmlns:a16="http://schemas.microsoft.com/office/drawing/2014/main" id="{84A045BF-3CB3-28DB-E13D-EA1A6B97F184}"/>
              </a:ext>
            </a:extLst>
          </p:cNvPr>
          <p:cNvPicPr>
            <a:picLocks noChangeAspect="1"/>
          </p:cNvPicPr>
          <p:nvPr/>
        </p:nvPicPr>
        <p:blipFill>
          <a:blip r:embed="rId8"/>
          <a:stretch>
            <a:fillRect/>
          </a:stretch>
        </p:blipFill>
        <p:spPr>
          <a:xfrm>
            <a:off x="10317163" y="2551113"/>
            <a:ext cx="1274762" cy="1274762"/>
          </a:xfrm>
          <a:prstGeom prst="rect">
            <a:avLst/>
          </a:prstGeom>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317"/>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CF62514-541A-3A62-FB3A-BBD6EB07D71B}"/>
              </a:ext>
            </a:extLst>
          </p:cNvPr>
          <p:cNvSpPr/>
          <p:nvPr/>
        </p:nvSpPr>
        <p:spPr>
          <a:xfrm>
            <a:off x="381000" y="381000"/>
            <a:ext cx="1149667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50" b="1" kern="0" spc="263" dirty="0">
                <a:solidFill>
                  <a:srgbClr val="D8A03D"/>
                </a:solidFill>
                <a:latin typeface="Quattrocento Sans" pitchFamily="34" charset="0"/>
                <a:ea typeface="Quattrocento Sans" pitchFamily="34" charset="-122"/>
                <a:cs typeface="Quattrocento Sans" pitchFamily="34" charset="-120"/>
              </a:rPr>
              <a:t>AUTOMATED DETECTION</a:t>
            </a:r>
            <a:endParaRPr lang="en-US" sz="1600" dirty="0">
              <a:latin typeface="+mn-lt"/>
            </a:endParaRPr>
          </a:p>
        </p:txBody>
      </p:sp>
      <p:sp>
        <p:nvSpPr>
          <p:cNvPr id="5123" name="Text 1">
            <a:extLst>
              <a:ext uri="{FF2B5EF4-FFF2-40B4-BE49-F238E27FC236}">
                <a16:creationId xmlns:a16="http://schemas.microsoft.com/office/drawing/2014/main" id="{DB813000-2AF9-0584-37C1-294FBA101F5E}"/>
              </a:ext>
            </a:extLst>
          </p:cNvPr>
          <p:cNvSpPr>
            <a:spLocks noChangeArrowheads="1"/>
          </p:cNvSpPr>
          <p:nvPr/>
        </p:nvSpPr>
        <p:spPr bwMode="auto">
          <a:xfrm>
            <a:off x="381000" y="647700"/>
            <a:ext cx="116014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90000"/>
              </a:lnSpc>
            </a:pPr>
            <a:r>
              <a:rPr lang="en-US" altLang="en-US" sz="2700" b="1">
                <a:solidFill>
                  <a:srgbClr val="E1E3E6"/>
                </a:solidFill>
                <a:latin typeface="Liter" panose="02000503030000020004" pitchFamily="2" charset="0"/>
                <a:ea typeface="Liter" panose="02000503030000020004" pitchFamily="2" charset="0"/>
                <a:cs typeface="Liter" panose="02000503030000020004" pitchFamily="2" charset="0"/>
              </a:rPr>
              <a:t>Data Pipeline Framework</a:t>
            </a:r>
            <a:endParaRPr lang="en-US" altLang="en-US" sz="1600"/>
          </a:p>
        </p:txBody>
      </p:sp>
      <p:sp>
        <p:nvSpPr>
          <p:cNvPr id="37" name="Rounded Rectangle 36">
            <a:extLst>
              <a:ext uri="{FF2B5EF4-FFF2-40B4-BE49-F238E27FC236}">
                <a16:creationId xmlns:a16="http://schemas.microsoft.com/office/drawing/2014/main" id="{A9BA291A-E672-052C-FA5B-A1A21827B550}"/>
              </a:ext>
            </a:extLst>
          </p:cNvPr>
          <p:cNvSpPr/>
          <p:nvPr/>
        </p:nvSpPr>
        <p:spPr>
          <a:xfrm>
            <a:off x="495300" y="2644775"/>
            <a:ext cx="11201400" cy="381000"/>
          </a:xfrm>
          <a:prstGeom prst="roundRect">
            <a:avLst/>
          </a:prstGeom>
          <a:solidFill>
            <a:srgbClr val="1D2024"/>
          </a:solidFill>
          <a:ln>
            <a:solidFill>
              <a:srgbClr val="E7E7E7"/>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8" name="Rounded Rectangle 37">
            <a:extLst>
              <a:ext uri="{FF2B5EF4-FFF2-40B4-BE49-F238E27FC236}">
                <a16:creationId xmlns:a16="http://schemas.microsoft.com/office/drawing/2014/main" id="{088D2E9C-0EA4-BD08-B2E8-A8502FBAC0C6}"/>
              </a:ext>
            </a:extLst>
          </p:cNvPr>
          <p:cNvSpPr/>
          <p:nvPr/>
        </p:nvSpPr>
        <p:spPr>
          <a:xfrm>
            <a:off x="860425" y="2474913"/>
            <a:ext cx="1614488" cy="725487"/>
          </a:xfrm>
          <a:prstGeom prst="roundRect">
            <a:avLst/>
          </a:prstGeom>
          <a:solidFill>
            <a:srgbClr val="1D2024"/>
          </a:solidFill>
          <a:ln>
            <a:solidFill>
              <a:srgbClr val="E7E7E7"/>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t>Rep 1</a:t>
            </a:r>
          </a:p>
        </p:txBody>
      </p:sp>
      <p:cxnSp>
        <p:nvCxnSpPr>
          <p:cNvPr id="40" name="Straight Connector 39">
            <a:extLst>
              <a:ext uri="{FF2B5EF4-FFF2-40B4-BE49-F238E27FC236}">
                <a16:creationId xmlns:a16="http://schemas.microsoft.com/office/drawing/2014/main" id="{278628DA-7ECB-3EB8-0544-21501B024515}"/>
              </a:ext>
            </a:extLst>
          </p:cNvPr>
          <p:cNvCxnSpPr>
            <a:cxnSpLocks/>
          </p:cNvCxnSpPr>
          <p:nvPr/>
        </p:nvCxnSpPr>
        <p:spPr>
          <a:xfrm>
            <a:off x="1089025" y="2151063"/>
            <a:ext cx="0" cy="1049337"/>
          </a:xfrm>
          <a:prstGeom prst="line">
            <a:avLst/>
          </a:prstGeom>
          <a:ln>
            <a:solidFill>
              <a:srgbClr val="F75930"/>
            </a:solidFill>
          </a:ln>
        </p:spPr>
        <p:style>
          <a:lnRef idx="1">
            <a:schemeClr val="accent1"/>
          </a:lnRef>
          <a:fillRef idx="0">
            <a:schemeClr val="accent1"/>
          </a:fillRef>
          <a:effectRef idx="0">
            <a:schemeClr val="accent1"/>
          </a:effectRef>
          <a:fontRef idx="minor">
            <a:schemeClr val="tx1"/>
          </a:fontRef>
        </p:style>
      </p:cxnSp>
      <p:sp>
        <p:nvSpPr>
          <p:cNvPr id="43" name="Left Bracket 42">
            <a:extLst>
              <a:ext uri="{FF2B5EF4-FFF2-40B4-BE49-F238E27FC236}">
                <a16:creationId xmlns:a16="http://schemas.microsoft.com/office/drawing/2014/main" id="{F2790E8B-D9C9-AC6C-C236-509F2D012CED}"/>
              </a:ext>
            </a:extLst>
          </p:cNvPr>
          <p:cNvSpPr/>
          <p:nvPr/>
        </p:nvSpPr>
        <p:spPr>
          <a:xfrm rot="5400000">
            <a:off x="5618162" y="-3603624"/>
            <a:ext cx="955675" cy="11201400"/>
          </a:xfrm>
          <a:prstGeom prst="leftBracket">
            <a:avLst/>
          </a:prstGeom>
          <a:ln>
            <a:solidFill>
              <a:srgbClr val="F75930"/>
            </a:solidFill>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5128" name="TextBox 43">
            <a:extLst>
              <a:ext uri="{FF2B5EF4-FFF2-40B4-BE49-F238E27FC236}">
                <a16:creationId xmlns:a16="http://schemas.microsoft.com/office/drawing/2014/main" id="{4BF57095-FACD-49C2-727B-21FDCEA1FEF5}"/>
              </a:ext>
            </a:extLst>
          </p:cNvPr>
          <p:cNvSpPr txBox="1">
            <a:spLocks noChangeArrowheads="1"/>
          </p:cNvSpPr>
          <p:nvPr/>
        </p:nvSpPr>
        <p:spPr bwMode="auto">
          <a:xfrm>
            <a:off x="495300" y="1082675"/>
            <a:ext cx="11201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a:solidFill>
                  <a:srgbClr val="F75930"/>
                </a:solidFill>
              </a:rPr>
              <a:t>Outer Algorithm: Search for candidate reps, provide window to inner algorithm, proceed until end of session</a:t>
            </a:r>
          </a:p>
        </p:txBody>
      </p:sp>
      <p:sp>
        <p:nvSpPr>
          <p:cNvPr id="5129" name="TextBox 44">
            <a:extLst>
              <a:ext uri="{FF2B5EF4-FFF2-40B4-BE49-F238E27FC236}">
                <a16:creationId xmlns:a16="http://schemas.microsoft.com/office/drawing/2014/main" id="{4C574841-8D65-EC1E-CD20-8B7F9EA3AFC7}"/>
              </a:ext>
            </a:extLst>
          </p:cNvPr>
          <p:cNvSpPr txBox="1">
            <a:spLocks noChangeArrowheads="1"/>
          </p:cNvSpPr>
          <p:nvPr/>
        </p:nvSpPr>
        <p:spPr bwMode="auto">
          <a:xfrm>
            <a:off x="995363" y="1725613"/>
            <a:ext cx="74882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200">
                <a:solidFill>
                  <a:srgbClr val="F75930"/>
                </a:solidFill>
              </a:rPr>
              <a:t>The trigger: DL crosses normalized Line of Scrimmage threshold (x = 0.5). </a:t>
            </a:r>
          </a:p>
          <a:p>
            <a:pPr eaLnBrk="1" hangingPunct="1"/>
            <a:r>
              <a:rPr lang="en-US" altLang="en-US" sz="1200">
                <a:solidFill>
                  <a:srgbClr val="F75930"/>
                </a:solidFill>
              </a:rPr>
              <a:t>Pass time slice [-4.0 seconds, +8.0 seconds] from frame to local algorithm</a:t>
            </a:r>
          </a:p>
        </p:txBody>
      </p:sp>
      <p:sp>
        <p:nvSpPr>
          <p:cNvPr id="46" name="Left Bracket 45">
            <a:extLst>
              <a:ext uri="{FF2B5EF4-FFF2-40B4-BE49-F238E27FC236}">
                <a16:creationId xmlns:a16="http://schemas.microsoft.com/office/drawing/2014/main" id="{7B405AAA-5F05-171B-F48E-75810907B090}"/>
              </a:ext>
            </a:extLst>
          </p:cNvPr>
          <p:cNvSpPr/>
          <p:nvPr/>
        </p:nvSpPr>
        <p:spPr>
          <a:xfrm rot="16200000">
            <a:off x="1509713" y="2692400"/>
            <a:ext cx="315912" cy="1614488"/>
          </a:xfrm>
          <a:prstGeom prst="leftBracket">
            <a:avLst/>
          </a:prstGeom>
          <a:ln>
            <a:solidFill>
              <a:srgbClr val="0096FF"/>
            </a:solidFill>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solidFill>
                <a:srgbClr val="0096FF"/>
              </a:solidFill>
            </a:endParaRPr>
          </a:p>
        </p:txBody>
      </p:sp>
      <p:sp>
        <p:nvSpPr>
          <p:cNvPr id="5131" name="TextBox 47">
            <a:extLst>
              <a:ext uri="{FF2B5EF4-FFF2-40B4-BE49-F238E27FC236}">
                <a16:creationId xmlns:a16="http://schemas.microsoft.com/office/drawing/2014/main" id="{758A1B35-FBF5-3623-F058-34282C4CDDEE}"/>
              </a:ext>
            </a:extLst>
          </p:cNvPr>
          <p:cNvSpPr txBox="1">
            <a:spLocks noChangeArrowheads="1"/>
          </p:cNvSpPr>
          <p:nvPr/>
        </p:nvSpPr>
        <p:spPr bwMode="auto">
          <a:xfrm>
            <a:off x="284163" y="3657600"/>
            <a:ext cx="2765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a:solidFill>
                  <a:srgbClr val="0096FF"/>
                </a:solidFill>
              </a:rPr>
              <a:t>Inner Algorithm</a:t>
            </a:r>
          </a:p>
        </p:txBody>
      </p:sp>
      <p:sp>
        <p:nvSpPr>
          <p:cNvPr id="53" name="Rounded Rectangle 52">
            <a:extLst>
              <a:ext uri="{FF2B5EF4-FFF2-40B4-BE49-F238E27FC236}">
                <a16:creationId xmlns:a16="http://schemas.microsoft.com/office/drawing/2014/main" id="{7AC09A66-8F7E-1874-BAAD-9E9C80A43DD1}"/>
              </a:ext>
            </a:extLst>
          </p:cNvPr>
          <p:cNvSpPr/>
          <p:nvPr/>
        </p:nvSpPr>
        <p:spPr>
          <a:xfrm>
            <a:off x="3876675" y="2471738"/>
            <a:ext cx="1614488" cy="727075"/>
          </a:xfrm>
          <a:prstGeom prst="roundRect">
            <a:avLst/>
          </a:prstGeom>
          <a:solidFill>
            <a:srgbClr val="1D2024"/>
          </a:solidFill>
          <a:ln>
            <a:solidFill>
              <a:srgbClr val="E7E7E7"/>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t>Rep 2</a:t>
            </a:r>
          </a:p>
        </p:txBody>
      </p:sp>
      <p:cxnSp>
        <p:nvCxnSpPr>
          <p:cNvPr id="54" name="Straight Connector 53">
            <a:extLst>
              <a:ext uri="{FF2B5EF4-FFF2-40B4-BE49-F238E27FC236}">
                <a16:creationId xmlns:a16="http://schemas.microsoft.com/office/drawing/2014/main" id="{F0E63703-94C9-1BDE-CB8C-690F0041866F}"/>
              </a:ext>
            </a:extLst>
          </p:cNvPr>
          <p:cNvCxnSpPr>
            <a:cxnSpLocks/>
          </p:cNvCxnSpPr>
          <p:nvPr/>
        </p:nvCxnSpPr>
        <p:spPr>
          <a:xfrm>
            <a:off x="4105275" y="2149475"/>
            <a:ext cx="0" cy="1049338"/>
          </a:xfrm>
          <a:prstGeom prst="line">
            <a:avLst/>
          </a:prstGeom>
          <a:ln>
            <a:solidFill>
              <a:srgbClr val="F75930"/>
            </a:solidFill>
          </a:ln>
        </p:spPr>
        <p:style>
          <a:lnRef idx="1">
            <a:schemeClr val="accent1"/>
          </a:lnRef>
          <a:fillRef idx="0">
            <a:schemeClr val="accent1"/>
          </a:fillRef>
          <a:effectRef idx="0">
            <a:schemeClr val="accent1"/>
          </a:effectRef>
          <a:fontRef idx="minor">
            <a:schemeClr val="tx1"/>
          </a:fontRef>
        </p:style>
      </p:cxnSp>
      <p:sp>
        <p:nvSpPr>
          <p:cNvPr id="55" name="Rounded Rectangle 54">
            <a:extLst>
              <a:ext uri="{FF2B5EF4-FFF2-40B4-BE49-F238E27FC236}">
                <a16:creationId xmlns:a16="http://schemas.microsoft.com/office/drawing/2014/main" id="{A32645D9-44D9-2564-6D26-3155D7CA42A1}"/>
              </a:ext>
            </a:extLst>
          </p:cNvPr>
          <p:cNvSpPr/>
          <p:nvPr/>
        </p:nvSpPr>
        <p:spPr>
          <a:xfrm>
            <a:off x="6865938" y="2471738"/>
            <a:ext cx="1614487" cy="727075"/>
          </a:xfrm>
          <a:prstGeom prst="roundRect">
            <a:avLst/>
          </a:prstGeom>
          <a:solidFill>
            <a:srgbClr val="1D2024"/>
          </a:solidFill>
          <a:ln>
            <a:solidFill>
              <a:srgbClr val="E7E7E7"/>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t>Rep 3</a:t>
            </a:r>
          </a:p>
        </p:txBody>
      </p:sp>
      <p:cxnSp>
        <p:nvCxnSpPr>
          <p:cNvPr id="56" name="Straight Connector 55">
            <a:extLst>
              <a:ext uri="{FF2B5EF4-FFF2-40B4-BE49-F238E27FC236}">
                <a16:creationId xmlns:a16="http://schemas.microsoft.com/office/drawing/2014/main" id="{A60B3EBA-B606-8964-867E-A0E341B68659}"/>
              </a:ext>
            </a:extLst>
          </p:cNvPr>
          <p:cNvCxnSpPr>
            <a:cxnSpLocks/>
          </p:cNvCxnSpPr>
          <p:nvPr/>
        </p:nvCxnSpPr>
        <p:spPr>
          <a:xfrm>
            <a:off x="7094538" y="2149475"/>
            <a:ext cx="0" cy="1049338"/>
          </a:xfrm>
          <a:prstGeom prst="line">
            <a:avLst/>
          </a:prstGeom>
          <a:ln>
            <a:solidFill>
              <a:srgbClr val="F75930"/>
            </a:solidFill>
          </a:ln>
        </p:spPr>
        <p:style>
          <a:lnRef idx="1">
            <a:schemeClr val="accent1"/>
          </a:lnRef>
          <a:fillRef idx="0">
            <a:schemeClr val="accent1"/>
          </a:fillRef>
          <a:effectRef idx="0">
            <a:schemeClr val="accent1"/>
          </a:effectRef>
          <a:fontRef idx="minor">
            <a:schemeClr val="tx1"/>
          </a:fontRef>
        </p:style>
      </p:cxnSp>
      <p:sp>
        <p:nvSpPr>
          <p:cNvPr id="59" name="Left Bracket 58">
            <a:extLst>
              <a:ext uri="{FF2B5EF4-FFF2-40B4-BE49-F238E27FC236}">
                <a16:creationId xmlns:a16="http://schemas.microsoft.com/office/drawing/2014/main" id="{324D8011-730A-6434-9B6A-E2B7F70A204E}"/>
              </a:ext>
            </a:extLst>
          </p:cNvPr>
          <p:cNvSpPr/>
          <p:nvPr/>
        </p:nvSpPr>
        <p:spPr>
          <a:xfrm rot="16200000">
            <a:off x="4539456" y="2697957"/>
            <a:ext cx="315913" cy="1612900"/>
          </a:xfrm>
          <a:prstGeom prst="leftBracket">
            <a:avLst/>
          </a:prstGeom>
          <a:ln>
            <a:solidFill>
              <a:srgbClr val="0096FF"/>
            </a:solidFill>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solidFill>
                <a:srgbClr val="0096FF"/>
              </a:solidFill>
            </a:endParaRPr>
          </a:p>
        </p:txBody>
      </p:sp>
      <p:sp>
        <p:nvSpPr>
          <p:cNvPr id="60" name="Left Bracket 59">
            <a:extLst>
              <a:ext uri="{FF2B5EF4-FFF2-40B4-BE49-F238E27FC236}">
                <a16:creationId xmlns:a16="http://schemas.microsoft.com/office/drawing/2014/main" id="{E69D86D1-8972-00A0-3792-2400C20984F7}"/>
              </a:ext>
            </a:extLst>
          </p:cNvPr>
          <p:cNvSpPr/>
          <p:nvPr/>
        </p:nvSpPr>
        <p:spPr>
          <a:xfrm rot="16200000">
            <a:off x="7529512" y="2674938"/>
            <a:ext cx="315913" cy="1614488"/>
          </a:xfrm>
          <a:prstGeom prst="leftBracket">
            <a:avLst/>
          </a:prstGeom>
          <a:ln>
            <a:solidFill>
              <a:srgbClr val="0096FF"/>
            </a:solidFill>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solidFill>
                <a:srgbClr val="0096FF"/>
              </a:solidFill>
            </a:endParaRPr>
          </a:p>
        </p:txBody>
      </p:sp>
      <p:pic>
        <p:nvPicPr>
          <p:cNvPr id="62" name="Graphic 61" descr="Arrow: Clockwise curve outline">
            <a:extLst>
              <a:ext uri="{FF2B5EF4-FFF2-40B4-BE49-F238E27FC236}">
                <a16:creationId xmlns:a16="http://schemas.microsoft.com/office/drawing/2014/main" id="{67C6E324-C2D7-3F10-0E11-9EEA52916590}"/>
              </a:ext>
            </a:extLst>
          </p:cNvPr>
          <p:cNvPicPr>
            <a:picLocks noChangeAspect="1"/>
          </p:cNvPicPr>
          <p:nvPr/>
        </p:nvPicPr>
        <p:blipFill>
          <a:blip r:embed="rId3"/>
          <a:stretch>
            <a:fillRect/>
          </a:stretch>
        </p:blipFill>
        <p:spPr>
          <a:xfrm rot="10033619" flipH="1">
            <a:off x="461963" y="3506788"/>
            <a:ext cx="598487" cy="1136650"/>
          </a:xfrm>
          <a:prstGeom prst="rect">
            <a:avLst/>
          </a:prstGeom>
        </p:spPr>
      </p:pic>
      <p:sp>
        <p:nvSpPr>
          <p:cNvPr id="63" name="Rounded Rectangle 62">
            <a:extLst>
              <a:ext uri="{FF2B5EF4-FFF2-40B4-BE49-F238E27FC236}">
                <a16:creationId xmlns:a16="http://schemas.microsoft.com/office/drawing/2014/main" id="{778504F5-2D03-59A6-1D10-B4B21EAC81BA}"/>
              </a:ext>
            </a:extLst>
          </p:cNvPr>
          <p:cNvSpPr/>
          <p:nvPr/>
        </p:nvSpPr>
        <p:spPr>
          <a:xfrm>
            <a:off x="573088" y="4556125"/>
            <a:ext cx="2743200" cy="1233488"/>
          </a:xfrm>
          <a:prstGeom prst="roundRect">
            <a:avLst/>
          </a:prstGeom>
          <a:solidFill>
            <a:srgbClr val="1D2024"/>
          </a:solidFill>
          <a:ln>
            <a:solidFill>
              <a:srgbClr val="E7E7E7"/>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4" name="Left Bracket 63">
            <a:extLst>
              <a:ext uri="{FF2B5EF4-FFF2-40B4-BE49-F238E27FC236}">
                <a16:creationId xmlns:a16="http://schemas.microsoft.com/office/drawing/2014/main" id="{14942FD0-4646-9DCA-DD93-E2CCF1426B8B}"/>
              </a:ext>
            </a:extLst>
          </p:cNvPr>
          <p:cNvSpPr/>
          <p:nvPr/>
        </p:nvSpPr>
        <p:spPr>
          <a:xfrm rot="16200000">
            <a:off x="1810545" y="4704556"/>
            <a:ext cx="315912" cy="2695575"/>
          </a:xfrm>
          <a:prstGeom prst="leftBracket">
            <a:avLst/>
          </a:prstGeom>
          <a:ln>
            <a:solidFill>
              <a:srgbClr val="0096FF"/>
            </a:solidFill>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en-US">
              <a:solidFill>
                <a:srgbClr val="0096FF"/>
              </a:solidFill>
            </a:endParaRPr>
          </a:p>
        </p:txBody>
      </p:sp>
      <p:cxnSp>
        <p:nvCxnSpPr>
          <p:cNvPr id="65" name="Straight Connector 64">
            <a:extLst>
              <a:ext uri="{FF2B5EF4-FFF2-40B4-BE49-F238E27FC236}">
                <a16:creationId xmlns:a16="http://schemas.microsoft.com/office/drawing/2014/main" id="{60134A4E-CA88-CC4C-9C45-7EF93434B6AB}"/>
              </a:ext>
            </a:extLst>
          </p:cNvPr>
          <p:cNvCxnSpPr/>
          <p:nvPr/>
        </p:nvCxnSpPr>
        <p:spPr>
          <a:xfrm>
            <a:off x="1936750" y="4554538"/>
            <a:ext cx="0" cy="1223962"/>
          </a:xfrm>
          <a:prstGeom prst="line">
            <a:avLst/>
          </a:prstGeom>
          <a:ln>
            <a:solidFill>
              <a:srgbClr val="D8A03D"/>
            </a:solidFill>
          </a:ln>
        </p:spPr>
        <p:style>
          <a:lnRef idx="1">
            <a:schemeClr val="accent1"/>
          </a:lnRef>
          <a:fillRef idx="0">
            <a:schemeClr val="accent1"/>
          </a:fillRef>
          <a:effectRef idx="0">
            <a:schemeClr val="accent1"/>
          </a:effectRef>
          <a:fontRef idx="minor">
            <a:schemeClr val="tx1"/>
          </a:fontRef>
        </p:style>
      </p:cxnSp>
      <p:sp>
        <p:nvSpPr>
          <p:cNvPr id="66" name="Oval 65">
            <a:extLst>
              <a:ext uri="{FF2B5EF4-FFF2-40B4-BE49-F238E27FC236}">
                <a16:creationId xmlns:a16="http://schemas.microsoft.com/office/drawing/2014/main" id="{5779E31E-D42A-B363-E077-F5343352246D}"/>
              </a:ext>
            </a:extLst>
          </p:cNvPr>
          <p:cNvSpPr/>
          <p:nvPr/>
        </p:nvSpPr>
        <p:spPr>
          <a:xfrm>
            <a:off x="1979613" y="4602163"/>
            <a:ext cx="127000" cy="127000"/>
          </a:xfrm>
          <a:prstGeom prst="ellipse">
            <a:avLst/>
          </a:prstGeom>
          <a:solidFill>
            <a:schemeClr val="tx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solidFill>
                <a:schemeClr val="tx2">
                  <a:lumMod val="40000"/>
                  <a:lumOff val="60000"/>
                </a:schemeClr>
              </a:solidFill>
            </a:endParaRPr>
          </a:p>
        </p:txBody>
      </p:sp>
      <p:sp>
        <p:nvSpPr>
          <p:cNvPr id="67" name="Oval 66">
            <a:extLst>
              <a:ext uri="{FF2B5EF4-FFF2-40B4-BE49-F238E27FC236}">
                <a16:creationId xmlns:a16="http://schemas.microsoft.com/office/drawing/2014/main" id="{180D1B2D-2EF1-5236-BDBB-A430BD8C6517}"/>
              </a:ext>
            </a:extLst>
          </p:cNvPr>
          <p:cNvSpPr/>
          <p:nvPr/>
        </p:nvSpPr>
        <p:spPr>
          <a:xfrm>
            <a:off x="1997075" y="4867275"/>
            <a:ext cx="127000" cy="127000"/>
          </a:xfrm>
          <a:prstGeom prst="ellipse">
            <a:avLst/>
          </a:prstGeom>
          <a:solidFill>
            <a:srgbClr val="0096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p>
        </p:txBody>
      </p:sp>
      <p:sp>
        <p:nvSpPr>
          <p:cNvPr id="68" name="Oval 67">
            <a:extLst>
              <a:ext uri="{FF2B5EF4-FFF2-40B4-BE49-F238E27FC236}">
                <a16:creationId xmlns:a16="http://schemas.microsoft.com/office/drawing/2014/main" id="{8155F4D5-18B2-47E6-904D-CA1610F181A0}"/>
              </a:ext>
            </a:extLst>
          </p:cNvPr>
          <p:cNvSpPr/>
          <p:nvPr/>
        </p:nvSpPr>
        <p:spPr>
          <a:xfrm>
            <a:off x="1952625" y="5113338"/>
            <a:ext cx="127000" cy="127000"/>
          </a:xfrm>
          <a:prstGeom prst="ellipse">
            <a:avLst/>
          </a:prstGeom>
          <a:solidFill>
            <a:schemeClr val="tx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solidFill>
                <a:schemeClr val="tx2">
                  <a:lumMod val="40000"/>
                  <a:lumOff val="60000"/>
                </a:schemeClr>
              </a:solidFill>
            </a:endParaRPr>
          </a:p>
        </p:txBody>
      </p:sp>
      <p:sp>
        <p:nvSpPr>
          <p:cNvPr id="69" name="Oval 68">
            <a:extLst>
              <a:ext uri="{FF2B5EF4-FFF2-40B4-BE49-F238E27FC236}">
                <a16:creationId xmlns:a16="http://schemas.microsoft.com/office/drawing/2014/main" id="{6E3A280B-97B0-5CEC-BCC0-0D3D6F6F9321}"/>
              </a:ext>
            </a:extLst>
          </p:cNvPr>
          <p:cNvSpPr/>
          <p:nvPr/>
        </p:nvSpPr>
        <p:spPr>
          <a:xfrm>
            <a:off x="2000250" y="5356225"/>
            <a:ext cx="127000" cy="127000"/>
          </a:xfrm>
          <a:prstGeom prst="ellipse">
            <a:avLst/>
          </a:prstGeom>
          <a:solidFill>
            <a:schemeClr val="tx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solidFill>
                <a:schemeClr val="tx2">
                  <a:lumMod val="40000"/>
                  <a:lumOff val="60000"/>
                </a:schemeClr>
              </a:solidFill>
            </a:endParaRPr>
          </a:p>
        </p:txBody>
      </p:sp>
      <p:sp>
        <p:nvSpPr>
          <p:cNvPr id="70" name="Oval 69">
            <a:extLst>
              <a:ext uri="{FF2B5EF4-FFF2-40B4-BE49-F238E27FC236}">
                <a16:creationId xmlns:a16="http://schemas.microsoft.com/office/drawing/2014/main" id="{57756699-3318-41F5-F7D3-FE169DC12156}"/>
              </a:ext>
            </a:extLst>
          </p:cNvPr>
          <p:cNvSpPr/>
          <p:nvPr/>
        </p:nvSpPr>
        <p:spPr>
          <a:xfrm>
            <a:off x="1987550" y="5568950"/>
            <a:ext cx="127000" cy="127000"/>
          </a:xfrm>
          <a:prstGeom prst="ellipse">
            <a:avLst/>
          </a:prstGeom>
          <a:solidFill>
            <a:schemeClr val="tx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solidFill>
                <a:schemeClr val="tx2">
                  <a:lumMod val="40000"/>
                  <a:lumOff val="60000"/>
                </a:schemeClr>
              </a:solidFill>
            </a:endParaRPr>
          </a:p>
        </p:txBody>
      </p:sp>
      <p:sp>
        <p:nvSpPr>
          <p:cNvPr id="71" name="Oval 70">
            <a:extLst>
              <a:ext uri="{FF2B5EF4-FFF2-40B4-BE49-F238E27FC236}">
                <a16:creationId xmlns:a16="http://schemas.microsoft.com/office/drawing/2014/main" id="{E1A46DD4-034E-5800-DF29-3AC919805921}"/>
              </a:ext>
            </a:extLst>
          </p:cNvPr>
          <p:cNvSpPr/>
          <p:nvPr/>
        </p:nvSpPr>
        <p:spPr>
          <a:xfrm>
            <a:off x="1052513" y="5165725"/>
            <a:ext cx="127000" cy="127000"/>
          </a:xfrm>
          <a:prstGeom prst="ellipse">
            <a:avLst/>
          </a:prstGeom>
          <a:solidFill>
            <a:schemeClr val="tx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solidFill>
                <a:schemeClr val="tx2">
                  <a:lumMod val="40000"/>
                  <a:lumOff val="60000"/>
                </a:schemeClr>
              </a:solidFill>
            </a:endParaRPr>
          </a:p>
        </p:txBody>
      </p:sp>
      <p:sp>
        <p:nvSpPr>
          <p:cNvPr id="72" name="Oval 71">
            <a:extLst>
              <a:ext uri="{FF2B5EF4-FFF2-40B4-BE49-F238E27FC236}">
                <a16:creationId xmlns:a16="http://schemas.microsoft.com/office/drawing/2014/main" id="{14FABF2B-AB1C-8C95-E90F-0A23543A9987}"/>
              </a:ext>
            </a:extLst>
          </p:cNvPr>
          <p:cNvSpPr/>
          <p:nvPr/>
        </p:nvSpPr>
        <p:spPr>
          <a:xfrm>
            <a:off x="1220788" y="5138738"/>
            <a:ext cx="127000" cy="127000"/>
          </a:xfrm>
          <a:prstGeom prst="ellipse">
            <a:avLst/>
          </a:prstGeom>
          <a:solidFill>
            <a:schemeClr val="tx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solidFill>
                <a:schemeClr val="tx2">
                  <a:lumMod val="40000"/>
                  <a:lumOff val="60000"/>
                </a:schemeClr>
              </a:solidFill>
            </a:endParaRPr>
          </a:p>
        </p:txBody>
      </p:sp>
      <p:sp>
        <p:nvSpPr>
          <p:cNvPr id="73" name="Oval 72">
            <a:extLst>
              <a:ext uri="{FF2B5EF4-FFF2-40B4-BE49-F238E27FC236}">
                <a16:creationId xmlns:a16="http://schemas.microsoft.com/office/drawing/2014/main" id="{35999558-446A-C25E-8926-B6EB8F838E00}"/>
              </a:ext>
            </a:extLst>
          </p:cNvPr>
          <p:cNvSpPr/>
          <p:nvPr/>
        </p:nvSpPr>
        <p:spPr>
          <a:xfrm>
            <a:off x="1760538" y="4803775"/>
            <a:ext cx="127000" cy="127000"/>
          </a:xfrm>
          <a:prstGeom prst="ellipse">
            <a:avLst/>
          </a:prstGeom>
          <a:solidFill>
            <a:srgbClr val="F7593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p>
        </p:txBody>
      </p:sp>
      <p:sp>
        <p:nvSpPr>
          <p:cNvPr id="74" name="Oval 73">
            <a:extLst>
              <a:ext uri="{FF2B5EF4-FFF2-40B4-BE49-F238E27FC236}">
                <a16:creationId xmlns:a16="http://schemas.microsoft.com/office/drawing/2014/main" id="{7E3D21DD-6DA8-C943-D3C5-85FDAF22EDA0}"/>
              </a:ext>
            </a:extLst>
          </p:cNvPr>
          <p:cNvSpPr/>
          <p:nvPr/>
        </p:nvSpPr>
        <p:spPr>
          <a:xfrm>
            <a:off x="1139825" y="5335588"/>
            <a:ext cx="127000" cy="127000"/>
          </a:xfrm>
          <a:prstGeom prst="ellipse">
            <a:avLst/>
          </a:prstGeom>
          <a:solidFill>
            <a:schemeClr val="tx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solidFill>
                <a:schemeClr val="tx2">
                  <a:lumMod val="40000"/>
                  <a:lumOff val="60000"/>
                </a:schemeClr>
              </a:solidFill>
            </a:endParaRPr>
          </a:p>
        </p:txBody>
      </p:sp>
      <p:sp>
        <p:nvSpPr>
          <p:cNvPr id="75" name="Oval 74">
            <a:extLst>
              <a:ext uri="{FF2B5EF4-FFF2-40B4-BE49-F238E27FC236}">
                <a16:creationId xmlns:a16="http://schemas.microsoft.com/office/drawing/2014/main" id="{9E8EA058-67AF-7170-2A02-EE62C7EFDB6D}"/>
              </a:ext>
            </a:extLst>
          </p:cNvPr>
          <p:cNvSpPr/>
          <p:nvPr/>
        </p:nvSpPr>
        <p:spPr>
          <a:xfrm>
            <a:off x="1127125" y="5548313"/>
            <a:ext cx="127000" cy="127000"/>
          </a:xfrm>
          <a:prstGeom prst="ellipse">
            <a:avLst/>
          </a:prstGeom>
          <a:solidFill>
            <a:schemeClr val="tx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solidFill>
                <a:schemeClr val="tx2">
                  <a:lumMod val="40000"/>
                  <a:lumOff val="60000"/>
                </a:schemeClr>
              </a:solidFill>
            </a:endParaRPr>
          </a:p>
        </p:txBody>
      </p:sp>
      <p:sp>
        <p:nvSpPr>
          <p:cNvPr id="76" name="Oval 75">
            <a:extLst>
              <a:ext uri="{FF2B5EF4-FFF2-40B4-BE49-F238E27FC236}">
                <a16:creationId xmlns:a16="http://schemas.microsoft.com/office/drawing/2014/main" id="{BA75DF09-0039-DDCA-B54E-A1ED44BA9530}"/>
              </a:ext>
            </a:extLst>
          </p:cNvPr>
          <p:cNvSpPr/>
          <p:nvPr/>
        </p:nvSpPr>
        <p:spPr>
          <a:xfrm>
            <a:off x="2654300" y="5605463"/>
            <a:ext cx="127000" cy="127000"/>
          </a:xfrm>
          <a:prstGeom prst="ellipse">
            <a:avLst/>
          </a:prstGeom>
          <a:solidFill>
            <a:schemeClr val="tx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solidFill>
                <a:schemeClr val="tx2">
                  <a:lumMod val="40000"/>
                  <a:lumOff val="60000"/>
                </a:schemeClr>
              </a:solidFill>
            </a:endParaRPr>
          </a:p>
        </p:txBody>
      </p:sp>
      <p:sp>
        <p:nvSpPr>
          <p:cNvPr id="77" name="Oval 76">
            <a:extLst>
              <a:ext uri="{FF2B5EF4-FFF2-40B4-BE49-F238E27FC236}">
                <a16:creationId xmlns:a16="http://schemas.microsoft.com/office/drawing/2014/main" id="{B16F41FE-81BF-4DFD-BCF3-2E241503D22C}"/>
              </a:ext>
            </a:extLst>
          </p:cNvPr>
          <p:cNvSpPr/>
          <p:nvPr/>
        </p:nvSpPr>
        <p:spPr>
          <a:xfrm>
            <a:off x="2825750" y="5487988"/>
            <a:ext cx="127000" cy="127000"/>
          </a:xfrm>
          <a:prstGeom prst="ellipse">
            <a:avLst/>
          </a:prstGeom>
          <a:solidFill>
            <a:schemeClr val="tx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solidFill>
                <a:schemeClr val="tx2">
                  <a:lumMod val="40000"/>
                  <a:lumOff val="60000"/>
                </a:schemeClr>
              </a:solidFill>
            </a:endParaRPr>
          </a:p>
        </p:txBody>
      </p:sp>
      <p:sp>
        <p:nvSpPr>
          <p:cNvPr id="78" name="Oval 77">
            <a:extLst>
              <a:ext uri="{FF2B5EF4-FFF2-40B4-BE49-F238E27FC236}">
                <a16:creationId xmlns:a16="http://schemas.microsoft.com/office/drawing/2014/main" id="{11775AB0-E117-B5E2-334E-2904B9E4E86C}"/>
              </a:ext>
            </a:extLst>
          </p:cNvPr>
          <p:cNvSpPr/>
          <p:nvPr/>
        </p:nvSpPr>
        <p:spPr>
          <a:xfrm>
            <a:off x="2586038" y="5419725"/>
            <a:ext cx="127000" cy="127000"/>
          </a:xfrm>
          <a:prstGeom prst="ellipse">
            <a:avLst/>
          </a:prstGeom>
          <a:solidFill>
            <a:schemeClr val="tx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just" eaLnBrk="1" fontAlgn="auto" hangingPunct="1">
              <a:spcBef>
                <a:spcPts val="0"/>
              </a:spcBef>
              <a:spcAft>
                <a:spcPts val="0"/>
              </a:spcAft>
              <a:defRPr/>
            </a:pPr>
            <a:endParaRPr lang="en-US" dirty="0">
              <a:solidFill>
                <a:schemeClr val="tx2">
                  <a:lumMod val="40000"/>
                  <a:lumOff val="60000"/>
                </a:schemeClr>
              </a:solidFill>
            </a:endParaRPr>
          </a:p>
        </p:txBody>
      </p:sp>
      <p:sp>
        <p:nvSpPr>
          <p:cNvPr id="5155" name="TextBox 78">
            <a:extLst>
              <a:ext uri="{FF2B5EF4-FFF2-40B4-BE49-F238E27FC236}">
                <a16:creationId xmlns:a16="http://schemas.microsoft.com/office/drawing/2014/main" id="{4D45FD69-1D19-9B22-4F89-A2F71728A8C4}"/>
              </a:ext>
            </a:extLst>
          </p:cNvPr>
          <p:cNvSpPr txBox="1">
            <a:spLocks noChangeArrowheads="1"/>
          </p:cNvSpPr>
          <p:nvPr/>
        </p:nvSpPr>
        <p:spPr bwMode="auto">
          <a:xfrm>
            <a:off x="3567113" y="4445000"/>
            <a:ext cx="4741862"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400" b="1">
                <a:solidFill>
                  <a:srgbClr val="0096FF"/>
                </a:solidFill>
              </a:rPr>
              <a:t>Pair Identification</a:t>
            </a:r>
            <a:r>
              <a:rPr lang="en-US" altLang="en-US" sz="1400">
                <a:solidFill>
                  <a:srgbClr val="0096FF"/>
                </a:solidFill>
              </a:rPr>
              <a:t>: Score each OL-DL pair by active close frames (distance &lt; 2.0 yards while both players’ speeds &gt; 1.0). Pick highest scoring pair.</a:t>
            </a:r>
          </a:p>
          <a:p>
            <a:pPr eaLnBrk="1" hangingPunct="1"/>
            <a:r>
              <a:rPr lang="en-US" altLang="en-US" sz="1400" b="1">
                <a:solidFill>
                  <a:srgbClr val="0096FF"/>
                </a:solidFill>
              </a:rPr>
              <a:t>Rep Start: </a:t>
            </a:r>
            <a:r>
              <a:rPr lang="en-US" altLang="en-US" sz="1400">
                <a:solidFill>
                  <a:srgbClr val="0096FF"/>
                </a:solidFill>
              </a:rPr>
              <a:t>Pick earliest frame where pair’s combined speed or acceleration crosses given threshold</a:t>
            </a:r>
          </a:p>
          <a:p>
            <a:pPr eaLnBrk="1" hangingPunct="1"/>
            <a:r>
              <a:rPr lang="en-US" altLang="en-US" sz="1400" b="1">
                <a:solidFill>
                  <a:srgbClr val="0096FF"/>
                </a:solidFill>
              </a:rPr>
              <a:t>Rep End: </a:t>
            </a:r>
            <a:r>
              <a:rPr lang="en-US" altLang="en-US" sz="1400">
                <a:solidFill>
                  <a:srgbClr val="0096FF"/>
                </a:solidFill>
              </a:rPr>
              <a:t>Pick first frame where a) either player is moving back toward LOS over sustained frames or b) rep stagnates over a given duration</a:t>
            </a:r>
            <a:endParaRPr lang="en-US" altLang="en-US" sz="1400" b="1">
              <a:solidFill>
                <a:srgbClr val="0096FF"/>
              </a:solidFill>
            </a:endParaRPr>
          </a:p>
        </p:txBody>
      </p:sp>
      <p:sp>
        <p:nvSpPr>
          <p:cNvPr id="5156" name="TextBox 80">
            <a:extLst>
              <a:ext uri="{FF2B5EF4-FFF2-40B4-BE49-F238E27FC236}">
                <a16:creationId xmlns:a16="http://schemas.microsoft.com/office/drawing/2014/main" id="{DD8A031E-A775-8D58-7D60-2BE9D39BCAE3}"/>
              </a:ext>
            </a:extLst>
          </p:cNvPr>
          <p:cNvSpPr txBox="1">
            <a:spLocks noChangeArrowheads="1"/>
          </p:cNvSpPr>
          <p:nvPr/>
        </p:nvSpPr>
        <p:spPr bwMode="auto">
          <a:xfrm>
            <a:off x="8515350" y="4437063"/>
            <a:ext cx="3290888"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400" b="1">
                <a:solidFill>
                  <a:srgbClr val="E7E7E7"/>
                </a:solidFill>
              </a:rPr>
              <a:t>The algorithm returns a dataframe with all of the identified frames between the OL-DL pair for each rep across a given practice session. Required manual inputs are OL and DL jersey numbers, the timestamps for the drill period, and the line of scrimmage.</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317"/>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E0423ED-125D-931F-8E06-64F4E259C8C6}"/>
              </a:ext>
            </a:extLst>
          </p:cNvPr>
          <p:cNvSpPr/>
          <p:nvPr/>
        </p:nvSpPr>
        <p:spPr>
          <a:xfrm>
            <a:off x="381000" y="381000"/>
            <a:ext cx="1149667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50" b="1" kern="0" spc="263" dirty="0">
                <a:solidFill>
                  <a:srgbClr val="D8A03D"/>
                </a:solidFill>
                <a:latin typeface="Quattrocento Sans" pitchFamily="34" charset="0"/>
                <a:ea typeface="Quattrocento Sans" pitchFamily="34" charset="-122"/>
                <a:cs typeface="Quattrocento Sans" pitchFamily="34" charset="-120"/>
              </a:rPr>
              <a:t>AUTOMATED DETECTION</a:t>
            </a:r>
            <a:endParaRPr lang="en-US" sz="1600" dirty="0">
              <a:latin typeface="+mn-lt"/>
            </a:endParaRPr>
          </a:p>
        </p:txBody>
      </p:sp>
      <p:sp>
        <p:nvSpPr>
          <p:cNvPr id="7171" name="Text 1">
            <a:extLst>
              <a:ext uri="{FF2B5EF4-FFF2-40B4-BE49-F238E27FC236}">
                <a16:creationId xmlns:a16="http://schemas.microsoft.com/office/drawing/2014/main" id="{CB944D00-293C-CA22-FE5D-5D62356FD244}"/>
              </a:ext>
            </a:extLst>
          </p:cNvPr>
          <p:cNvSpPr>
            <a:spLocks noChangeArrowheads="1"/>
          </p:cNvSpPr>
          <p:nvPr/>
        </p:nvSpPr>
        <p:spPr bwMode="auto">
          <a:xfrm>
            <a:off x="381000" y="647700"/>
            <a:ext cx="116014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90000"/>
              </a:lnSpc>
            </a:pPr>
            <a:r>
              <a:rPr lang="en-US" altLang="en-US" sz="2700" b="1">
                <a:solidFill>
                  <a:srgbClr val="E1E3E6"/>
                </a:solidFill>
                <a:latin typeface="Liter" panose="02000503030000020004" pitchFamily="2" charset="0"/>
                <a:ea typeface="Liter" panose="02000503030000020004" pitchFamily="2" charset="0"/>
                <a:cs typeface="Liter" panose="02000503030000020004" pitchFamily="2" charset="0"/>
              </a:rPr>
              <a:t>Data Pipeline Framework Validation</a:t>
            </a:r>
          </a:p>
        </p:txBody>
      </p:sp>
      <p:sp>
        <p:nvSpPr>
          <p:cNvPr id="7172" name="Shape 2">
            <a:extLst>
              <a:ext uri="{FF2B5EF4-FFF2-40B4-BE49-F238E27FC236}">
                <a16:creationId xmlns:a16="http://schemas.microsoft.com/office/drawing/2014/main" id="{51D3E346-4EEB-4921-5D76-064856924C67}"/>
              </a:ext>
            </a:extLst>
          </p:cNvPr>
          <p:cNvSpPr>
            <a:spLocks/>
          </p:cNvSpPr>
          <p:nvPr/>
        </p:nvSpPr>
        <p:spPr bwMode="auto">
          <a:xfrm>
            <a:off x="385763" y="1185863"/>
            <a:ext cx="5610225" cy="2638425"/>
          </a:xfrm>
          <a:custGeom>
            <a:avLst/>
            <a:gdLst>
              <a:gd name="T0" fmla="*/ 38099 w 5610225"/>
              <a:gd name="T1" fmla="*/ 0 h 2638425"/>
              <a:gd name="T2" fmla="*/ 5572126 w 5610225"/>
              <a:gd name="T3" fmla="*/ 0 h 2638425"/>
              <a:gd name="T4" fmla="*/ 5610225 w 5610225"/>
              <a:gd name="T5" fmla="*/ 38099 h 2638425"/>
              <a:gd name="T6" fmla="*/ 5610225 w 5610225"/>
              <a:gd name="T7" fmla="*/ 2600326 h 2638425"/>
              <a:gd name="T8" fmla="*/ 5572126 w 5610225"/>
              <a:gd name="T9" fmla="*/ 2638425 h 2638425"/>
              <a:gd name="T10" fmla="*/ 38099 w 5610225"/>
              <a:gd name="T11" fmla="*/ 2638425 h 2638425"/>
              <a:gd name="T12" fmla="*/ 0 w 5610225"/>
              <a:gd name="T13" fmla="*/ 2600326 h 2638425"/>
              <a:gd name="T14" fmla="*/ 0 w 5610225"/>
              <a:gd name="T15" fmla="*/ 38099 h 2638425"/>
              <a:gd name="T16" fmla="*/ 38099 w 5610225"/>
              <a:gd name="T17" fmla="*/ 0 h 2638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10225" h="2638425">
                <a:moveTo>
                  <a:pt x="38099" y="0"/>
                </a:moveTo>
                <a:lnTo>
                  <a:pt x="5572126" y="0"/>
                </a:lnTo>
                <a:cubicBezTo>
                  <a:pt x="5593153" y="0"/>
                  <a:pt x="5610225" y="17072"/>
                  <a:pt x="5610225" y="38099"/>
                </a:cubicBezTo>
                <a:lnTo>
                  <a:pt x="5610225" y="2600326"/>
                </a:lnTo>
                <a:cubicBezTo>
                  <a:pt x="5610225" y="2621353"/>
                  <a:pt x="5593153" y="2638425"/>
                  <a:pt x="5572126" y="2638425"/>
                </a:cubicBezTo>
                <a:lnTo>
                  <a:pt x="38099" y="2638425"/>
                </a:lnTo>
                <a:cubicBezTo>
                  <a:pt x="17072" y="2638425"/>
                  <a:pt x="0" y="2621353"/>
                  <a:pt x="0" y="2600326"/>
                </a:cubicBezTo>
                <a:lnTo>
                  <a:pt x="0" y="38099"/>
                </a:lnTo>
                <a:cubicBezTo>
                  <a:pt x="0" y="17072"/>
                  <a:pt x="17072" y="0"/>
                  <a:pt x="38099" y="0"/>
                </a:cubicBezTo>
                <a:close/>
              </a:path>
            </a:pathLst>
          </a:custGeom>
          <a:solidFill>
            <a:srgbClr val="1E2024"/>
          </a:solidFill>
          <a:ln w="12700">
            <a:solidFill>
              <a:srgbClr val="4C7E9A">
                <a:alpha val="30196"/>
              </a:srgbClr>
            </a:solidFill>
            <a:prstDash val="solid"/>
            <a:round/>
            <a:headEnd/>
            <a:tailEnd/>
          </a:ln>
        </p:spPr>
        <p:txBody>
          <a:bodyPr/>
          <a:lstStyle/>
          <a:p>
            <a:endParaRPr lang="en-US"/>
          </a:p>
        </p:txBody>
      </p:sp>
      <p:sp>
        <p:nvSpPr>
          <p:cNvPr id="7173" name="Shape 3">
            <a:extLst>
              <a:ext uri="{FF2B5EF4-FFF2-40B4-BE49-F238E27FC236}">
                <a16:creationId xmlns:a16="http://schemas.microsoft.com/office/drawing/2014/main" id="{0996E7DC-8010-0C2A-D475-7657C1B771BF}"/>
              </a:ext>
            </a:extLst>
          </p:cNvPr>
          <p:cNvSpPr>
            <a:spLocks/>
          </p:cNvSpPr>
          <p:nvPr/>
        </p:nvSpPr>
        <p:spPr bwMode="auto">
          <a:xfrm>
            <a:off x="544513" y="1390650"/>
            <a:ext cx="215900" cy="171450"/>
          </a:xfrm>
          <a:custGeom>
            <a:avLst/>
            <a:gdLst>
              <a:gd name="T0" fmla="*/ 149483 w 214313"/>
              <a:gd name="T1" fmla="*/ 75110 h 171450"/>
              <a:gd name="T2" fmla="*/ 165724 w 214313"/>
              <a:gd name="T3" fmla="*/ 90413 h 171450"/>
              <a:gd name="T4" fmla="*/ 188595 w 214313"/>
              <a:gd name="T5" fmla="*/ 83716 h 171450"/>
              <a:gd name="T6" fmla="*/ 196129 w 214313"/>
              <a:gd name="T7" fmla="*/ 101296 h 171450"/>
              <a:gd name="T8" fmla="*/ 190001 w 214313"/>
              <a:gd name="T9" fmla="*/ 117905 h 171450"/>
              <a:gd name="T10" fmla="*/ 203630 w 214313"/>
              <a:gd name="T11" fmla="*/ 129224 h 171450"/>
              <a:gd name="T12" fmla="*/ 205907 w 214313"/>
              <a:gd name="T13" fmla="*/ 148210 h 171450"/>
              <a:gd name="T14" fmla="*/ 182735 w 214313"/>
              <a:gd name="T15" fmla="*/ 153836 h 171450"/>
              <a:gd name="T16" fmla="*/ 176306 w 214313"/>
              <a:gd name="T17" fmla="*/ 175234 h 171450"/>
              <a:gd name="T18" fmla="*/ 161002 w 214313"/>
              <a:gd name="T19" fmla="*/ 186686 h 171450"/>
              <a:gd name="T20" fmla="*/ 144560 w 214313"/>
              <a:gd name="T21" fmla="*/ 169474 h 171450"/>
              <a:gd name="T22" fmla="*/ 122828 w 214313"/>
              <a:gd name="T23" fmla="*/ 174564 h 171450"/>
              <a:gd name="T24" fmla="*/ 105248 w 214313"/>
              <a:gd name="T25" fmla="*/ 167030 h 171450"/>
              <a:gd name="T26" fmla="*/ 111945 w 214313"/>
              <a:gd name="T27" fmla="*/ 144159 h 171450"/>
              <a:gd name="T28" fmla="*/ 109266 w 214313"/>
              <a:gd name="T29" fmla="*/ 134146 h 171450"/>
              <a:gd name="T30" fmla="*/ 92020 w 214313"/>
              <a:gd name="T31" fmla="*/ 117704 h 171450"/>
              <a:gd name="T32" fmla="*/ 103473 w 214313"/>
              <a:gd name="T33" fmla="*/ 102401 h 171450"/>
              <a:gd name="T34" fmla="*/ 124837 w 214313"/>
              <a:gd name="T35" fmla="*/ 95938 h 171450"/>
              <a:gd name="T36" fmla="*/ 130463 w 214313"/>
              <a:gd name="T37" fmla="*/ 72833 h 171450"/>
              <a:gd name="T38" fmla="*/ 139270 w 214313"/>
              <a:gd name="T39" fmla="*/ 70489 h 171450"/>
              <a:gd name="T40" fmla="*/ 135435 w 214313"/>
              <a:gd name="T41" fmla="*/ 128604 h 171450"/>
              <a:gd name="T42" fmla="*/ 164903 w 214313"/>
              <a:gd name="T43" fmla="*/ 128571 h 171450"/>
              <a:gd name="T44" fmla="*/ 75311 w 214313"/>
              <a:gd name="T45" fmla="*/ -15236 h 171450"/>
              <a:gd name="T46" fmla="*/ 90614 w 214313"/>
              <a:gd name="T47" fmla="*/ -3784 h 171450"/>
              <a:gd name="T48" fmla="*/ 97043 w 214313"/>
              <a:gd name="T49" fmla="*/ 17580 h 171450"/>
              <a:gd name="T50" fmla="*/ 120216 w 214313"/>
              <a:gd name="T51" fmla="*/ 23206 h 171450"/>
              <a:gd name="T52" fmla="*/ 117939 w 214313"/>
              <a:gd name="T53" fmla="*/ 42193 h 171450"/>
              <a:gd name="T54" fmla="*/ 104310 w 214313"/>
              <a:gd name="T55" fmla="*/ 53511 h 171450"/>
              <a:gd name="T56" fmla="*/ 110438 w 214313"/>
              <a:gd name="T57" fmla="*/ 70154 h 171450"/>
              <a:gd name="T58" fmla="*/ 102903 w 214313"/>
              <a:gd name="T59" fmla="*/ 87734 h 171450"/>
              <a:gd name="T60" fmla="*/ 80032 w 214313"/>
              <a:gd name="T61" fmla="*/ 81037 h 171450"/>
              <a:gd name="T62" fmla="*/ 63791 w 214313"/>
              <a:gd name="T63" fmla="*/ 96340 h 171450"/>
              <a:gd name="T64" fmla="*/ 44805 w 214313"/>
              <a:gd name="T65" fmla="*/ 98617 h 171450"/>
              <a:gd name="T66" fmla="*/ 39179 w 214313"/>
              <a:gd name="T67" fmla="*/ 75478 h 171450"/>
              <a:gd name="T68" fmla="*/ 17781 w 214313"/>
              <a:gd name="T69" fmla="*/ 69015 h 171450"/>
              <a:gd name="T70" fmla="*/ 6329 w 214313"/>
              <a:gd name="T71" fmla="*/ 53712 h 171450"/>
              <a:gd name="T72" fmla="*/ 23574 w 214313"/>
              <a:gd name="T73" fmla="*/ 37270 h 171450"/>
              <a:gd name="T74" fmla="*/ 26253 w 214313"/>
              <a:gd name="T75" fmla="*/ 27258 h 171450"/>
              <a:gd name="T76" fmla="*/ 19556 w 214313"/>
              <a:gd name="T77" fmla="*/ 4420 h 171450"/>
              <a:gd name="T78" fmla="*/ 37136 w 214313"/>
              <a:gd name="T79" fmla="*/ -3114 h 171450"/>
              <a:gd name="T80" fmla="*/ 58869 w 214313"/>
              <a:gd name="T81" fmla="*/ 1976 h 171450"/>
              <a:gd name="T82" fmla="*/ 75311 w 214313"/>
              <a:gd name="T83" fmla="*/ -15236 h 171450"/>
              <a:gd name="T84" fmla="*/ 49694 w 214313"/>
              <a:gd name="T85" fmla="*/ 42863 h 171450"/>
              <a:gd name="T86" fmla="*/ 79162 w 214313"/>
              <a:gd name="T87" fmla="*/ 42863 h 17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4313" h="171450">
                <a:moveTo>
                  <a:pt x="139270" y="70489"/>
                </a:moveTo>
                <a:cubicBezTo>
                  <a:pt x="143355" y="69384"/>
                  <a:pt x="147641" y="71326"/>
                  <a:pt x="149483" y="75110"/>
                </a:cubicBezTo>
                <a:lnTo>
                  <a:pt x="155711" y="87701"/>
                </a:lnTo>
                <a:cubicBezTo>
                  <a:pt x="159161" y="88170"/>
                  <a:pt x="162543" y="89107"/>
                  <a:pt x="165724" y="90413"/>
                </a:cubicBezTo>
                <a:lnTo>
                  <a:pt x="177444" y="82611"/>
                </a:lnTo>
                <a:cubicBezTo>
                  <a:pt x="180960" y="80267"/>
                  <a:pt x="185615" y="80736"/>
                  <a:pt x="188595" y="83716"/>
                </a:cubicBezTo>
                <a:lnTo>
                  <a:pt x="195024" y="90145"/>
                </a:lnTo>
                <a:cubicBezTo>
                  <a:pt x="198005" y="93125"/>
                  <a:pt x="198473" y="97814"/>
                  <a:pt x="196129" y="101296"/>
                </a:cubicBezTo>
                <a:lnTo>
                  <a:pt x="188327" y="112983"/>
                </a:lnTo>
                <a:cubicBezTo>
                  <a:pt x="188963" y="114557"/>
                  <a:pt x="189533" y="116198"/>
                  <a:pt x="190001" y="117905"/>
                </a:cubicBezTo>
                <a:cubicBezTo>
                  <a:pt x="190470" y="119613"/>
                  <a:pt x="190772" y="121287"/>
                  <a:pt x="191006" y="122995"/>
                </a:cubicBezTo>
                <a:lnTo>
                  <a:pt x="203630" y="129224"/>
                </a:lnTo>
                <a:cubicBezTo>
                  <a:pt x="207414" y="131099"/>
                  <a:pt x="209357" y="135385"/>
                  <a:pt x="208251" y="139437"/>
                </a:cubicBezTo>
                <a:lnTo>
                  <a:pt x="205907" y="148210"/>
                </a:lnTo>
                <a:cubicBezTo>
                  <a:pt x="204802" y="152262"/>
                  <a:pt x="201018" y="155008"/>
                  <a:pt x="196799" y="154740"/>
                </a:cubicBezTo>
                <a:lnTo>
                  <a:pt x="182735" y="153836"/>
                </a:lnTo>
                <a:cubicBezTo>
                  <a:pt x="180625" y="156549"/>
                  <a:pt x="178181" y="159060"/>
                  <a:pt x="175401" y="161203"/>
                </a:cubicBezTo>
                <a:lnTo>
                  <a:pt x="176306" y="175234"/>
                </a:lnTo>
                <a:cubicBezTo>
                  <a:pt x="176573" y="179453"/>
                  <a:pt x="173828" y="183271"/>
                  <a:pt x="169776" y="184342"/>
                </a:cubicBezTo>
                <a:lnTo>
                  <a:pt x="161002" y="186686"/>
                </a:lnTo>
                <a:cubicBezTo>
                  <a:pt x="156917" y="187791"/>
                  <a:pt x="152664" y="185849"/>
                  <a:pt x="150789" y="182065"/>
                </a:cubicBezTo>
                <a:lnTo>
                  <a:pt x="144560" y="169474"/>
                </a:lnTo>
                <a:cubicBezTo>
                  <a:pt x="141111" y="169005"/>
                  <a:pt x="137729" y="168068"/>
                  <a:pt x="134548" y="166762"/>
                </a:cubicBezTo>
                <a:lnTo>
                  <a:pt x="122828" y="174564"/>
                </a:lnTo>
                <a:cubicBezTo>
                  <a:pt x="119312" y="176908"/>
                  <a:pt x="114657" y="176439"/>
                  <a:pt x="111677" y="173459"/>
                </a:cubicBezTo>
                <a:lnTo>
                  <a:pt x="105248" y="167030"/>
                </a:lnTo>
                <a:cubicBezTo>
                  <a:pt x="102267" y="164050"/>
                  <a:pt x="101798" y="159395"/>
                  <a:pt x="104142" y="155879"/>
                </a:cubicBezTo>
                <a:lnTo>
                  <a:pt x="111945" y="144159"/>
                </a:lnTo>
                <a:cubicBezTo>
                  <a:pt x="111309" y="142585"/>
                  <a:pt x="110739" y="140944"/>
                  <a:pt x="110270" y="139236"/>
                </a:cubicBezTo>
                <a:cubicBezTo>
                  <a:pt x="109802" y="137528"/>
                  <a:pt x="109500" y="135821"/>
                  <a:pt x="109266" y="134146"/>
                </a:cubicBezTo>
                <a:lnTo>
                  <a:pt x="96642" y="127918"/>
                </a:lnTo>
                <a:cubicBezTo>
                  <a:pt x="92858" y="126043"/>
                  <a:pt x="90949" y="121756"/>
                  <a:pt x="92020" y="117704"/>
                </a:cubicBezTo>
                <a:lnTo>
                  <a:pt x="94364" y="108931"/>
                </a:lnTo>
                <a:cubicBezTo>
                  <a:pt x="95470" y="104879"/>
                  <a:pt x="99253" y="102133"/>
                  <a:pt x="103473" y="102401"/>
                </a:cubicBezTo>
                <a:lnTo>
                  <a:pt x="117504" y="103305"/>
                </a:lnTo>
                <a:cubicBezTo>
                  <a:pt x="119613" y="100593"/>
                  <a:pt x="122058" y="98081"/>
                  <a:pt x="124837" y="95938"/>
                </a:cubicBezTo>
                <a:lnTo>
                  <a:pt x="123933" y="81941"/>
                </a:lnTo>
                <a:cubicBezTo>
                  <a:pt x="123665" y="77722"/>
                  <a:pt x="126411" y="73904"/>
                  <a:pt x="130463" y="72833"/>
                </a:cubicBezTo>
                <a:lnTo>
                  <a:pt x="139236" y="70489"/>
                </a:lnTo>
                <a:lnTo>
                  <a:pt x="139270" y="70489"/>
                </a:lnTo>
                <a:close/>
                <a:moveTo>
                  <a:pt x="150153" y="113854"/>
                </a:moveTo>
                <a:cubicBezTo>
                  <a:pt x="142021" y="113863"/>
                  <a:pt x="135426" y="120472"/>
                  <a:pt x="135435" y="128604"/>
                </a:cubicBezTo>
                <a:cubicBezTo>
                  <a:pt x="135445" y="136736"/>
                  <a:pt x="142054" y="143331"/>
                  <a:pt x="150186" y="143321"/>
                </a:cubicBezTo>
                <a:cubicBezTo>
                  <a:pt x="158318" y="143312"/>
                  <a:pt x="164913" y="136703"/>
                  <a:pt x="164903" y="128571"/>
                </a:cubicBezTo>
                <a:cubicBezTo>
                  <a:pt x="164894" y="120439"/>
                  <a:pt x="158285" y="113844"/>
                  <a:pt x="150153" y="113854"/>
                </a:cubicBezTo>
                <a:close/>
                <a:moveTo>
                  <a:pt x="75311" y="-15236"/>
                </a:moveTo>
                <a:lnTo>
                  <a:pt x="84084" y="-12892"/>
                </a:lnTo>
                <a:cubicBezTo>
                  <a:pt x="88136" y="-11787"/>
                  <a:pt x="90882" y="-7970"/>
                  <a:pt x="90614" y="-3784"/>
                </a:cubicBezTo>
                <a:lnTo>
                  <a:pt x="89710" y="10213"/>
                </a:lnTo>
                <a:cubicBezTo>
                  <a:pt x="92489" y="12356"/>
                  <a:pt x="94934" y="14834"/>
                  <a:pt x="97043" y="17580"/>
                </a:cubicBezTo>
                <a:lnTo>
                  <a:pt x="111108" y="16676"/>
                </a:lnTo>
                <a:cubicBezTo>
                  <a:pt x="115293" y="16408"/>
                  <a:pt x="119111" y="19154"/>
                  <a:pt x="120216" y="23206"/>
                </a:cubicBezTo>
                <a:lnTo>
                  <a:pt x="122560" y="31979"/>
                </a:lnTo>
                <a:cubicBezTo>
                  <a:pt x="123632" y="36031"/>
                  <a:pt x="121723" y="40318"/>
                  <a:pt x="117939" y="42193"/>
                </a:cubicBezTo>
                <a:lnTo>
                  <a:pt x="105315" y="48421"/>
                </a:lnTo>
                <a:cubicBezTo>
                  <a:pt x="105080" y="50129"/>
                  <a:pt x="104745" y="51837"/>
                  <a:pt x="104310" y="53511"/>
                </a:cubicBezTo>
                <a:cubicBezTo>
                  <a:pt x="103875" y="55185"/>
                  <a:pt x="103272" y="56860"/>
                  <a:pt x="102636" y="58434"/>
                </a:cubicBezTo>
                <a:lnTo>
                  <a:pt x="110438" y="70154"/>
                </a:lnTo>
                <a:cubicBezTo>
                  <a:pt x="112782" y="73670"/>
                  <a:pt x="112313" y="78325"/>
                  <a:pt x="109333" y="81305"/>
                </a:cubicBezTo>
                <a:lnTo>
                  <a:pt x="102903" y="87734"/>
                </a:lnTo>
                <a:cubicBezTo>
                  <a:pt x="99923" y="90714"/>
                  <a:pt x="95269" y="91183"/>
                  <a:pt x="91753" y="88839"/>
                </a:cubicBezTo>
                <a:lnTo>
                  <a:pt x="80032" y="81037"/>
                </a:lnTo>
                <a:cubicBezTo>
                  <a:pt x="76851" y="82343"/>
                  <a:pt x="73469" y="83280"/>
                  <a:pt x="70020" y="83749"/>
                </a:cubicBezTo>
                <a:lnTo>
                  <a:pt x="63791" y="96340"/>
                </a:lnTo>
                <a:cubicBezTo>
                  <a:pt x="61916" y="100124"/>
                  <a:pt x="57630" y="102033"/>
                  <a:pt x="53578" y="100961"/>
                </a:cubicBezTo>
                <a:lnTo>
                  <a:pt x="44805" y="98617"/>
                </a:lnTo>
                <a:cubicBezTo>
                  <a:pt x="40719" y="97512"/>
                  <a:pt x="38007" y="93695"/>
                  <a:pt x="38275" y="89509"/>
                </a:cubicBezTo>
                <a:lnTo>
                  <a:pt x="39179" y="75478"/>
                </a:lnTo>
                <a:cubicBezTo>
                  <a:pt x="36400" y="73335"/>
                  <a:pt x="33955" y="70857"/>
                  <a:pt x="31845" y="68111"/>
                </a:cubicBezTo>
                <a:lnTo>
                  <a:pt x="17781" y="69015"/>
                </a:lnTo>
                <a:cubicBezTo>
                  <a:pt x="13595" y="69283"/>
                  <a:pt x="9778" y="66537"/>
                  <a:pt x="8673" y="62485"/>
                </a:cubicBezTo>
                <a:lnTo>
                  <a:pt x="6329" y="53712"/>
                </a:lnTo>
                <a:cubicBezTo>
                  <a:pt x="5257" y="49660"/>
                  <a:pt x="7166" y="45374"/>
                  <a:pt x="10950" y="43499"/>
                </a:cubicBezTo>
                <a:lnTo>
                  <a:pt x="23574" y="37270"/>
                </a:lnTo>
                <a:cubicBezTo>
                  <a:pt x="23809" y="35562"/>
                  <a:pt x="24144" y="33888"/>
                  <a:pt x="24579" y="32180"/>
                </a:cubicBezTo>
                <a:cubicBezTo>
                  <a:pt x="25048" y="30473"/>
                  <a:pt x="25584" y="28832"/>
                  <a:pt x="26253" y="27258"/>
                </a:cubicBezTo>
                <a:lnTo>
                  <a:pt x="18451" y="15571"/>
                </a:lnTo>
                <a:cubicBezTo>
                  <a:pt x="16107" y="12055"/>
                  <a:pt x="16576" y="7400"/>
                  <a:pt x="19556" y="4420"/>
                </a:cubicBezTo>
                <a:lnTo>
                  <a:pt x="25985" y="-2009"/>
                </a:lnTo>
                <a:cubicBezTo>
                  <a:pt x="28966" y="-4989"/>
                  <a:pt x="33620" y="-5458"/>
                  <a:pt x="37136" y="-3114"/>
                </a:cubicBezTo>
                <a:lnTo>
                  <a:pt x="48857" y="4688"/>
                </a:lnTo>
                <a:cubicBezTo>
                  <a:pt x="52038" y="3382"/>
                  <a:pt x="55420" y="2445"/>
                  <a:pt x="58869" y="1976"/>
                </a:cubicBezTo>
                <a:lnTo>
                  <a:pt x="65097" y="-10615"/>
                </a:lnTo>
                <a:cubicBezTo>
                  <a:pt x="66973" y="-14399"/>
                  <a:pt x="71225" y="-16308"/>
                  <a:pt x="75311" y="-15236"/>
                </a:cubicBezTo>
                <a:close/>
                <a:moveTo>
                  <a:pt x="64428" y="28129"/>
                </a:moveTo>
                <a:cubicBezTo>
                  <a:pt x="56296" y="28129"/>
                  <a:pt x="49694" y="34731"/>
                  <a:pt x="49694" y="42863"/>
                </a:cubicBezTo>
                <a:cubicBezTo>
                  <a:pt x="49694" y="50994"/>
                  <a:pt x="56296" y="57596"/>
                  <a:pt x="64428" y="57596"/>
                </a:cubicBezTo>
                <a:cubicBezTo>
                  <a:pt x="72560" y="57596"/>
                  <a:pt x="79162" y="50994"/>
                  <a:pt x="79162" y="42863"/>
                </a:cubicBezTo>
                <a:cubicBezTo>
                  <a:pt x="79162" y="34731"/>
                  <a:pt x="72560" y="28129"/>
                  <a:pt x="64428" y="28129"/>
                </a:cubicBezTo>
                <a:close/>
              </a:path>
            </a:pathLst>
          </a:custGeom>
          <a:solidFill>
            <a:srgbClr val="4C7E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4" name="Text 4">
            <a:extLst>
              <a:ext uri="{FF2B5EF4-FFF2-40B4-BE49-F238E27FC236}">
                <a16:creationId xmlns:a16="http://schemas.microsoft.com/office/drawing/2014/main" id="{CC2328A6-5008-1346-C50D-A061744720C9}"/>
              </a:ext>
            </a:extLst>
          </p:cNvPr>
          <p:cNvSpPr>
            <a:spLocks noChangeArrowheads="1"/>
          </p:cNvSpPr>
          <p:nvPr/>
        </p:nvSpPr>
        <p:spPr bwMode="auto">
          <a:xfrm>
            <a:off x="762000" y="1343025"/>
            <a:ext cx="516255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200" b="1">
                <a:solidFill>
                  <a:srgbClr val="4C7E9A"/>
                </a:solidFill>
                <a:latin typeface="Liter" panose="02000503030000020004" pitchFamily="2" charset="0"/>
                <a:ea typeface="Liter" panose="02000503030000020004" pitchFamily="2" charset="0"/>
                <a:cs typeface="Liter" panose="02000503030000020004" pitchFamily="2" charset="0"/>
              </a:rPr>
              <a:t> Performance Against Manually Charted Frames for 2024 West Practice 2</a:t>
            </a:r>
            <a:endParaRPr lang="en-US" altLang="en-US" sz="1200"/>
          </a:p>
        </p:txBody>
      </p:sp>
      <p:sp>
        <p:nvSpPr>
          <p:cNvPr id="7175" name="Shape 5">
            <a:extLst>
              <a:ext uri="{FF2B5EF4-FFF2-40B4-BE49-F238E27FC236}">
                <a16:creationId xmlns:a16="http://schemas.microsoft.com/office/drawing/2014/main" id="{B3C997CE-F1BC-1E13-D675-85C2A8346EDD}"/>
              </a:ext>
            </a:extLst>
          </p:cNvPr>
          <p:cNvSpPr>
            <a:spLocks/>
          </p:cNvSpPr>
          <p:nvPr/>
        </p:nvSpPr>
        <p:spPr bwMode="auto">
          <a:xfrm>
            <a:off x="542925" y="1724025"/>
            <a:ext cx="2590800" cy="914400"/>
          </a:xfrm>
          <a:custGeom>
            <a:avLst/>
            <a:gdLst>
              <a:gd name="T0" fmla="*/ 38103 w 2590800"/>
              <a:gd name="T1" fmla="*/ 0 h 914400"/>
              <a:gd name="T2" fmla="*/ 2552697 w 2590800"/>
              <a:gd name="T3" fmla="*/ 0 h 914400"/>
              <a:gd name="T4" fmla="*/ 2590800 w 2590800"/>
              <a:gd name="T5" fmla="*/ 38103 h 914400"/>
              <a:gd name="T6" fmla="*/ 2590800 w 2590800"/>
              <a:gd name="T7" fmla="*/ 876297 h 914400"/>
              <a:gd name="T8" fmla="*/ 2552697 w 2590800"/>
              <a:gd name="T9" fmla="*/ 914400 h 914400"/>
              <a:gd name="T10" fmla="*/ 38103 w 2590800"/>
              <a:gd name="T11" fmla="*/ 914400 h 914400"/>
              <a:gd name="T12" fmla="*/ 0 w 2590800"/>
              <a:gd name="T13" fmla="*/ 876297 h 914400"/>
              <a:gd name="T14" fmla="*/ 0 w 2590800"/>
              <a:gd name="T15" fmla="*/ 38103 h 914400"/>
              <a:gd name="T16" fmla="*/ 38103 w 2590800"/>
              <a:gd name="T17" fmla="*/ 0 h 914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90800" h="914400">
                <a:moveTo>
                  <a:pt x="38103" y="0"/>
                </a:moveTo>
                <a:lnTo>
                  <a:pt x="2552697" y="0"/>
                </a:lnTo>
                <a:cubicBezTo>
                  <a:pt x="2573741" y="0"/>
                  <a:pt x="2590800" y="17059"/>
                  <a:pt x="2590800" y="38103"/>
                </a:cubicBezTo>
                <a:lnTo>
                  <a:pt x="2590800" y="876297"/>
                </a:lnTo>
                <a:cubicBezTo>
                  <a:pt x="2590800" y="897341"/>
                  <a:pt x="2573741" y="914400"/>
                  <a:pt x="2552697" y="914400"/>
                </a:cubicBezTo>
                <a:lnTo>
                  <a:pt x="38103" y="914400"/>
                </a:lnTo>
                <a:cubicBezTo>
                  <a:pt x="17059" y="914400"/>
                  <a:pt x="0" y="897341"/>
                  <a:pt x="0" y="876297"/>
                </a:cubicBezTo>
                <a:lnTo>
                  <a:pt x="0" y="38103"/>
                </a:lnTo>
                <a:cubicBezTo>
                  <a:pt x="0" y="17073"/>
                  <a:pt x="17073" y="0"/>
                  <a:pt x="38103" y="0"/>
                </a:cubicBezTo>
                <a:close/>
              </a:path>
            </a:pathLst>
          </a:custGeom>
          <a:solidFill>
            <a:srgbClr val="1113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 name="Text 6">
            <a:extLst>
              <a:ext uri="{FF2B5EF4-FFF2-40B4-BE49-F238E27FC236}">
                <a16:creationId xmlns:a16="http://schemas.microsoft.com/office/drawing/2014/main" id="{C5432E52-6409-32B6-97C8-852C040FA9DF}"/>
              </a:ext>
            </a:extLst>
          </p:cNvPr>
          <p:cNvSpPr/>
          <p:nvPr/>
        </p:nvSpPr>
        <p:spPr>
          <a:xfrm>
            <a:off x="657225" y="1838325"/>
            <a:ext cx="242887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50" dirty="0">
                <a:solidFill>
                  <a:srgbClr val="D8A03D"/>
                </a:solidFill>
                <a:latin typeface="Quattrocento Sans" pitchFamily="34" charset="0"/>
                <a:ea typeface="Quattrocento Sans" pitchFamily="34" charset="-122"/>
                <a:cs typeface="Quattrocento Sans" pitchFamily="34" charset="-120"/>
              </a:rPr>
              <a:t>Manually Charted Reps | Detected Reps</a:t>
            </a:r>
            <a:endParaRPr lang="en-US" sz="1600" dirty="0">
              <a:latin typeface="+mn-lt"/>
            </a:endParaRPr>
          </a:p>
        </p:txBody>
      </p:sp>
      <p:sp>
        <p:nvSpPr>
          <p:cNvPr id="7177" name="Text 7">
            <a:extLst>
              <a:ext uri="{FF2B5EF4-FFF2-40B4-BE49-F238E27FC236}">
                <a16:creationId xmlns:a16="http://schemas.microsoft.com/office/drawing/2014/main" id="{969D2045-DAD8-1FDC-0138-56277F76A8FD}"/>
              </a:ext>
            </a:extLst>
          </p:cNvPr>
          <p:cNvSpPr>
            <a:spLocks noChangeArrowheads="1"/>
          </p:cNvSpPr>
          <p:nvPr/>
        </p:nvSpPr>
        <p:spPr bwMode="auto">
          <a:xfrm>
            <a:off x="657225" y="2066925"/>
            <a:ext cx="24765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lnSpc>
                <a:spcPct val="110000"/>
              </a:lnSpc>
            </a:pPr>
            <a:r>
              <a:rPr lang="en-US" altLang="en-US"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23                 24</a:t>
            </a:r>
            <a:endParaRPr lang="en-US" altLang="en-US" sz="1600"/>
          </a:p>
        </p:txBody>
      </p:sp>
      <p:sp>
        <p:nvSpPr>
          <p:cNvPr id="10" name="Text 8">
            <a:extLst>
              <a:ext uri="{FF2B5EF4-FFF2-40B4-BE49-F238E27FC236}">
                <a16:creationId xmlns:a16="http://schemas.microsoft.com/office/drawing/2014/main" id="{76F7864B-20EE-C278-0FB1-D5624E77F90D}"/>
              </a:ext>
            </a:extLst>
          </p:cNvPr>
          <p:cNvSpPr/>
          <p:nvPr/>
        </p:nvSpPr>
        <p:spPr>
          <a:xfrm>
            <a:off x="2056257" y="2371724"/>
            <a:ext cx="915543" cy="204787"/>
          </a:xfrm>
          <a:prstGeom prst="rect">
            <a:avLst/>
          </a:prstGeom>
          <a:noFill/>
          <a:ln/>
        </p:spPr>
        <p:txBody>
          <a:bodyPr lIns="0" tIns="0" rIns="0" bIns="0" anchor="ctr"/>
          <a:lstStyle/>
          <a:p>
            <a:pPr eaLnBrk="1" fontAlgn="auto" hangingPunct="1">
              <a:lnSpc>
                <a:spcPct val="110000"/>
              </a:lnSpc>
              <a:spcBef>
                <a:spcPts val="0"/>
              </a:spcBef>
              <a:spcAft>
                <a:spcPts val="0"/>
              </a:spcAft>
              <a:defRPr/>
            </a:pPr>
            <a:r>
              <a:rPr lang="en-US" sz="900" dirty="0">
                <a:solidFill>
                  <a:srgbClr val="E1E3E6">
                    <a:alpha val="60000"/>
                  </a:srgbClr>
                </a:solidFill>
                <a:latin typeface="Quattrocento Sans" pitchFamily="34" charset="0"/>
                <a:ea typeface="Quattrocento Sans" pitchFamily="34" charset="-122"/>
                <a:cs typeface="Quattrocento Sans" pitchFamily="34" charset="-120"/>
              </a:rPr>
              <a:t>One false positive</a:t>
            </a:r>
            <a:endParaRPr lang="en-US" sz="1600" dirty="0">
              <a:latin typeface="+mn-lt"/>
            </a:endParaRPr>
          </a:p>
        </p:txBody>
      </p:sp>
      <p:sp>
        <p:nvSpPr>
          <p:cNvPr id="7179" name="Shape 9">
            <a:extLst>
              <a:ext uri="{FF2B5EF4-FFF2-40B4-BE49-F238E27FC236}">
                <a16:creationId xmlns:a16="http://schemas.microsoft.com/office/drawing/2014/main" id="{C52E34EF-27E3-6C00-A74A-5880A5454026}"/>
              </a:ext>
            </a:extLst>
          </p:cNvPr>
          <p:cNvSpPr>
            <a:spLocks/>
          </p:cNvSpPr>
          <p:nvPr/>
        </p:nvSpPr>
        <p:spPr bwMode="auto">
          <a:xfrm>
            <a:off x="3248025" y="1724025"/>
            <a:ext cx="2590800" cy="914400"/>
          </a:xfrm>
          <a:custGeom>
            <a:avLst/>
            <a:gdLst>
              <a:gd name="T0" fmla="*/ 38103 w 2590800"/>
              <a:gd name="T1" fmla="*/ 0 h 914400"/>
              <a:gd name="T2" fmla="*/ 2552697 w 2590800"/>
              <a:gd name="T3" fmla="*/ 0 h 914400"/>
              <a:gd name="T4" fmla="*/ 2590800 w 2590800"/>
              <a:gd name="T5" fmla="*/ 38103 h 914400"/>
              <a:gd name="T6" fmla="*/ 2590800 w 2590800"/>
              <a:gd name="T7" fmla="*/ 876297 h 914400"/>
              <a:gd name="T8" fmla="*/ 2552697 w 2590800"/>
              <a:gd name="T9" fmla="*/ 914400 h 914400"/>
              <a:gd name="T10" fmla="*/ 38103 w 2590800"/>
              <a:gd name="T11" fmla="*/ 914400 h 914400"/>
              <a:gd name="T12" fmla="*/ 0 w 2590800"/>
              <a:gd name="T13" fmla="*/ 876297 h 914400"/>
              <a:gd name="T14" fmla="*/ 0 w 2590800"/>
              <a:gd name="T15" fmla="*/ 38103 h 914400"/>
              <a:gd name="T16" fmla="*/ 38103 w 2590800"/>
              <a:gd name="T17" fmla="*/ 0 h 914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90800" h="914400">
                <a:moveTo>
                  <a:pt x="38103" y="0"/>
                </a:moveTo>
                <a:lnTo>
                  <a:pt x="2552697" y="0"/>
                </a:lnTo>
                <a:cubicBezTo>
                  <a:pt x="2573741" y="0"/>
                  <a:pt x="2590800" y="17059"/>
                  <a:pt x="2590800" y="38103"/>
                </a:cubicBezTo>
                <a:lnTo>
                  <a:pt x="2590800" y="876297"/>
                </a:lnTo>
                <a:cubicBezTo>
                  <a:pt x="2590800" y="897341"/>
                  <a:pt x="2573741" y="914400"/>
                  <a:pt x="2552697" y="914400"/>
                </a:cubicBezTo>
                <a:lnTo>
                  <a:pt x="38103" y="914400"/>
                </a:lnTo>
                <a:cubicBezTo>
                  <a:pt x="17059" y="914400"/>
                  <a:pt x="0" y="897341"/>
                  <a:pt x="0" y="876297"/>
                </a:cubicBezTo>
                <a:lnTo>
                  <a:pt x="0" y="38103"/>
                </a:lnTo>
                <a:cubicBezTo>
                  <a:pt x="0" y="17073"/>
                  <a:pt x="17073" y="0"/>
                  <a:pt x="38103" y="0"/>
                </a:cubicBezTo>
                <a:close/>
              </a:path>
            </a:pathLst>
          </a:custGeom>
          <a:solidFill>
            <a:srgbClr val="1113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Text 10">
            <a:extLst>
              <a:ext uri="{FF2B5EF4-FFF2-40B4-BE49-F238E27FC236}">
                <a16:creationId xmlns:a16="http://schemas.microsoft.com/office/drawing/2014/main" id="{86FDD704-F9BF-5A3E-A7A6-371AFE63FA2B}"/>
              </a:ext>
            </a:extLst>
          </p:cNvPr>
          <p:cNvSpPr/>
          <p:nvPr/>
        </p:nvSpPr>
        <p:spPr>
          <a:xfrm>
            <a:off x="3362325" y="1838325"/>
            <a:ext cx="242887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50" dirty="0">
                <a:solidFill>
                  <a:srgbClr val="D8A03D"/>
                </a:solidFill>
                <a:latin typeface="Quattrocento Sans" pitchFamily="34" charset="0"/>
                <a:ea typeface="Quattrocento Sans" pitchFamily="34" charset="-122"/>
                <a:cs typeface="Quattrocento Sans" pitchFamily="34" charset="-120"/>
              </a:rPr>
              <a:t>*Start Frame Error (M)</a:t>
            </a:r>
            <a:endParaRPr lang="en-US" sz="1600" dirty="0">
              <a:latin typeface="+mn-lt"/>
            </a:endParaRPr>
          </a:p>
        </p:txBody>
      </p:sp>
      <p:sp>
        <p:nvSpPr>
          <p:cNvPr id="7181" name="Text 11">
            <a:extLst>
              <a:ext uri="{FF2B5EF4-FFF2-40B4-BE49-F238E27FC236}">
                <a16:creationId xmlns:a16="http://schemas.microsoft.com/office/drawing/2014/main" id="{C3AF9625-4814-934C-4B78-D2312F32A71D}"/>
              </a:ext>
            </a:extLst>
          </p:cNvPr>
          <p:cNvSpPr>
            <a:spLocks noChangeArrowheads="1"/>
          </p:cNvSpPr>
          <p:nvPr/>
        </p:nvSpPr>
        <p:spPr bwMode="auto">
          <a:xfrm>
            <a:off x="3362325" y="2066925"/>
            <a:ext cx="24765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~2.39 frames</a:t>
            </a:r>
            <a:endParaRPr lang="en-US" altLang="en-US" sz="1600"/>
          </a:p>
        </p:txBody>
      </p:sp>
      <p:sp>
        <p:nvSpPr>
          <p:cNvPr id="14" name="Text 12">
            <a:extLst>
              <a:ext uri="{FF2B5EF4-FFF2-40B4-BE49-F238E27FC236}">
                <a16:creationId xmlns:a16="http://schemas.microsoft.com/office/drawing/2014/main" id="{ACA7971B-62F1-F793-6455-9C3BA2206FEE}"/>
              </a:ext>
            </a:extLst>
          </p:cNvPr>
          <p:cNvSpPr/>
          <p:nvPr/>
        </p:nvSpPr>
        <p:spPr>
          <a:xfrm>
            <a:off x="3362325" y="2371725"/>
            <a:ext cx="2419350" cy="152400"/>
          </a:xfrm>
          <a:prstGeom prst="rect">
            <a:avLst/>
          </a:prstGeom>
          <a:noFill/>
          <a:ln/>
        </p:spPr>
        <p:txBody>
          <a:bodyPr lIns="0" tIns="0" rIns="0" bIns="0" anchor="ctr"/>
          <a:lstStyle/>
          <a:p>
            <a:pPr eaLnBrk="1" fontAlgn="auto" hangingPunct="1">
              <a:lnSpc>
                <a:spcPct val="110000"/>
              </a:lnSpc>
              <a:spcBef>
                <a:spcPts val="0"/>
              </a:spcBef>
              <a:spcAft>
                <a:spcPts val="0"/>
              </a:spcAft>
              <a:defRPr/>
            </a:pPr>
            <a:r>
              <a:rPr lang="en-US" sz="900" dirty="0">
                <a:solidFill>
                  <a:srgbClr val="E1E3E6">
                    <a:alpha val="60000"/>
                  </a:srgbClr>
                </a:solidFill>
                <a:latin typeface="Quattrocento Sans" pitchFamily="34" charset="0"/>
                <a:ea typeface="Quattrocento Sans" pitchFamily="34" charset="-122"/>
                <a:cs typeface="Quattrocento Sans" pitchFamily="34" charset="-120"/>
              </a:rPr>
              <a:t>(1.6s)</a:t>
            </a:r>
            <a:endParaRPr lang="en-US" sz="1600" dirty="0">
              <a:latin typeface="+mn-lt"/>
            </a:endParaRPr>
          </a:p>
        </p:txBody>
      </p:sp>
      <p:sp>
        <p:nvSpPr>
          <p:cNvPr id="7183" name="Shape 13">
            <a:extLst>
              <a:ext uri="{FF2B5EF4-FFF2-40B4-BE49-F238E27FC236}">
                <a16:creationId xmlns:a16="http://schemas.microsoft.com/office/drawing/2014/main" id="{7D9619F6-3317-AF62-E384-4E914911A66A}"/>
              </a:ext>
            </a:extLst>
          </p:cNvPr>
          <p:cNvSpPr>
            <a:spLocks/>
          </p:cNvSpPr>
          <p:nvPr/>
        </p:nvSpPr>
        <p:spPr bwMode="auto">
          <a:xfrm>
            <a:off x="542925" y="2752725"/>
            <a:ext cx="2590800" cy="914400"/>
          </a:xfrm>
          <a:custGeom>
            <a:avLst/>
            <a:gdLst>
              <a:gd name="T0" fmla="*/ 38103 w 2590800"/>
              <a:gd name="T1" fmla="*/ 0 h 914400"/>
              <a:gd name="T2" fmla="*/ 2552697 w 2590800"/>
              <a:gd name="T3" fmla="*/ 0 h 914400"/>
              <a:gd name="T4" fmla="*/ 2590800 w 2590800"/>
              <a:gd name="T5" fmla="*/ 38103 h 914400"/>
              <a:gd name="T6" fmla="*/ 2590800 w 2590800"/>
              <a:gd name="T7" fmla="*/ 876297 h 914400"/>
              <a:gd name="T8" fmla="*/ 2552697 w 2590800"/>
              <a:gd name="T9" fmla="*/ 914400 h 914400"/>
              <a:gd name="T10" fmla="*/ 38103 w 2590800"/>
              <a:gd name="T11" fmla="*/ 914400 h 914400"/>
              <a:gd name="T12" fmla="*/ 0 w 2590800"/>
              <a:gd name="T13" fmla="*/ 876297 h 914400"/>
              <a:gd name="T14" fmla="*/ 0 w 2590800"/>
              <a:gd name="T15" fmla="*/ 38103 h 914400"/>
              <a:gd name="T16" fmla="*/ 38103 w 2590800"/>
              <a:gd name="T17" fmla="*/ 0 h 914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90800" h="914400">
                <a:moveTo>
                  <a:pt x="38103" y="0"/>
                </a:moveTo>
                <a:lnTo>
                  <a:pt x="2552697" y="0"/>
                </a:lnTo>
                <a:cubicBezTo>
                  <a:pt x="2573741" y="0"/>
                  <a:pt x="2590800" y="17059"/>
                  <a:pt x="2590800" y="38103"/>
                </a:cubicBezTo>
                <a:lnTo>
                  <a:pt x="2590800" y="876297"/>
                </a:lnTo>
                <a:cubicBezTo>
                  <a:pt x="2590800" y="897341"/>
                  <a:pt x="2573741" y="914400"/>
                  <a:pt x="2552697" y="914400"/>
                </a:cubicBezTo>
                <a:lnTo>
                  <a:pt x="38103" y="914400"/>
                </a:lnTo>
                <a:cubicBezTo>
                  <a:pt x="17059" y="914400"/>
                  <a:pt x="0" y="897341"/>
                  <a:pt x="0" y="876297"/>
                </a:cubicBezTo>
                <a:lnTo>
                  <a:pt x="0" y="38103"/>
                </a:lnTo>
                <a:cubicBezTo>
                  <a:pt x="0" y="17073"/>
                  <a:pt x="17073" y="0"/>
                  <a:pt x="38103" y="0"/>
                </a:cubicBezTo>
                <a:close/>
              </a:path>
            </a:pathLst>
          </a:custGeom>
          <a:solidFill>
            <a:srgbClr val="1113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 name="Text 14">
            <a:extLst>
              <a:ext uri="{FF2B5EF4-FFF2-40B4-BE49-F238E27FC236}">
                <a16:creationId xmlns:a16="http://schemas.microsoft.com/office/drawing/2014/main" id="{E171780E-E4C5-E2FF-5233-82F00043B7CC}"/>
              </a:ext>
            </a:extLst>
          </p:cNvPr>
          <p:cNvSpPr/>
          <p:nvPr/>
        </p:nvSpPr>
        <p:spPr>
          <a:xfrm>
            <a:off x="657225" y="2867025"/>
            <a:ext cx="242887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50" dirty="0">
                <a:solidFill>
                  <a:srgbClr val="D8A03D"/>
                </a:solidFill>
                <a:latin typeface="Quattrocento Sans" pitchFamily="34" charset="0"/>
                <a:ea typeface="Quattrocento Sans" pitchFamily="34" charset="-122"/>
                <a:cs typeface="Quattrocento Sans" pitchFamily="34" charset="-120"/>
              </a:rPr>
              <a:t>End Frame Error (MAE)</a:t>
            </a:r>
            <a:endParaRPr lang="en-US" sz="1600" dirty="0">
              <a:latin typeface="+mn-lt"/>
            </a:endParaRPr>
          </a:p>
        </p:txBody>
      </p:sp>
      <p:sp>
        <p:nvSpPr>
          <p:cNvPr id="7185" name="Text 15">
            <a:extLst>
              <a:ext uri="{FF2B5EF4-FFF2-40B4-BE49-F238E27FC236}">
                <a16:creationId xmlns:a16="http://schemas.microsoft.com/office/drawing/2014/main" id="{37ECA10B-2806-069D-51F2-84AD58BADB3F}"/>
              </a:ext>
            </a:extLst>
          </p:cNvPr>
          <p:cNvSpPr>
            <a:spLocks noChangeArrowheads="1"/>
          </p:cNvSpPr>
          <p:nvPr/>
        </p:nvSpPr>
        <p:spPr bwMode="auto">
          <a:xfrm>
            <a:off x="657225" y="3095625"/>
            <a:ext cx="24765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~3.96 frames</a:t>
            </a:r>
            <a:endParaRPr lang="en-US" altLang="en-US" sz="1600"/>
          </a:p>
        </p:txBody>
      </p:sp>
      <p:sp>
        <p:nvSpPr>
          <p:cNvPr id="18" name="Text 16">
            <a:extLst>
              <a:ext uri="{FF2B5EF4-FFF2-40B4-BE49-F238E27FC236}">
                <a16:creationId xmlns:a16="http://schemas.microsoft.com/office/drawing/2014/main" id="{49FFFDFF-1F39-6464-9F30-F3A4B99964E9}"/>
              </a:ext>
            </a:extLst>
          </p:cNvPr>
          <p:cNvSpPr/>
          <p:nvPr/>
        </p:nvSpPr>
        <p:spPr>
          <a:xfrm>
            <a:off x="657225" y="3400425"/>
            <a:ext cx="2419350" cy="152400"/>
          </a:xfrm>
          <a:prstGeom prst="rect">
            <a:avLst/>
          </a:prstGeom>
          <a:noFill/>
          <a:ln/>
        </p:spPr>
        <p:txBody>
          <a:bodyPr lIns="0" tIns="0" rIns="0" bIns="0" anchor="ctr"/>
          <a:lstStyle/>
          <a:p>
            <a:pPr eaLnBrk="1" fontAlgn="auto" hangingPunct="1">
              <a:lnSpc>
                <a:spcPct val="110000"/>
              </a:lnSpc>
              <a:spcBef>
                <a:spcPts val="0"/>
              </a:spcBef>
              <a:spcAft>
                <a:spcPts val="0"/>
              </a:spcAft>
              <a:defRPr/>
            </a:pPr>
            <a:r>
              <a:rPr lang="en-US" sz="900" dirty="0">
                <a:solidFill>
                  <a:srgbClr val="E1E3E6">
                    <a:alpha val="60000"/>
                  </a:srgbClr>
                </a:solidFill>
                <a:latin typeface="Quattrocento Sans" pitchFamily="34" charset="0"/>
                <a:ea typeface="Quattrocento Sans" pitchFamily="34" charset="-122"/>
                <a:cs typeface="Quattrocento Sans" pitchFamily="34" charset="-120"/>
              </a:rPr>
              <a:t>(1.9s)</a:t>
            </a:r>
            <a:endParaRPr lang="en-US" sz="1600" dirty="0">
              <a:latin typeface="+mn-lt"/>
            </a:endParaRPr>
          </a:p>
        </p:txBody>
      </p:sp>
      <p:sp>
        <p:nvSpPr>
          <p:cNvPr id="7187" name="Shape 17">
            <a:extLst>
              <a:ext uri="{FF2B5EF4-FFF2-40B4-BE49-F238E27FC236}">
                <a16:creationId xmlns:a16="http://schemas.microsoft.com/office/drawing/2014/main" id="{60722D1D-34FC-7ED6-F9A4-CC226358B9A4}"/>
              </a:ext>
            </a:extLst>
          </p:cNvPr>
          <p:cNvSpPr>
            <a:spLocks/>
          </p:cNvSpPr>
          <p:nvPr/>
        </p:nvSpPr>
        <p:spPr bwMode="auto">
          <a:xfrm>
            <a:off x="3248025" y="2752725"/>
            <a:ext cx="2590800" cy="914400"/>
          </a:xfrm>
          <a:custGeom>
            <a:avLst/>
            <a:gdLst>
              <a:gd name="T0" fmla="*/ 38103 w 2590800"/>
              <a:gd name="T1" fmla="*/ 0 h 914400"/>
              <a:gd name="T2" fmla="*/ 2552697 w 2590800"/>
              <a:gd name="T3" fmla="*/ 0 h 914400"/>
              <a:gd name="T4" fmla="*/ 2590800 w 2590800"/>
              <a:gd name="T5" fmla="*/ 38103 h 914400"/>
              <a:gd name="T6" fmla="*/ 2590800 w 2590800"/>
              <a:gd name="T7" fmla="*/ 876297 h 914400"/>
              <a:gd name="T8" fmla="*/ 2552697 w 2590800"/>
              <a:gd name="T9" fmla="*/ 914400 h 914400"/>
              <a:gd name="T10" fmla="*/ 38103 w 2590800"/>
              <a:gd name="T11" fmla="*/ 914400 h 914400"/>
              <a:gd name="T12" fmla="*/ 0 w 2590800"/>
              <a:gd name="T13" fmla="*/ 876297 h 914400"/>
              <a:gd name="T14" fmla="*/ 0 w 2590800"/>
              <a:gd name="T15" fmla="*/ 38103 h 914400"/>
              <a:gd name="T16" fmla="*/ 38103 w 2590800"/>
              <a:gd name="T17" fmla="*/ 0 h 914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90800" h="914400">
                <a:moveTo>
                  <a:pt x="38103" y="0"/>
                </a:moveTo>
                <a:lnTo>
                  <a:pt x="2552697" y="0"/>
                </a:lnTo>
                <a:cubicBezTo>
                  <a:pt x="2573741" y="0"/>
                  <a:pt x="2590800" y="17059"/>
                  <a:pt x="2590800" y="38103"/>
                </a:cubicBezTo>
                <a:lnTo>
                  <a:pt x="2590800" y="876297"/>
                </a:lnTo>
                <a:cubicBezTo>
                  <a:pt x="2590800" y="897341"/>
                  <a:pt x="2573741" y="914400"/>
                  <a:pt x="2552697" y="914400"/>
                </a:cubicBezTo>
                <a:lnTo>
                  <a:pt x="38103" y="914400"/>
                </a:lnTo>
                <a:cubicBezTo>
                  <a:pt x="17059" y="914400"/>
                  <a:pt x="0" y="897341"/>
                  <a:pt x="0" y="876297"/>
                </a:cubicBezTo>
                <a:lnTo>
                  <a:pt x="0" y="38103"/>
                </a:lnTo>
                <a:cubicBezTo>
                  <a:pt x="0" y="17073"/>
                  <a:pt x="17073" y="0"/>
                  <a:pt x="38103" y="0"/>
                </a:cubicBezTo>
                <a:close/>
              </a:path>
            </a:pathLst>
          </a:custGeom>
          <a:solidFill>
            <a:srgbClr val="1113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 name="Text 18">
            <a:extLst>
              <a:ext uri="{FF2B5EF4-FFF2-40B4-BE49-F238E27FC236}">
                <a16:creationId xmlns:a16="http://schemas.microsoft.com/office/drawing/2014/main" id="{06A50355-A267-5357-6C17-296F9A0DDCF6}"/>
              </a:ext>
            </a:extLst>
          </p:cNvPr>
          <p:cNvSpPr/>
          <p:nvPr/>
        </p:nvSpPr>
        <p:spPr>
          <a:xfrm>
            <a:off x="3362325" y="2867025"/>
            <a:ext cx="242887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50" dirty="0">
                <a:solidFill>
                  <a:srgbClr val="D8A03D"/>
                </a:solidFill>
                <a:latin typeface="Quattrocento Sans" pitchFamily="34" charset="0"/>
                <a:ea typeface="Quattrocento Sans" pitchFamily="34" charset="-122"/>
                <a:cs typeface="Quattrocento Sans" pitchFamily="34" charset="-120"/>
              </a:rPr>
              <a:t>Matchup Identification</a:t>
            </a:r>
            <a:endParaRPr lang="en-US" sz="1600" dirty="0">
              <a:latin typeface="+mn-lt"/>
            </a:endParaRPr>
          </a:p>
        </p:txBody>
      </p:sp>
      <p:sp>
        <p:nvSpPr>
          <p:cNvPr id="7189" name="Text 19">
            <a:extLst>
              <a:ext uri="{FF2B5EF4-FFF2-40B4-BE49-F238E27FC236}">
                <a16:creationId xmlns:a16="http://schemas.microsoft.com/office/drawing/2014/main" id="{1746C126-A6BC-F955-FAAA-FBB5B941A30C}"/>
              </a:ext>
            </a:extLst>
          </p:cNvPr>
          <p:cNvSpPr>
            <a:spLocks noChangeArrowheads="1"/>
          </p:cNvSpPr>
          <p:nvPr/>
        </p:nvSpPr>
        <p:spPr bwMode="auto">
          <a:xfrm>
            <a:off x="3362325" y="3095625"/>
            <a:ext cx="24765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23/23 correct pairs</a:t>
            </a:r>
            <a:endParaRPr lang="en-US" altLang="en-US" sz="1600"/>
          </a:p>
        </p:txBody>
      </p:sp>
      <p:sp>
        <p:nvSpPr>
          <p:cNvPr id="22" name="Text 20">
            <a:extLst>
              <a:ext uri="{FF2B5EF4-FFF2-40B4-BE49-F238E27FC236}">
                <a16:creationId xmlns:a16="http://schemas.microsoft.com/office/drawing/2014/main" id="{ABFD34E2-C41E-8BD6-75A7-BC94EF18049D}"/>
              </a:ext>
            </a:extLst>
          </p:cNvPr>
          <p:cNvSpPr/>
          <p:nvPr/>
        </p:nvSpPr>
        <p:spPr>
          <a:xfrm>
            <a:off x="3362325" y="3400425"/>
            <a:ext cx="2419350" cy="152400"/>
          </a:xfrm>
          <a:prstGeom prst="rect">
            <a:avLst/>
          </a:prstGeom>
          <a:noFill/>
          <a:ln/>
        </p:spPr>
        <p:txBody>
          <a:bodyPr lIns="0" tIns="0" rIns="0" bIns="0" anchor="ctr"/>
          <a:lstStyle/>
          <a:p>
            <a:pPr eaLnBrk="1" fontAlgn="auto" hangingPunct="1">
              <a:lnSpc>
                <a:spcPct val="110000"/>
              </a:lnSpc>
              <a:spcBef>
                <a:spcPts val="0"/>
              </a:spcBef>
              <a:spcAft>
                <a:spcPts val="0"/>
              </a:spcAft>
              <a:defRPr/>
            </a:pPr>
            <a:r>
              <a:rPr lang="en-US" sz="900" dirty="0">
                <a:solidFill>
                  <a:srgbClr val="E1E3E6">
                    <a:alpha val="60000"/>
                  </a:srgbClr>
                </a:solidFill>
                <a:latin typeface="Quattrocento Sans" pitchFamily="34" charset="0"/>
                <a:ea typeface="Quattrocento Sans" pitchFamily="34" charset="-122"/>
                <a:cs typeface="Quattrocento Sans" pitchFamily="34" charset="-120"/>
              </a:rPr>
              <a:t>*When removing one false positive</a:t>
            </a:r>
            <a:endParaRPr lang="en-US" sz="1600" dirty="0">
              <a:latin typeface="+mn-lt"/>
            </a:endParaRPr>
          </a:p>
        </p:txBody>
      </p:sp>
      <p:sp>
        <p:nvSpPr>
          <p:cNvPr id="7191" name="Shape 21">
            <a:extLst>
              <a:ext uri="{FF2B5EF4-FFF2-40B4-BE49-F238E27FC236}">
                <a16:creationId xmlns:a16="http://schemas.microsoft.com/office/drawing/2014/main" id="{21D698BE-3F2B-2730-6888-159189CED76E}"/>
              </a:ext>
            </a:extLst>
          </p:cNvPr>
          <p:cNvSpPr>
            <a:spLocks/>
          </p:cNvSpPr>
          <p:nvPr/>
        </p:nvSpPr>
        <p:spPr bwMode="auto">
          <a:xfrm>
            <a:off x="385763" y="3986213"/>
            <a:ext cx="5610225" cy="1838325"/>
          </a:xfrm>
          <a:custGeom>
            <a:avLst/>
            <a:gdLst>
              <a:gd name="T0" fmla="*/ 38108 w 5610225"/>
              <a:gd name="T1" fmla="*/ 0 h 1838325"/>
              <a:gd name="T2" fmla="*/ 5572117 w 5610225"/>
              <a:gd name="T3" fmla="*/ 0 h 1838325"/>
              <a:gd name="T4" fmla="*/ 5610225 w 5610225"/>
              <a:gd name="T5" fmla="*/ 38108 h 1838325"/>
              <a:gd name="T6" fmla="*/ 5610225 w 5610225"/>
              <a:gd name="T7" fmla="*/ 1800217 h 1838325"/>
              <a:gd name="T8" fmla="*/ 5572117 w 5610225"/>
              <a:gd name="T9" fmla="*/ 1838325 h 1838325"/>
              <a:gd name="T10" fmla="*/ 38108 w 5610225"/>
              <a:gd name="T11" fmla="*/ 1838325 h 1838325"/>
              <a:gd name="T12" fmla="*/ 0 w 5610225"/>
              <a:gd name="T13" fmla="*/ 1800217 h 1838325"/>
              <a:gd name="T14" fmla="*/ 0 w 5610225"/>
              <a:gd name="T15" fmla="*/ 38108 h 1838325"/>
              <a:gd name="T16" fmla="*/ 38108 w 5610225"/>
              <a:gd name="T17" fmla="*/ 0 h 1838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10225" h="1838325">
                <a:moveTo>
                  <a:pt x="38108" y="0"/>
                </a:moveTo>
                <a:lnTo>
                  <a:pt x="5572117" y="0"/>
                </a:lnTo>
                <a:cubicBezTo>
                  <a:pt x="5593163" y="0"/>
                  <a:pt x="5610225" y="17062"/>
                  <a:pt x="5610225" y="38108"/>
                </a:cubicBezTo>
                <a:lnTo>
                  <a:pt x="5610225" y="1800217"/>
                </a:lnTo>
                <a:cubicBezTo>
                  <a:pt x="5610225" y="1821263"/>
                  <a:pt x="5593163" y="1838325"/>
                  <a:pt x="5572117" y="1838325"/>
                </a:cubicBezTo>
                <a:lnTo>
                  <a:pt x="38108" y="1838325"/>
                </a:lnTo>
                <a:cubicBezTo>
                  <a:pt x="17062" y="1838325"/>
                  <a:pt x="0" y="1821263"/>
                  <a:pt x="0" y="1800217"/>
                </a:cubicBezTo>
                <a:lnTo>
                  <a:pt x="0" y="38108"/>
                </a:lnTo>
                <a:cubicBezTo>
                  <a:pt x="0" y="17076"/>
                  <a:pt x="17076" y="0"/>
                  <a:pt x="38108" y="0"/>
                </a:cubicBezTo>
                <a:close/>
              </a:path>
            </a:pathLst>
          </a:custGeom>
          <a:solidFill>
            <a:srgbClr val="1E2024"/>
          </a:solidFill>
          <a:ln w="12700">
            <a:solidFill>
              <a:srgbClr val="4C7E9A">
                <a:alpha val="30196"/>
              </a:srgbClr>
            </a:solidFill>
            <a:prstDash val="solid"/>
            <a:round/>
            <a:headEnd/>
            <a:tailEnd/>
          </a:ln>
        </p:spPr>
        <p:txBody>
          <a:bodyPr/>
          <a:lstStyle/>
          <a:p>
            <a:endParaRPr lang="en-US"/>
          </a:p>
        </p:txBody>
      </p:sp>
      <p:sp>
        <p:nvSpPr>
          <p:cNvPr id="7192" name="Shape 22">
            <a:extLst>
              <a:ext uri="{FF2B5EF4-FFF2-40B4-BE49-F238E27FC236}">
                <a16:creationId xmlns:a16="http://schemas.microsoft.com/office/drawing/2014/main" id="{D8C7A5ED-7EBC-BDF6-D829-18FA5E2936DE}"/>
              </a:ext>
            </a:extLst>
          </p:cNvPr>
          <p:cNvSpPr>
            <a:spLocks/>
          </p:cNvSpPr>
          <p:nvPr/>
        </p:nvSpPr>
        <p:spPr bwMode="auto">
          <a:xfrm>
            <a:off x="531813" y="4191000"/>
            <a:ext cx="171450" cy="171450"/>
          </a:xfrm>
          <a:custGeom>
            <a:avLst/>
            <a:gdLst>
              <a:gd name="T0" fmla="*/ 10716 w 171450"/>
              <a:gd name="T1" fmla="*/ 21431 h 171450"/>
              <a:gd name="T2" fmla="*/ 804 w 171450"/>
              <a:gd name="T3" fmla="*/ 28062 h 171450"/>
              <a:gd name="T4" fmla="*/ 3148 w 171450"/>
              <a:gd name="T5" fmla="*/ 39715 h 171450"/>
              <a:gd name="T6" fmla="*/ 64294 w 171450"/>
              <a:gd name="T7" fmla="*/ 100894 h 171450"/>
              <a:gd name="T8" fmla="*/ 64294 w 171450"/>
              <a:gd name="T9" fmla="*/ 139303 h 171450"/>
              <a:gd name="T10" fmla="*/ 67441 w 171450"/>
              <a:gd name="T11" fmla="*/ 146871 h 171450"/>
              <a:gd name="T12" fmla="*/ 88873 w 171450"/>
              <a:gd name="T13" fmla="*/ 168302 h 171450"/>
              <a:gd name="T14" fmla="*/ 100559 w 171450"/>
              <a:gd name="T15" fmla="*/ 170613 h 171450"/>
              <a:gd name="T16" fmla="*/ 107156 w 171450"/>
              <a:gd name="T17" fmla="*/ 160734 h 171450"/>
              <a:gd name="T18" fmla="*/ 107156 w 171450"/>
              <a:gd name="T19" fmla="*/ 100894 h 171450"/>
              <a:gd name="T20" fmla="*/ 168302 w 171450"/>
              <a:gd name="T21" fmla="*/ 39748 h 171450"/>
              <a:gd name="T22" fmla="*/ 170613 w 171450"/>
              <a:gd name="T23" fmla="*/ 28062 h 171450"/>
              <a:gd name="T24" fmla="*/ 160734 w 171450"/>
              <a:gd name="T25" fmla="*/ 21431 h 171450"/>
              <a:gd name="T26" fmla="*/ 10716 w 171450"/>
              <a:gd name="T27" fmla="*/ 21431 h 17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1450" h="171450">
                <a:moveTo>
                  <a:pt x="10716" y="21431"/>
                </a:moveTo>
                <a:cubicBezTo>
                  <a:pt x="6396" y="21431"/>
                  <a:pt x="2478" y="24043"/>
                  <a:pt x="804" y="28062"/>
                </a:cubicBezTo>
                <a:cubicBezTo>
                  <a:pt x="-871" y="32080"/>
                  <a:pt x="67" y="36668"/>
                  <a:pt x="3148" y="39715"/>
                </a:cubicBezTo>
                <a:lnTo>
                  <a:pt x="64294" y="100894"/>
                </a:lnTo>
                <a:lnTo>
                  <a:pt x="64294" y="139303"/>
                </a:lnTo>
                <a:cubicBezTo>
                  <a:pt x="64294" y="142149"/>
                  <a:pt x="65432" y="144862"/>
                  <a:pt x="67441" y="146871"/>
                </a:cubicBezTo>
                <a:lnTo>
                  <a:pt x="88873" y="168302"/>
                </a:lnTo>
                <a:cubicBezTo>
                  <a:pt x="91953" y="171383"/>
                  <a:pt x="96541" y="172287"/>
                  <a:pt x="100559" y="170613"/>
                </a:cubicBezTo>
                <a:cubicBezTo>
                  <a:pt x="104578" y="168939"/>
                  <a:pt x="107156" y="165054"/>
                  <a:pt x="107156" y="160734"/>
                </a:cubicBezTo>
                <a:lnTo>
                  <a:pt x="107156" y="100894"/>
                </a:lnTo>
                <a:lnTo>
                  <a:pt x="168302" y="39748"/>
                </a:lnTo>
                <a:cubicBezTo>
                  <a:pt x="171383" y="36668"/>
                  <a:pt x="172287" y="32080"/>
                  <a:pt x="170613" y="28062"/>
                </a:cubicBezTo>
                <a:cubicBezTo>
                  <a:pt x="168939" y="24043"/>
                  <a:pt x="165054" y="21431"/>
                  <a:pt x="160734" y="21431"/>
                </a:cubicBezTo>
                <a:lnTo>
                  <a:pt x="10716" y="21431"/>
                </a:lnTo>
                <a:close/>
              </a:path>
            </a:pathLst>
          </a:custGeom>
          <a:solidFill>
            <a:srgbClr val="4C7E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 name="Text 23">
            <a:extLst>
              <a:ext uri="{FF2B5EF4-FFF2-40B4-BE49-F238E27FC236}">
                <a16:creationId xmlns:a16="http://schemas.microsoft.com/office/drawing/2014/main" id="{5F91CE56-4294-B3FD-DD66-597876DE3A94}"/>
              </a:ext>
            </a:extLst>
          </p:cNvPr>
          <p:cNvSpPr/>
          <p:nvPr/>
        </p:nvSpPr>
        <p:spPr>
          <a:xfrm>
            <a:off x="762000" y="4143375"/>
            <a:ext cx="5162550" cy="266700"/>
          </a:xfrm>
          <a:prstGeom prst="rect">
            <a:avLst/>
          </a:prstGeom>
          <a:noFill/>
          <a:ln/>
        </p:spPr>
        <p:txBody>
          <a:bodyPr lIns="0" tIns="0" rIns="0" bIns="0" anchor="ctr"/>
          <a:lstStyle/>
          <a:p>
            <a:pPr eaLnBrk="1" fontAlgn="auto" hangingPunct="1">
              <a:lnSpc>
                <a:spcPct val="130000"/>
              </a:lnSpc>
              <a:spcBef>
                <a:spcPts val="0"/>
              </a:spcBef>
              <a:spcAft>
                <a:spcPts val="0"/>
              </a:spcAft>
              <a:defRPr/>
            </a:pPr>
            <a:r>
              <a:rPr lang="en-US" sz="1350" b="1" dirty="0">
                <a:solidFill>
                  <a:srgbClr val="4C7E9A"/>
                </a:solidFill>
                <a:latin typeface="Liter" pitchFamily="34" charset="0"/>
                <a:ea typeface="Liter" pitchFamily="34" charset="-122"/>
                <a:cs typeface="Liter" pitchFamily="34" charset="-120"/>
              </a:rPr>
              <a:t>Notes</a:t>
            </a:r>
            <a:endParaRPr lang="en-US" sz="1600" dirty="0">
              <a:latin typeface="+mn-lt"/>
            </a:endParaRPr>
          </a:p>
        </p:txBody>
      </p:sp>
      <p:sp>
        <p:nvSpPr>
          <p:cNvPr id="7194" name="Text 25">
            <a:extLst>
              <a:ext uri="{FF2B5EF4-FFF2-40B4-BE49-F238E27FC236}">
                <a16:creationId xmlns:a16="http://schemas.microsoft.com/office/drawing/2014/main" id="{4CCDF167-F3A6-B06C-FA01-5F6D6303A963}"/>
              </a:ext>
            </a:extLst>
          </p:cNvPr>
          <p:cNvSpPr>
            <a:spLocks noChangeArrowheads="1"/>
          </p:cNvSpPr>
          <p:nvPr/>
        </p:nvSpPr>
        <p:spPr bwMode="auto">
          <a:xfrm>
            <a:off x="739775" y="4524375"/>
            <a:ext cx="51625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100">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*Manual labeling on West Practice 1 (used to tune algorithm) surfaced combined speed/accel thresholds later used in algorithm; start frame error not wholly independent.</a:t>
            </a:r>
          </a:p>
          <a:p>
            <a:pPr eaLnBrk="1" hangingPunct="1">
              <a:lnSpc>
                <a:spcPct val="130000"/>
              </a:lnSpc>
            </a:pPr>
            <a:r>
              <a:rPr lang="en-US" altLang="en-US" sz="1100">
                <a:solidFill>
                  <a:srgbClr val="E1E3E6"/>
                </a:solidFill>
                <a:latin typeface="Quattrocento Sans" panose="020B0502050000020003" pitchFamily="34" charset="0"/>
              </a:rPr>
              <a:t>133 reps and 5,345 frames identified across six 2024 practice sessions</a:t>
            </a:r>
          </a:p>
          <a:p>
            <a:pPr eaLnBrk="1" hangingPunct="1">
              <a:lnSpc>
                <a:spcPct val="130000"/>
              </a:lnSpc>
            </a:pPr>
            <a:r>
              <a:rPr lang="en-US" altLang="en-US" sz="1100">
                <a:solidFill>
                  <a:srgbClr val="E1E3E6"/>
                </a:solidFill>
                <a:latin typeface="Quattrocento Sans" panose="020B0502050000020003" pitchFamily="34" charset="0"/>
              </a:rPr>
              <a:t>9 false positives and 9 other reps with data quality issues filtered out (18/133; ~13.5%)</a:t>
            </a:r>
          </a:p>
          <a:p>
            <a:pPr eaLnBrk="1" hangingPunct="1">
              <a:lnSpc>
                <a:spcPct val="130000"/>
              </a:lnSpc>
            </a:pPr>
            <a:endParaRPr lang="en-US" altLang="en-US" sz="1100"/>
          </a:p>
        </p:txBody>
      </p:sp>
      <p:sp>
        <p:nvSpPr>
          <p:cNvPr id="7195" name="Shape 32">
            <a:extLst>
              <a:ext uri="{FF2B5EF4-FFF2-40B4-BE49-F238E27FC236}">
                <a16:creationId xmlns:a16="http://schemas.microsoft.com/office/drawing/2014/main" id="{6E88E87D-80E6-7947-48AC-EB7E013215CB}"/>
              </a:ext>
            </a:extLst>
          </p:cNvPr>
          <p:cNvSpPr>
            <a:spLocks/>
          </p:cNvSpPr>
          <p:nvPr/>
        </p:nvSpPr>
        <p:spPr bwMode="auto">
          <a:xfrm>
            <a:off x="6196013" y="1185863"/>
            <a:ext cx="5610225" cy="4638675"/>
          </a:xfrm>
          <a:custGeom>
            <a:avLst/>
            <a:gdLst>
              <a:gd name="T0" fmla="*/ 38084 w 5610225"/>
              <a:gd name="T1" fmla="*/ 0 h 4638675"/>
              <a:gd name="T2" fmla="*/ 5572141 w 5610225"/>
              <a:gd name="T3" fmla="*/ 0 h 4638675"/>
              <a:gd name="T4" fmla="*/ 5610225 w 5610225"/>
              <a:gd name="T5" fmla="*/ 38084 h 4638675"/>
              <a:gd name="T6" fmla="*/ 5610225 w 5610225"/>
              <a:gd name="T7" fmla="*/ 4600591 h 4638675"/>
              <a:gd name="T8" fmla="*/ 5572141 w 5610225"/>
              <a:gd name="T9" fmla="*/ 4638675 h 4638675"/>
              <a:gd name="T10" fmla="*/ 38084 w 5610225"/>
              <a:gd name="T11" fmla="*/ 4638675 h 4638675"/>
              <a:gd name="T12" fmla="*/ 0 w 5610225"/>
              <a:gd name="T13" fmla="*/ 4600591 h 4638675"/>
              <a:gd name="T14" fmla="*/ 0 w 5610225"/>
              <a:gd name="T15" fmla="*/ 38084 h 4638675"/>
              <a:gd name="T16" fmla="*/ 38084 w 5610225"/>
              <a:gd name="T17" fmla="*/ 0 h 4638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10225" h="4638675">
                <a:moveTo>
                  <a:pt x="38084" y="0"/>
                </a:moveTo>
                <a:lnTo>
                  <a:pt x="5572141" y="0"/>
                </a:lnTo>
                <a:cubicBezTo>
                  <a:pt x="5593174" y="0"/>
                  <a:pt x="5610225" y="17051"/>
                  <a:pt x="5610225" y="38084"/>
                </a:cubicBezTo>
                <a:lnTo>
                  <a:pt x="5610225" y="4600591"/>
                </a:lnTo>
                <a:cubicBezTo>
                  <a:pt x="5610225" y="4621624"/>
                  <a:pt x="5593174" y="4638675"/>
                  <a:pt x="5572141" y="4638675"/>
                </a:cubicBezTo>
                <a:lnTo>
                  <a:pt x="38084" y="4638675"/>
                </a:lnTo>
                <a:cubicBezTo>
                  <a:pt x="17051" y="4638675"/>
                  <a:pt x="0" y="4621624"/>
                  <a:pt x="0" y="4600591"/>
                </a:cubicBezTo>
                <a:lnTo>
                  <a:pt x="0" y="38084"/>
                </a:lnTo>
                <a:cubicBezTo>
                  <a:pt x="0" y="17065"/>
                  <a:pt x="17065" y="0"/>
                  <a:pt x="38084" y="0"/>
                </a:cubicBezTo>
                <a:close/>
              </a:path>
            </a:pathLst>
          </a:custGeom>
          <a:solidFill>
            <a:srgbClr val="1E2024"/>
          </a:solidFill>
          <a:ln w="12700">
            <a:solidFill>
              <a:srgbClr val="4C7E9A">
                <a:alpha val="30196"/>
              </a:srgbClr>
            </a:solidFill>
            <a:prstDash val="solid"/>
            <a:round/>
            <a:headEnd/>
            <a:tailEnd/>
          </a:ln>
        </p:spPr>
        <p:txBody>
          <a:bodyPr/>
          <a:lstStyle/>
          <a:p>
            <a:endParaRPr lang="en-US"/>
          </a:p>
        </p:txBody>
      </p:sp>
      <p:sp>
        <p:nvSpPr>
          <p:cNvPr id="35" name="Text 33">
            <a:extLst>
              <a:ext uri="{FF2B5EF4-FFF2-40B4-BE49-F238E27FC236}">
                <a16:creationId xmlns:a16="http://schemas.microsoft.com/office/drawing/2014/main" id="{62A3F2B1-AD49-6AA3-567A-1BD0E8F722EB}"/>
              </a:ext>
            </a:extLst>
          </p:cNvPr>
          <p:cNvSpPr/>
          <p:nvPr/>
        </p:nvSpPr>
        <p:spPr>
          <a:xfrm>
            <a:off x="6353175" y="1270000"/>
            <a:ext cx="5381625" cy="266700"/>
          </a:xfrm>
          <a:prstGeom prst="rect">
            <a:avLst/>
          </a:prstGeom>
          <a:noFill/>
          <a:ln/>
        </p:spPr>
        <p:txBody>
          <a:bodyPr lIns="0" tIns="0" rIns="0" bIns="0" anchor="ctr"/>
          <a:lstStyle/>
          <a:p>
            <a:pPr eaLnBrk="1" fontAlgn="auto" hangingPunct="1">
              <a:lnSpc>
                <a:spcPct val="130000"/>
              </a:lnSpc>
              <a:spcBef>
                <a:spcPts val="0"/>
              </a:spcBef>
              <a:spcAft>
                <a:spcPts val="0"/>
              </a:spcAft>
              <a:defRPr/>
            </a:pPr>
            <a:r>
              <a:rPr lang="en-US" sz="1350" b="1" dirty="0">
                <a:solidFill>
                  <a:srgbClr val="4C7E9A"/>
                </a:solidFill>
                <a:latin typeface="Liter" pitchFamily="34" charset="0"/>
                <a:ea typeface="Liter" pitchFamily="34" charset="-122"/>
                <a:cs typeface="Liter" pitchFamily="34" charset="-120"/>
              </a:rPr>
              <a:t>Processing Results Across Sessions After Filtering</a:t>
            </a:r>
            <a:endParaRPr lang="en-US" sz="1600" dirty="0">
              <a:latin typeface="+mn-lt"/>
            </a:endParaRPr>
          </a:p>
        </p:txBody>
      </p:sp>
      <p:pic>
        <p:nvPicPr>
          <p:cNvPr id="38" name="Graphic 37" descr="Flag with solid fill">
            <a:extLst>
              <a:ext uri="{FF2B5EF4-FFF2-40B4-BE49-F238E27FC236}">
                <a16:creationId xmlns:a16="http://schemas.microsoft.com/office/drawing/2014/main" id="{BD758300-6FDD-0A52-2890-4B12E76A8EBC}"/>
              </a:ext>
            </a:extLst>
          </p:cNvPr>
          <p:cNvPicPr>
            <a:picLocks noChangeAspect="1"/>
          </p:cNvPicPr>
          <p:nvPr/>
        </p:nvPicPr>
        <p:blipFill>
          <a:blip r:embed="rId3"/>
          <a:stretch>
            <a:fillRect/>
          </a:stretch>
        </p:blipFill>
        <p:spPr>
          <a:xfrm>
            <a:off x="534988" y="5429250"/>
            <a:ext cx="171450" cy="171450"/>
          </a:xfrm>
          <a:prstGeom prst="rect">
            <a:avLst/>
          </a:prstGeom>
        </p:spPr>
      </p:pic>
      <p:pic>
        <p:nvPicPr>
          <p:cNvPr id="40" name="Graphic 39" descr="Pin with solid fill">
            <a:extLst>
              <a:ext uri="{FF2B5EF4-FFF2-40B4-BE49-F238E27FC236}">
                <a16:creationId xmlns:a16="http://schemas.microsoft.com/office/drawing/2014/main" id="{3C1B1EAE-08F4-A163-C451-ED8444AFE87B}"/>
              </a:ext>
            </a:extLst>
          </p:cNvPr>
          <p:cNvPicPr>
            <a:picLocks noChangeAspect="1"/>
          </p:cNvPicPr>
          <p:nvPr/>
        </p:nvPicPr>
        <p:blipFill>
          <a:blip r:embed="rId4"/>
          <a:stretch>
            <a:fillRect/>
          </a:stretch>
        </p:blipFill>
        <p:spPr>
          <a:xfrm>
            <a:off x="517525" y="5197475"/>
            <a:ext cx="171450" cy="171450"/>
          </a:xfrm>
          <a:prstGeom prst="rect">
            <a:avLst/>
          </a:prstGeom>
        </p:spPr>
      </p:pic>
      <p:pic>
        <p:nvPicPr>
          <p:cNvPr id="43" name="Graphic 42" descr="Information with solid fill">
            <a:extLst>
              <a:ext uri="{FF2B5EF4-FFF2-40B4-BE49-F238E27FC236}">
                <a16:creationId xmlns:a16="http://schemas.microsoft.com/office/drawing/2014/main" id="{462297CC-8688-F266-2AF5-CFC091295534}"/>
              </a:ext>
            </a:extLst>
          </p:cNvPr>
          <p:cNvPicPr>
            <a:picLocks noChangeAspect="1"/>
          </p:cNvPicPr>
          <p:nvPr/>
        </p:nvPicPr>
        <p:blipFill>
          <a:blip r:embed="rId5"/>
          <a:stretch>
            <a:fillRect/>
          </a:stretch>
        </p:blipFill>
        <p:spPr>
          <a:xfrm>
            <a:off x="534988" y="4560888"/>
            <a:ext cx="171450" cy="173037"/>
          </a:xfrm>
          <a:prstGeom prst="rect">
            <a:avLst/>
          </a:prstGeom>
        </p:spPr>
      </p:pic>
      <p:pic>
        <p:nvPicPr>
          <p:cNvPr id="49" name="Graphic 48">
            <a:extLst>
              <a:ext uri="{FF2B5EF4-FFF2-40B4-BE49-F238E27FC236}">
                <a16:creationId xmlns:a16="http://schemas.microsoft.com/office/drawing/2014/main" id="{A43B9BEA-85D3-102C-31AF-A73CCAB51B1A}"/>
              </a:ext>
            </a:extLst>
          </p:cNvPr>
          <p:cNvPicPr>
            <a:picLocks noChangeAspect="1"/>
          </p:cNvPicPr>
          <p:nvPr/>
        </p:nvPicPr>
        <p:blipFill>
          <a:blip r:embed="rId6"/>
          <a:stretch>
            <a:fillRect/>
          </a:stretch>
        </p:blipFill>
        <p:spPr>
          <a:xfrm>
            <a:off x="6196013" y="1655763"/>
            <a:ext cx="5610225" cy="4206875"/>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317"/>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21EE492-4A96-261E-DC8A-3E7398D190B3}"/>
              </a:ext>
            </a:extLst>
          </p:cNvPr>
          <p:cNvSpPr/>
          <p:nvPr/>
        </p:nvSpPr>
        <p:spPr>
          <a:xfrm>
            <a:off x="369888" y="369888"/>
            <a:ext cx="11515725" cy="185737"/>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21" b="1" kern="0" spc="255" dirty="0">
                <a:solidFill>
                  <a:srgbClr val="D8A03D"/>
                </a:solidFill>
                <a:latin typeface="Quattrocento Sans" pitchFamily="34" charset="0"/>
                <a:ea typeface="Quattrocento Sans" pitchFamily="34" charset="-122"/>
                <a:cs typeface="Quattrocento Sans" pitchFamily="34" charset="-120"/>
              </a:rPr>
              <a:t>FEATURE ENGINEERING</a:t>
            </a:r>
            <a:endParaRPr lang="en-US" sz="1600" dirty="0">
              <a:latin typeface="+mn-lt"/>
            </a:endParaRPr>
          </a:p>
        </p:txBody>
      </p:sp>
      <p:sp>
        <p:nvSpPr>
          <p:cNvPr id="3" name="Text 1">
            <a:extLst>
              <a:ext uri="{FF2B5EF4-FFF2-40B4-BE49-F238E27FC236}">
                <a16:creationId xmlns:a16="http://schemas.microsoft.com/office/drawing/2014/main" id="{F340178E-52DF-2341-C75B-537A7F2047BA}"/>
              </a:ext>
            </a:extLst>
          </p:cNvPr>
          <p:cNvSpPr/>
          <p:nvPr/>
        </p:nvSpPr>
        <p:spPr>
          <a:xfrm>
            <a:off x="369888" y="630238"/>
            <a:ext cx="11618912" cy="369887"/>
          </a:xfrm>
          <a:prstGeom prst="rect">
            <a:avLst/>
          </a:prstGeom>
          <a:noFill/>
          <a:ln/>
        </p:spPr>
        <p:txBody>
          <a:bodyPr lIns="0" tIns="0" rIns="0" bIns="0" anchor="ctr"/>
          <a:lstStyle/>
          <a:p>
            <a:pPr eaLnBrk="1" fontAlgn="auto" hangingPunct="1">
              <a:lnSpc>
                <a:spcPct val="90000"/>
              </a:lnSpc>
              <a:spcBef>
                <a:spcPts val="0"/>
              </a:spcBef>
              <a:spcAft>
                <a:spcPts val="0"/>
              </a:spcAft>
              <a:defRPr/>
            </a:pPr>
            <a:r>
              <a:rPr lang="en-US" sz="2626" b="1" dirty="0">
                <a:solidFill>
                  <a:srgbClr val="E1E3E6"/>
                </a:solidFill>
                <a:latin typeface="Liter" pitchFamily="34" charset="0"/>
                <a:ea typeface="Liter" pitchFamily="34" charset="-122"/>
                <a:cs typeface="Liter" pitchFamily="34" charset="-120"/>
              </a:rPr>
              <a:t>Contact Onset Detection &amp; Other Features</a:t>
            </a:r>
            <a:endParaRPr lang="en-US" sz="1600" dirty="0">
              <a:latin typeface="+mn-lt"/>
            </a:endParaRPr>
          </a:p>
        </p:txBody>
      </p:sp>
      <p:sp>
        <p:nvSpPr>
          <p:cNvPr id="9220" name="Shape 2">
            <a:extLst>
              <a:ext uri="{FF2B5EF4-FFF2-40B4-BE49-F238E27FC236}">
                <a16:creationId xmlns:a16="http://schemas.microsoft.com/office/drawing/2014/main" id="{F9A7CBA1-36A1-71D9-8EB3-887AC0F97EBB}"/>
              </a:ext>
            </a:extLst>
          </p:cNvPr>
          <p:cNvSpPr>
            <a:spLocks/>
          </p:cNvSpPr>
          <p:nvPr/>
        </p:nvSpPr>
        <p:spPr bwMode="auto">
          <a:xfrm>
            <a:off x="379413" y="1157288"/>
            <a:ext cx="3697287" cy="2586037"/>
          </a:xfrm>
          <a:custGeom>
            <a:avLst/>
            <a:gdLst>
              <a:gd name="T0" fmla="*/ 37066 w 3696511"/>
              <a:gd name="T1" fmla="*/ 0 h 2584778"/>
              <a:gd name="T2" fmla="*/ 3659445 w 3696511"/>
              <a:gd name="T3" fmla="*/ 0 h 2584778"/>
              <a:gd name="T4" fmla="*/ 3696511 w 3696511"/>
              <a:gd name="T5" fmla="*/ 37066 h 2584778"/>
              <a:gd name="T6" fmla="*/ 3696511 w 3696511"/>
              <a:gd name="T7" fmla="*/ 2547712 h 2584778"/>
              <a:gd name="T8" fmla="*/ 3659445 w 3696511"/>
              <a:gd name="T9" fmla="*/ 2584778 h 2584778"/>
              <a:gd name="T10" fmla="*/ 37066 w 3696511"/>
              <a:gd name="T11" fmla="*/ 2584778 h 2584778"/>
              <a:gd name="T12" fmla="*/ 0 w 3696511"/>
              <a:gd name="T13" fmla="*/ 2547712 h 2584778"/>
              <a:gd name="T14" fmla="*/ 0 w 3696511"/>
              <a:gd name="T15" fmla="*/ 37066 h 2584778"/>
              <a:gd name="T16" fmla="*/ 37066 w 3696511"/>
              <a:gd name="T17" fmla="*/ 0 h 25847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96511" h="2584778">
                <a:moveTo>
                  <a:pt x="37066" y="0"/>
                </a:moveTo>
                <a:lnTo>
                  <a:pt x="3659445" y="0"/>
                </a:lnTo>
                <a:cubicBezTo>
                  <a:pt x="3679916" y="0"/>
                  <a:pt x="3696511" y="16595"/>
                  <a:pt x="3696511" y="37066"/>
                </a:cubicBezTo>
                <a:lnTo>
                  <a:pt x="3696511" y="2547712"/>
                </a:lnTo>
                <a:cubicBezTo>
                  <a:pt x="3696511" y="2568183"/>
                  <a:pt x="3679916" y="2584778"/>
                  <a:pt x="3659445" y="2584778"/>
                </a:cubicBezTo>
                <a:lnTo>
                  <a:pt x="37066" y="2584778"/>
                </a:lnTo>
                <a:cubicBezTo>
                  <a:pt x="16595" y="2584778"/>
                  <a:pt x="0" y="2568183"/>
                  <a:pt x="0" y="2547712"/>
                </a:cubicBezTo>
                <a:lnTo>
                  <a:pt x="0" y="37066"/>
                </a:lnTo>
                <a:cubicBezTo>
                  <a:pt x="0" y="16609"/>
                  <a:pt x="16609" y="0"/>
                  <a:pt x="37066" y="0"/>
                </a:cubicBezTo>
                <a:close/>
              </a:path>
            </a:pathLst>
          </a:custGeom>
          <a:solidFill>
            <a:srgbClr val="1E2024"/>
          </a:solidFill>
          <a:ln w="25400">
            <a:solidFill>
              <a:srgbClr val="D8A03D"/>
            </a:solidFill>
            <a:prstDash val="solid"/>
            <a:round/>
            <a:headEnd/>
            <a:tailEnd/>
          </a:ln>
        </p:spPr>
        <p:txBody>
          <a:bodyPr/>
          <a:lstStyle/>
          <a:p>
            <a:endParaRPr lang="en-US"/>
          </a:p>
        </p:txBody>
      </p:sp>
      <p:sp>
        <p:nvSpPr>
          <p:cNvPr id="9221" name="Shape 3">
            <a:extLst>
              <a:ext uri="{FF2B5EF4-FFF2-40B4-BE49-F238E27FC236}">
                <a16:creationId xmlns:a16="http://schemas.microsoft.com/office/drawing/2014/main" id="{8615EAAF-9D37-F2CB-4EB7-B5254D8B5CA1}"/>
              </a:ext>
            </a:extLst>
          </p:cNvPr>
          <p:cNvSpPr>
            <a:spLocks/>
          </p:cNvSpPr>
          <p:nvPr/>
        </p:nvSpPr>
        <p:spPr bwMode="auto">
          <a:xfrm>
            <a:off x="581025" y="1362075"/>
            <a:ext cx="125413" cy="166688"/>
          </a:xfrm>
          <a:custGeom>
            <a:avLst/>
            <a:gdLst>
              <a:gd name="T0" fmla="*/ 95398 w 125070"/>
              <a:gd name="T1" fmla="*/ 125070 h 166760"/>
              <a:gd name="T2" fmla="*/ 107905 w 125070"/>
              <a:gd name="T3" fmla="*/ 105560 h 166760"/>
              <a:gd name="T4" fmla="*/ 125070 w 125070"/>
              <a:gd name="T5" fmla="*/ 62535 h 166760"/>
              <a:gd name="T6" fmla="*/ 62535 w 125070"/>
              <a:gd name="T7" fmla="*/ 0 h 166760"/>
              <a:gd name="T8" fmla="*/ 0 w 125070"/>
              <a:gd name="T9" fmla="*/ 62535 h 166760"/>
              <a:gd name="T10" fmla="*/ 17165 w 125070"/>
              <a:gd name="T11" fmla="*/ 105560 h 166760"/>
              <a:gd name="T12" fmla="*/ 29672 w 125070"/>
              <a:gd name="T13" fmla="*/ 125070 h 166760"/>
              <a:gd name="T14" fmla="*/ 95366 w 125070"/>
              <a:gd name="T15" fmla="*/ 125070 h 166760"/>
              <a:gd name="T16" fmla="*/ 95398 w 125070"/>
              <a:gd name="T17" fmla="*/ 125070 h 166760"/>
              <a:gd name="T18" fmla="*/ 93802 w 125070"/>
              <a:gd name="T19" fmla="*/ 140704 h 166760"/>
              <a:gd name="T20" fmla="*/ 31267 w 125070"/>
              <a:gd name="T21" fmla="*/ 140704 h 166760"/>
              <a:gd name="T22" fmla="*/ 31267 w 125070"/>
              <a:gd name="T23" fmla="*/ 145915 h 166760"/>
              <a:gd name="T24" fmla="*/ 57324 w 125070"/>
              <a:gd name="T25" fmla="*/ 171971 h 166760"/>
              <a:gd name="T26" fmla="*/ 67746 w 125070"/>
              <a:gd name="T27" fmla="*/ 171971 h 166760"/>
              <a:gd name="T28" fmla="*/ 93802 w 125070"/>
              <a:gd name="T29" fmla="*/ 145915 h 166760"/>
              <a:gd name="T30" fmla="*/ 93802 w 125070"/>
              <a:gd name="T31" fmla="*/ 140704 h 166760"/>
              <a:gd name="T32" fmla="*/ 59929 w 125070"/>
              <a:gd name="T33" fmla="*/ 36479 h 166760"/>
              <a:gd name="T34" fmla="*/ 36479 w 125070"/>
              <a:gd name="T35" fmla="*/ 59929 h 166760"/>
              <a:gd name="T36" fmla="*/ 28662 w 125070"/>
              <a:gd name="T37" fmla="*/ 67746 h 166760"/>
              <a:gd name="T38" fmla="*/ 20845 w 125070"/>
              <a:gd name="T39" fmla="*/ 59929 h 166760"/>
              <a:gd name="T40" fmla="*/ 59929 w 125070"/>
              <a:gd name="T41" fmla="*/ 20845 h 166760"/>
              <a:gd name="T42" fmla="*/ 67746 w 125070"/>
              <a:gd name="T43" fmla="*/ 28662 h 166760"/>
              <a:gd name="T44" fmla="*/ 59929 w 125070"/>
              <a:gd name="T45" fmla="*/ 36479 h 166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5070" h="166760">
                <a:moveTo>
                  <a:pt x="95398" y="125070"/>
                </a:moveTo>
                <a:cubicBezTo>
                  <a:pt x="97776" y="117807"/>
                  <a:pt x="102531" y="111228"/>
                  <a:pt x="107905" y="105560"/>
                </a:cubicBezTo>
                <a:cubicBezTo>
                  <a:pt x="118556" y="94356"/>
                  <a:pt x="125070" y="79211"/>
                  <a:pt x="125070" y="62535"/>
                </a:cubicBezTo>
                <a:cubicBezTo>
                  <a:pt x="125070" y="28010"/>
                  <a:pt x="97059" y="0"/>
                  <a:pt x="62535" y="0"/>
                </a:cubicBezTo>
                <a:cubicBezTo>
                  <a:pt x="28010" y="0"/>
                  <a:pt x="0" y="28010"/>
                  <a:pt x="0" y="62535"/>
                </a:cubicBezTo>
                <a:cubicBezTo>
                  <a:pt x="0" y="79211"/>
                  <a:pt x="6514" y="94356"/>
                  <a:pt x="17165" y="105560"/>
                </a:cubicBezTo>
                <a:cubicBezTo>
                  <a:pt x="22539" y="111228"/>
                  <a:pt x="27326" y="117807"/>
                  <a:pt x="29672" y="125070"/>
                </a:cubicBezTo>
                <a:lnTo>
                  <a:pt x="95366" y="125070"/>
                </a:lnTo>
                <a:lnTo>
                  <a:pt x="95398" y="125070"/>
                </a:lnTo>
                <a:close/>
                <a:moveTo>
                  <a:pt x="93802" y="140704"/>
                </a:moveTo>
                <a:lnTo>
                  <a:pt x="31267" y="140704"/>
                </a:lnTo>
                <a:lnTo>
                  <a:pt x="31267" y="145915"/>
                </a:lnTo>
                <a:cubicBezTo>
                  <a:pt x="31267" y="160311"/>
                  <a:pt x="42928" y="171971"/>
                  <a:pt x="57324" y="171971"/>
                </a:cubicBezTo>
                <a:lnTo>
                  <a:pt x="67746" y="171971"/>
                </a:lnTo>
                <a:cubicBezTo>
                  <a:pt x="82142" y="171971"/>
                  <a:pt x="93802" y="160311"/>
                  <a:pt x="93802" y="145915"/>
                </a:cubicBezTo>
                <a:lnTo>
                  <a:pt x="93802" y="140704"/>
                </a:lnTo>
                <a:close/>
                <a:moveTo>
                  <a:pt x="59929" y="36479"/>
                </a:moveTo>
                <a:cubicBezTo>
                  <a:pt x="46966" y="36479"/>
                  <a:pt x="36479" y="46966"/>
                  <a:pt x="36479" y="59929"/>
                </a:cubicBezTo>
                <a:cubicBezTo>
                  <a:pt x="36479" y="64261"/>
                  <a:pt x="32994" y="67746"/>
                  <a:pt x="28662" y="67746"/>
                </a:cubicBezTo>
                <a:cubicBezTo>
                  <a:pt x="24330" y="67746"/>
                  <a:pt x="20845" y="64261"/>
                  <a:pt x="20845" y="59929"/>
                </a:cubicBezTo>
                <a:cubicBezTo>
                  <a:pt x="20845" y="38335"/>
                  <a:pt x="38335" y="20845"/>
                  <a:pt x="59929" y="20845"/>
                </a:cubicBezTo>
                <a:cubicBezTo>
                  <a:pt x="64261" y="20845"/>
                  <a:pt x="67746" y="24330"/>
                  <a:pt x="67746" y="28662"/>
                </a:cubicBezTo>
                <a:cubicBezTo>
                  <a:pt x="67746" y="32994"/>
                  <a:pt x="64261" y="36479"/>
                  <a:pt x="59929" y="36479"/>
                </a:cubicBezTo>
                <a:close/>
              </a:path>
            </a:pathLst>
          </a:custGeom>
          <a:solidFill>
            <a:srgbClr val="D8A03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 name="Text 4">
            <a:extLst>
              <a:ext uri="{FF2B5EF4-FFF2-40B4-BE49-F238E27FC236}">
                <a16:creationId xmlns:a16="http://schemas.microsoft.com/office/drawing/2014/main" id="{F93AD868-A358-48AD-249C-6E9CDF227D36}"/>
              </a:ext>
            </a:extLst>
          </p:cNvPr>
          <p:cNvSpPr/>
          <p:nvPr/>
        </p:nvSpPr>
        <p:spPr>
          <a:xfrm>
            <a:off x="750888" y="1316038"/>
            <a:ext cx="3251200" cy="258762"/>
          </a:xfrm>
          <a:prstGeom prst="rect">
            <a:avLst/>
          </a:prstGeom>
          <a:noFill/>
          <a:ln/>
        </p:spPr>
        <p:txBody>
          <a:bodyPr lIns="0" tIns="0" rIns="0" bIns="0" anchor="ctr"/>
          <a:lstStyle/>
          <a:p>
            <a:pPr eaLnBrk="1" fontAlgn="auto" hangingPunct="1">
              <a:lnSpc>
                <a:spcPct val="130000"/>
              </a:lnSpc>
              <a:spcBef>
                <a:spcPts val="0"/>
              </a:spcBef>
              <a:spcAft>
                <a:spcPts val="0"/>
              </a:spcAft>
              <a:defRPr/>
            </a:pPr>
            <a:r>
              <a:rPr lang="en-US" sz="1313" b="1" dirty="0">
                <a:solidFill>
                  <a:srgbClr val="D8A03D"/>
                </a:solidFill>
                <a:latin typeface="Liter" pitchFamily="34" charset="0"/>
                <a:ea typeface="Liter" pitchFamily="34" charset="-122"/>
                <a:cs typeface="Liter" pitchFamily="34" charset="-120"/>
              </a:rPr>
              <a:t>Challenge</a:t>
            </a:r>
            <a:endParaRPr lang="en-US" sz="1600" dirty="0">
              <a:latin typeface="+mn-lt"/>
            </a:endParaRPr>
          </a:p>
        </p:txBody>
      </p:sp>
      <p:sp>
        <p:nvSpPr>
          <p:cNvPr id="9223" name="Shape 5">
            <a:extLst>
              <a:ext uri="{FF2B5EF4-FFF2-40B4-BE49-F238E27FC236}">
                <a16:creationId xmlns:a16="http://schemas.microsoft.com/office/drawing/2014/main" id="{921A22C3-E342-9BC7-3B02-78D365064606}"/>
              </a:ext>
            </a:extLst>
          </p:cNvPr>
          <p:cNvSpPr>
            <a:spLocks/>
          </p:cNvSpPr>
          <p:nvPr/>
        </p:nvSpPr>
        <p:spPr bwMode="auto">
          <a:xfrm>
            <a:off x="536575" y="1649413"/>
            <a:ext cx="3382963" cy="1960562"/>
          </a:xfrm>
          <a:custGeom>
            <a:avLst/>
            <a:gdLst>
              <a:gd name="T0" fmla="*/ 37061 w 3381520"/>
              <a:gd name="T1" fmla="*/ 0 h 889386"/>
              <a:gd name="T2" fmla="*/ 3344459 w 3381520"/>
              <a:gd name="T3" fmla="*/ 0 h 889386"/>
              <a:gd name="T4" fmla="*/ 3381520 w 3381520"/>
              <a:gd name="T5" fmla="*/ 37061 h 889386"/>
              <a:gd name="T6" fmla="*/ 3381520 w 3381520"/>
              <a:gd name="T7" fmla="*/ 852325 h 889386"/>
              <a:gd name="T8" fmla="*/ 3344459 w 3381520"/>
              <a:gd name="T9" fmla="*/ 889386 h 889386"/>
              <a:gd name="T10" fmla="*/ 37061 w 3381520"/>
              <a:gd name="T11" fmla="*/ 889386 h 889386"/>
              <a:gd name="T12" fmla="*/ 0 w 3381520"/>
              <a:gd name="T13" fmla="*/ 852325 h 889386"/>
              <a:gd name="T14" fmla="*/ 0 w 3381520"/>
              <a:gd name="T15" fmla="*/ 37061 h 889386"/>
              <a:gd name="T16" fmla="*/ 37061 w 3381520"/>
              <a:gd name="T17" fmla="*/ 0 h 889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81520" h="889386">
                <a:moveTo>
                  <a:pt x="37061" y="0"/>
                </a:moveTo>
                <a:lnTo>
                  <a:pt x="3344459" y="0"/>
                </a:lnTo>
                <a:cubicBezTo>
                  <a:pt x="3364927" y="0"/>
                  <a:pt x="3381520" y="16593"/>
                  <a:pt x="3381520" y="37061"/>
                </a:cubicBezTo>
                <a:lnTo>
                  <a:pt x="3381520" y="852325"/>
                </a:lnTo>
                <a:cubicBezTo>
                  <a:pt x="3381520" y="872793"/>
                  <a:pt x="3364927" y="889386"/>
                  <a:pt x="3344459" y="889386"/>
                </a:cubicBezTo>
                <a:lnTo>
                  <a:pt x="37061" y="889386"/>
                </a:lnTo>
                <a:cubicBezTo>
                  <a:pt x="16593" y="889386"/>
                  <a:pt x="0" y="872793"/>
                  <a:pt x="0" y="852325"/>
                </a:cubicBezTo>
                <a:lnTo>
                  <a:pt x="0" y="37061"/>
                </a:lnTo>
                <a:cubicBezTo>
                  <a:pt x="0" y="16593"/>
                  <a:pt x="16593" y="0"/>
                  <a:pt x="37061" y="0"/>
                </a:cubicBezTo>
                <a:close/>
              </a:path>
            </a:pathLst>
          </a:custGeom>
          <a:solidFill>
            <a:srgbClr val="1113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 name="Text 6">
            <a:extLst>
              <a:ext uri="{FF2B5EF4-FFF2-40B4-BE49-F238E27FC236}">
                <a16:creationId xmlns:a16="http://schemas.microsoft.com/office/drawing/2014/main" id="{42FEB373-125F-6094-4538-9483166BB152}"/>
              </a:ext>
            </a:extLst>
          </p:cNvPr>
          <p:cNvSpPr/>
          <p:nvPr/>
        </p:nvSpPr>
        <p:spPr>
          <a:xfrm>
            <a:off x="649288" y="1760538"/>
            <a:ext cx="3222625" cy="185737"/>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21" b="1" dirty="0">
                <a:solidFill>
                  <a:srgbClr val="D8A03D"/>
                </a:solidFill>
                <a:latin typeface="Quattrocento Sans" pitchFamily="34" charset="0"/>
                <a:ea typeface="Quattrocento Sans" pitchFamily="34" charset="-122"/>
                <a:cs typeface="Quattrocento Sans" pitchFamily="34" charset="-120"/>
              </a:rPr>
              <a:t>Looking For an Engagement Window</a:t>
            </a:r>
            <a:endParaRPr lang="en-US" sz="1600" dirty="0">
              <a:latin typeface="+mn-lt"/>
            </a:endParaRPr>
          </a:p>
        </p:txBody>
      </p:sp>
      <p:sp>
        <p:nvSpPr>
          <p:cNvPr id="9" name="Text 7">
            <a:extLst>
              <a:ext uri="{FF2B5EF4-FFF2-40B4-BE49-F238E27FC236}">
                <a16:creationId xmlns:a16="http://schemas.microsoft.com/office/drawing/2014/main" id="{D133B2DE-AAFD-5738-A577-4CA620908935}"/>
              </a:ext>
            </a:extLst>
          </p:cNvPr>
          <p:cNvSpPr/>
          <p:nvPr/>
        </p:nvSpPr>
        <p:spPr>
          <a:xfrm>
            <a:off x="648511" y="1982590"/>
            <a:ext cx="3233289" cy="1554110"/>
          </a:xfrm>
          <a:prstGeom prst="rect">
            <a:avLst/>
          </a:prstGeom>
          <a:noFill/>
          <a:ln/>
        </p:spPr>
        <p:txBody>
          <a:bodyPr lIns="0" tIns="0" rIns="0" bIns="0" anchor="ctr"/>
          <a:lstStyle/>
          <a:p>
            <a:pPr eaLnBrk="1" fontAlgn="auto" hangingPunct="1">
              <a:lnSpc>
                <a:spcPct val="130000"/>
              </a:lnSpc>
              <a:spcBef>
                <a:spcPts val="0"/>
              </a:spcBef>
              <a:spcAft>
                <a:spcPts val="0"/>
              </a:spcAft>
              <a:defRPr/>
            </a:pPr>
            <a:r>
              <a:rPr lang="en-US" sz="1100" dirty="0">
                <a:solidFill>
                  <a:srgbClr val="E1E3E6">
                    <a:alpha val="80000"/>
                  </a:srgbClr>
                </a:solidFill>
                <a:latin typeface="Quattrocento Sans" pitchFamily="34" charset="0"/>
                <a:ea typeface="Quattrocento Sans" pitchFamily="34" charset="-122"/>
                <a:cs typeface="Quattrocento Sans" pitchFamily="34" charset="-120"/>
              </a:rPr>
              <a:t>An individual 1-on-1 rep has confounding factors (how much of a DL’s depth gained is earned vs. how much is due to the OL’s natural retreat?) that can make quantifying performance difficult. Without film to rely on and validate against, finding a consistent reference point is tricky.</a:t>
            </a:r>
            <a:endParaRPr lang="en-US" sz="1100" dirty="0">
              <a:latin typeface="+mn-lt"/>
            </a:endParaRPr>
          </a:p>
        </p:txBody>
      </p:sp>
      <p:sp>
        <p:nvSpPr>
          <p:cNvPr id="9226" name="Shape 12">
            <a:extLst>
              <a:ext uri="{FF2B5EF4-FFF2-40B4-BE49-F238E27FC236}">
                <a16:creationId xmlns:a16="http://schemas.microsoft.com/office/drawing/2014/main" id="{3E1F051A-E5EA-1150-ECBE-88407AB327ED}"/>
              </a:ext>
            </a:extLst>
          </p:cNvPr>
          <p:cNvSpPr>
            <a:spLocks/>
          </p:cNvSpPr>
          <p:nvPr/>
        </p:nvSpPr>
        <p:spPr bwMode="auto">
          <a:xfrm>
            <a:off x="4240213" y="1154113"/>
            <a:ext cx="3705225" cy="2593975"/>
          </a:xfrm>
          <a:custGeom>
            <a:avLst/>
            <a:gdLst>
              <a:gd name="T0" fmla="*/ 37069 w 3705775"/>
              <a:gd name="T1" fmla="*/ 0 h 2594043"/>
              <a:gd name="T2" fmla="*/ 3668706 w 3705775"/>
              <a:gd name="T3" fmla="*/ 0 h 2594043"/>
              <a:gd name="T4" fmla="*/ 3705775 w 3705775"/>
              <a:gd name="T5" fmla="*/ 37069 h 2594043"/>
              <a:gd name="T6" fmla="*/ 3705775 w 3705775"/>
              <a:gd name="T7" fmla="*/ 2556974 h 2594043"/>
              <a:gd name="T8" fmla="*/ 3668706 w 3705775"/>
              <a:gd name="T9" fmla="*/ 2594043 h 2594043"/>
              <a:gd name="T10" fmla="*/ 37069 w 3705775"/>
              <a:gd name="T11" fmla="*/ 2594043 h 2594043"/>
              <a:gd name="T12" fmla="*/ 0 w 3705775"/>
              <a:gd name="T13" fmla="*/ 2556974 h 2594043"/>
              <a:gd name="T14" fmla="*/ 0 w 3705775"/>
              <a:gd name="T15" fmla="*/ 37069 h 2594043"/>
              <a:gd name="T16" fmla="*/ 37069 w 3705775"/>
              <a:gd name="T17" fmla="*/ 0 h 2594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5775" h="2594043">
                <a:moveTo>
                  <a:pt x="37069" y="0"/>
                </a:moveTo>
                <a:lnTo>
                  <a:pt x="3668706" y="0"/>
                </a:lnTo>
                <a:cubicBezTo>
                  <a:pt x="3689179" y="0"/>
                  <a:pt x="3705775" y="16596"/>
                  <a:pt x="3705775" y="37069"/>
                </a:cubicBezTo>
                <a:lnTo>
                  <a:pt x="3705775" y="2556974"/>
                </a:lnTo>
                <a:cubicBezTo>
                  <a:pt x="3705775" y="2577446"/>
                  <a:pt x="3689179" y="2594043"/>
                  <a:pt x="3668706" y="2594043"/>
                </a:cubicBezTo>
                <a:lnTo>
                  <a:pt x="37069" y="2594043"/>
                </a:lnTo>
                <a:cubicBezTo>
                  <a:pt x="16596" y="2594043"/>
                  <a:pt x="0" y="2577446"/>
                  <a:pt x="0" y="2556974"/>
                </a:cubicBezTo>
                <a:lnTo>
                  <a:pt x="0" y="37069"/>
                </a:lnTo>
                <a:cubicBezTo>
                  <a:pt x="0" y="16610"/>
                  <a:pt x="16610" y="0"/>
                  <a:pt x="37069" y="0"/>
                </a:cubicBezTo>
                <a:close/>
              </a:path>
            </a:pathLst>
          </a:custGeom>
          <a:solidFill>
            <a:srgbClr val="1E2024"/>
          </a:solidFill>
          <a:ln w="12700">
            <a:solidFill>
              <a:srgbClr val="3A506B">
                <a:alpha val="30196"/>
              </a:srgbClr>
            </a:solidFill>
            <a:prstDash val="solid"/>
            <a:round/>
            <a:headEnd/>
            <a:tailEnd/>
          </a:ln>
        </p:spPr>
        <p:txBody>
          <a:bodyPr/>
          <a:lstStyle/>
          <a:p>
            <a:endParaRPr lang="en-US"/>
          </a:p>
        </p:txBody>
      </p:sp>
      <p:sp>
        <p:nvSpPr>
          <p:cNvPr id="15" name="Text 13">
            <a:extLst>
              <a:ext uri="{FF2B5EF4-FFF2-40B4-BE49-F238E27FC236}">
                <a16:creationId xmlns:a16="http://schemas.microsoft.com/office/drawing/2014/main" id="{8DF6C87D-843B-8F36-2805-C6D3C96A7436}"/>
              </a:ext>
            </a:extLst>
          </p:cNvPr>
          <p:cNvSpPr/>
          <p:nvPr/>
        </p:nvSpPr>
        <p:spPr>
          <a:xfrm>
            <a:off x="4392613" y="1306513"/>
            <a:ext cx="3484562" cy="258762"/>
          </a:xfrm>
          <a:prstGeom prst="rect">
            <a:avLst/>
          </a:prstGeom>
          <a:noFill/>
          <a:ln/>
        </p:spPr>
        <p:txBody>
          <a:bodyPr lIns="0" tIns="0" rIns="0" bIns="0" anchor="ctr"/>
          <a:lstStyle/>
          <a:p>
            <a:pPr eaLnBrk="1" fontAlgn="auto" hangingPunct="1">
              <a:lnSpc>
                <a:spcPct val="130000"/>
              </a:lnSpc>
              <a:spcBef>
                <a:spcPts val="0"/>
              </a:spcBef>
              <a:spcAft>
                <a:spcPts val="0"/>
              </a:spcAft>
              <a:defRPr/>
            </a:pPr>
            <a:r>
              <a:rPr lang="en-US" sz="1313" b="1" dirty="0">
                <a:solidFill>
                  <a:srgbClr val="3A506B"/>
                </a:solidFill>
                <a:latin typeface="Liter" pitchFamily="34" charset="0"/>
                <a:ea typeface="Liter" pitchFamily="34" charset="-122"/>
                <a:cs typeface="Liter" pitchFamily="34" charset="-120"/>
              </a:rPr>
              <a:t>Solution: Two-Step Detection Process</a:t>
            </a:r>
            <a:endParaRPr lang="en-US" sz="1600" dirty="0">
              <a:latin typeface="+mn-lt"/>
            </a:endParaRPr>
          </a:p>
        </p:txBody>
      </p:sp>
      <p:sp>
        <p:nvSpPr>
          <p:cNvPr id="9228" name="Shape 14">
            <a:extLst>
              <a:ext uri="{FF2B5EF4-FFF2-40B4-BE49-F238E27FC236}">
                <a16:creationId xmlns:a16="http://schemas.microsoft.com/office/drawing/2014/main" id="{E74F4424-3752-8073-14B3-EFBFE785E278}"/>
              </a:ext>
            </a:extLst>
          </p:cNvPr>
          <p:cNvSpPr>
            <a:spLocks/>
          </p:cNvSpPr>
          <p:nvPr/>
        </p:nvSpPr>
        <p:spPr bwMode="auto">
          <a:xfrm>
            <a:off x="4392613" y="1676400"/>
            <a:ext cx="296862" cy="296863"/>
          </a:xfrm>
          <a:custGeom>
            <a:avLst/>
            <a:gdLst>
              <a:gd name="T0" fmla="*/ 37058 w 296462"/>
              <a:gd name="T1" fmla="*/ 0 h 296462"/>
              <a:gd name="T2" fmla="*/ 259404 w 296462"/>
              <a:gd name="T3" fmla="*/ 0 h 296462"/>
              <a:gd name="T4" fmla="*/ 296462 w 296462"/>
              <a:gd name="T5" fmla="*/ 37058 h 296462"/>
              <a:gd name="T6" fmla="*/ 296462 w 296462"/>
              <a:gd name="T7" fmla="*/ 259404 h 296462"/>
              <a:gd name="T8" fmla="*/ 259404 w 296462"/>
              <a:gd name="T9" fmla="*/ 296462 h 296462"/>
              <a:gd name="T10" fmla="*/ 37058 w 296462"/>
              <a:gd name="T11" fmla="*/ 296462 h 296462"/>
              <a:gd name="T12" fmla="*/ 0 w 296462"/>
              <a:gd name="T13" fmla="*/ 259404 h 296462"/>
              <a:gd name="T14" fmla="*/ 0 w 296462"/>
              <a:gd name="T15" fmla="*/ 37058 h 296462"/>
              <a:gd name="T16" fmla="*/ 37058 w 296462"/>
              <a:gd name="T17" fmla="*/ 0 h 296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6462" h="296462">
                <a:moveTo>
                  <a:pt x="37058" y="0"/>
                </a:moveTo>
                <a:lnTo>
                  <a:pt x="259404" y="0"/>
                </a:lnTo>
                <a:cubicBezTo>
                  <a:pt x="279871" y="0"/>
                  <a:pt x="296462" y="16591"/>
                  <a:pt x="296462" y="37058"/>
                </a:cubicBezTo>
                <a:lnTo>
                  <a:pt x="296462" y="259404"/>
                </a:lnTo>
                <a:cubicBezTo>
                  <a:pt x="296462" y="279871"/>
                  <a:pt x="279871" y="296462"/>
                  <a:pt x="259404" y="296462"/>
                </a:cubicBezTo>
                <a:lnTo>
                  <a:pt x="37058" y="296462"/>
                </a:lnTo>
                <a:cubicBezTo>
                  <a:pt x="16591" y="296462"/>
                  <a:pt x="0" y="279871"/>
                  <a:pt x="0" y="259404"/>
                </a:cubicBezTo>
                <a:lnTo>
                  <a:pt x="0" y="37058"/>
                </a:lnTo>
                <a:cubicBezTo>
                  <a:pt x="0" y="16591"/>
                  <a:pt x="16591" y="0"/>
                  <a:pt x="37058" y="0"/>
                </a:cubicBezTo>
                <a:close/>
              </a:path>
            </a:pathLst>
          </a:custGeom>
          <a:solidFill>
            <a:srgbClr val="4C7E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 name="Text 15">
            <a:extLst>
              <a:ext uri="{FF2B5EF4-FFF2-40B4-BE49-F238E27FC236}">
                <a16:creationId xmlns:a16="http://schemas.microsoft.com/office/drawing/2014/main" id="{73B80DE6-3387-CDE0-7504-D2420E72415D}"/>
              </a:ext>
            </a:extLst>
          </p:cNvPr>
          <p:cNvSpPr/>
          <p:nvPr/>
        </p:nvSpPr>
        <p:spPr>
          <a:xfrm>
            <a:off x="4356100" y="1676400"/>
            <a:ext cx="369888" cy="296863"/>
          </a:xfrm>
          <a:prstGeom prst="rect">
            <a:avLst/>
          </a:prstGeom>
          <a:noFill/>
          <a:ln/>
        </p:spPr>
        <p:txBody>
          <a:bodyPr lIns="0" tIns="0" rIns="0" bIns="0" anchor="ctr"/>
          <a:lstStyle/>
          <a:p>
            <a:pPr algn="ctr" eaLnBrk="1" fontAlgn="auto" hangingPunct="1">
              <a:lnSpc>
                <a:spcPct val="130000"/>
              </a:lnSpc>
              <a:spcBef>
                <a:spcPts val="0"/>
              </a:spcBef>
              <a:spcAft>
                <a:spcPts val="0"/>
              </a:spcAft>
              <a:defRPr/>
            </a:pPr>
            <a:r>
              <a:rPr lang="en-US" sz="1167" b="1" dirty="0">
                <a:solidFill>
                  <a:srgbClr val="FFFFFF"/>
                </a:solidFill>
                <a:latin typeface="Quattrocento Sans" pitchFamily="34" charset="0"/>
                <a:ea typeface="Quattrocento Sans" pitchFamily="34" charset="-122"/>
                <a:cs typeface="Quattrocento Sans" pitchFamily="34" charset="-120"/>
              </a:rPr>
              <a:t>1</a:t>
            </a:r>
            <a:endParaRPr lang="en-US" sz="1600" dirty="0">
              <a:latin typeface="+mn-lt"/>
            </a:endParaRPr>
          </a:p>
        </p:txBody>
      </p:sp>
      <p:sp>
        <p:nvSpPr>
          <p:cNvPr id="18" name="Text 16">
            <a:extLst>
              <a:ext uri="{FF2B5EF4-FFF2-40B4-BE49-F238E27FC236}">
                <a16:creationId xmlns:a16="http://schemas.microsoft.com/office/drawing/2014/main" id="{C3D94242-7A49-80E3-7961-BC851BFC21DC}"/>
              </a:ext>
            </a:extLst>
          </p:cNvPr>
          <p:cNvSpPr/>
          <p:nvPr/>
        </p:nvSpPr>
        <p:spPr>
          <a:xfrm>
            <a:off x="4800677" y="1621863"/>
            <a:ext cx="2936827" cy="986322"/>
          </a:xfrm>
          <a:prstGeom prst="rect">
            <a:avLst/>
          </a:prstGeom>
          <a:noFill/>
          <a:ln/>
        </p:spPr>
        <p:txBody>
          <a:bodyPr lIns="0" tIns="0" rIns="0" bIns="0" anchor="ctr"/>
          <a:lstStyle/>
          <a:p>
            <a:pPr eaLnBrk="1" fontAlgn="auto" hangingPunct="1">
              <a:spcBef>
                <a:spcPts val="0"/>
              </a:spcBef>
              <a:spcAft>
                <a:spcPts val="0"/>
              </a:spcAft>
              <a:defRPr/>
            </a:pPr>
            <a:r>
              <a:rPr lang="en-US" sz="1000" b="1" dirty="0">
                <a:solidFill>
                  <a:srgbClr val="E1E3E6"/>
                </a:solidFill>
                <a:latin typeface="Quattrocento Sans" panose="020B0502050000020003" pitchFamily="34" charset="0"/>
                <a:ea typeface="Quattrocento Sans" pitchFamily="34" charset="-122"/>
                <a:cs typeface="Quattrocento Sans" pitchFamily="34" charset="-120"/>
              </a:rPr>
              <a:t>Engagement Window: </a:t>
            </a:r>
            <a:r>
              <a:rPr lang="en-US" sz="1000" dirty="0">
                <a:solidFill>
                  <a:srgbClr val="E1E3E6">
                    <a:alpha val="70000"/>
                  </a:srgbClr>
                </a:solidFill>
                <a:latin typeface="Quattrocento Sans" panose="020B0502050000020003" pitchFamily="34" charset="0"/>
                <a:ea typeface="Quattrocento Sans" pitchFamily="34" charset="-122"/>
                <a:cs typeface="Quattrocento Sans" pitchFamily="34" charset="-120"/>
              </a:rPr>
              <a:t>Coarse filter. Engagement begins once OL and DL cross a pairwise distance threshold and are closing, ends when pairwise distance exceeds different distance threshold and OL-DL pair are separating.</a:t>
            </a:r>
            <a:endParaRPr lang="en-US" sz="1000" dirty="0">
              <a:latin typeface="Quattrocento Sans" panose="020B0502050000020003" pitchFamily="34" charset="0"/>
            </a:endParaRPr>
          </a:p>
          <a:p>
            <a:pPr eaLnBrk="1" fontAlgn="auto" hangingPunct="1">
              <a:spcBef>
                <a:spcPts val="0"/>
              </a:spcBef>
              <a:spcAft>
                <a:spcPts val="0"/>
              </a:spcAft>
              <a:defRPr/>
            </a:pPr>
            <a:endParaRPr lang="en-US" sz="1000" dirty="0">
              <a:latin typeface="Quattrocento Sans" panose="020B0502050000020003" pitchFamily="34" charset="0"/>
            </a:endParaRPr>
          </a:p>
        </p:txBody>
      </p:sp>
      <p:sp>
        <p:nvSpPr>
          <p:cNvPr id="9231" name="Text 17">
            <a:extLst>
              <a:ext uri="{FF2B5EF4-FFF2-40B4-BE49-F238E27FC236}">
                <a16:creationId xmlns:a16="http://schemas.microsoft.com/office/drawing/2014/main" id="{05A0679A-6080-C0E3-82D5-74083492DA58}"/>
              </a:ext>
            </a:extLst>
          </p:cNvPr>
          <p:cNvSpPr>
            <a:spLocks noChangeArrowheads="1"/>
          </p:cNvSpPr>
          <p:nvPr/>
        </p:nvSpPr>
        <p:spPr bwMode="auto">
          <a:xfrm>
            <a:off x="4800600" y="1887538"/>
            <a:ext cx="292735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20000"/>
              </a:lnSpc>
            </a:pPr>
            <a:endParaRPr lang="en-US" altLang="en-US" sz="1600"/>
          </a:p>
        </p:txBody>
      </p:sp>
      <p:sp>
        <p:nvSpPr>
          <p:cNvPr id="9232" name="Shape 18">
            <a:extLst>
              <a:ext uri="{FF2B5EF4-FFF2-40B4-BE49-F238E27FC236}">
                <a16:creationId xmlns:a16="http://schemas.microsoft.com/office/drawing/2014/main" id="{B88513F6-6A1A-68FF-4A4C-0783B4DC84A6}"/>
              </a:ext>
            </a:extLst>
          </p:cNvPr>
          <p:cNvSpPr>
            <a:spLocks/>
          </p:cNvSpPr>
          <p:nvPr/>
        </p:nvSpPr>
        <p:spPr bwMode="auto">
          <a:xfrm>
            <a:off x="4392613" y="2649538"/>
            <a:ext cx="296862" cy="296862"/>
          </a:xfrm>
          <a:custGeom>
            <a:avLst/>
            <a:gdLst>
              <a:gd name="T0" fmla="*/ 37058 w 296462"/>
              <a:gd name="T1" fmla="*/ 0 h 296462"/>
              <a:gd name="T2" fmla="*/ 259404 w 296462"/>
              <a:gd name="T3" fmla="*/ 0 h 296462"/>
              <a:gd name="T4" fmla="*/ 296462 w 296462"/>
              <a:gd name="T5" fmla="*/ 37058 h 296462"/>
              <a:gd name="T6" fmla="*/ 296462 w 296462"/>
              <a:gd name="T7" fmla="*/ 259404 h 296462"/>
              <a:gd name="T8" fmla="*/ 259404 w 296462"/>
              <a:gd name="T9" fmla="*/ 296462 h 296462"/>
              <a:gd name="T10" fmla="*/ 37058 w 296462"/>
              <a:gd name="T11" fmla="*/ 296462 h 296462"/>
              <a:gd name="T12" fmla="*/ 0 w 296462"/>
              <a:gd name="T13" fmla="*/ 259404 h 296462"/>
              <a:gd name="T14" fmla="*/ 0 w 296462"/>
              <a:gd name="T15" fmla="*/ 37058 h 296462"/>
              <a:gd name="T16" fmla="*/ 37058 w 296462"/>
              <a:gd name="T17" fmla="*/ 0 h 296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6462" h="296462">
                <a:moveTo>
                  <a:pt x="37058" y="0"/>
                </a:moveTo>
                <a:lnTo>
                  <a:pt x="259404" y="0"/>
                </a:lnTo>
                <a:cubicBezTo>
                  <a:pt x="279871" y="0"/>
                  <a:pt x="296462" y="16591"/>
                  <a:pt x="296462" y="37058"/>
                </a:cubicBezTo>
                <a:lnTo>
                  <a:pt x="296462" y="259404"/>
                </a:lnTo>
                <a:cubicBezTo>
                  <a:pt x="296462" y="279871"/>
                  <a:pt x="279871" y="296462"/>
                  <a:pt x="259404" y="296462"/>
                </a:cubicBezTo>
                <a:lnTo>
                  <a:pt x="37058" y="296462"/>
                </a:lnTo>
                <a:cubicBezTo>
                  <a:pt x="16591" y="296462"/>
                  <a:pt x="0" y="279871"/>
                  <a:pt x="0" y="259404"/>
                </a:cubicBezTo>
                <a:lnTo>
                  <a:pt x="0" y="37058"/>
                </a:lnTo>
                <a:cubicBezTo>
                  <a:pt x="0" y="16591"/>
                  <a:pt x="16591" y="0"/>
                  <a:pt x="37058" y="0"/>
                </a:cubicBezTo>
                <a:close/>
              </a:path>
            </a:pathLst>
          </a:custGeom>
          <a:solidFill>
            <a:srgbClr val="4C7E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 name="Text 19">
            <a:extLst>
              <a:ext uri="{FF2B5EF4-FFF2-40B4-BE49-F238E27FC236}">
                <a16:creationId xmlns:a16="http://schemas.microsoft.com/office/drawing/2014/main" id="{C68AEA02-8115-43C4-A19E-8E2520C7DD09}"/>
              </a:ext>
            </a:extLst>
          </p:cNvPr>
          <p:cNvSpPr/>
          <p:nvPr/>
        </p:nvSpPr>
        <p:spPr>
          <a:xfrm>
            <a:off x="4356100" y="2649538"/>
            <a:ext cx="369888" cy="296862"/>
          </a:xfrm>
          <a:prstGeom prst="rect">
            <a:avLst/>
          </a:prstGeom>
          <a:noFill/>
          <a:ln/>
        </p:spPr>
        <p:txBody>
          <a:bodyPr lIns="0" tIns="0" rIns="0" bIns="0" anchor="ctr"/>
          <a:lstStyle/>
          <a:p>
            <a:pPr algn="ctr" eaLnBrk="1" fontAlgn="auto" hangingPunct="1">
              <a:lnSpc>
                <a:spcPct val="130000"/>
              </a:lnSpc>
              <a:spcBef>
                <a:spcPts val="0"/>
              </a:spcBef>
              <a:spcAft>
                <a:spcPts val="0"/>
              </a:spcAft>
              <a:defRPr/>
            </a:pPr>
            <a:r>
              <a:rPr lang="en-US" sz="1167" b="1" dirty="0">
                <a:solidFill>
                  <a:srgbClr val="FFFFFF"/>
                </a:solidFill>
                <a:latin typeface="Quattrocento Sans" pitchFamily="34" charset="0"/>
                <a:ea typeface="Quattrocento Sans" pitchFamily="34" charset="-122"/>
                <a:cs typeface="Quattrocento Sans" pitchFamily="34" charset="-120"/>
              </a:rPr>
              <a:t>2</a:t>
            </a:r>
            <a:endParaRPr lang="en-US" sz="1600" dirty="0">
              <a:latin typeface="+mn-lt"/>
            </a:endParaRPr>
          </a:p>
        </p:txBody>
      </p:sp>
      <p:sp>
        <p:nvSpPr>
          <p:cNvPr id="23" name="Text 21">
            <a:extLst>
              <a:ext uri="{FF2B5EF4-FFF2-40B4-BE49-F238E27FC236}">
                <a16:creationId xmlns:a16="http://schemas.microsoft.com/office/drawing/2014/main" id="{95FB8619-D219-C380-4557-2785E6242E02}"/>
              </a:ext>
            </a:extLst>
          </p:cNvPr>
          <p:cNvSpPr/>
          <p:nvPr/>
        </p:nvSpPr>
        <p:spPr>
          <a:xfrm>
            <a:off x="4800677" y="2613824"/>
            <a:ext cx="2851407" cy="904210"/>
          </a:xfrm>
          <a:prstGeom prst="rect">
            <a:avLst/>
          </a:prstGeom>
          <a:noFill/>
          <a:ln/>
        </p:spPr>
        <p:txBody>
          <a:bodyPr lIns="0" tIns="0" rIns="0" bIns="0"/>
          <a:lstStyle/>
          <a:p>
            <a:pPr eaLnBrk="1" fontAlgn="auto" hangingPunct="1">
              <a:spcBef>
                <a:spcPts val="0"/>
              </a:spcBef>
              <a:spcAft>
                <a:spcPts val="0"/>
              </a:spcAft>
              <a:defRPr/>
            </a:pPr>
            <a:r>
              <a:rPr lang="en-US" sz="1000" b="1" dirty="0">
                <a:solidFill>
                  <a:srgbClr val="DEE0E4"/>
                </a:solidFill>
                <a:latin typeface="Quattrocento Sans" pitchFamily="34" charset="0"/>
                <a:ea typeface="Quattrocento Sans" pitchFamily="34" charset="-122"/>
                <a:cs typeface="Quattrocento Sans" pitchFamily="34" charset="-120"/>
              </a:rPr>
              <a:t>Contact Onset Point: </a:t>
            </a:r>
            <a:r>
              <a:rPr lang="en-US" sz="1000" dirty="0">
                <a:solidFill>
                  <a:srgbClr val="E1E3E6">
                    <a:alpha val="70000"/>
                  </a:srgbClr>
                </a:solidFill>
                <a:latin typeface="Quattrocento Sans" pitchFamily="34" charset="0"/>
                <a:ea typeface="Quattrocento Sans" pitchFamily="34" charset="-122"/>
                <a:cs typeface="Quattrocento Sans" pitchFamily="34" charset="-120"/>
              </a:rPr>
              <a:t>Fine filter. Identify candidate frames where distance is under given threshold, most frames are closing and closing isn’t trivial. Find first frame where 2 of 3 confirmation signals (closing-speed collapse, coupling, impact spike) fire. Use engagement window start as fallback.</a:t>
            </a:r>
            <a:endParaRPr lang="en-US" sz="1000" dirty="0">
              <a:latin typeface="+mn-lt"/>
            </a:endParaRPr>
          </a:p>
        </p:txBody>
      </p:sp>
      <p:sp>
        <p:nvSpPr>
          <p:cNvPr id="9235" name="Shape 22">
            <a:extLst>
              <a:ext uri="{FF2B5EF4-FFF2-40B4-BE49-F238E27FC236}">
                <a16:creationId xmlns:a16="http://schemas.microsoft.com/office/drawing/2014/main" id="{C6EA5B99-449E-BE4A-4E5F-59B0FCEEC618}"/>
              </a:ext>
            </a:extLst>
          </p:cNvPr>
          <p:cNvSpPr>
            <a:spLocks/>
          </p:cNvSpPr>
          <p:nvPr/>
        </p:nvSpPr>
        <p:spPr bwMode="auto">
          <a:xfrm>
            <a:off x="407988" y="3911600"/>
            <a:ext cx="3705225" cy="2593975"/>
          </a:xfrm>
          <a:custGeom>
            <a:avLst/>
            <a:gdLst>
              <a:gd name="T0" fmla="*/ 37069 w 3705775"/>
              <a:gd name="T1" fmla="*/ 0 h 2594043"/>
              <a:gd name="T2" fmla="*/ 3668706 w 3705775"/>
              <a:gd name="T3" fmla="*/ 0 h 2594043"/>
              <a:gd name="T4" fmla="*/ 3705775 w 3705775"/>
              <a:gd name="T5" fmla="*/ 37069 h 2594043"/>
              <a:gd name="T6" fmla="*/ 3705775 w 3705775"/>
              <a:gd name="T7" fmla="*/ 2556974 h 2594043"/>
              <a:gd name="T8" fmla="*/ 3668706 w 3705775"/>
              <a:gd name="T9" fmla="*/ 2594043 h 2594043"/>
              <a:gd name="T10" fmla="*/ 37069 w 3705775"/>
              <a:gd name="T11" fmla="*/ 2594043 h 2594043"/>
              <a:gd name="T12" fmla="*/ 0 w 3705775"/>
              <a:gd name="T13" fmla="*/ 2556974 h 2594043"/>
              <a:gd name="T14" fmla="*/ 0 w 3705775"/>
              <a:gd name="T15" fmla="*/ 37069 h 2594043"/>
              <a:gd name="T16" fmla="*/ 37069 w 3705775"/>
              <a:gd name="T17" fmla="*/ 0 h 2594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5775" h="2594043">
                <a:moveTo>
                  <a:pt x="37069" y="0"/>
                </a:moveTo>
                <a:lnTo>
                  <a:pt x="3668706" y="0"/>
                </a:lnTo>
                <a:cubicBezTo>
                  <a:pt x="3689179" y="0"/>
                  <a:pt x="3705775" y="16596"/>
                  <a:pt x="3705775" y="37069"/>
                </a:cubicBezTo>
                <a:lnTo>
                  <a:pt x="3705775" y="2556974"/>
                </a:lnTo>
                <a:cubicBezTo>
                  <a:pt x="3705775" y="2577446"/>
                  <a:pt x="3689179" y="2594043"/>
                  <a:pt x="3668706" y="2594043"/>
                </a:cubicBezTo>
                <a:lnTo>
                  <a:pt x="37069" y="2594043"/>
                </a:lnTo>
                <a:cubicBezTo>
                  <a:pt x="16596" y="2594043"/>
                  <a:pt x="0" y="2577446"/>
                  <a:pt x="0" y="2556974"/>
                </a:cubicBezTo>
                <a:lnTo>
                  <a:pt x="0" y="37069"/>
                </a:lnTo>
                <a:cubicBezTo>
                  <a:pt x="0" y="16610"/>
                  <a:pt x="16610" y="0"/>
                  <a:pt x="37069" y="0"/>
                </a:cubicBezTo>
                <a:close/>
              </a:path>
            </a:pathLst>
          </a:custGeom>
          <a:solidFill>
            <a:srgbClr val="1E2024"/>
          </a:solidFill>
          <a:ln w="12700">
            <a:solidFill>
              <a:srgbClr val="D8A03D">
                <a:alpha val="30196"/>
              </a:srgbClr>
            </a:solidFill>
            <a:prstDash val="solid"/>
            <a:round/>
            <a:headEnd/>
            <a:tailEnd/>
          </a:ln>
        </p:spPr>
        <p:txBody>
          <a:bodyPr/>
          <a:lstStyle/>
          <a:p>
            <a:endParaRPr lang="en-US"/>
          </a:p>
        </p:txBody>
      </p:sp>
      <p:sp>
        <p:nvSpPr>
          <p:cNvPr id="9236" name="Shape 39">
            <a:extLst>
              <a:ext uri="{FF2B5EF4-FFF2-40B4-BE49-F238E27FC236}">
                <a16:creationId xmlns:a16="http://schemas.microsoft.com/office/drawing/2014/main" id="{318A7A01-2534-D897-99FB-45D15901777C}"/>
              </a:ext>
            </a:extLst>
          </p:cNvPr>
          <p:cNvSpPr>
            <a:spLocks/>
          </p:cNvSpPr>
          <p:nvPr/>
        </p:nvSpPr>
        <p:spPr bwMode="auto">
          <a:xfrm>
            <a:off x="4306888" y="4430713"/>
            <a:ext cx="3430587" cy="1333500"/>
          </a:xfrm>
          <a:custGeom>
            <a:avLst/>
            <a:gdLst>
              <a:gd name="T0" fmla="*/ 37058 w 3594602"/>
              <a:gd name="T1" fmla="*/ 0 h 1334079"/>
              <a:gd name="T2" fmla="*/ 3557541 w 3594602"/>
              <a:gd name="T3" fmla="*/ 0 h 1334079"/>
              <a:gd name="T4" fmla="*/ 3594602 w 3594602"/>
              <a:gd name="T5" fmla="*/ 37061 h 1334079"/>
              <a:gd name="T6" fmla="*/ 3594602 w 3594602"/>
              <a:gd name="T7" fmla="*/ 1297018 h 1334079"/>
              <a:gd name="T8" fmla="*/ 3557541 w 3594602"/>
              <a:gd name="T9" fmla="*/ 1334079 h 1334079"/>
              <a:gd name="T10" fmla="*/ 37058 w 3594602"/>
              <a:gd name="T11" fmla="*/ 1334079 h 1334079"/>
              <a:gd name="T12" fmla="*/ 0 w 3594602"/>
              <a:gd name="T13" fmla="*/ 1297021 h 1334079"/>
              <a:gd name="T14" fmla="*/ 0 w 3594602"/>
              <a:gd name="T15" fmla="*/ 37058 h 1334079"/>
              <a:gd name="T16" fmla="*/ 37058 w 3594602"/>
              <a:gd name="T17" fmla="*/ 0 h 13340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94602" h="1334079">
                <a:moveTo>
                  <a:pt x="37058" y="0"/>
                </a:moveTo>
                <a:lnTo>
                  <a:pt x="3557541" y="0"/>
                </a:lnTo>
                <a:cubicBezTo>
                  <a:pt x="3578009" y="0"/>
                  <a:pt x="3594602" y="16593"/>
                  <a:pt x="3594602" y="37061"/>
                </a:cubicBezTo>
                <a:lnTo>
                  <a:pt x="3594602" y="1297018"/>
                </a:lnTo>
                <a:cubicBezTo>
                  <a:pt x="3594602" y="1317486"/>
                  <a:pt x="3578009" y="1334079"/>
                  <a:pt x="3557541" y="1334079"/>
                </a:cubicBezTo>
                <a:lnTo>
                  <a:pt x="37058" y="1334079"/>
                </a:lnTo>
                <a:cubicBezTo>
                  <a:pt x="16591" y="1334079"/>
                  <a:pt x="0" y="1317488"/>
                  <a:pt x="0" y="1297021"/>
                </a:cubicBezTo>
                <a:lnTo>
                  <a:pt x="0" y="37058"/>
                </a:lnTo>
                <a:cubicBezTo>
                  <a:pt x="0" y="16591"/>
                  <a:pt x="16591" y="0"/>
                  <a:pt x="37058" y="0"/>
                </a:cubicBezTo>
                <a:close/>
              </a:path>
            </a:pathLst>
          </a:custGeom>
          <a:solidFill>
            <a:srgbClr val="1113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37" name="Shape 45">
            <a:extLst>
              <a:ext uri="{FF2B5EF4-FFF2-40B4-BE49-F238E27FC236}">
                <a16:creationId xmlns:a16="http://schemas.microsoft.com/office/drawing/2014/main" id="{0F6FA60C-0F0B-2742-CCDC-2CB023415624}"/>
              </a:ext>
            </a:extLst>
          </p:cNvPr>
          <p:cNvSpPr>
            <a:spLocks/>
          </p:cNvSpPr>
          <p:nvPr/>
        </p:nvSpPr>
        <p:spPr bwMode="auto">
          <a:xfrm>
            <a:off x="4370388" y="4365625"/>
            <a:ext cx="3508375" cy="2071688"/>
          </a:xfrm>
          <a:custGeom>
            <a:avLst/>
            <a:gdLst>
              <a:gd name="T0" fmla="*/ 0 w 3594602"/>
              <a:gd name="T1" fmla="*/ 0 h 1334079"/>
              <a:gd name="T2" fmla="*/ 3594602 w 3594602"/>
              <a:gd name="T3" fmla="*/ 1334079 h 1334079"/>
            </a:gdLst>
            <a:ahLst/>
            <a:cxnLst/>
            <a:rect l="T0" t="T1" r="T2" b="T3"/>
            <a:pathLst>
              <a:path w="3594602" h="1334079">
                <a:moveTo>
                  <a:pt x="37058" y="0"/>
                </a:moveTo>
                <a:lnTo>
                  <a:pt x="3557541" y="0"/>
                </a:lnTo>
                <a:cubicBezTo>
                  <a:pt x="3578009" y="0"/>
                  <a:pt x="3594602" y="16593"/>
                  <a:pt x="3594602" y="37061"/>
                </a:cubicBezTo>
                <a:lnTo>
                  <a:pt x="3594602" y="1297018"/>
                </a:lnTo>
                <a:cubicBezTo>
                  <a:pt x="3594602" y="1317486"/>
                  <a:pt x="3578009" y="1334079"/>
                  <a:pt x="3557541" y="1334079"/>
                </a:cubicBezTo>
                <a:lnTo>
                  <a:pt x="37058" y="1334079"/>
                </a:lnTo>
                <a:cubicBezTo>
                  <a:pt x="16591" y="1334079"/>
                  <a:pt x="0" y="1317488"/>
                  <a:pt x="0" y="1297021"/>
                </a:cubicBezTo>
                <a:lnTo>
                  <a:pt x="0" y="37058"/>
                </a:lnTo>
                <a:cubicBezTo>
                  <a:pt x="0" y="16591"/>
                  <a:pt x="16591" y="0"/>
                  <a:pt x="37058" y="0"/>
                </a:cubicBezTo>
                <a:close/>
              </a:path>
            </a:pathLst>
          </a:custGeom>
          <a:solidFill>
            <a:srgbClr val="1113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000">
                <a:solidFill>
                  <a:srgbClr val="E7E7E7"/>
                </a:solidFill>
                <a:latin typeface="Quattrocento Sans" panose="020B0502050000020003" pitchFamily="34" charset="0"/>
              </a:rPr>
              <a:t>There is no film to validate when contact began. Instead, manually labeled contact onset frames were identified through rough heuristics surrounding regime change. (Meaning, when does a rep look like it has exited the closing phase and entered a coupled engagement phase?) As such, the “contact onset frame” can only be viewed as a very rough approximation for when contact onset may have occurred, and should not be considered ground truth. However, if the contact-aligned closing velocity chart on the left is taken into account, the contact-onset frame can be seen as a reasonable proxy for a moment when closing velocity is about to collapse and players enter a sustained period of engagement.</a:t>
            </a:r>
          </a:p>
        </p:txBody>
      </p:sp>
      <p:sp>
        <p:nvSpPr>
          <p:cNvPr id="9238" name="Shape 46">
            <a:extLst>
              <a:ext uri="{FF2B5EF4-FFF2-40B4-BE49-F238E27FC236}">
                <a16:creationId xmlns:a16="http://schemas.microsoft.com/office/drawing/2014/main" id="{3D01C3BB-B1BE-BA59-11A9-EE33DF897759}"/>
              </a:ext>
            </a:extLst>
          </p:cNvPr>
          <p:cNvSpPr>
            <a:spLocks/>
          </p:cNvSpPr>
          <p:nvPr/>
        </p:nvSpPr>
        <p:spPr bwMode="auto">
          <a:xfrm>
            <a:off x="4283075" y="4013200"/>
            <a:ext cx="46038" cy="2428875"/>
          </a:xfrm>
          <a:custGeom>
            <a:avLst/>
            <a:gdLst>
              <a:gd name="T0" fmla="*/ 37058 w 37058"/>
              <a:gd name="T1" fmla="*/ 0 h 1334079"/>
              <a:gd name="T2" fmla="*/ 37058 w 37058"/>
              <a:gd name="T3" fmla="*/ 0 h 1334079"/>
              <a:gd name="T4" fmla="*/ 37058 w 37058"/>
              <a:gd name="T5" fmla="*/ 1334079 h 1334079"/>
              <a:gd name="T6" fmla="*/ 37058 w 37058"/>
              <a:gd name="T7" fmla="*/ 1334079 h 1334079"/>
              <a:gd name="T8" fmla="*/ 0 w 37058"/>
              <a:gd name="T9" fmla="*/ 1297021 h 1334079"/>
              <a:gd name="T10" fmla="*/ 0 w 37058"/>
              <a:gd name="T11" fmla="*/ 37058 h 1334079"/>
              <a:gd name="T12" fmla="*/ 37058 w 37058"/>
              <a:gd name="T13" fmla="*/ 0 h 1334079"/>
            </a:gdLst>
            <a:ahLst/>
            <a:cxnLst>
              <a:cxn ang="0">
                <a:pos x="T0" y="T1"/>
              </a:cxn>
              <a:cxn ang="0">
                <a:pos x="T2" y="T3"/>
              </a:cxn>
              <a:cxn ang="0">
                <a:pos x="T4" y="T5"/>
              </a:cxn>
              <a:cxn ang="0">
                <a:pos x="T6" y="T7"/>
              </a:cxn>
              <a:cxn ang="0">
                <a:pos x="T8" y="T9"/>
              </a:cxn>
              <a:cxn ang="0">
                <a:pos x="T10" y="T11"/>
              </a:cxn>
              <a:cxn ang="0">
                <a:pos x="T12" y="T13"/>
              </a:cxn>
            </a:cxnLst>
            <a:rect l="0" t="0" r="r" b="b"/>
            <a:pathLst>
              <a:path w="37058" h="1334079">
                <a:moveTo>
                  <a:pt x="37058" y="0"/>
                </a:moveTo>
                <a:lnTo>
                  <a:pt x="37058" y="0"/>
                </a:lnTo>
                <a:lnTo>
                  <a:pt x="37058" y="1334079"/>
                </a:lnTo>
                <a:cubicBezTo>
                  <a:pt x="16591" y="1334079"/>
                  <a:pt x="0" y="1317488"/>
                  <a:pt x="0" y="1297021"/>
                </a:cubicBezTo>
                <a:lnTo>
                  <a:pt x="0" y="37058"/>
                </a:lnTo>
                <a:cubicBezTo>
                  <a:pt x="0" y="16591"/>
                  <a:pt x="16591" y="0"/>
                  <a:pt x="37058" y="0"/>
                </a:cubicBezTo>
                <a:close/>
              </a:path>
            </a:pathLst>
          </a:custGeom>
          <a:solidFill>
            <a:srgbClr val="D8A03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 name="Text 48">
            <a:extLst>
              <a:ext uri="{FF2B5EF4-FFF2-40B4-BE49-F238E27FC236}">
                <a16:creationId xmlns:a16="http://schemas.microsoft.com/office/drawing/2014/main" id="{986D40B8-0276-DED7-5C57-5D6C0EDC4C62}"/>
              </a:ext>
            </a:extLst>
          </p:cNvPr>
          <p:cNvSpPr/>
          <p:nvPr/>
        </p:nvSpPr>
        <p:spPr>
          <a:xfrm>
            <a:off x="4722813" y="4011613"/>
            <a:ext cx="3038475" cy="260350"/>
          </a:xfrm>
          <a:prstGeom prst="rect">
            <a:avLst/>
          </a:prstGeom>
          <a:noFill/>
          <a:ln/>
        </p:spPr>
        <p:txBody>
          <a:bodyPr lIns="0" tIns="0" rIns="0" bIns="0" anchor="ctr"/>
          <a:lstStyle/>
          <a:p>
            <a:pPr eaLnBrk="1" fontAlgn="auto" hangingPunct="1">
              <a:lnSpc>
                <a:spcPct val="130000"/>
              </a:lnSpc>
              <a:spcBef>
                <a:spcPts val="0"/>
              </a:spcBef>
              <a:spcAft>
                <a:spcPts val="0"/>
              </a:spcAft>
              <a:defRPr/>
            </a:pPr>
            <a:r>
              <a:rPr lang="en-US" sz="1313" b="1" dirty="0">
                <a:solidFill>
                  <a:srgbClr val="E1E3E6"/>
                </a:solidFill>
                <a:latin typeface="Liter" pitchFamily="34" charset="0"/>
                <a:ea typeface="Liter" pitchFamily="34" charset="-122"/>
                <a:cs typeface="Liter" pitchFamily="34" charset="-120"/>
              </a:rPr>
              <a:t>Why approximate? (An important caveat)</a:t>
            </a:r>
            <a:endParaRPr lang="en-US" sz="1600" dirty="0">
              <a:latin typeface="+mn-lt"/>
            </a:endParaRPr>
          </a:p>
        </p:txBody>
      </p:sp>
      <p:pic>
        <p:nvPicPr>
          <p:cNvPr id="76" name="Graphic 75" descr="Information with solid fill">
            <a:extLst>
              <a:ext uri="{FF2B5EF4-FFF2-40B4-BE49-F238E27FC236}">
                <a16:creationId xmlns:a16="http://schemas.microsoft.com/office/drawing/2014/main" id="{E2B01B41-C0E0-B447-1B01-9DEC8ADC8DB9}"/>
              </a:ext>
            </a:extLst>
          </p:cNvPr>
          <p:cNvPicPr>
            <a:picLocks noChangeAspect="1"/>
          </p:cNvPicPr>
          <p:nvPr/>
        </p:nvPicPr>
        <p:blipFill>
          <a:blip r:embed="rId3"/>
          <a:stretch>
            <a:fillRect/>
          </a:stretch>
        </p:blipFill>
        <p:spPr>
          <a:xfrm>
            <a:off x="4370388" y="3998913"/>
            <a:ext cx="309562" cy="309562"/>
          </a:xfrm>
          <a:prstGeom prst="rect">
            <a:avLst/>
          </a:prstGeom>
        </p:spPr>
      </p:pic>
      <p:sp>
        <p:nvSpPr>
          <p:cNvPr id="9241" name="Text 16">
            <a:extLst>
              <a:ext uri="{FF2B5EF4-FFF2-40B4-BE49-F238E27FC236}">
                <a16:creationId xmlns:a16="http://schemas.microsoft.com/office/drawing/2014/main" id="{86A01084-FDEE-8675-69AB-9EF59A398958}"/>
              </a:ext>
            </a:extLst>
          </p:cNvPr>
          <p:cNvSpPr>
            <a:spLocks noChangeArrowheads="1"/>
          </p:cNvSpPr>
          <p:nvPr/>
        </p:nvSpPr>
        <p:spPr bwMode="auto">
          <a:xfrm>
            <a:off x="4486275" y="4356100"/>
            <a:ext cx="3484563"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000">
                <a:latin typeface="Quattrocento Sans" panose="020B0502050000020003" pitchFamily="34" charset="0"/>
              </a:rPr>
              <a:t>T</a:t>
            </a:r>
          </a:p>
        </p:txBody>
      </p:sp>
      <p:sp>
        <p:nvSpPr>
          <p:cNvPr id="79" name="Rounded Rectangle 78">
            <a:extLst>
              <a:ext uri="{FF2B5EF4-FFF2-40B4-BE49-F238E27FC236}">
                <a16:creationId xmlns:a16="http://schemas.microsoft.com/office/drawing/2014/main" id="{8CE21D22-2BD1-1492-EDD6-D6C3EFD673E3}"/>
              </a:ext>
            </a:extLst>
          </p:cNvPr>
          <p:cNvSpPr/>
          <p:nvPr/>
        </p:nvSpPr>
        <p:spPr>
          <a:xfrm>
            <a:off x="8261350" y="3911600"/>
            <a:ext cx="3624263" cy="2378075"/>
          </a:xfrm>
          <a:prstGeom prst="roundRect">
            <a:avLst/>
          </a:prstGeom>
          <a:noFill/>
          <a:ln>
            <a:solidFill>
              <a:srgbClr val="4A7C98"/>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4A7C98"/>
              </a:solidFill>
            </a:endParaRPr>
          </a:p>
        </p:txBody>
      </p:sp>
      <p:sp>
        <p:nvSpPr>
          <p:cNvPr id="96" name="Text 36">
            <a:extLst>
              <a:ext uri="{FF2B5EF4-FFF2-40B4-BE49-F238E27FC236}">
                <a16:creationId xmlns:a16="http://schemas.microsoft.com/office/drawing/2014/main" id="{DD801A37-C240-BD15-9B93-D92A5EB92377}"/>
              </a:ext>
            </a:extLst>
          </p:cNvPr>
          <p:cNvSpPr/>
          <p:nvPr/>
        </p:nvSpPr>
        <p:spPr>
          <a:xfrm>
            <a:off x="8550637" y="4241423"/>
            <a:ext cx="3233918" cy="1137811"/>
          </a:xfrm>
          <a:prstGeom prst="rect">
            <a:avLst/>
          </a:prstGeom>
          <a:noFill/>
          <a:ln/>
        </p:spPr>
        <p:txBody>
          <a:bodyPr lIns="0" tIns="0" rIns="0" bIns="0" anchor="ctr"/>
          <a:lstStyle/>
          <a:p>
            <a:pPr eaLnBrk="1" fontAlgn="auto" hangingPunct="1">
              <a:spcBef>
                <a:spcPts val="0"/>
              </a:spcBef>
              <a:spcAft>
                <a:spcPts val="0"/>
              </a:spcAft>
              <a:defRPr/>
            </a:pPr>
            <a:r>
              <a:rPr lang="en-US" sz="1000" b="1" dirty="0">
                <a:solidFill>
                  <a:srgbClr val="E1E3E6"/>
                </a:solidFill>
                <a:latin typeface="Quattrocento Sans" panose="020B0502050000020003" pitchFamily="34" charset="0"/>
                <a:ea typeface="Liter" pitchFamily="34" charset="-122"/>
                <a:cs typeface="Liter" pitchFamily="34" charset="-120"/>
              </a:rPr>
              <a:t>          Matchup Labeling:  </a:t>
            </a:r>
            <a:r>
              <a:rPr lang="en-US" sz="1000" dirty="0">
                <a:solidFill>
                  <a:srgbClr val="E1E3E6">
                    <a:alpha val="80000"/>
                  </a:srgbClr>
                </a:solidFill>
                <a:latin typeface="Quattrocento Sans" panose="020B0502050000020003" pitchFamily="34" charset="0"/>
                <a:ea typeface="Quattrocento Sans" pitchFamily="34" charset="-122"/>
                <a:cs typeface="Quattrocento Sans" pitchFamily="34" charset="-120"/>
              </a:rPr>
              <a:t>Quickly label reps as edge or interior by hand, second pass to clean with code where positions (DT vs. OG/OC, DE vs. OT) align. (Extra Trees classifier achieves high accuracy vs. manual labels.)</a:t>
            </a:r>
            <a:endParaRPr lang="en-US" sz="1000" dirty="0">
              <a:latin typeface="Quattrocento Sans" panose="020B0502050000020003" pitchFamily="34" charset="0"/>
            </a:endParaRPr>
          </a:p>
          <a:p>
            <a:pPr eaLnBrk="1" fontAlgn="auto" hangingPunct="1">
              <a:spcBef>
                <a:spcPts val="0"/>
              </a:spcBef>
              <a:spcAft>
                <a:spcPts val="0"/>
              </a:spcAft>
              <a:defRPr/>
            </a:pPr>
            <a:endParaRPr lang="en-US" sz="1000" dirty="0">
              <a:latin typeface="Quattrocento Sans" panose="020B0502050000020003" pitchFamily="34" charset="0"/>
            </a:endParaRPr>
          </a:p>
        </p:txBody>
      </p:sp>
      <p:pic>
        <p:nvPicPr>
          <p:cNvPr id="98" name="Graphic 97">
            <a:extLst>
              <a:ext uri="{FF2B5EF4-FFF2-40B4-BE49-F238E27FC236}">
                <a16:creationId xmlns:a16="http://schemas.microsoft.com/office/drawing/2014/main" id="{7D0D73E9-FE69-B5E2-CC12-7B15E2E9E3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3763" y="4341813"/>
            <a:ext cx="309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 name="Text 42">
            <a:extLst>
              <a:ext uri="{FF2B5EF4-FFF2-40B4-BE49-F238E27FC236}">
                <a16:creationId xmlns:a16="http://schemas.microsoft.com/office/drawing/2014/main" id="{2184E2D7-F6E0-946C-F586-31C034B9C993}"/>
              </a:ext>
            </a:extLst>
          </p:cNvPr>
          <p:cNvSpPr/>
          <p:nvPr/>
        </p:nvSpPr>
        <p:spPr>
          <a:xfrm>
            <a:off x="8550637" y="4992128"/>
            <a:ext cx="3126484" cy="1210961"/>
          </a:xfrm>
          <a:prstGeom prst="rect">
            <a:avLst/>
          </a:prstGeom>
          <a:noFill/>
          <a:ln/>
        </p:spPr>
        <p:txBody>
          <a:bodyPr lIns="0" tIns="0" rIns="0" bIns="0" anchor="ctr"/>
          <a:lstStyle/>
          <a:p>
            <a:pPr eaLnBrk="1" fontAlgn="auto" hangingPunct="1">
              <a:spcBef>
                <a:spcPts val="0"/>
              </a:spcBef>
              <a:spcAft>
                <a:spcPts val="0"/>
              </a:spcAft>
              <a:defRPr/>
            </a:pPr>
            <a:r>
              <a:rPr lang="en-US" sz="1000" b="1" dirty="0">
                <a:solidFill>
                  <a:srgbClr val="E1E3E6"/>
                </a:solidFill>
                <a:latin typeface="Quattrocento Sans" panose="020B0502050000020003" pitchFamily="34" charset="0"/>
                <a:ea typeface="Liter" pitchFamily="34" charset="-122"/>
                <a:cs typeface="Liter" pitchFamily="34" charset="-120"/>
              </a:rPr>
              <a:t>        Player Information: </a:t>
            </a:r>
            <a:r>
              <a:rPr lang="en-US" sz="1000" dirty="0">
                <a:solidFill>
                  <a:srgbClr val="E1E3E6">
                    <a:alpha val="70000"/>
                  </a:srgbClr>
                </a:solidFill>
                <a:latin typeface="Quattrocento Sans" panose="020B0502050000020003" pitchFamily="34" charset="0"/>
                <a:ea typeface="Quattrocento Sans" pitchFamily="34" charset="-122"/>
                <a:cs typeface="Quattrocento Sans" pitchFamily="34" charset="-120"/>
              </a:rPr>
              <a:t>Join player-level information (name, position, weight, draft outcomes) onto unique player IDs. Add information for missing players based on official East-West Shrine Bowl rosters where possible. </a:t>
            </a:r>
            <a:endParaRPr lang="en-US" sz="1000" dirty="0">
              <a:latin typeface="Quattrocento Sans" panose="020B0502050000020003" pitchFamily="34" charset="0"/>
            </a:endParaRPr>
          </a:p>
          <a:p>
            <a:pPr eaLnBrk="1" fontAlgn="auto" hangingPunct="1">
              <a:spcBef>
                <a:spcPts val="0"/>
              </a:spcBef>
              <a:spcAft>
                <a:spcPts val="0"/>
              </a:spcAft>
              <a:defRPr/>
            </a:pPr>
            <a:endParaRPr lang="en-US" sz="1000" dirty="0">
              <a:latin typeface="Quattrocento Sans" panose="020B0502050000020003" pitchFamily="34" charset="0"/>
            </a:endParaRPr>
          </a:p>
        </p:txBody>
      </p:sp>
      <p:pic>
        <p:nvPicPr>
          <p:cNvPr id="101" name="Graphic 100" descr="User with solid fill">
            <a:extLst>
              <a:ext uri="{FF2B5EF4-FFF2-40B4-BE49-F238E27FC236}">
                <a16:creationId xmlns:a16="http://schemas.microsoft.com/office/drawing/2014/main" id="{DA741F37-94C2-B1F6-B8DA-E4396E158A12}"/>
              </a:ext>
            </a:extLst>
          </p:cNvPr>
          <p:cNvPicPr>
            <a:picLocks noChangeAspect="1"/>
          </p:cNvPicPr>
          <p:nvPr/>
        </p:nvPicPr>
        <p:blipFill>
          <a:blip r:embed="rId5"/>
          <a:stretch>
            <a:fillRect/>
          </a:stretch>
        </p:blipFill>
        <p:spPr>
          <a:xfrm>
            <a:off x="8512175" y="5129213"/>
            <a:ext cx="266700" cy="266700"/>
          </a:xfrm>
          <a:prstGeom prst="rect">
            <a:avLst/>
          </a:prstGeom>
        </p:spPr>
      </p:pic>
      <p:sp>
        <p:nvSpPr>
          <p:cNvPr id="102" name="Text 32">
            <a:extLst>
              <a:ext uri="{FF2B5EF4-FFF2-40B4-BE49-F238E27FC236}">
                <a16:creationId xmlns:a16="http://schemas.microsoft.com/office/drawing/2014/main" id="{81E84A25-34D1-BABA-5416-B28B57682D6C}"/>
              </a:ext>
            </a:extLst>
          </p:cNvPr>
          <p:cNvSpPr/>
          <p:nvPr/>
        </p:nvSpPr>
        <p:spPr>
          <a:xfrm>
            <a:off x="8261350" y="4076700"/>
            <a:ext cx="3624263" cy="246063"/>
          </a:xfrm>
          <a:prstGeom prst="rect">
            <a:avLst/>
          </a:prstGeom>
          <a:noFill/>
          <a:ln/>
        </p:spPr>
        <p:txBody>
          <a:bodyPr lIns="0" tIns="0" rIns="0" bIns="0" anchor="ctr"/>
          <a:lstStyle/>
          <a:p>
            <a:pPr algn="ctr" eaLnBrk="1" fontAlgn="auto" hangingPunct="1">
              <a:lnSpc>
                <a:spcPct val="130000"/>
              </a:lnSpc>
              <a:spcBef>
                <a:spcPts val="0"/>
              </a:spcBef>
              <a:spcAft>
                <a:spcPts val="0"/>
              </a:spcAft>
              <a:defRPr/>
            </a:pPr>
            <a:r>
              <a:rPr lang="en-US" sz="1313" b="1" dirty="0">
                <a:solidFill>
                  <a:srgbClr val="4C7E9A"/>
                </a:solidFill>
                <a:latin typeface="Liter" pitchFamily="34" charset="0"/>
                <a:ea typeface="Liter" pitchFamily="34" charset="-122"/>
                <a:cs typeface="Liter" pitchFamily="34" charset="-120"/>
              </a:rPr>
              <a:t>Other Features</a:t>
            </a:r>
            <a:endParaRPr lang="en-US" sz="1600" dirty="0">
              <a:latin typeface="+mn-lt"/>
            </a:endParaRPr>
          </a:p>
        </p:txBody>
      </p:sp>
      <p:sp>
        <p:nvSpPr>
          <p:cNvPr id="9248" name="Shape 22">
            <a:extLst>
              <a:ext uri="{FF2B5EF4-FFF2-40B4-BE49-F238E27FC236}">
                <a16:creationId xmlns:a16="http://schemas.microsoft.com/office/drawing/2014/main" id="{6C1144D6-EE24-96C8-08D0-7C0CAD16AD80}"/>
              </a:ext>
            </a:extLst>
          </p:cNvPr>
          <p:cNvSpPr>
            <a:spLocks/>
          </p:cNvSpPr>
          <p:nvPr/>
        </p:nvSpPr>
        <p:spPr bwMode="auto">
          <a:xfrm>
            <a:off x="8226425" y="1157288"/>
            <a:ext cx="3706813" cy="2593975"/>
          </a:xfrm>
          <a:custGeom>
            <a:avLst/>
            <a:gdLst>
              <a:gd name="T0" fmla="*/ 37069 w 3705775"/>
              <a:gd name="T1" fmla="*/ 0 h 2594043"/>
              <a:gd name="T2" fmla="*/ 3668706 w 3705775"/>
              <a:gd name="T3" fmla="*/ 0 h 2594043"/>
              <a:gd name="T4" fmla="*/ 3705775 w 3705775"/>
              <a:gd name="T5" fmla="*/ 37069 h 2594043"/>
              <a:gd name="T6" fmla="*/ 3705775 w 3705775"/>
              <a:gd name="T7" fmla="*/ 2556974 h 2594043"/>
              <a:gd name="T8" fmla="*/ 3668706 w 3705775"/>
              <a:gd name="T9" fmla="*/ 2594043 h 2594043"/>
              <a:gd name="T10" fmla="*/ 37069 w 3705775"/>
              <a:gd name="T11" fmla="*/ 2594043 h 2594043"/>
              <a:gd name="T12" fmla="*/ 0 w 3705775"/>
              <a:gd name="T13" fmla="*/ 2556974 h 2594043"/>
              <a:gd name="T14" fmla="*/ 0 w 3705775"/>
              <a:gd name="T15" fmla="*/ 37069 h 2594043"/>
              <a:gd name="T16" fmla="*/ 37069 w 3705775"/>
              <a:gd name="T17" fmla="*/ 0 h 2594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05775" h="2594043">
                <a:moveTo>
                  <a:pt x="37069" y="0"/>
                </a:moveTo>
                <a:lnTo>
                  <a:pt x="3668706" y="0"/>
                </a:lnTo>
                <a:cubicBezTo>
                  <a:pt x="3689179" y="0"/>
                  <a:pt x="3705775" y="16596"/>
                  <a:pt x="3705775" y="37069"/>
                </a:cubicBezTo>
                <a:lnTo>
                  <a:pt x="3705775" y="2556974"/>
                </a:lnTo>
                <a:cubicBezTo>
                  <a:pt x="3705775" y="2577446"/>
                  <a:pt x="3689179" y="2594043"/>
                  <a:pt x="3668706" y="2594043"/>
                </a:cubicBezTo>
                <a:lnTo>
                  <a:pt x="37069" y="2594043"/>
                </a:lnTo>
                <a:cubicBezTo>
                  <a:pt x="16596" y="2594043"/>
                  <a:pt x="0" y="2577446"/>
                  <a:pt x="0" y="2556974"/>
                </a:cubicBezTo>
                <a:lnTo>
                  <a:pt x="0" y="37069"/>
                </a:lnTo>
                <a:cubicBezTo>
                  <a:pt x="0" y="16610"/>
                  <a:pt x="16610" y="0"/>
                  <a:pt x="37069" y="0"/>
                </a:cubicBezTo>
                <a:close/>
              </a:path>
            </a:pathLst>
          </a:custGeom>
          <a:solidFill>
            <a:srgbClr val="1E2024"/>
          </a:solidFill>
          <a:ln w="12700">
            <a:solidFill>
              <a:srgbClr val="D8A03D">
                <a:alpha val="30196"/>
              </a:srgbClr>
            </a:solidFill>
            <a:prstDash val="solid"/>
            <a:round/>
            <a:headEnd/>
            <a:tailEnd/>
          </a:ln>
        </p:spPr>
        <p:txBody>
          <a:bodyPr/>
          <a:lstStyle/>
          <a:p>
            <a:endParaRPr lang="en-US"/>
          </a:p>
        </p:txBody>
      </p:sp>
      <p:sp>
        <p:nvSpPr>
          <p:cNvPr id="109" name="Text 23">
            <a:extLst>
              <a:ext uri="{FF2B5EF4-FFF2-40B4-BE49-F238E27FC236}">
                <a16:creationId xmlns:a16="http://schemas.microsoft.com/office/drawing/2014/main" id="{C44A5B46-38A1-405C-DB7B-CF8CA82AA45F}"/>
              </a:ext>
            </a:extLst>
          </p:cNvPr>
          <p:cNvSpPr/>
          <p:nvPr/>
        </p:nvSpPr>
        <p:spPr>
          <a:xfrm>
            <a:off x="8380413" y="1309688"/>
            <a:ext cx="3482975" cy="260350"/>
          </a:xfrm>
          <a:prstGeom prst="rect">
            <a:avLst/>
          </a:prstGeom>
          <a:noFill/>
          <a:ln/>
        </p:spPr>
        <p:txBody>
          <a:bodyPr lIns="0" tIns="0" rIns="0" bIns="0" anchor="ctr"/>
          <a:lstStyle/>
          <a:p>
            <a:pPr eaLnBrk="1" fontAlgn="auto" hangingPunct="1">
              <a:lnSpc>
                <a:spcPct val="130000"/>
              </a:lnSpc>
              <a:spcBef>
                <a:spcPts val="0"/>
              </a:spcBef>
              <a:spcAft>
                <a:spcPts val="0"/>
              </a:spcAft>
              <a:defRPr/>
            </a:pPr>
            <a:r>
              <a:rPr lang="en-US" sz="1313" b="1" dirty="0">
                <a:solidFill>
                  <a:srgbClr val="D8A03D"/>
                </a:solidFill>
                <a:latin typeface="Liter" pitchFamily="34" charset="0"/>
                <a:ea typeface="Liter" pitchFamily="34" charset="-122"/>
                <a:cs typeface="Liter" pitchFamily="34" charset="-120"/>
              </a:rPr>
              <a:t>(*Approximate) Interior Validation Results</a:t>
            </a:r>
            <a:endParaRPr lang="en-US" sz="1600" dirty="0">
              <a:latin typeface="+mn-lt"/>
            </a:endParaRPr>
          </a:p>
        </p:txBody>
      </p:sp>
      <p:pic>
        <p:nvPicPr>
          <p:cNvPr id="112" name="Graphic 111">
            <a:extLst>
              <a:ext uri="{FF2B5EF4-FFF2-40B4-BE49-F238E27FC236}">
                <a16:creationId xmlns:a16="http://schemas.microsoft.com/office/drawing/2014/main" id="{C902F13C-D417-CD8C-A6E4-F540B35CAE9E}"/>
              </a:ext>
            </a:extLst>
          </p:cNvPr>
          <p:cNvPicPr>
            <a:picLocks noChangeAspect="1"/>
          </p:cNvPicPr>
          <p:nvPr/>
        </p:nvPicPr>
        <p:blipFill>
          <a:blip r:embed="rId6"/>
          <a:stretch>
            <a:fillRect/>
          </a:stretch>
        </p:blipFill>
        <p:spPr>
          <a:xfrm>
            <a:off x="261938" y="3919538"/>
            <a:ext cx="4203700" cy="2522537"/>
          </a:xfrm>
          <a:prstGeom prst="rect">
            <a:avLst/>
          </a:prstGeom>
        </p:spPr>
      </p:pic>
      <p:pic>
        <p:nvPicPr>
          <p:cNvPr id="11" name="Graphic 10">
            <a:extLst>
              <a:ext uri="{FF2B5EF4-FFF2-40B4-BE49-F238E27FC236}">
                <a16:creationId xmlns:a16="http://schemas.microsoft.com/office/drawing/2014/main" id="{74899421-4A4A-1AFF-B7C8-EBE61C1C4B2B}"/>
              </a:ext>
            </a:extLst>
          </p:cNvPr>
          <p:cNvPicPr>
            <a:picLocks noChangeAspect="1"/>
          </p:cNvPicPr>
          <p:nvPr/>
        </p:nvPicPr>
        <p:blipFill>
          <a:blip r:embed="rId7"/>
          <a:stretch>
            <a:fillRect/>
          </a:stretch>
        </p:blipFill>
        <p:spPr>
          <a:xfrm>
            <a:off x="8328025" y="1639888"/>
            <a:ext cx="3484563" cy="2090737"/>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317"/>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67E0091-1ABC-FEA2-3C6C-E385389F14D8}"/>
              </a:ext>
            </a:extLst>
          </p:cNvPr>
          <p:cNvSpPr/>
          <p:nvPr/>
        </p:nvSpPr>
        <p:spPr>
          <a:xfrm>
            <a:off x="381000" y="381000"/>
            <a:ext cx="1149667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50" b="1" kern="0" spc="263" dirty="0">
                <a:solidFill>
                  <a:srgbClr val="D8A03D"/>
                </a:solidFill>
                <a:latin typeface="Quattrocento Sans" pitchFamily="34" charset="0"/>
                <a:ea typeface="Quattrocento Sans" pitchFamily="34" charset="-122"/>
                <a:cs typeface="Quattrocento Sans" pitchFamily="34" charset="-120"/>
              </a:rPr>
              <a:t>PERFORMANCE METRICS AND RESULTS (OL)</a:t>
            </a:r>
            <a:endParaRPr lang="en-US" sz="1600" dirty="0">
              <a:latin typeface="+mn-lt"/>
            </a:endParaRPr>
          </a:p>
        </p:txBody>
      </p:sp>
      <p:sp>
        <p:nvSpPr>
          <p:cNvPr id="11267" name="Text 1">
            <a:extLst>
              <a:ext uri="{FF2B5EF4-FFF2-40B4-BE49-F238E27FC236}">
                <a16:creationId xmlns:a16="http://schemas.microsoft.com/office/drawing/2014/main" id="{047DCE1F-B732-9306-6AF8-2783FD67577C}"/>
              </a:ext>
            </a:extLst>
          </p:cNvPr>
          <p:cNvSpPr>
            <a:spLocks noChangeArrowheads="1"/>
          </p:cNvSpPr>
          <p:nvPr/>
        </p:nvSpPr>
        <p:spPr bwMode="auto">
          <a:xfrm>
            <a:off x="381000" y="647700"/>
            <a:ext cx="116014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90000"/>
              </a:lnSpc>
            </a:pPr>
            <a:r>
              <a:rPr lang="en-US" altLang="en-US" sz="2700" b="1">
                <a:solidFill>
                  <a:srgbClr val="E1E3E6"/>
                </a:solidFill>
                <a:latin typeface="Liter" panose="02000503030000020004" pitchFamily="2" charset="0"/>
                <a:ea typeface="Liter" panose="02000503030000020004" pitchFamily="2" charset="0"/>
                <a:cs typeface="Liter" panose="02000503030000020004" pitchFamily="2" charset="0"/>
              </a:rPr>
              <a:t>Primary Metric: DL Depth Allowed (or Gained) at Frame 25</a:t>
            </a:r>
            <a:endParaRPr lang="en-US" altLang="en-US" sz="1600"/>
          </a:p>
        </p:txBody>
      </p:sp>
      <p:sp>
        <p:nvSpPr>
          <p:cNvPr id="11268" name="Shape 2">
            <a:extLst>
              <a:ext uri="{FF2B5EF4-FFF2-40B4-BE49-F238E27FC236}">
                <a16:creationId xmlns:a16="http://schemas.microsoft.com/office/drawing/2014/main" id="{E9A84C3A-F543-A9D9-9A14-8C1A040BA078}"/>
              </a:ext>
            </a:extLst>
          </p:cNvPr>
          <p:cNvSpPr>
            <a:spLocks/>
          </p:cNvSpPr>
          <p:nvPr/>
        </p:nvSpPr>
        <p:spPr bwMode="auto">
          <a:xfrm>
            <a:off x="385763" y="1065213"/>
            <a:ext cx="3327400" cy="5291137"/>
          </a:xfrm>
          <a:custGeom>
            <a:avLst/>
            <a:gdLst>
              <a:gd name="T0" fmla="*/ 38100 w 4467225"/>
              <a:gd name="T1" fmla="*/ 0 h 3514725"/>
              <a:gd name="T2" fmla="*/ 4429125 w 4467225"/>
              <a:gd name="T3" fmla="*/ 0 h 3514725"/>
              <a:gd name="T4" fmla="*/ 4467225 w 4467225"/>
              <a:gd name="T5" fmla="*/ 38100 h 3514725"/>
              <a:gd name="T6" fmla="*/ 4467225 w 4467225"/>
              <a:gd name="T7" fmla="*/ 3476625 h 3514725"/>
              <a:gd name="T8" fmla="*/ 4429125 w 4467225"/>
              <a:gd name="T9" fmla="*/ 3514725 h 3514725"/>
              <a:gd name="T10" fmla="*/ 38100 w 4467225"/>
              <a:gd name="T11" fmla="*/ 3514725 h 3514725"/>
              <a:gd name="T12" fmla="*/ 0 w 4467225"/>
              <a:gd name="T13" fmla="*/ 3476625 h 3514725"/>
              <a:gd name="T14" fmla="*/ 0 w 4467225"/>
              <a:gd name="T15" fmla="*/ 38100 h 3514725"/>
              <a:gd name="T16" fmla="*/ 38100 w 4467225"/>
              <a:gd name="T17" fmla="*/ 0 h 3514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67225" h="3514725">
                <a:moveTo>
                  <a:pt x="38100" y="0"/>
                </a:moveTo>
                <a:lnTo>
                  <a:pt x="4429125" y="0"/>
                </a:lnTo>
                <a:cubicBezTo>
                  <a:pt x="4450167" y="0"/>
                  <a:pt x="4467225" y="17058"/>
                  <a:pt x="4467225" y="38100"/>
                </a:cubicBezTo>
                <a:lnTo>
                  <a:pt x="4467225" y="3476625"/>
                </a:lnTo>
                <a:cubicBezTo>
                  <a:pt x="4467225" y="3497667"/>
                  <a:pt x="4450167" y="3514725"/>
                  <a:pt x="4429125" y="3514725"/>
                </a:cubicBezTo>
                <a:lnTo>
                  <a:pt x="38100" y="3514725"/>
                </a:lnTo>
                <a:cubicBezTo>
                  <a:pt x="17058" y="3514725"/>
                  <a:pt x="0" y="3497667"/>
                  <a:pt x="0" y="3476625"/>
                </a:cubicBezTo>
                <a:lnTo>
                  <a:pt x="0" y="38100"/>
                </a:lnTo>
                <a:cubicBezTo>
                  <a:pt x="0" y="17072"/>
                  <a:pt x="17072" y="0"/>
                  <a:pt x="38100" y="0"/>
                </a:cubicBezTo>
                <a:close/>
              </a:path>
            </a:pathLst>
          </a:custGeom>
          <a:solidFill>
            <a:srgbClr val="1E2024"/>
          </a:solidFill>
          <a:ln w="12700">
            <a:solidFill>
              <a:srgbClr val="4C7E9A">
                <a:alpha val="30196"/>
              </a:srgbClr>
            </a:solidFill>
            <a:prstDash val="solid"/>
            <a:round/>
            <a:headEnd/>
            <a:tailEnd/>
          </a:ln>
        </p:spPr>
        <p:txBody>
          <a:bodyPr/>
          <a:lstStyle/>
          <a:p>
            <a:endParaRPr lang="en-US"/>
          </a:p>
        </p:txBody>
      </p:sp>
      <p:sp>
        <p:nvSpPr>
          <p:cNvPr id="11269" name="Shape 3">
            <a:extLst>
              <a:ext uri="{FF2B5EF4-FFF2-40B4-BE49-F238E27FC236}">
                <a16:creationId xmlns:a16="http://schemas.microsoft.com/office/drawing/2014/main" id="{45EDA8F0-B432-C83A-6C95-BB5A341284F4}"/>
              </a:ext>
            </a:extLst>
          </p:cNvPr>
          <p:cNvSpPr>
            <a:spLocks/>
          </p:cNvSpPr>
          <p:nvPr/>
        </p:nvSpPr>
        <p:spPr bwMode="auto">
          <a:xfrm>
            <a:off x="566738" y="1270000"/>
            <a:ext cx="171450" cy="171450"/>
          </a:xfrm>
          <a:custGeom>
            <a:avLst/>
            <a:gdLst>
              <a:gd name="T0" fmla="*/ 85725 w 171450"/>
              <a:gd name="T1" fmla="*/ 0 h 171450"/>
              <a:gd name="T2" fmla="*/ 171450 w 171450"/>
              <a:gd name="T3" fmla="*/ 85725 h 171450"/>
              <a:gd name="T4" fmla="*/ 85725 w 171450"/>
              <a:gd name="T5" fmla="*/ 171450 h 171450"/>
              <a:gd name="T6" fmla="*/ 0 w 171450"/>
              <a:gd name="T7" fmla="*/ 85725 h 171450"/>
              <a:gd name="T8" fmla="*/ 85725 w 171450"/>
              <a:gd name="T9" fmla="*/ 0 h 171450"/>
              <a:gd name="T10" fmla="*/ 77688 w 171450"/>
              <a:gd name="T11" fmla="*/ 40184 h 171450"/>
              <a:gd name="T12" fmla="*/ 77688 w 171450"/>
              <a:gd name="T13" fmla="*/ 85725 h 171450"/>
              <a:gd name="T14" fmla="*/ 81271 w 171450"/>
              <a:gd name="T15" fmla="*/ 92422 h 171450"/>
              <a:gd name="T16" fmla="*/ 113418 w 171450"/>
              <a:gd name="T17" fmla="*/ 113854 h 171450"/>
              <a:gd name="T18" fmla="*/ 124569 w 171450"/>
              <a:gd name="T19" fmla="*/ 111610 h 171450"/>
              <a:gd name="T20" fmla="*/ 122326 w 171450"/>
              <a:gd name="T21" fmla="*/ 100459 h 171450"/>
              <a:gd name="T22" fmla="*/ 93762 w 171450"/>
              <a:gd name="T23" fmla="*/ 81439 h 171450"/>
              <a:gd name="T24" fmla="*/ 93762 w 171450"/>
              <a:gd name="T25" fmla="*/ 40184 h 171450"/>
              <a:gd name="T26" fmla="*/ 85725 w 171450"/>
              <a:gd name="T27" fmla="*/ 32147 h 171450"/>
              <a:gd name="T28" fmla="*/ 77688 w 171450"/>
              <a:gd name="T29" fmla="*/ 40184 h 17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1450" h="171450">
                <a:moveTo>
                  <a:pt x="85725" y="0"/>
                </a:moveTo>
                <a:cubicBezTo>
                  <a:pt x="133038" y="0"/>
                  <a:pt x="171450" y="38412"/>
                  <a:pt x="171450" y="85725"/>
                </a:cubicBezTo>
                <a:cubicBezTo>
                  <a:pt x="171450" y="133038"/>
                  <a:pt x="133038" y="171450"/>
                  <a:pt x="85725" y="171450"/>
                </a:cubicBezTo>
                <a:cubicBezTo>
                  <a:pt x="38412" y="171450"/>
                  <a:pt x="0" y="133038"/>
                  <a:pt x="0" y="85725"/>
                </a:cubicBezTo>
                <a:cubicBezTo>
                  <a:pt x="0" y="38412"/>
                  <a:pt x="38412" y="0"/>
                  <a:pt x="85725" y="0"/>
                </a:cubicBezTo>
                <a:close/>
                <a:moveTo>
                  <a:pt x="77688" y="40184"/>
                </a:moveTo>
                <a:lnTo>
                  <a:pt x="77688" y="85725"/>
                </a:lnTo>
                <a:cubicBezTo>
                  <a:pt x="77688" y="88404"/>
                  <a:pt x="79028" y="90915"/>
                  <a:pt x="81271" y="92422"/>
                </a:cubicBezTo>
                <a:lnTo>
                  <a:pt x="113418" y="113854"/>
                </a:lnTo>
                <a:cubicBezTo>
                  <a:pt x="117102" y="116332"/>
                  <a:pt x="122091" y="115327"/>
                  <a:pt x="124569" y="111610"/>
                </a:cubicBezTo>
                <a:cubicBezTo>
                  <a:pt x="127047" y="107893"/>
                  <a:pt x="126043" y="102937"/>
                  <a:pt x="122326" y="100459"/>
                </a:cubicBezTo>
                <a:lnTo>
                  <a:pt x="93762" y="81439"/>
                </a:lnTo>
                <a:lnTo>
                  <a:pt x="93762" y="40184"/>
                </a:lnTo>
                <a:cubicBezTo>
                  <a:pt x="93762" y="35730"/>
                  <a:pt x="90179" y="32147"/>
                  <a:pt x="85725" y="32147"/>
                </a:cubicBezTo>
                <a:cubicBezTo>
                  <a:pt x="81271" y="32147"/>
                  <a:pt x="77688" y="35730"/>
                  <a:pt x="77688" y="40184"/>
                </a:cubicBezTo>
                <a:close/>
              </a:path>
            </a:pathLst>
          </a:custGeom>
          <a:solidFill>
            <a:srgbClr val="4C7E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 name="Text 4">
            <a:extLst>
              <a:ext uri="{FF2B5EF4-FFF2-40B4-BE49-F238E27FC236}">
                <a16:creationId xmlns:a16="http://schemas.microsoft.com/office/drawing/2014/main" id="{D1FC1716-C9AD-1C5B-9BC6-F859E31A5BE3}"/>
              </a:ext>
            </a:extLst>
          </p:cNvPr>
          <p:cNvSpPr/>
          <p:nvPr/>
        </p:nvSpPr>
        <p:spPr>
          <a:xfrm>
            <a:off x="800100" y="1212850"/>
            <a:ext cx="3981450" cy="266700"/>
          </a:xfrm>
          <a:prstGeom prst="rect">
            <a:avLst/>
          </a:prstGeom>
          <a:noFill/>
          <a:ln/>
        </p:spPr>
        <p:txBody>
          <a:bodyPr lIns="0" tIns="0" rIns="0" bIns="0" anchor="ctr"/>
          <a:lstStyle/>
          <a:p>
            <a:pPr eaLnBrk="1" fontAlgn="auto" hangingPunct="1">
              <a:lnSpc>
                <a:spcPct val="130000"/>
              </a:lnSpc>
              <a:spcBef>
                <a:spcPts val="0"/>
              </a:spcBef>
              <a:spcAft>
                <a:spcPts val="0"/>
              </a:spcAft>
              <a:defRPr/>
            </a:pPr>
            <a:r>
              <a:rPr lang="en-US" sz="1350" b="1" dirty="0">
                <a:solidFill>
                  <a:srgbClr val="4C7E9A"/>
                </a:solidFill>
                <a:latin typeface="Liter" pitchFamily="34" charset="0"/>
                <a:ea typeface="Liter" pitchFamily="34" charset="-122"/>
                <a:cs typeface="Liter" pitchFamily="34" charset="-120"/>
              </a:rPr>
              <a:t>Why frame 25?</a:t>
            </a:r>
            <a:endParaRPr lang="en-US" sz="1600" dirty="0">
              <a:latin typeface="+mn-lt"/>
            </a:endParaRPr>
          </a:p>
        </p:txBody>
      </p:sp>
      <p:sp>
        <p:nvSpPr>
          <p:cNvPr id="11271" name="Shape 23">
            <a:extLst>
              <a:ext uri="{FF2B5EF4-FFF2-40B4-BE49-F238E27FC236}">
                <a16:creationId xmlns:a16="http://schemas.microsoft.com/office/drawing/2014/main" id="{CA324E6B-508B-794A-24DC-7769659388A4}"/>
              </a:ext>
            </a:extLst>
          </p:cNvPr>
          <p:cNvSpPr>
            <a:spLocks/>
          </p:cNvSpPr>
          <p:nvPr/>
        </p:nvSpPr>
        <p:spPr bwMode="auto">
          <a:xfrm>
            <a:off x="3998913" y="1065213"/>
            <a:ext cx="7810500" cy="5719762"/>
          </a:xfrm>
          <a:custGeom>
            <a:avLst/>
            <a:gdLst>
              <a:gd name="T0" fmla="*/ 38100 w 6791325"/>
              <a:gd name="T1" fmla="*/ 0 h 3514725"/>
              <a:gd name="T2" fmla="*/ 6753225 w 6791325"/>
              <a:gd name="T3" fmla="*/ 0 h 3514725"/>
              <a:gd name="T4" fmla="*/ 6791325 w 6791325"/>
              <a:gd name="T5" fmla="*/ 38100 h 3514725"/>
              <a:gd name="T6" fmla="*/ 6791325 w 6791325"/>
              <a:gd name="T7" fmla="*/ 3476625 h 3514725"/>
              <a:gd name="T8" fmla="*/ 6753225 w 6791325"/>
              <a:gd name="T9" fmla="*/ 3514725 h 3514725"/>
              <a:gd name="T10" fmla="*/ 38100 w 6791325"/>
              <a:gd name="T11" fmla="*/ 3514725 h 3514725"/>
              <a:gd name="T12" fmla="*/ 0 w 6791325"/>
              <a:gd name="T13" fmla="*/ 3476625 h 3514725"/>
              <a:gd name="T14" fmla="*/ 0 w 6791325"/>
              <a:gd name="T15" fmla="*/ 38100 h 3514725"/>
              <a:gd name="T16" fmla="*/ 38100 w 6791325"/>
              <a:gd name="T17" fmla="*/ 0 h 3514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91325" h="3514725">
                <a:moveTo>
                  <a:pt x="38100" y="0"/>
                </a:moveTo>
                <a:lnTo>
                  <a:pt x="6753225" y="0"/>
                </a:lnTo>
                <a:cubicBezTo>
                  <a:pt x="6774267" y="0"/>
                  <a:pt x="6791325" y="17058"/>
                  <a:pt x="6791325" y="38100"/>
                </a:cubicBezTo>
                <a:lnTo>
                  <a:pt x="6791325" y="3476625"/>
                </a:lnTo>
                <a:cubicBezTo>
                  <a:pt x="6791325" y="3497667"/>
                  <a:pt x="6774267" y="3514725"/>
                  <a:pt x="6753225" y="3514725"/>
                </a:cubicBezTo>
                <a:lnTo>
                  <a:pt x="38100" y="3514725"/>
                </a:lnTo>
                <a:cubicBezTo>
                  <a:pt x="17058" y="3514725"/>
                  <a:pt x="0" y="3497667"/>
                  <a:pt x="0" y="3476625"/>
                </a:cubicBezTo>
                <a:lnTo>
                  <a:pt x="0" y="38100"/>
                </a:lnTo>
                <a:cubicBezTo>
                  <a:pt x="0" y="17072"/>
                  <a:pt x="17072" y="0"/>
                  <a:pt x="38100" y="0"/>
                </a:cubicBezTo>
                <a:close/>
              </a:path>
            </a:pathLst>
          </a:custGeom>
          <a:solidFill>
            <a:srgbClr val="1E2024"/>
          </a:solidFill>
          <a:ln w="12700">
            <a:solidFill>
              <a:srgbClr val="D8A03D">
                <a:alpha val="30196"/>
              </a:srgbClr>
            </a:solidFill>
            <a:prstDash val="solid"/>
            <a:round/>
            <a:headEnd/>
            <a:tailEnd/>
          </a:ln>
        </p:spPr>
        <p:txBody>
          <a:bodyPr/>
          <a:lstStyle/>
          <a:p>
            <a:endParaRPr lang="en-US"/>
          </a:p>
        </p:txBody>
      </p:sp>
      <p:sp>
        <p:nvSpPr>
          <p:cNvPr id="11272" name="Shape 24">
            <a:extLst>
              <a:ext uri="{FF2B5EF4-FFF2-40B4-BE49-F238E27FC236}">
                <a16:creationId xmlns:a16="http://schemas.microsoft.com/office/drawing/2014/main" id="{8603814F-F2F8-73AF-5AA9-DFFBEFE90138}"/>
              </a:ext>
            </a:extLst>
          </p:cNvPr>
          <p:cNvSpPr>
            <a:spLocks/>
          </p:cNvSpPr>
          <p:nvPr/>
        </p:nvSpPr>
        <p:spPr bwMode="auto">
          <a:xfrm>
            <a:off x="4097338" y="1127125"/>
            <a:ext cx="171450" cy="171450"/>
          </a:xfrm>
          <a:custGeom>
            <a:avLst/>
            <a:gdLst>
              <a:gd name="T0" fmla="*/ 48321 w 171450"/>
              <a:gd name="T1" fmla="*/ 0 h 171450"/>
              <a:gd name="T2" fmla="*/ 123330 w 171450"/>
              <a:gd name="T3" fmla="*/ 0 h 171450"/>
              <a:gd name="T4" fmla="*/ 139102 w 171450"/>
              <a:gd name="T5" fmla="*/ 16140 h 171450"/>
              <a:gd name="T6" fmla="*/ 138868 w 171450"/>
              <a:gd name="T7" fmla="*/ 21431 h 171450"/>
              <a:gd name="T8" fmla="*/ 155477 w 171450"/>
              <a:gd name="T9" fmla="*/ 21431 h 171450"/>
              <a:gd name="T10" fmla="*/ 171249 w 171450"/>
              <a:gd name="T11" fmla="*/ 38107 h 171450"/>
              <a:gd name="T12" fmla="*/ 131735 w 171450"/>
              <a:gd name="T13" fmla="*/ 101899 h 171450"/>
              <a:gd name="T14" fmla="*/ 115930 w 171450"/>
              <a:gd name="T15" fmla="*/ 108194 h 171450"/>
              <a:gd name="T16" fmla="*/ 96541 w 171450"/>
              <a:gd name="T17" fmla="*/ 125540 h 171450"/>
              <a:gd name="T18" fmla="*/ 96541 w 171450"/>
              <a:gd name="T19" fmla="*/ 150019 h 171450"/>
              <a:gd name="T20" fmla="*/ 117972 w 171450"/>
              <a:gd name="T21" fmla="*/ 150019 h 171450"/>
              <a:gd name="T22" fmla="*/ 128688 w 171450"/>
              <a:gd name="T23" fmla="*/ 160734 h 171450"/>
              <a:gd name="T24" fmla="*/ 117972 w 171450"/>
              <a:gd name="T25" fmla="*/ 171450 h 171450"/>
              <a:gd name="T26" fmla="*/ 53679 w 171450"/>
              <a:gd name="T27" fmla="*/ 171450 h 171450"/>
              <a:gd name="T28" fmla="*/ 42963 w 171450"/>
              <a:gd name="T29" fmla="*/ 160734 h 171450"/>
              <a:gd name="T30" fmla="*/ 53679 w 171450"/>
              <a:gd name="T31" fmla="*/ 150019 h 171450"/>
              <a:gd name="T32" fmla="*/ 75110 w 171450"/>
              <a:gd name="T33" fmla="*/ 150019 h 171450"/>
              <a:gd name="T34" fmla="*/ 75110 w 171450"/>
              <a:gd name="T35" fmla="*/ 125540 h 171450"/>
              <a:gd name="T36" fmla="*/ 56592 w 171450"/>
              <a:gd name="T37" fmla="*/ 109366 h 171450"/>
              <a:gd name="T38" fmla="*/ 37203 w 171450"/>
              <a:gd name="T39" fmla="*/ 101631 h 171450"/>
              <a:gd name="T40" fmla="*/ 402 w 171450"/>
              <a:gd name="T41" fmla="*/ 38040 h 171450"/>
              <a:gd name="T42" fmla="*/ 16174 w 171450"/>
              <a:gd name="T43" fmla="*/ 21398 h 171450"/>
              <a:gd name="T44" fmla="*/ 32783 w 171450"/>
              <a:gd name="T45" fmla="*/ 21398 h 171450"/>
              <a:gd name="T46" fmla="*/ 32549 w 171450"/>
              <a:gd name="T47" fmla="*/ 16107 h 171450"/>
              <a:gd name="T48" fmla="*/ 48321 w 171450"/>
              <a:gd name="T49" fmla="*/ -33 h 171450"/>
              <a:gd name="T50" fmla="*/ 48321 w 171450"/>
              <a:gd name="T51" fmla="*/ 0 h 171450"/>
              <a:gd name="T52" fmla="*/ 33989 w 171450"/>
              <a:gd name="T53" fmla="*/ 37505 h 171450"/>
              <a:gd name="T54" fmla="*/ 16442 w 171450"/>
              <a:gd name="T55" fmla="*/ 37505 h 171450"/>
              <a:gd name="T56" fmla="*/ 44972 w 171450"/>
              <a:gd name="T57" fmla="*/ 87600 h 171450"/>
              <a:gd name="T58" fmla="*/ 33989 w 171450"/>
              <a:gd name="T59" fmla="*/ 37505 h 171450"/>
              <a:gd name="T60" fmla="*/ 127248 w 171450"/>
              <a:gd name="T61" fmla="*/ 85993 h 171450"/>
              <a:gd name="T62" fmla="*/ 155142 w 171450"/>
              <a:gd name="T63" fmla="*/ 37505 h 171450"/>
              <a:gd name="T64" fmla="*/ 137629 w 171450"/>
              <a:gd name="T65" fmla="*/ 37505 h 171450"/>
              <a:gd name="T66" fmla="*/ 127248 w 171450"/>
              <a:gd name="T67" fmla="*/ 85993 h 17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71450" h="171450">
                <a:moveTo>
                  <a:pt x="48321" y="0"/>
                </a:moveTo>
                <a:lnTo>
                  <a:pt x="123330" y="0"/>
                </a:lnTo>
                <a:cubicBezTo>
                  <a:pt x="132204" y="0"/>
                  <a:pt x="139437" y="7300"/>
                  <a:pt x="139102" y="16140"/>
                </a:cubicBezTo>
                <a:cubicBezTo>
                  <a:pt x="139035" y="17915"/>
                  <a:pt x="138968" y="19690"/>
                  <a:pt x="138868" y="21431"/>
                </a:cubicBezTo>
                <a:lnTo>
                  <a:pt x="155477" y="21431"/>
                </a:lnTo>
                <a:cubicBezTo>
                  <a:pt x="164217" y="21431"/>
                  <a:pt x="171919" y="28664"/>
                  <a:pt x="171249" y="38107"/>
                </a:cubicBezTo>
                <a:cubicBezTo>
                  <a:pt x="168738" y="72833"/>
                  <a:pt x="150990" y="91920"/>
                  <a:pt x="131735" y="101899"/>
                </a:cubicBezTo>
                <a:cubicBezTo>
                  <a:pt x="126444" y="104645"/>
                  <a:pt x="121053" y="106687"/>
                  <a:pt x="115930" y="108194"/>
                </a:cubicBezTo>
                <a:cubicBezTo>
                  <a:pt x="109165" y="117771"/>
                  <a:pt x="102133" y="122828"/>
                  <a:pt x="96541" y="125540"/>
                </a:cubicBezTo>
                <a:lnTo>
                  <a:pt x="96541" y="150019"/>
                </a:lnTo>
                <a:lnTo>
                  <a:pt x="117972" y="150019"/>
                </a:lnTo>
                <a:cubicBezTo>
                  <a:pt x="123899" y="150019"/>
                  <a:pt x="128688" y="154807"/>
                  <a:pt x="128688" y="160734"/>
                </a:cubicBezTo>
                <a:cubicBezTo>
                  <a:pt x="128688" y="166661"/>
                  <a:pt x="123899" y="171450"/>
                  <a:pt x="117972" y="171450"/>
                </a:cubicBezTo>
                <a:lnTo>
                  <a:pt x="53679" y="171450"/>
                </a:lnTo>
                <a:cubicBezTo>
                  <a:pt x="47752" y="171450"/>
                  <a:pt x="42963" y="166661"/>
                  <a:pt x="42963" y="160734"/>
                </a:cubicBezTo>
                <a:cubicBezTo>
                  <a:pt x="42963" y="154807"/>
                  <a:pt x="47752" y="150019"/>
                  <a:pt x="53679" y="150019"/>
                </a:cubicBezTo>
                <a:lnTo>
                  <a:pt x="75110" y="150019"/>
                </a:lnTo>
                <a:lnTo>
                  <a:pt x="75110" y="125540"/>
                </a:lnTo>
                <a:cubicBezTo>
                  <a:pt x="69752" y="122962"/>
                  <a:pt x="63088" y="118173"/>
                  <a:pt x="56592" y="109366"/>
                </a:cubicBezTo>
                <a:cubicBezTo>
                  <a:pt x="50430" y="107759"/>
                  <a:pt x="43733" y="105315"/>
                  <a:pt x="37203" y="101631"/>
                </a:cubicBezTo>
                <a:cubicBezTo>
                  <a:pt x="19087" y="91485"/>
                  <a:pt x="2746" y="72364"/>
                  <a:pt x="402" y="38040"/>
                </a:cubicBezTo>
                <a:cubicBezTo>
                  <a:pt x="-234" y="28631"/>
                  <a:pt x="7434" y="21398"/>
                  <a:pt x="16174" y="21398"/>
                </a:cubicBezTo>
                <a:lnTo>
                  <a:pt x="32783" y="21398"/>
                </a:lnTo>
                <a:cubicBezTo>
                  <a:pt x="32683" y="19656"/>
                  <a:pt x="32616" y="17915"/>
                  <a:pt x="32549" y="16107"/>
                </a:cubicBezTo>
                <a:cubicBezTo>
                  <a:pt x="32214" y="7233"/>
                  <a:pt x="39447" y="-33"/>
                  <a:pt x="48321" y="-33"/>
                </a:cubicBezTo>
                <a:lnTo>
                  <a:pt x="48321" y="0"/>
                </a:lnTo>
                <a:close/>
                <a:moveTo>
                  <a:pt x="33989" y="37505"/>
                </a:moveTo>
                <a:lnTo>
                  <a:pt x="16442" y="37505"/>
                </a:lnTo>
                <a:cubicBezTo>
                  <a:pt x="18518" y="65868"/>
                  <a:pt x="31544" y="80066"/>
                  <a:pt x="44972" y="87600"/>
                </a:cubicBezTo>
                <a:cubicBezTo>
                  <a:pt x="40150" y="75110"/>
                  <a:pt x="36165" y="58802"/>
                  <a:pt x="33989" y="37505"/>
                </a:cubicBezTo>
                <a:close/>
                <a:moveTo>
                  <a:pt x="127248" y="85993"/>
                </a:moveTo>
                <a:cubicBezTo>
                  <a:pt x="140810" y="78023"/>
                  <a:pt x="153066" y="63858"/>
                  <a:pt x="155142" y="37505"/>
                </a:cubicBezTo>
                <a:lnTo>
                  <a:pt x="137629" y="37505"/>
                </a:lnTo>
                <a:cubicBezTo>
                  <a:pt x="135553" y="57898"/>
                  <a:pt x="131802" y="73737"/>
                  <a:pt x="127248" y="85993"/>
                </a:cubicBezTo>
                <a:close/>
              </a:path>
            </a:pathLst>
          </a:custGeom>
          <a:solidFill>
            <a:srgbClr val="D8A03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 name="Text 25">
            <a:extLst>
              <a:ext uri="{FF2B5EF4-FFF2-40B4-BE49-F238E27FC236}">
                <a16:creationId xmlns:a16="http://schemas.microsoft.com/office/drawing/2014/main" id="{B081662C-3E84-9CC9-B6CE-2F22C3CD3367}"/>
              </a:ext>
            </a:extLst>
          </p:cNvPr>
          <p:cNvSpPr/>
          <p:nvPr/>
        </p:nvSpPr>
        <p:spPr>
          <a:xfrm>
            <a:off x="4400550" y="1079500"/>
            <a:ext cx="6343650" cy="266700"/>
          </a:xfrm>
          <a:prstGeom prst="rect">
            <a:avLst/>
          </a:prstGeom>
          <a:noFill/>
          <a:ln/>
        </p:spPr>
        <p:txBody>
          <a:bodyPr lIns="0" tIns="0" rIns="0" bIns="0" anchor="ctr"/>
          <a:lstStyle/>
          <a:p>
            <a:pPr eaLnBrk="1" fontAlgn="auto" hangingPunct="1">
              <a:lnSpc>
                <a:spcPct val="130000"/>
              </a:lnSpc>
              <a:spcBef>
                <a:spcPts val="0"/>
              </a:spcBef>
              <a:spcAft>
                <a:spcPts val="0"/>
              </a:spcAft>
              <a:defRPr/>
            </a:pPr>
            <a:r>
              <a:rPr lang="en-US" sz="1350" b="1" dirty="0">
                <a:solidFill>
                  <a:srgbClr val="D8A03D"/>
                </a:solidFill>
                <a:latin typeface="Liter" pitchFamily="34" charset="0"/>
                <a:ea typeface="Liter" pitchFamily="34" charset="-122"/>
                <a:cs typeface="Liter" pitchFamily="34" charset="-120"/>
              </a:rPr>
              <a:t>Interior OL Performance (Frame 25)</a:t>
            </a:r>
            <a:endParaRPr lang="en-US" sz="1600" dirty="0">
              <a:latin typeface="+mn-lt"/>
            </a:endParaRPr>
          </a:p>
        </p:txBody>
      </p:sp>
      <p:sp>
        <p:nvSpPr>
          <p:cNvPr id="11274" name="Shape 26">
            <a:extLst>
              <a:ext uri="{FF2B5EF4-FFF2-40B4-BE49-F238E27FC236}">
                <a16:creationId xmlns:a16="http://schemas.microsoft.com/office/drawing/2014/main" id="{CD671228-ED46-5E62-FAA8-83E3E1F20A00}"/>
              </a:ext>
            </a:extLst>
          </p:cNvPr>
          <p:cNvSpPr>
            <a:spLocks/>
          </p:cNvSpPr>
          <p:nvPr/>
        </p:nvSpPr>
        <p:spPr bwMode="auto">
          <a:xfrm rot="10800000">
            <a:off x="6081713" y="1376363"/>
            <a:ext cx="114300" cy="152400"/>
          </a:xfrm>
          <a:custGeom>
            <a:avLst/>
            <a:gdLst>
              <a:gd name="T0" fmla="*/ 63877 w 114300"/>
              <a:gd name="T1" fmla="*/ 5179 h 152400"/>
              <a:gd name="T2" fmla="*/ 50393 w 114300"/>
              <a:gd name="T3" fmla="*/ 5179 h 152400"/>
              <a:gd name="T4" fmla="*/ 2768 w 114300"/>
              <a:gd name="T5" fmla="*/ 52804 h 152400"/>
              <a:gd name="T6" fmla="*/ 2768 w 114300"/>
              <a:gd name="T7" fmla="*/ 66288 h 152400"/>
              <a:gd name="T8" fmla="*/ 16252 w 114300"/>
              <a:gd name="T9" fmla="*/ 66288 h 152400"/>
              <a:gd name="T10" fmla="*/ 47625 w 114300"/>
              <a:gd name="T11" fmla="*/ 34915 h 152400"/>
              <a:gd name="T12" fmla="*/ 47625 w 114300"/>
              <a:gd name="T13" fmla="*/ 145256 h 152400"/>
              <a:gd name="T14" fmla="*/ 57150 w 114300"/>
              <a:gd name="T15" fmla="*/ 154781 h 152400"/>
              <a:gd name="T16" fmla="*/ 66675 w 114300"/>
              <a:gd name="T17" fmla="*/ 145256 h 152400"/>
              <a:gd name="T18" fmla="*/ 66675 w 114300"/>
              <a:gd name="T19" fmla="*/ 34915 h 152400"/>
              <a:gd name="T20" fmla="*/ 98048 w 114300"/>
              <a:gd name="T21" fmla="*/ 66288 h 152400"/>
              <a:gd name="T22" fmla="*/ 111532 w 114300"/>
              <a:gd name="T23" fmla="*/ 66288 h 152400"/>
              <a:gd name="T24" fmla="*/ 111532 w 114300"/>
              <a:gd name="T25" fmla="*/ 52804 h 152400"/>
              <a:gd name="T26" fmla="*/ 63907 w 114300"/>
              <a:gd name="T27" fmla="*/ 5179 h 152400"/>
              <a:gd name="T28" fmla="*/ 63877 w 114300"/>
              <a:gd name="T29" fmla="*/ 5179 h 152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300" h="152400">
                <a:moveTo>
                  <a:pt x="63877" y="5179"/>
                </a:moveTo>
                <a:cubicBezTo>
                  <a:pt x="60156" y="1459"/>
                  <a:pt x="54114" y="1459"/>
                  <a:pt x="50393" y="5179"/>
                </a:cubicBezTo>
                <a:lnTo>
                  <a:pt x="2768" y="52804"/>
                </a:lnTo>
                <a:cubicBezTo>
                  <a:pt x="-952" y="56525"/>
                  <a:pt x="-952" y="62567"/>
                  <a:pt x="2768" y="66288"/>
                </a:cubicBezTo>
                <a:cubicBezTo>
                  <a:pt x="6489" y="70009"/>
                  <a:pt x="12531" y="70009"/>
                  <a:pt x="16252" y="66288"/>
                </a:cubicBezTo>
                <a:lnTo>
                  <a:pt x="47625" y="34915"/>
                </a:lnTo>
                <a:lnTo>
                  <a:pt x="47625" y="145256"/>
                </a:lnTo>
                <a:cubicBezTo>
                  <a:pt x="47625" y="150525"/>
                  <a:pt x="51881" y="154781"/>
                  <a:pt x="57150" y="154781"/>
                </a:cubicBezTo>
                <a:cubicBezTo>
                  <a:pt x="62419" y="154781"/>
                  <a:pt x="66675" y="150525"/>
                  <a:pt x="66675" y="145256"/>
                </a:cubicBezTo>
                <a:lnTo>
                  <a:pt x="66675" y="34915"/>
                </a:lnTo>
                <a:lnTo>
                  <a:pt x="98048" y="66288"/>
                </a:lnTo>
                <a:cubicBezTo>
                  <a:pt x="101769" y="70009"/>
                  <a:pt x="107811" y="70009"/>
                  <a:pt x="111532" y="66288"/>
                </a:cubicBezTo>
                <a:cubicBezTo>
                  <a:pt x="115253" y="62567"/>
                  <a:pt x="115253" y="56525"/>
                  <a:pt x="111532" y="52804"/>
                </a:cubicBezTo>
                <a:lnTo>
                  <a:pt x="63907" y="5179"/>
                </a:lnTo>
                <a:lnTo>
                  <a:pt x="63877" y="5179"/>
                </a:lnTo>
                <a:close/>
              </a:path>
            </a:pathLst>
          </a:custGeom>
          <a:solidFill>
            <a:srgbClr val="4C7E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75" name="Text 27">
            <a:extLst>
              <a:ext uri="{FF2B5EF4-FFF2-40B4-BE49-F238E27FC236}">
                <a16:creationId xmlns:a16="http://schemas.microsoft.com/office/drawing/2014/main" id="{14F74D23-84D7-F3BB-78CB-5610DBEEF571}"/>
              </a:ext>
            </a:extLst>
          </p:cNvPr>
          <p:cNvSpPr>
            <a:spLocks noChangeArrowheads="1"/>
          </p:cNvSpPr>
          <p:nvPr/>
        </p:nvSpPr>
        <p:spPr bwMode="auto">
          <a:xfrm>
            <a:off x="6245225" y="1349375"/>
            <a:ext cx="3048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4C7E9A"/>
                </a:solidFill>
                <a:latin typeface="Liter" panose="02000503030000020004" pitchFamily="2" charset="0"/>
                <a:ea typeface="Liter" panose="02000503030000020004" pitchFamily="2" charset="0"/>
                <a:cs typeface="Liter" panose="02000503030000020004" pitchFamily="2" charset="0"/>
              </a:rPr>
              <a:t>Median Depth Allowed</a:t>
            </a:r>
            <a:endParaRPr lang="en-US" altLang="en-US" sz="1000"/>
          </a:p>
        </p:txBody>
      </p:sp>
      <p:sp>
        <p:nvSpPr>
          <p:cNvPr id="11276" name="Text 4">
            <a:extLst>
              <a:ext uri="{FF2B5EF4-FFF2-40B4-BE49-F238E27FC236}">
                <a16:creationId xmlns:a16="http://schemas.microsoft.com/office/drawing/2014/main" id="{9719D4E0-3963-0027-9190-1684C4C9F88B}"/>
              </a:ext>
            </a:extLst>
          </p:cNvPr>
          <p:cNvSpPr>
            <a:spLocks noChangeArrowheads="1"/>
          </p:cNvSpPr>
          <p:nvPr/>
        </p:nvSpPr>
        <p:spPr bwMode="auto">
          <a:xfrm>
            <a:off x="590550" y="1520825"/>
            <a:ext cx="2951163" cy="168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200">
                <a:solidFill>
                  <a:srgbClr val="DEE0E4"/>
                </a:solidFill>
                <a:latin typeface="Quattrocento Sans" panose="020B0502050000020003" pitchFamily="34" charset="0"/>
              </a:rPr>
              <a:t>In 2025, </a:t>
            </a:r>
            <a:r>
              <a:rPr lang="en-US" altLang="en-US" sz="1200">
                <a:solidFill>
                  <a:srgbClr val="DEE0E4"/>
                </a:solidFill>
                <a:latin typeface="Quattrocento Sans" panose="020B0502050000020003" pitchFamily="34" charset="0"/>
                <a:hlinkClick r:id="rId3"/>
              </a:rPr>
              <a:t>the median time to throw for NFL quarterbacks was about 2.68 seconds</a:t>
            </a:r>
            <a:r>
              <a:rPr lang="en-US" altLang="en-US" sz="1200">
                <a:solidFill>
                  <a:srgbClr val="DEE0E4"/>
                </a:solidFill>
                <a:latin typeface="Quattrocento Sans" panose="020B0502050000020003" pitchFamily="34" charset="0"/>
              </a:rPr>
              <a:t>. Next Gen Stats has previously defined a "quick pressure" as </a:t>
            </a:r>
            <a:r>
              <a:rPr lang="en-US" altLang="en-US" sz="1200">
                <a:solidFill>
                  <a:srgbClr val="DEE0E4"/>
                </a:solidFill>
                <a:latin typeface="Quattrocento Sans" panose="020B0502050000020003" pitchFamily="34" charset="0"/>
                <a:hlinkClick r:id="rId4"/>
              </a:rPr>
              <a:t>a pressure occurring within the first 2.5 seconds of a play</a:t>
            </a:r>
            <a:r>
              <a:rPr lang="en-US" altLang="en-US" sz="1200">
                <a:solidFill>
                  <a:srgbClr val="DEE0E4"/>
                </a:solidFill>
                <a:latin typeface="Quattrocento Sans" panose="020B0502050000020003" pitchFamily="34" charset="0"/>
              </a:rPr>
              <a:t> and has said the average pressure occurred within 2.9 seconds. Likewise, ESPN Analytics' pass rush win rate metric quantifies "</a:t>
            </a:r>
            <a:r>
              <a:rPr lang="en-US" altLang="en-US" sz="1200">
                <a:solidFill>
                  <a:srgbClr val="DEE0E4"/>
                </a:solidFill>
                <a:latin typeface="Quattrocento Sans" panose="020B0502050000020003" pitchFamily="34" charset="0"/>
                <a:hlinkClick r:id="rId5"/>
              </a:rPr>
              <a:t>how often a pass rusher is able to beat his block within 2.5 seconds</a:t>
            </a:r>
            <a:r>
              <a:rPr lang="en-US" altLang="en-US" sz="1200">
                <a:solidFill>
                  <a:srgbClr val="DEE0E4"/>
                </a:solidFill>
                <a:latin typeface="Quattrocento Sans" panose="020B0502050000020003" pitchFamily="34" charset="0"/>
              </a:rPr>
              <a:t>". As such, frame 25 is a reasonable time at which to evaluate the depth gained by the defensive lineman. </a:t>
            </a:r>
          </a:p>
        </p:txBody>
      </p:sp>
      <p:sp>
        <p:nvSpPr>
          <p:cNvPr id="77" name="Text 4">
            <a:extLst>
              <a:ext uri="{FF2B5EF4-FFF2-40B4-BE49-F238E27FC236}">
                <a16:creationId xmlns:a16="http://schemas.microsoft.com/office/drawing/2014/main" id="{68BF14FA-4901-290E-0C5E-6035BC6AD4E2}"/>
              </a:ext>
            </a:extLst>
          </p:cNvPr>
          <p:cNvSpPr/>
          <p:nvPr/>
        </p:nvSpPr>
        <p:spPr>
          <a:xfrm>
            <a:off x="782638" y="3838575"/>
            <a:ext cx="2759075" cy="504825"/>
          </a:xfrm>
          <a:prstGeom prst="rect">
            <a:avLst/>
          </a:prstGeom>
          <a:noFill/>
          <a:ln/>
        </p:spPr>
        <p:txBody>
          <a:bodyPr lIns="0" tIns="0" rIns="0" bIns="0" anchor="ctr"/>
          <a:lstStyle/>
          <a:p>
            <a:pPr eaLnBrk="1" fontAlgn="auto" hangingPunct="1">
              <a:spcBef>
                <a:spcPts val="0"/>
              </a:spcBef>
              <a:spcAft>
                <a:spcPts val="0"/>
              </a:spcAft>
              <a:defRPr/>
            </a:pPr>
            <a:r>
              <a:rPr lang="en-US" sz="1350" b="1" dirty="0">
                <a:solidFill>
                  <a:srgbClr val="4C7E9A"/>
                </a:solidFill>
                <a:latin typeface="Liter" pitchFamily="34" charset="0"/>
                <a:ea typeface="Liter" pitchFamily="34" charset="-122"/>
                <a:cs typeface="Liter" pitchFamily="34" charset="-120"/>
              </a:rPr>
              <a:t>Why depth allowed (or gained) by the DL?</a:t>
            </a:r>
            <a:endParaRPr lang="en-US" sz="1600" dirty="0">
              <a:latin typeface="+mn-lt"/>
            </a:endParaRPr>
          </a:p>
        </p:txBody>
      </p:sp>
      <p:sp>
        <p:nvSpPr>
          <p:cNvPr id="11278" name="Text 4">
            <a:extLst>
              <a:ext uri="{FF2B5EF4-FFF2-40B4-BE49-F238E27FC236}">
                <a16:creationId xmlns:a16="http://schemas.microsoft.com/office/drawing/2014/main" id="{0054620E-C82B-69F9-41EE-F36C45FCC28C}"/>
              </a:ext>
            </a:extLst>
          </p:cNvPr>
          <p:cNvSpPr>
            <a:spLocks noChangeArrowheads="1"/>
          </p:cNvSpPr>
          <p:nvPr/>
        </p:nvSpPr>
        <p:spPr bwMode="auto">
          <a:xfrm>
            <a:off x="573088" y="4381500"/>
            <a:ext cx="3011487"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200">
                <a:solidFill>
                  <a:srgbClr val="DEE0E4"/>
                </a:solidFill>
                <a:latin typeface="Quattrocento Sans" panose="020B0502050000020003" pitchFamily="34" charset="0"/>
              </a:rPr>
              <a:t>The basic idea is that depth penetration (x-axis) at 2.5 seconds is a potential proxy for whether the interior DL beat his block, walked the OL back, gained a negligible amount of depth, or stalled out. In turn, interior OL can be evaluated by examining how much depth they allowed the DL to gain. Using one axis avoids over-crediting lateral movement.</a:t>
            </a:r>
          </a:p>
        </p:txBody>
      </p:sp>
      <p:pic>
        <p:nvPicPr>
          <p:cNvPr id="80" name="Graphic 79" descr="Badge Question Mark with solid fill">
            <a:extLst>
              <a:ext uri="{FF2B5EF4-FFF2-40B4-BE49-F238E27FC236}">
                <a16:creationId xmlns:a16="http://schemas.microsoft.com/office/drawing/2014/main" id="{F658C472-81F0-80C0-3620-64EFAE6CDCD1}"/>
              </a:ext>
            </a:extLst>
          </p:cNvPr>
          <p:cNvPicPr>
            <a:picLocks noChangeAspect="1"/>
          </p:cNvPicPr>
          <p:nvPr/>
        </p:nvPicPr>
        <p:blipFill>
          <a:blip r:embed="rId6"/>
          <a:stretch>
            <a:fillRect/>
          </a:stretch>
        </p:blipFill>
        <p:spPr>
          <a:xfrm>
            <a:off x="531813" y="3873500"/>
            <a:ext cx="233362" cy="234950"/>
          </a:xfrm>
          <a:prstGeom prst="rect">
            <a:avLst/>
          </a:prstGeom>
        </p:spPr>
      </p:pic>
      <p:sp>
        <p:nvSpPr>
          <p:cNvPr id="11280" name="Text 27">
            <a:extLst>
              <a:ext uri="{FF2B5EF4-FFF2-40B4-BE49-F238E27FC236}">
                <a16:creationId xmlns:a16="http://schemas.microsoft.com/office/drawing/2014/main" id="{6D2BB93C-74C2-18DA-C0FB-94E751B76CC5}"/>
              </a:ext>
            </a:extLst>
          </p:cNvPr>
          <p:cNvSpPr>
            <a:spLocks noChangeArrowheads="1"/>
          </p:cNvSpPr>
          <p:nvPr/>
        </p:nvSpPr>
        <p:spPr bwMode="auto">
          <a:xfrm>
            <a:off x="4443413" y="1354138"/>
            <a:ext cx="3048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4C7E9A"/>
                </a:solidFill>
                <a:latin typeface="Liter" panose="02000503030000020004" pitchFamily="2" charset="0"/>
                <a:ea typeface="Liter" panose="02000503030000020004" pitchFamily="2" charset="0"/>
                <a:cs typeface="Liter" panose="02000503030000020004" pitchFamily="2" charset="0"/>
              </a:rPr>
              <a:t>Player</a:t>
            </a:r>
            <a:endParaRPr lang="en-US" altLang="en-US" sz="1000"/>
          </a:p>
        </p:txBody>
      </p:sp>
      <p:sp>
        <p:nvSpPr>
          <p:cNvPr id="11281" name="Text 27">
            <a:extLst>
              <a:ext uri="{FF2B5EF4-FFF2-40B4-BE49-F238E27FC236}">
                <a16:creationId xmlns:a16="http://schemas.microsoft.com/office/drawing/2014/main" id="{F5C220C5-D441-6089-B1ED-C6D054A83A28}"/>
              </a:ext>
            </a:extLst>
          </p:cNvPr>
          <p:cNvSpPr>
            <a:spLocks noChangeArrowheads="1"/>
          </p:cNvSpPr>
          <p:nvPr/>
        </p:nvSpPr>
        <p:spPr bwMode="auto">
          <a:xfrm>
            <a:off x="8051800" y="1387475"/>
            <a:ext cx="140176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4C7E9A"/>
                </a:solidFill>
                <a:latin typeface="Liter" panose="02000503030000020004" pitchFamily="2" charset="0"/>
                <a:ea typeface="Liter" panose="02000503030000020004" pitchFamily="2" charset="0"/>
                <a:cs typeface="Liter" panose="02000503030000020004" pitchFamily="2" charset="0"/>
              </a:rPr>
              <a:t>Draft Outcome</a:t>
            </a:r>
            <a:endParaRPr lang="en-US" altLang="en-US" sz="1000"/>
          </a:p>
        </p:txBody>
      </p:sp>
      <p:sp>
        <p:nvSpPr>
          <p:cNvPr id="11282" name="Text 27">
            <a:extLst>
              <a:ext uri="{FF2B5EF4-FFF2-40B4-BE49-F238E27FC236}">
                <a16:creationId xmlns:a16="http://schemas.microsoft.com/office/drawing/2014/main" id="{E7B80DD3-76A2-B78E-529E-0C31F95CC7E7}"/>
              </a:ext>
            </a:extLst>
          </p:cNvPr>
          <p:cNvSpPr>
            <a:spLocks noChangeArrowheads="1"/>
          </p:cNvSpPr>
          <p:nvPr/>
        </p:nvSpPr>
        <p:spPr bwMode="auto">
          <a:xfrm>
            <a:off x="9578975" y="1385888"/>
            <a:ext cx="17145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4C7E9A"/>
                </a:solidFill>
                <a:latin typeface="Liter" panose="02000503030000020004" pitchFamily="2" charset="0"/>
                <a:ea typeface="Liter" panose="02000503030000020004" pitchFamily="2" charset="0"/>
                <a:cs typeface="Liter" panose="02000503030000020004" pitchFamily="2" charset="0"/>
              </a:rPr>
              <a:t>NFL Outcome (2 years)</a:t>
            </a:r>
          </a:p>
          <a:p>
            <a:pPr eaLnBrk="1" hangingPunct="1">
              <a:lnSpc>
                <a:spcPct val="130000"/>
              </a:lnSpc>
            </a:pPr>
            <a:endParaRPr lang="en-US" altLang="en-US" sz="1000"/>
          </a:p>
        </p:txBody>
      </p:sp>
      <p:sp>
        <p:nvSpPr>
          <p:cNvPr id="187" name="Rectangle 186">
            <a:extLst>
              <a:ext uri="{FF2B5EF4-FFF2-40B4-BE49-F238E27FC236}">
                <a16:creationId xmlns:a16="http://schemas.microsoft.com/office/drawing/2014/main" id="{C285978B-D96A-5C2D-193C-056B23BEC4EA}"/>
              </a:ext>
            </a:extLst>
          </p:cNvPr>
          <p:cNvSpPr/>
          <p:nvPr/>
        </p:nvSpPr>
        <p:spPr>
          <a:xfrm>
            <a:off x="4443413" y="1628775"/>
            <a:ext cx="7254875" cy="5040313"/>
          </a:xfrm>
          <a:prstGeom prst="rect">
            <a:avLst/>
          </a:prstGeom>
          <a:solidFill>
            <a:srgbClr val="11131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284" name="Text 29">
            <a:extLst>
              <a:ext uri="{FF2B5EF4-FFF2-40B4-BE49-F238E27FC236}">
                <a16:creationId xmlns:a16="http://schemas.microsoft.com/office/drawing/2014/main" id="{F78968A9-2EE1-7733-CEDB-68AD1DAF80C2}"/>
              </a:ext>
            </a:extLst>
          </p:cNvPr>
          <p:cNvSpPr>
            <a:spLocks noChangeArrowheads="1"/>
          </p:cNvSpPr>
          <p:nvPr/>
        </p:nvSpPr>
        <p:spPr bwMode="auto">
          <a:xfrm>
            <a:off x="4518025" y="1592263"/>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Mason McCormick</a:t>
            </a:r>
            <a:endParaRPr lang="en-US" altLang="en-US" sz="1000"/>
          </a:p>
        </p:txBody>
      </p:sp>
      <p:sp>
        <p:nvSpPr>
          <p:cNvPr id="189" name="Text 30">
            <a:extLst>
              <a:ext uri="{FF2B5EF4-FFF2-40B4-BE49-F238E27FC236}">
                <a16:creationId xmlns:a16="http://schemas.microsoft.com/office/drawing/2014/main" id="{1839FB49-F5B3-B813-55EA-99BAC789E656}"/>
              </a:ext>
            </a:extLst>
          </p:cNvPr>
          <p:cNvSpPr/>
          <p:nvPr/>
        </p:nvSpPr>
        <p:spPr>
          <a:xfrm>
            <a:off x="4542382" y="1795320"/>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4 reps</a:t>
            </a:r>
            <a:endParaRPr lang="en-US" sz="1000" dirty="0">
              <a:latin typeface="+mn-lt"/>
            </a:endParaRPr>
          </a:p>
        </p:txBody>
      </p:sp>
      <p:sp>
        <p:nvSpPr>
          <p:cNvPr id="11286" name="Text 31">
            <a:extLst>
              <a:ext uri="{FF2B5EF4-FFF2-40B4-BE49-F238E27FC236}">
                <a16:creationId xmlns:a16="http://schemas.microsoft.com/office/drawing/2014/main" id="{60F7205F-4E43-6B89-7357-0D7A8D63AEC2}"/>
              </a:ext>
            </a:extLst>
          </p:cNvPr>
          <p:cNvSpPr>
            <a:spLocks noChangeArrowheads="1"/>
          </p:cNvSpPr>
          <p:nvPr/>
        </p:nvSpPr>
        <p:spPr bwMode="auto">
          <a:xfrm>
            <a:off x="6132513" y="1600200"/>
            <a:ext cx="1652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2.38 yards</a:t>
            </a:r>
            <a:endParaRPr lang="en-US" altLang="en-US" sz="1000"/>
          </a:p>
        </p:txBody>
      </p:sp>
      <p:sp>
        <p:nvSpPr>
          <p:cNvPr id="11287" name="Text 31">
            <a:extLst>
              <a:ext uri="{FF2B5EF4-FFF2-40B4-BE49-F238E27FC236}">
                <a16:creationId xmlns:a16="http://schemas.microsoft.com/office/drawing/2014/main" id="{FCCBB5A2-A965-4CB2-931C-0D99F3D28B9F}"/>
              </a:ext>
            </a:extLst>
          </p:cNvPr>
          <p:cNvSpPr>
            <a:spLocks noChangeArrowheads="1"/>
          </p:cNvSpPr>
          <p:nvPr/>
        </p:nvSpPr>
        <p:spPr bwMode="auto">
          <a:xfrm>
            <a:off x="8085138" y="1585913"/>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4</a:t>
            </a:r>
            <a:r>
              <a:rPr lang="en-US" altLang="en-US" sz="1000" b="1" baseline="30000">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th</a:t>
            </a: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 round</a:t>
            </a:r>
            <a:endParaRPr lang="en-US" altLang="en-US" sz="1000"/>
          </a:p>
        </p:txBody>
      </p:sp>
      <p:sp>
        <p:nvSpPr>
          <p:cNvPr id="11288" name="Text 31">
            <a:extLst>
              <a:ext uri="{FF2B5EF4-FFF2-40B4-BE49-F238E27FC236}">
                <a16:creationId xmlns:a16="http://schemas.microsoft.com/office/drawing/2014/main" id="{5ACD30E1-AABF-1046-5B3D-1B85A7C0A7D9}"/>
              </a:ext>
            </a:extLst>
          </p:cNvPr>
          <p:cNvSpPr>
            <a:spLocks noChangeArrowheads="1"/>
          </p:cNvSpPr>
          <p:nvPr/>
        </p:nvSpPr>
        <p:spPr bwMode="auto">
          <a:xfrm>
            <a:off x="9594850" y="1685925"/>
            <a:ext cx="165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31 games started, 34 games played</a:t>
            </a:r>
            <a:endParaRPr lang="en-US" altLang="en-US" sz="1000"/>
          </a:p>
        </p:txBody>
      </p:sp>
      <p:sp>
        <p:nvSpPr>
          <p:cNvPr id="11289" name="Text 29">
            <a:extLst>
              <a:ext uri="{FF2B5EF4-FFF2-40B4-BE49-F238E27FC236}">
                <a16:creationId xmlns:a16="http://schemas.microsoft.com/office/drawing/2014/main" id="{DCA68B27-9115-4E0A-ADEE-84FEA6A84565}"/>
              </a:ext>
            </a:extLst>
          </p:cNvPr>
          <p:cNvSpPr>
            <a:spLocks noChangeArrowheads="1"/>
          </p:cNvSpPr>
          <p:nvPr/>
        </p:nvSpPr>
        <p:spPr bwMode="auto">
          <a:xfrm>
            <a:off x="4506913" y="2025650"/>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Dylan McMahon</a:t>
            </a:r>
            <a:endParaRPr lang="en-US" altLang="en-US" sz="1000"/>
          </a:p>
        </p:txBody>
      </p:sp>
      <p:sp>
        <p:nvSpPr>
          <p:cNvPr id="194" name="Text 30">
            <a:extLst>
              <a:ext uri="{FF2B5EF4-FFF2-40B4-BE49-F238E27FC236}">
                <a16:creationId xmlns:a16="http://schemas.microsoft.com/office/drawing/2014/main" id="{34E9D374-CAD0-51EB-45A1-F0349BCA7EF4}"/>
              </a:ext>
            </a:extLst>
          </p:cNvPr>
          <p:cNvSpPr/>
          <p:nvPr/>
        </p:nvSpPr>
        <p:spPr>
          <a:xfrm>
            <a:off x="4530190" y="2228975"/>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5 reps</a:t>
            </a:r>
            <a:endParaRPr lang="en-US" sz="1000" dirty="0">
              <a:latin typeface="+mn-lt"/>
            </a:endParaRPr>
          </a:p>
        </p:txBody>
      </p:sp>
      <p:sp>
        <p:nvSpPr>
          <p:cNvPr id="11291" name="Text 31">
            <a:extLst>
              <a:ext uri="{FF2B5EF4-FFF2-40B4-BE49-F238E27FC236}">
                <a16:creationId xmlns:a16="http://schemas.microsoft.com/office/drawing/2014/main" id="{773E0316-1CB8-F057-4152-6F3ADEDD1920}"/>
              </a:ext>
            </a:extLst>
          </p:cNvPr>
          <p:cNvSpPr>
            <a:spLocks noChangeArrowheads="1"/>
          </p:cNvSpPr>
          <p:nvPr/>
        </p:nvSpPr>
        <p:spPr bwMode="auto">
          <a:xfrm>
            <a:off x="6121400" y="2033588"/>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3.02 yards</a:t>
            </a:r>
            <a:endParaRPr lang="en-US" altLang="en-US" sz="1000"/>
          </a:p>
        </p:txBody>
      </p:sp>
      <p:sp>
        <p:nvSpPr>
          <p:cNvPr id="11292" name="Text 31">
            <a:extLst>
              <a:ext uri="{FF2B5EF4-FFF2-40B4-BE49-F238E27FC236}">
                <a16:creationId xmlns:a16="http://schemas.microsoft.com/office/drawing/2014/main" id="{890EE661-79CC-EC90-10A7-79024C63FEF2}"/>
              </a:ext>
            </a:extLst>
          </p:cNvPr>
          <p:cNvSpPr>
            <a:spLocks noChangeArrowheads="1"/>
          </p:cNvSpPr>
          <p:nvPr/>
        </p:nvSpPr>
        <p:spPr bwMode="auto">
          <a:xfrm>
            <a:off x="8072438" y="2019300"/>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6</a:t>
            </a:r>
            <a:r>
              <a:rPr lang="en-US" altLang="en-US" sz="1000" b="1" baseline="30000">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th</a:t>
            </a: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 round</a:t>
            </a:r>
            <a:endParaRPr lang="en-US" altLang="en-US" sz="1000"/>
          </a:p>
        </p:txBody>
      </p:sp>
      <p:sp>
        <p:nvSpPr>
          <p:cNvPr id="11293" name="Text 31">
            <a:extLst>
              <a:ext uri="{FF2B5EF4-FFF2-40B4-BE49-F238E27FC236}">
                <a16:creationId xmlns:a16="http://schemas.microsoft.com/office/drawing/2014/main" id="{D9119F3C-F3B9-D15C-71B9-420D0C048932}"/>
              </a:ext>
            </a:extLst>
          </p:cNvPr>
          <p:cNvSpPr>
            <a:spLocks noChangeArrowheads="1"/>
          </p:cNvSpPr>
          <p:nvPr/>
        </p:nvSpPr>
        <p:spPr bwMode="auto">
          <a:xfrm>
            <a:off x="9582150" y="2020888"/>
            <a:ext cx="165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1 game started, 1 game played</a:t>
            </a:r>
            <a:endParaRPr lang="en-US" altLang="en-US" sz="1000"/>
          </a:p>
        </p:txBody>
      </p:sp>
      <p:sp>
        <p:nvSpPr>
          <p:cNvPr id="11294" name="Text 29">
            <a:extLst>
              <a:ext uri="{FF2B5EF4-FFF2-40B4-BE49-F238E27FC236}">
                <a16:creationId xmlns:a16="http://schemas.microsoft.com/office/drawing/2014/main" id="{5A145D3E-1E1D-B94D-A1A7-A20ACA195E48}"/>
              </a:ext>
            </a:extLst>
          </p:cNvPr>
          <p:cNvSpPr>
            <a:spLocks noChangeArrowheads="1"/>
          </p:cNvSpPr>
          <p:nvPr/>
        </p:nvSpPr>
        <p:spPr bwMode="auto">
          <a:xfrm>
            <a:off x="4518025" y="2451100"/>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Kaitori Leveston</a:t>
            </a:r>
            <a:endParaRPr lang="en-US" altLang="en-US" sz="1000"/>
          </a:p>
        </p:txBody>
      </p:sp>
      <p:sp>
        <p:nvSpPr>
          <p:cNvPr id="199" name="Text 30">
            <a:extLst>
              <a:ext uri="{FF2B5EF4-FFF2-40B4-BE49-F238E27FC236}">
                <a16:creationId xmlns:a16="http://schemas.microsoft.com/office/drawing/2014/main" id="{E153A72C-86A0-39CA-6609-BB9252D3E4D4}"/>
              </a:ext>
            </a:extLst>
          </p:cNvPr>
          <p:cNvSpPr/>
          <p:nvPr/>
        </p:nvSpPr>
        <p:spPr>
          <a:xfrm>
            <a:off x="4541913" y="2653126"/>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4 reps</a:t>
            </a:r>
            <a:endParaRPr lang="en-US" sz="1000" dirty="0">
              <a:latin typeface="+mn-lt"/>
            </a:endParaRPr>
          </a:p>
        </p:txBody>
      </p:sp>
      <p:sp>
        <p:nvSpPr>
          <p:cNvPr id="11296" name="Text 31">
            <a:extLst>
              <a:ext uri="{FF2B5EF4-FFF2-40B4-BE49-F238E27FC236}">
                <a16:creationId xmlns:a16="http://schemas.microsoft.com/office/drawing/2014/main" id="{5378739D-AD8A-F38B-842E-D95B8503F696}"/>
              </a:ext>
            </a:extLst>
          </p:cNvPr>
          <p:cNvSpPr>
            <a:spLocks noChangeArrowheads="1"/>
          </p:cNvSpPr>
          <p:nvPr/>
        </p:nvSpPr>
        <p:spPr bwMode="auto">
          <a:xfrm>
            <a:off x="6132513" y="2457450"/>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3.09 yards</a:t>
            </a:r>
            <a:endParaRPr lang="en-US" altLang="en-US" sz="1000"/>
          </a:p>
        </p:txBody>
      </p:sp>
      <p:sp>
        <p:nvSpPr>
          <p:cNvPr id="11297" name="Text 31">
            <a:extLst>
              <a:ext uri="{FF2B5EF4-FFF2-40B4-BE49-F238E27FC236}">
                <a16:creationId xmlns:a16="http://schemas.microsoft.com/office/drawing/2014/main" id="{EFEE9B3C-9916-08BB-EFEF-62EFB6D24D56}"/>
              </a:ext>
            </a:extLst>
          </p:cNvPr>
          <p:cNvSpPr>
            <a:spLocks noChangeArrowheads="1"/>
          </p:cNvSpPr>
          <p:nvPr/>
        </p:nvSpPr>
        <p:spPr bwMode="auto">
          <a:xfrm>
            <a:off x="8083550" y="2443163"/>
            <a:ext cx="165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7</a:t>
            </a:r>
            <a:r>
              <a:rPr lang="en-US" altLang="en-US" sz="1000" b="1" baseline="30000">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th</a:t>
            </a: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 round</a:t>
            </a:r>
            <a:endParaRPr lang="en-US" altLang="en-US" sz="1000"/>
          </a:p>
        </p:txBody>
      </p:sp>
      <p:sp>
        <p:nvSpPr>
          <p:cNvPr id="11298" name="Text 31">
            <a:extLst>
              <a:ext uri="{FF2B5EF4-FFF2-40B4-BE49-F238E27FC236}">
                <a16:creationId xmlns:a16="http://schemas.microsoft.com/office/drawing/2014/main" id="{DED5AA5D-DDE6-55CB-E8B2-369A06E6DBDD}"/>
              </a:ext>
            </a:extLst>
          </p:cNvPr>
          <p:cNvSpPr>
            <a:spLocks noChangeArrowheads="1"/>
          </p:cNvSpPr>
          <p:nvPr/>
        </p:nvSpPr>
        <p:spPr bwMode="auto">
          <a:xfrm>
            <a:off x="9594850" y="2446338"/>
            <a:ext cx="2006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7 games started, 16 games played (switched to tackle)</a:t>
            </a:r>
            <a:endParaRPr lang="en-US" altLang="en-US" sz="1000"/>
          </a:p>
        </p:txBody>
      </p:sp>
      <p:sp>
        <p:nvSpPr>
          <p:cNvPr id="11299" name="Text 29">
            <a:extLst>
              <a:ext uri="{FF2B5EF4-FFF2-40B4-BE49-F238E27FC236}">
                <a16:creationId xmlns:a16="http://schemas.microsoft.com/office/drawing/2014/main" id="{8FCED885-C725-0D11-17D7-19BBB6D1DA4A}"/>
              </a:ext>
            </a:extLst>
          </p:cNvPr>
          <p:cNvSpPr>
            <a:spLocks noChangeArrowheads="1"/>
          </p:cNvSpPr>
          <p:nvPr/>
        </p:nvSpPr>
        <p:spPr bwMode="auto">
          <a:xfrm>
            <a:off x="4519613" y="2865438"/>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Christian Mahogany</a:t>
            </a:r>
            <a:endParaRPr lang="en-US" altLang="en-US" sz="1000"/>
          </a:p>
        </p:txBody>
      </p:sp>
      <p:sp>
        <p:nvSpPr>
          <p:cNvPr id="204" name="Text 30">
            <a:extLst>
              <a:ext uri="{FF2B5EF4-FFF2-40B4-BE49-F238E27FC236}">
                <a16:creationId xmlns:a16="http://schemas.microsoft.com/office/drawing/2014/main" id="{E78A3E08-7A90-9981-2EFE-D134196C2EB4}"/>
              </a:ext>
            </a:extLst>
          </p:cNvPr>
          <p:cNvSpPr/>
          <p:nvPr/>
        </p:nvSpPr>
        <p:spPr>
          <a:xfrm>
            <a:off x="4543529" y="3068379"/>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4 reps</a:t>
            </a:r>
            <a:endParaRPr lang="en-US" sz="1000" dirty="0">
              <a:latin typeface="+mn-lt"/>
            </a:endParaRPr>
          </a:p>
        </p:txBody>
      </p:sp>
      <p:sp>
        <p:nvSpPr>
          <p:cNvPr id="11301" name="Text 31">
            <a:extLst>
              <a:ext uri="{FF2B5EF4-FFF2-40B4-BE49-F238E27FC236}">
                <a16:creationId xmlns:a16="http://schemas.microsoft.com/office/drawing/2014/main" id="{E3A59D95-E8D7-D7CF-7B79-E1B8A67895D5}"/>
              </a:ext>
            </a:extLst>
          </p:cNvPr>
          <p:cNvSpPr>
            <a:spLocks noChangeArrowheads="1"/>
          </p:cNvSpPr>
          <p:nvPr/>
        </p:nvSpPr>
        <p:spPr bwMode="auto">
          <a:xfrm>
            <a:off x="6134100" y="2873375"/>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3.22 yards</a:t>
            </a:r>
            <a:endParaRPr lang="en-US" altLang="en-US" sz="1000"/>
          </a:p>
        </p:txBody>
      </p:sp>
      <p:sp>
        <p:nvSpPr>
          <p:cNvPr id="11302" name="Text 31">
            <a:extLst>
              <a:ext uri="{FF2B5EF4-FFF2-40B4-BE49-F238E27FC236}">
                <a16:creationId xmlns:a16="http://schemas.microsoft.com/office/drawing/2014/main" id="{83744809-C373-75D2-E9B2-66C2D119FA2D}"/>
              </a:ext>
            </a:extLst>
          </p:cNvPr>
          <p:cNvSpPr>
            <a:spLocks noChangeArrowheads="1"/>
          </p:cNvSpPr>
          <p:nvPr/>
        </p:nvSpPr>
        <p:spPr bwMode="auto">
          <a:xfrm>
            <a:off x="8085138" y="2859088"/>
            <a:ext cx="1652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6</a:t>
            </a:r>
            <a:r>
              <a:rPr lang="en-US" altLang="en-US" sz="1000" b="1" baseline="30000">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th</a:t>
            </a: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 round</a:t>
            </a:r>
            <a:endParaRPr lang="en-US" altLang="en-US" sz="1000"/>
          </a:p>
        </p:txBody>
      </p:sp>
      <p:sp>
        <p:nvSpPr>
          <p:cNvPr id="11303" name="Text 31">
            <a:extLst>
              <a:ext uri="{FF2B5EF4-FFF2-40B4-BE49-F238E27FC236}">
                <a16:creationId xmlns:a16="http://schemas.microsoft.com/office/drawing/2014/main" id="{0D4E91D6-1256-3C95-0D2F-99FF139BAA20}"/>
              </a:ext>
            </a:extLst>
          </p:cNvPr>
          <p:cNvSpPr>
            <a:spLocks noChangeArrowheads="1"/>
          </p:cNvSpPr>
          <p:nvPr/>
        </p:nvSpPr>
        <p:spPr bwMode="auto">
          <a:xfrm>
            <a:off x="9596438" y="2860675"/>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12 games started, 18 games played</a:t>
            </a:r>
            <a:endParaRPr lang="en-US" altLang="en-US" sz="1000"/>
          </a:p>
        </p:txBody>
      </p:sp>
      <p:sp>
        <p:nvSpPr>
          <p:cNvPr id="11304" name="Text 29">
            <a:extLst>
              <a:ext uri="{FF2B5EF4-FFF2-40B4-BE49-F238E27FC236}">
                <a16:creationId xmlns:a16="http://schemas.microsoft.com/office/drawing/2014/main" id="{F864D559-EC11-6370-E320-8427EFFE8385}"/>
              </a:ext>
            </a:extLst>
          </p:cNvPr>
          <p:cNvSpPr>
            <a:spLocks noChangeArrowheads="1"/>
          </p:cNvSpPr>
          <p:nvPr/>
        </p:nvSpPr>
        <p:spPr bwMode="auto">
          <a:xfrm>
            <a:off x="4506913" y="3298825"/>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Hunter Nourzad</a:t>
            </a:r>
            <a:endParaRPr lang="en-US" altLang="en-US" sz="1000"/>
          </a:p>
        </p:txBody>
      </p:sp>
      <p:sp>
        <p:nvSpPr>
          <p:cNvPr id="209" name="Text 30">
            <a:extLst>
              <a:ext uri="{FF2B5EF4-FFF2-40B4-BE49-F238E27FC236}">
                <a16:creationId xmlns:a16="http://schemas.microsoft.com/office/drawing/2014/main" id="{E148C928-EFDA-3E00-833B-85725603E38F}"/>
              </a:ext>
            </a:extLst>
          </p:cNvPr>
          <p:cNvSpPr/>
          <p:nvPr/>
        </p:nvSpPr>
        <p:spPr>
          <a:xfrm>
            <a:off x="4531337" y="3502034"/>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4 reps</a:t>
            </a:r>
            <a:endParaRPr lang="en-US" sz="1000" dirty="0">
              <a:latin typeface="+mn-lt"/>
            </a:endParaRPr>
          </a:p>
        </p:txBody>
      </p:sp>
      <p:sp>
        <p:nvSpPr>
          <p:cNvPr id="11306" name="Text 31">
            <a:extLst>
              <a:ext uri="{FF2B5EF4-FFF2-40B4-BE49-F238E27FC236}">
                <a16:creationId xmlns:a16="http://schemas.microsoft.com/office/drawing/2014/main" id="{BFA86D34-4D22-369E-36CB-57D825971D69}"/>
              </a:ext>
            </a:extLst>
          </p:cNvPr>
          <p:cNvSpPr>
            <a:spLocks noChangeArrowheads="1"/>
          </p:cNvSpPr>
          <p:nvPr/>
        </p:nvSpPr>
        <p:spPr bwMode="auto">
          <a:xfrm>
            <a:off x="6121400" y="3306763"/>
            <a:ext cx="165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3.38 yards</a:t>
            </a:r>
            <a:endParaRPr lang="en-US" altLang="en-US" sz="1000"/>
          </a:p>
        </p:txBody>
      </p:sp>
      <p:sp>
        <p:nvSpPr>
          <p:cNvPr id="11307" name="Text 31">
            <a:extLst>
              <a:ext uri="{FF2B5EF4-FFF2-40B4-BE49-F238E27FC236}">
                <a16:creationId xmlns:a16="http://schemas.microsoft.com/office/drawing/2014/main" id="{0C079D23-B8A6-37DB-79BF-9708E569652C}"/>
              </a:ext>
            </a:extLst>
          </p:cNvPr>
          <p:cNvSpPr>
            <a:spLocks noChangeArrowheads="1"/>
          </p:cNvSpPr>
          <p:nvPr/>
        </p:nvSpPr>
        <p:spPr bwMode="auto">
          <a:xfrm>
            <a:off x="8074025" y="3292475"/>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5</a:t>
            </a:r>
            <a:r>
              <a:rPr lang="en-US" altLang="en-US" sz="1000" b="1" baseline="30000">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th</a:t>
            </a: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 round</a:t>
            </a:r>
            <a:endParaRPr lang="en-US" altLang="en-US" sz="1000"/>
          </a:p>
        </p:txBody>
      </p:sp>
      <p:sp>
        <p:nvSpPr>
          <p:cNvPr id="11308" name="Text 31">
            <a:extLst>
              <a:ext uri="{FF2B5EF4-FFF2-40B4-BE49-F238E27FC236}">
                <a16:creationId xmlns:a16="http://schemas.microsoft.com/office/drawing/2014/main" id="{8CE2778C-4CB1-EE8F-CFD2-387787E48D64}"/>
              </a:ext>
            </a:extLst>
          </p:cNvPr>
          <p:cNvSpPr>
            <a:spLocks noChangeArrowheads="1"/>
          </p:cNvSpPr>
          <p:nvPr/>
        </p:nvSpPr>
        <p:spPr bwMode="auto">
          <a:xfrm>
            <a:off x="9583738" y="3294063"/>
            <a:ext cx="1652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0 games started, 28 games played</a:t>
            </a:r>
            <a:endParaRPr lang="en-US" altLang="en-US" sz="1000"/>
          </a:p>
        </p:txBody>
      </p:sp>
      <p:sp>
        <p:nvSpPr>
          <p:cNvPr id="11309" name="Text 29">
            <a:extLst>
              <a:ext uri="{FF2B5EF4-FFF2-40B4-BE49-F238E27FC236}">
                <a16:creationId xmlns:a16="http://schemas.microsoft.com/office/drawing/2014/main" id="{39BB9F1D-1B98-0B79-2945-802CA08D1064}"/>
              </a:ext>
            </a:extLst>
          </p:cNvPr>
          <p:cNvSpPr>
            <a:spLocks noChangeArrowheads="1"/>
          </p:cNvSpPr>
          <p:nvPr/>
        </p:nvSpPr>
        <p:spPr bwMode="auto">
          <a:xfrm>
            <a:off x="4519613" y="3724275"/>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X’Zauvea Gadlin</a:t>
            </a:r>
            <a:endParaRPr lang="en-US" altLang="en-US" sz="1000"/>
          </a:p>
        </p:txBody>
      </p:sp>
      <p:sp>
        <p:nvSpPr>
          <p:cNvPr id="214" name="Text 30">
            <a:extLst>
              <a:ext uri="{FF2B5EF4-FFF2-40B4-BE49-F238E27FC236}">
                <a16:creationId xmlns:a16="http://schemas.microsoft.com/office/drawing/2014/main" id="{79DD3E91-76AB-50B6-2DF8-A4DF6C5C1009}"/>
              </a:ext>
            </a:extLst>
          </p:cNvPr>
          <p:cNvSpPr/>
          <p:nvPr/>
        </p:nvSpPr>
        <p:spPr>
          <a:xfrm>
            <a:off x="4543060" y="3926185"/>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4 reps</a:t>
            </a:r>
            <a:endParaRPr lang="en-US" sz="1000" dirty="0">
              <a:latin typeface="+mn-lt"/>
            </a:endParaRPr>
          </a:p>
        </p:txBody>
      </p:sp>
      <p:sp>
        <p:nvSpPr>
          <p:cNvPr id="11311" name="Text 31">
            <a:extLst>
              <a:ext uri="{FF2B5EF4-FFF2-40B4-BE49-F238E27FC236}">
                <a16:creationId xmlns:a16="http://schemas.microsoft.com/office/drawing/2014/main" id="{88D98153-75B9-6683-B572-1987F129B9B6}"/>
              </a:ext>
            </a:extLst>
          </p:cNvPr>
          <p:cNvSpPr>
            <a:spLocks noChangeArrowheads="1"/>
          </p:cNvSpPr>
          <p:nvPr/>
        </p:nvSpPr>
        <p:spPr bwMode="auto">
          <a:xfrm>
            <a:off x="6134100" y="3730625"/>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3.39 yards</a:t>
            </a:r>
            <a:endParaRPr lang="en-US" altLang="en-US" sz="1000"/>
          </a:p>
        </p:txBody>
      </p:sp>
      <p:sp>
        <p:nvSpPr>
          <p:cNvPr id="11312" name="Text 31">
            <a:extLst>
              <a:ext uri="{FF2B5EF4-FFF2-40B4-BE49-F238E27FC236}">
                <a16:creationId xmlns:a16="http://schemas.microsoft.com/office/drawing/2014/main" id="{DD516AAD-503C-3A78-7FCD-7001EC3BC9BE}"/>
              </a:ext>
            </a:extLst>
          </p:cNvPr>
          <p:cNvSpPr>
            <a:spLocks noChangeArrowheads="1"/>
          </p:cNvSpPr>
          <p:nvPr/>
        </p:nvSpPr>
        <p:spPr bwMode="auto">
          <a:xfrm>
            <a:off x="8085138" y="3716338"/>
            <a:ext cx="1652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Undrafted</a:t>
            </a:r>
            <a:endParaRPr lang="en-US" altLang="en-US" sz="1000"/>
          </a:p>
        </p:txBody>
      </p:sp>
      <p:sp>
        <p:nvSpPr>
          <p:cNvPr id="11313" name="Text 31">
            <a:extLst>
              <a:ext uri="{FF2B5EF4-FFF2-40B4-BE49-F238E27FC236}">
                <a16:creationId xmlns:a16="http://schemas.microsoft.com/office/drawing/2014/main" id="{9A72B3CB-8B15-FB95-735C-2E23611AF64F}"/>
              </a:ext>
            </a:extLst>
          </p:cNvPr>
          <p:cNvSpPr>
            <a:spLocks noChangeArrowheads="1"/>
          </p:cNvSpPr>
          <p:nvPr/>
        </p:nvSpPr>
        <p:spPr bwMode="auto">
          <a:xfrm>
            <a:off x="9596438" y="3717925"/>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0 games started, didn’t make a roster</a:t>
            </a:r>
            <a:endParaRPr lang="en-US" altLang="en-US" sz="1000"/>
          </a:p>
        </p:txBody>
      </p:sp>
      <p:sp>
        <p:nvSpPr>
          <p:cNvPr id="11314" name="Text 29">
            <a:extLst>
              <a:ext uri="{FF2B5EF4-FFF2-40B4-BE49-F238E27FC236}">
                <a16:creationId xmlns:a16="http://schemas.microsoft.com/office/drawing/2014/main" id="{DE1DB8CA-9D01-BBD7-E23B-6B27B52608CF}"/>
              </a:ext>
            </a:extLst>
          </p:cNvPr>
          <p:cNvSpPr>
            <a:spLocks noChangeArrowheads="1"/>
          </p:cNvSpPr>
          <p:nvPr/>
        </p:nvSpPr>
        <p:spPr bwMode="auto">
          <a:xfrm>
            <a:off x="4533900" y="4144963"/>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Karsen Barnhart</a:t>
            </a:r>
            <a:endParaRPr lang="en-US" altLang="en-US" sz="1000"/>
          </a:p>
        </p:txBody>
      </p:sp>
      <p:sp>
        <p:nvSpPr>
          <p:cNvPr id="219" name="Text 30">
            <a:extLst>
              <a:ext uri="{FF2B5EF4-FFF2-40B4-BE49-F238E27FC236}">
                <a16:creationId xmlns:a16="http://schemas.microsoft.com/office/drawing/2014/main" id="{F6DF838E-1833-BAF1-4931-B5153B677427}"/>
              </a:ext>
            </a:extLst>
          </p:cNvPr>
          <p:cNvSpPr/>
          <p:nvPr/>
        </p:nvSpPr>
        <p:spPr>
          <a:xfrm>
            <a:off x="4557278" y="4347158"/>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4 reps</a:t>
            </a:r>
            <a:endParaRPr lang="en-US" sz="1000" dirty="0">
              <a:latin typeface="+mn-lt"/>
            </a:endParaRPr>
          </a:p>
        </p:txBody>
      </p:sp>
      <p:sp>
        <p:nvSpPr>
          <p:cNvPr id="11316" name="Text 31">
            <a:extLst>
              <a:ext uri="{FF2B5EF4-FFF2-40B4-BE49-F238E27FC236}">
                <a16:creationId xmlns:a16="http://schemas.microsoft.com/office/drawing/2014/main" id="{49E57B40-5A46-DBD0-3D5E-F2BAA91608BE}"/>
              </a:ext>
            </a:extLst>
          </p:cNvPr>
          <p:cNvSpPr>
            <a:spLocks noChangeArrowheads="1"/>
          </p:cNvSpPr>
          <p:nvPr/>
        </p:nvSpPr>
        <p:spPr bwMode="auto">
          <a:xfrm>
            <a:off x="6148388" y="4151313"/>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3.42 yards</a:t>
            </a:r>
            <a:endParaRPr lang="en-US" altLang="en-US" sz="1000"/>
          </a:p>
        </p:txBody>
      </p:sp>
      <p:sp>
        <p:nvSpPr>
          <p:cNvPr id="11317" name="Text 31">
            <a:extLst>
              <a:ext uri="{FF2B5EF4-FFF2-40B4-BE49-F238E27FC236}">
                <a16:creationId xmlns:a16="http://schemas.microsoft.com/office/drawing/2014/main" id="{B8170211-164D-EF55-19E4-A27A86A9111D}"/>
              </a:ext>
            </a:extLst>
          </p:cNvPr>
          <p:cNvSpPr>
            <a:spLocks noChangeArrowheads="1"/>
          </p:cNvSpPr>
          <p:nvPr/>
        </p:nvSpPr>
        <p:spPr bwMode="auto">
          <a:xfrm>
            <a:off x="8099425" y="4137025"/>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Undrafted</a:t>
            </a:r>
            <a:endParaRPr lang="en-US" altLang="en-US" sz="1000"/>
          </a:p>
        </p:txBody>
      </p:sp>
      <p:sp>
        <p:nvSpPr>
          <p:cNvPr id="11318" name="Text 31">
            <a:extLst>
              <a:ext uri="{FF2B5EF4-FFF2-40B4-BE49-F238E27FC236}">
                <a16:creationId xmlns:a16="http://schemas.microsoft.com/office/drawing/2014/main" id="{FEF82F93-F7A6-9886-3224-0145AE92D1A4}"/>
              </a:ext>
            </a:extLst>
          </p:cNvPr>
          <p:cNvSpPr>
            <a:spLocks noChangeArrowheads="1"/>
          </p:cNvSpPr>
          <p:nvPr/>
        </p:nvSpPr>
        <p:spPr bwMode="auto">
          <a:xfrm>
            <a:off x="9610725" y="4140200"/>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0 games started, made practice squad</a:t>
            </a:r>
            <a:endParaRPr lang="en-US" altLang="en-US" sz="1000"/>
          </a:p>
        </p:txBody>
      </p:sp>
      <p:sp>
        <p:nvSpPr>
          <p:cNvPr id="11319" name="Text 29">
            <a:extLst>
              <a:ext uri="{FF2B5EF4-FFF2-40B4-BE49-F238E27FC236}">
                <a16:creationId xmlns:a16="http://schemas.microsoft.com/office/drawing/2014/main" id="{2707D8D1-6B3B-113C-EC40-B153276ED183}"/>
              </a:ext>
            </a:extLst>
          </p:cNvPr>
          <p:cNvSpPr>
            <a:spLocks noChangeArrowheads="1"/>
          </p:cNvSpPr>
          <p:nvPr/>
        </p:nvSpPr>
        <p:spPr bwMode="auto">
          <a:xfrm>
            <a:off x="4521200" y="4578350"/>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C.J. Hanson</a:t>
            </a:r>
            <a:endParaRPr lang="en-US" altLang="en-US" sz="1000"/>
          </a:p>
        </p:txBody>
      </p:sp>
      <p:sp>
        <p:nvSpPr>
          <p:cNvPr id="224" name="Text 30">
            <a:extLst>
              <a:ext uri="{FF2B5EF4-FFF2-40B4-BE49-F238E27FC236}">
                <a16:creationId xmlns:a16="http://schemas.microsoft.com/office/drawing/2014/main" id="{1DAF913D-B61B-947F-85C0-BC066F44CF3C}"/>
              </a:ext>
            </a:extLst>
          </p:cNvPr>
          <p:cNvSpPr/>
          <p:nvPr/>
        </p:nvSpPr>
        <p:spPr>
          <a:xfrm>
            <a:off x="4545086" y="4780813"/>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10 reps</a:t>
            </a:r>
            <a:endParaRPr lang="en-US" sz="1000" dirty="0">
              <a:latin typeface="+mn-lt"/>
            </a:endParaRPr>
          </a:p>
        </p:txBody>
      </p:sp>
      <p:sp>
        <p:nvSpPr>
          <p:cNvPr id="11321" name="Text 31">
            <a:extLst>
              <a:ext uri="{FF2B5EF4-FFF2-40B4-BE49-F238E27FC236}">
                <a16:creationId xmlns:a16="http://schemas.microsoft.com/office/drawing/2014/main" id="{1B30B79A-AED7-4D1D-4B5C-C1486BFE12B9}"/>
              </a:ext>
            </a:extLst>
          </p:cNvPr>
          <p:cNvSpPr>
            <a:spLocks noChangeArrowheads="1"/>
          </p:cNvSpPr>
          <p:nvPr/>
        </p:nvSpPr>
        <p:spPr bwMode="auto">
          <a:xfrm>
            <a:off x="6135688" y="4584700"/>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3.45 yards</a:t>
            </a:r>
            <a:endParaRPr lang="en-US" altLang="en-US" sz="1000"/>
          </a:p>
        </p:txBody>
      </p:sp>
      <p:sp>
        <p:nvSpPr>
          <p:cNvPr id="11322" name="Text 31">
            <a:extLst>
              <a:ext uri="{FF2B5EF4-FFF2-40B4-BE49-F238E27FC236}">
                <a16:creationId xmlns:a16="http://schemas.microsoft.com/office/drawing/2014/main" id="{27B7AC64-CCF2-CF43-48F0-9B773D78B51F}"/>
              </a:ext>
            </a:extLst>
          </p:cNvPr>
          <p:cNvSpPr>
            <a:spLocks noChangeArrowheads="1"/>
          </p:cNvSpPr>
          <p:nvPr/>
        </p:nvSpPr>
        <p:spPr bwMode="auto">
          <a:xfrm>
            <a:off x="8086725" y="4572000"/>
            <a:ext cx="165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7</a:t>
            </a:r>
            <a:r>
              <a:rPr lang="en-US" altLang="en-US" sz="1000" b="1" baseline="30000">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th</a:t>
            </a: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 round</a:t>
            </a:r>
            <a:endParaRPr lang="en-US" altLang="en-US" sz="1000"/>
          </a:p>
        </p:txBody>
      </p:sp>
      <p:sp>
        <p:nvSpPr>
          <p:cNvPr id="11323" name="Text 31">
            <a:extLst>
              <a:ext uri="{FF2B5EF4-FFF2-40B4-BE49-F238E27FC236}">
                <a16:creationId xmlns:a16="http://schemas.microsoft.com/office/drawing/2014/main" id="{4150375D-AC4E-140F-9CBF-C6A1CE3CF39C}"/>
              </a:ext>
            </a:extLst>
          </p:cNvPr>
          <p:cNvSpPr>
            <a:spLocks noChangeArrowheads="1"/>
          </p:cNvSpPr>
          <p:nvPr/>
        </p:nvSpPr>
        <p:spPr bwMode="auto">
          <a:xfrm>
            <a:off x="9598025" y="4573588"/>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0 games started, 4 games played (mainly special teams)</a:t>
            </a:r>
            <a:endParaRPr lang="en-US" altLang="en-US" sz="1000"/>
          </a:p>
        </p:txBody>
      </p:sp>
      <p:sp>
        <p:nvSpPr>
          <p:cNvPr id="11324" name="Text 29">
            <a:extLst>
              <a:ext uri="{FF2B5EF4-FFF2-40B4-BE49-F238E27FC236}">
                <a16:creationId xmlns:a16="http://schemas.microsoft.com/office/drawing/2014/main" id="{CFB85B15-66A6-3484-A1EF-E55A331B8ADB}"/>
              </a:ext>
            </a:extLst>
          </p:cNvPr>
          <p:cNvSpPr>
            <a:spLocks noChangeArrowheads="1"/>
          </p:cNvSpPr>
          <p:nvPr/>
        </p:nvSpPr>
        <p:spPr bwMode="auto">
          <a:xfrm>
            <a:off x="4533900" y="5002213"/>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Matt Lee</a:t>
            </a:r>
            <a:endParaRPr lang="en-US" altLang="en-US" sz="1000"/>
          </a:p>
        </p:txBody>
      </p:sp>
      <p:sp>
        <p:nvSpPr>
          <p:cNvPr id="229" name="Text 30">
            <a:extLst>
              <a:ext uri="{FF2B5EF4-FFF2-40B4-BE49-F238E27FC236}">
                <a16:creationId xmlns:a16="http://schemas.microsoft.com/office/drawing/2014/main" id="{D23CD056-B1BE-BBA3-A225-00367AA6BCCF}"/>
              </a:ext>
            </a:extLst>
          </p:cNvPr>
          <p:cNvSpPr/>
          <p:nvPr/>
        </p:nvSpPr>
        <p:spPr>
          <a:xfrm>
            <a:off x="4556809" y="5204964"/>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5 reps</a:t>
            </a:r>
            <a:endParaRPr lang="en-US" sz="1000" dirty="0">
              <a:latin typeface="+mn-lt"/>
            </a:endParaRPr>
          </a:p>
        </p:txBody>
      </p:sp>
      <p:sp>
        <p:nvSpPr>
          <p:cNvPr id="11326" name="Text 31">
            <a:extLst>
              <a:ext uri="{FF2B5EF4-FFF2-40B4-BE49-F238E27FC236}">
                <a16:creationId xmlns:a16="http://schemas.microsoft.com/office/drawing/2014/main" id="{794E2087-1019-B6DD-2262-A2D9C4B0FBF4}"/>
              </a:ext>
            </a:extLst>
          </p:cNvPr>
          <p:cNvSpPr>
            <a:spLocks noChangeArrowheads="1"/>
          </p:cNvSpPr>
          <p:nvPr/>
        </p:nvSpPr>
        <p:spPr bwMode="auto">
          <a:xfrm>
            <a:off x="6146800" y="5010150"/>
            <a:ext cx="165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3.47 yards</a:t>
            </a:r>
            <a:endParaRPr lang="en-US" altLang="en-US" sz="1000"/>
          </a:p>
        </p:txBody>
      </p:sp>
      <p:sp>
        <p:nvSpPr>
          <p:cNvPr id="11327" name="Text 31">
            <a:extLst>
              <a:ext uri="{FF2B5EF4-FFF2-40B4-BE49-F238E27FC236}">
                <a16:creationId xmlns:a16="http://schemas.microsoft.com/office/drawing/2014/main" id="{FBF48BB1-DE6F-43CA-66A0-21562D30BE8C}"/>
              </a:ext>
            </a:extLst>
          </p:cNvPr>
          <p:cNvSpPr>
            <a:spLocks noChangeArrowheads="1"/>
          </p:cNvSpPr>
          <p:nvPr/>
        </p:nvSpPr>
        <p:spPr bwMode="auto">
          <a:xfrm>
            <a:off x="8099425" y="4995863"/>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7</a:t>
            </a:r>
            <a:r>
              <a:rPr lang="en-US" altLang="en-US" sz="1000" b="1" baseline="30000">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th</a:t>
            </a: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 round</a:t>
            </a:r>
            <a:endParaRPr lang="en-US" altLang="en-US" sz="1000"/>
          </a:p>
        </p:txBody>
      </p:sp>
      <p:sp>
        <p:nvSpPr>
          <p:cNvPr id="11328" name="Text 31">
            <a:extLst>
              <a:ext uri="{FF2B5EF4-FFF2-40B4-BE49-F238E27FC236}">
                <a16:creationId xmlns:a16="http://schemas.microsoft.com/office/drawing/2014/main" id="{FCE59878-9C10-B7CE-EEBA-FC5240193094}"/>
              </a:ext>
            </a:extLst>
          </p:cNvPr>
          <p:cNvSpPr>
            <a:spLocks noChangeArrowheads="1"/>
          </p:cNvSpPr>
          <p:nvPr/>
        </p:nvSpPr>
        <p:spPr bwMode="auto">
          <a:xfrm>
            <a:off x="9609138" y="4997450"/>
            <a:ext cx="1652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1 game started, 22 games played (special teamer)</a:t>
            </a:r>
            <a:endParaRPr lang="en-US" altLang="en-US" sz="1000"/>
          </a:p>
        </p:txBody>
      </p:sp>
      <p:sp>
        <p:nvSpPr>
          <p:cNvPr id="11329" name="Text 29">
            <a:extLst>
              <a:ext uri="{FF2B5EF4-FFF2-40B4-BE49-F238E27FC236}">
                <a16:creationId xmlns:a16="http://schemas.microsoft.com/office/drawing/2014/main" id="{4F427563-9579-6F2C-EF99-0C8147BB9EBD}"/>
              </a:ext>
            </a:extLst>
          </p:cNvPr>
          <p:cNvSpPr>
            <a:spLocks noChangeArrowheads="1"/>
          </p:cNvSpPr>
          <p:nvPr/>
        </p:nvSpPr>
        <p:spPr bwMode="auto">
          <a:xfrm>
            <a:off x="4535488" y="5418138"/>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Willis Patrick</a:t>
            </a:r>
            <a:endParaRPr lang="en-US" altLang="en-US" sz="1000"/>
          </a:p>
        </p:txBody>
      </p:sp>
      <p:sp>
        <p:nvSpPr>
          <p:cNvPr id="234" name="Text 30">
            <a:extLst>
              <a:ext uri="{FF2B5EF4-FFF2-40B4-BE49-F238E27FC236}">
                <a16:creationId xmlns:a16="http://schemas.microsoft.com/office/drawing/2014/main" id="{46E57B46-E020-A916-C29D-4FA583FFCD39}"/>
              </a:ext>
            </a:extLst>
          </p:cNvPr>
          <p:cNvSpPr/>
          <p:nvPr/>
        </p:nvSpPr>
        <p:spPr>
          <a:xfrm>
            <a:off x="4558425" y="5620217"/>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5 reps</a:t>
            </a:r>
            <a:endParaRPr lang="en-US" sz="1000" dirty="0">
              <a:latin typeface="+mn-lt"/>
            </a:endParaRPr>
          </a:p>
        </p:txBody>
      </p:sp>
      <p:sp>
        <p:nvSpPr>
          <p:cNvPr id="11331" name="Text 31">
            <a:extLst>
              <a:ext uri="{FF2B5EF4-FFF2-40B4-BE49-F238E27FC236}">
                <a16:creationId xmlns:a16="http://schemas.microsoft.com/office/drawing/2014/main" id="{26545967-C3F6-C5BE-EE2F-170AC5678E37}"/>
              </a:ext>
            </a:extLst>
          </p:cNvPr>
          <p:cNvSpPr>
            <a:spLocks noChangeArrowheads="1"/>
          </p:cNvSpPr>
          <p:nvPr/>
        </p:nvSpPr>
        <p:spPr bwMode="auto">
          <a:xfrm>
            <a:off x="6148388" y="5424488"/>
            <a:ext cx="1652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3.54 yards</a:t>
            </a:r>
            <a:endParaRPr lang="en-US" altLang="en-US" sz="1000"/>
          </a:p>
        </p:txBody>
      </p:sp>
      <p:sp>
        <p:nvSpPr>
          <p:cNvPr id="11332" name="Text 31">
            <a:extLst>
              <a:ext uri="{FF2B5EF4-FFF2-40B4-BE49-F238E27FC236}">
                <a16:creationId xmlns:a16="http://schemas.microsoft.com/office/drawing/2014/main" id="{4690B4C7-3696-8D35-335D-85E8271438CB}"/>
              </a:ext>
            </a:extLst>
          </p:cNvPr>
          <p:cNvSpPr>
            <a:spLocks noChangeArrowheads="1"/>
          </p:cNvSpPr>
          <p:nvPr/>
        </p:nvSpPr>
        <p:spPr bwMode="auto">
          <a:xfrm>
            <a:off x="8101013" y="5410200"/>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Undrafted</a:t>
            </a:r>
            <a:endParaRPr lang="en-US" altLang="en-US" sz="1000"/>
          </a:p>
        </p:txBody>
      </p:sp>
      <p:sp>
        <p:nvSpPr>
          <p:cNvPr id="11333" name="Text 31">
            <a:extLst>
              <a:ext uri="{FF2B5EF4-FFF2-40B4-BE49-F238E27FC236}">
                <a16:creationId xmlns:a16="http://schemas.microsoft.com/office/drawing/2014/main" id="{42F99F09-D660-C2A7-7762-8809DAEE3F86}"/>
              </a:ext>
            </a:extLst>
          </p:cNvPr>
          <p:cNvSpPr>
            <a:spLocks noChangeArrowheads="1"/>
          </p:cNvSpPr>
          <p:nvPr/>
        </p:nvSpPr>
        <p:spPr bwMode="auto">
          <a:xfrm>
            <a:off x="9610725" y="5413375"/>
            <a:ext cx="165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0 games started, didn’t make a roster</a:t>
            </a:r>
            <a:endParaRPr lang="en-US" altLang="en-US" sz="1000"/>
          </a:p>
        </p:txBody>
      </p:sp>
      <p:sp>
        <p:nvSpPr>
          <p:cNvPr id="11334" name="Text 29">
            <a:extLst>
              <a:ext uri="{FF2B5EF4-FFF2-40B4-BE49-F238E27FC236}">
                <a16:creationId xmlns:a16="http://schemas.microsoft.com/office/drawing/2014/main" id="{C09460F2-B88D-2232-27F6-BBCF343C512B}"/>
              </a:ext>
            </a:extLst>
          </p:cNvPr>
          <p:cNvSpPr>
            <a:spLocks noChangeArrowheads="1"/>
          </p:cNvSpPr>
          <p:nvPr/>
        </p:nvSpPr>
        <p:spPr bwMode="auto">
          <a:xfrm>
            <a:off x="4522788" y="5851525"/>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Trente Jones</a:t>
            </a:r>
            <a:endParaRPr lang="en-US" altLang="en-US" sz="1000"/>
          </a:p>
        </p:txBody>
      </p:sp>
      <p:sp>
        <p:nvSpPr>
          <p:cNvPr id="239" name="Text 30">
            <a:extLst>
              <a:ext uri="{FF2B5EF4-FFF2-40B4-BE49-F238E27FC236}">
                <a16:creationId xmlns:a16="http://schemas.microsoft.com/office/drawing/2014/main" id="{0614A9C6-31E3-3462-4F96-76470E3F2AA5}"/>
              </a:ext>
            </a:extLst>
          </p:cNvPr>
          <p:cNvSpPr/>
          <p:nvPr/>
        </p:nvSpPr>
        <p:spPr>
          <a:xfrm>
            <a:off x="4546233" y="6053872"/>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4 reps</a:t>
            </a:r>
            <a:endParaRPr lang="en-US" sz="1000" dirty="0">
              <a:latin typeface="+mn-lt"/>
            </a:endParaRPr>
          </a:p>
        </p:txBody>
      </p:sp>
      <p:sp>
        <p:nvSpPr>
          <p:cNvPr id="11336" name="Text 31">
            <a:extLst>
              <a:ext uri="{FF2B5EF4-FFF2-40B4-BE49-F238E27FC236}">
                <a16:creationId xmlns:a16="http://schemas.microsoft.com/office/drawing/2014/main" id="{91AB66D3-46F9-3FB5-5B0F-8A59BEDED07D}"/>
              </a:ext>
            </a:extLst>
          </p:cNvPr>
          <p:cNvSpPr>
            <a:spLocks noChangeArrowheads="1"/>
          </p:cNvSpPr>
          <p:nvPr/>
        </p:nvSpPr>
        <p:spPr bwMode="auto">
          <a:xfrm>
            <a:off x="6137275" y="5857875"/>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3.56 yards</a:t>
            </a:r>
            <a:endParaRPr lang="en-US" altLang="en-US" sz="1000"/>
          </a:p>
        </p:txBody>
      </p:sp>
      <p:sp>
        <p:nvSpPr>
          <p:cNvPr id="11337" name="Text 31">
            <a:extLst>
              <a:ext uri="{FF2B5EF4-FFF2-40B4-BE49-F238E27FC236}">
                <a16:creationId xmlns:a16="http://schemas.microsoft.com/office/drawing/2014/main" id="{30BFC281-8CC2-BE1E-5939-DD1BE88459B8}"/>
              </a:ext>
            </a:extLst>
          </p:cNvPr>
          <p:cNvSpPr>
            <a:spLocks noChangeArrowheads="1"/>
          </p:cNvSpPr>
          <p:nvPr/>
        </p:nvSpPr>
        <p:spPr bwMode="auto">
          <a:xfrm>
            <a:off x="8088313" y="5843588"/>
            <a:ext cx="1652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Undrafted</a:t>
            </a:r>
            <a:endParaRPr lang="en-US" altLang="en-US" sz="1000"/>
          </a:p>
        </p:txBody>
      </p:sp>
      <p:sp>
        <p:nvSpPr>
          <p:cNvPr id="11338" name="Text 31">
            <a:extLst>
              <a:ext uri="{FF2B5EF4-FFF2-40B4-BE49-F238E27FC236}">
                <a16:creationId xmlns:a16="http://schemas.microsoft.com/office/drawing/2014/main" id="{0E842B6D-DE39-476F-75A2-E66D834BC139}"/>
              </a:ext>
            </a:extLst>
          </p:cNvPr>
          <p:cNvSpPr>
            <a:spLocks noChangeArrowheads="1"/>
          </p:cNvSpPr>
          <p:nvPr/>
        </p:nvSpPr>
        <p:spPr bwMode="auto">
          <a:xfrm>
            <a:off x="9599613" y="5846763"/>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0 games started, didn’t make a roster/retired (back injury)</a:t>
            </a:r>
            <a:endParaRPr lang="en-US" altLang="en-US" sz="1000"/>
          </a:p>
        </p:txBody>
      </p:sp>
      <p:sp>
        <p:nvSpPr>
          <p:cNvPr id="11339" name="Text 29">
            <a:extLst>
              <a:ext uri="{FF2B5EF4-FFF2-40B4-BE49-F238E27FC236}">
                <a16:creationId xmlns:a16="http://schemas.microsoft.com/office/drawing/2014/main" id="{ACF8B52E-2832-1856-61A7-224A1A259071}"/>
              </a:ext>
            </a:extLst>
          </p:cNvPr>
          <p:cNvSpPr>
            <a:spLocks noChangeArrowheads="1"/>
          </p:cNvSpPr>
          <p:nvPr/>
        </p:nvSpPr>
        <p:spPr bwMode="auto">
          <a:xfrm>
            <a:off x="4533900" y="6275388"/>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Donovan Jennings</a:t>
            </a:r>
            <a:endParaRPr lang="en-US" altLang="en-US" sz="1000"/>
          </a:p>
        </p:txBody>
      </p:sp>
      <p:sp>
        <p:nvSpPr>
          <p:cNvPr id="244" name="Text 30">
            <a:extLst>
              <a:ext uri="{FF2B5EF4-FFF2-40B4-BE49-F238E27FC236}">
                <a16:creationId xmlns:a16="http://schemas.microsoft.com/office/drawing/2014/main" id="{44785598-E52D-E67B-95D8-45067C9A5B0F}"/>
              </a:ext>
            </a:extLst>
          </p:cNvPr>
          <p:cNvSpPr/>
          <p:nvPr/>
        </p:nvSpPr>
        <p:spPr>
          <a:xfrm>
            <a:off x="4557956" y="6478023"/>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5 reps</a:t>
            </a:r>
            <a:endParaRPr lang="en-US" sz="1000" dirty="0">
              <a:latin typeface="+mn-lt"/>
            </a:endParaRPr>
          </a:p>
        </p:txBody>
      </p:sp>
      <p:sp>
        <p:nvSpPr>
          <p:cNvPr id="11341" name="Text 31">
            <a:extLst>
              <a:ext uri="{FF2B5EF4-FFF2-40B4-BE49-F238E27FC236}">
                <a16:creationId xmlns:a16="http://schemas.microsoft.com/office/drawing/2014/main" id="{2256208A-6B90-0C5D-E52C-C8A02DAAE75F}"/>
              </a:ext>
            </a:extLst>
          </p:cNvPr>
          <p:cNvSpPr>
            <a:spLocks noChangeArrowheads="1"/>
          </p:cNvSpPr>
          <p:nvPr/>
        </p:nvSpPr>
        <p:spPr bwMode="auto">
          <a:xfrm>
            <a:off x="6148388" y="6281738"/>
            <a:ext cx="1652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4.23 yards</a:t>
            </a:r>
            <a:endParaRPr lang="en-US" altLang="en-US" sz="1000"/>
          </a:p>
        </p:txBody>
      </p:sp>
      <p:sp>
        <p:nvSpPr>
          <p:cNvPr id="11342" name="Text 31">
            <a:extLst>
              <a:ext uri="{FF2B5EF4-FFF2-40B4-BE49-F238E27FC236}">
                <a16:creationId xmlns:a16="http://schemas.microsoft.com/office/drawing/2014/main" id="{7EA84888-809A-5FE4-2D96-DAB97964FD9C}"/>
              </a:ext>
            </a:extLst>
          </p:cNvPr>
          <p:cNvSpPr>
            <a:spLocks noChangeArrowheads="1"/>
          </p:cNvSpPr>
          <p:nvPr/>
        </p:nvSpPr>
        <p:spPr bwMode="auto">
          <a:xfrm>
            <a:off x="8099425" y="6269038"/>
            <a:ext cx="165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Undrafted</a:t>
            </a:r>
            <a:endParaRPr lang="en-US" altLang="en-US" sz="1000"/>
          </a:p>
        </p:txBody>
      </p:sp>
      <p:sp>
        <p:nvSpPr>
          <p:cNvPr id="11343" name="Text 31">
            <a:extLst>
              <a:ext uri="{FF2B5EF4-FFF2-40B4-BE49-F238E27FC236}">
                <a16:creationId xmlns:a16="http://schemas.microsoft.com/office/drawing/2014/main" id="{243B31C3-F6FE-902F-A2BC-734C5A20A18A}"/>
              </a:ext>
            </a:extLst>
          </p:cNvPr>
          <p:cNvSpPr>
            <a:spLocks noChangeArrowheads="1"/>
          </p:cNvSpPr>
          <p:nvPr/>
        </p:nvSpPr>
        <p:spPr bwMode="auto">
          <a:xfrm>
            <a:off x="9610725" y="6270625"/>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0 games started, 2 games played</a:t>
            </a:r>
            <a:endParaRPr lang="en-US" altLang="en-US" sz="100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317"/>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E62EBAE-0AD0-844F-71B8-316380D14301}"/>
              </a:ext>
            </a:extLst>
          </p:cNvPr>
          <p:cNvSpPr/>
          <p:nvPr/>
        </p:nvSpPr>
        <p:spPr>
          <a:xfrm>
            <a:off x="381000" y="381000"/>
            <a:ext cx="1149667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50" b="1" kern="0" spc="263" dirty="0">
                <a:solidFill>
                  <a:srgbClr val="D8A03D"/>
                </a:solidFill>
                <a:latin typeface="Quattrocento Sans" pitchFamily="34" charset="0"/>
                <a:ea typeface="Quattrocento Sans" pitchFamily="34" charset="-122"/>
                <a:cs typeface="Quattrocento Sans" pitchFamily="34" charset="-120"/>
              </a:rPr>
              <a:t>PERFORMANCE METRICS AND RESULTS (DL)</a:t>
            </a:r>
            <a:endParaRPr lang="en-US" sz="1600" dirty="0">
              <a:latin typeface="+mn-lt"/>
            </a:endParaRPr>
          </a:p>
        </p:txBody>
      </p:sp>
      <p:sp>
        <p:nvSpPr>
          <p:cNvPr id="13315" name="Text 1">
            <a:extLst>
              <a:ext uri="{FF2B5EF4-FFF2-40B4-BE49-F238E27FC236}">
                <a16:creationId xmlns:a16="http://schemas.microsoft.com/office/drawing/2014/main" id="{8DA75D9E-B465-1232-6EAA-91D5D4069C1F}"/>
              </a:ext>
            </a:extLst>
          </p:cNvPr>
          <p:cNvSpPr>
            <a:spLocks noChangeArrowheads="1"/>
          </p:cNvSpPr>
          <p:nvPr/>
        </p:nvSpPr>
        <p:spPr bwMode="auto">
          <a:xfrm>
            <a:off x="381000" y="647700"/>
            <a:ext cx="116014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90000"/>
              </a:lnSpc>
            </a:pPr>
            <a:r>
              <a:rPr lang="en-US" altLang="en-US" sz="2700" b="1">
                <a:solidFill>
                  <a:srgbClr val="E1E3E6"/>
                </a:solidFill>
                <a:latin typeface="Liter" panose="02000503030000020004" pitchFamily="2" charset="0"/>
                <a:ea typeface="Liter" panose="02000503030000020004" pitchFamily="2" charset="0"/>
                <a:cs typeface="Liter" panose="02000503030000020004" pitchFamily="2" charset="0"/>
              </a:rPr>
              <a:t>Primary Metric: DL Depth Allowed (or Gained) at Frame 25</a:t>
            </a:r>
            <a:endParaRPr lang="en-US" altLang="en-US" sz="1600"/>
          </a:p>
        </p:txBody>
      </p:sp>
      <p:sp>
        <p:nvSpPr>
          <p:cNvPr id="13316" name="Shape 2">
            <a:extLst>
              <a:ext uri="{FF2B5EF4-FFF2-40B4-BE49-F238E27FC236}">
                <a16:creationId xmlns:a16="http://schemas.microsoft.com/office/drawing/2014/main" id="{9B0CD5A3-97CE-3DD8-8C76-558FC6D8B6CF}"/>
              </a:ext>
            </a:extLst>
          </p:cNvPr>
          <p:cNvSpPr>
            <a:spLocks/>
          </p:cNvSpPr>
          <p:nvPr/>
        </p:nvSpPr>
        <p:spPr bwMode="auto">
          <a:xfrm>
            <a:off x="385763" y="1065213"/>
            <a:ext cx="3327400" cy="5291137"/>
          </a:xfrm>
          <a:custGeom>
            <a:avLst/>
            <a:gdLst>
              <a:gd name="T0" fmla="*/ 38100 w 4467225"/>
              <a:gd name="T1" fmla="*/ 0 h 3514725"/>
              <a:gd name="T2" fmla="*/ 4429125 w 4467225"/>
              <a:gd name="T3" fmla="*/ 0 h 3514725"/>
              <a:gd name="T4" fmla="*/ 4467225 w 4467225"/>
              <a:gd name="T5" fmla="*/ 38100 h 3514725"/>
              <a:gd name="T6" fmla="*/ 4467225 w 4467225"/>
              <a:gd name="T7" fmla="*/ 3476625 h 3514725"/>
              <a:gd name="T8" fmla="*/ 4429125 w 4467225"/>
              <a:gd name="T9" fmla="*/ 3514725 h 3514725"/>
              <a:gd name="T10" fmla="*/ 38100 w 4467225"/>
              <a:gd name="T11" fmla="*/ 3514725 h 3514725"/>
              <a:gd name="T12" fmla="*/ 0 w 4467225"/>
              <a:gd name="T13" fmla="*/ 3476625 h 3514725"/>
              <a:gd name="T14" fmla="*/ 0 w 4467225"/>
              <a:gd name="T15" fmla="*/ 38100 h 3514725"/>
              <a:gd name="T16" fmla="*/ 38100 w 4467225"/>
              <a:gd name="T17" fmla="*/ 0 h 3514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67225" h="3514725">
                <a:moveTo>
                  <a:pt x="38100" y="0"/>
                </a:moveTo>
                <a:lnTo>
                  <a:pt x="4429125" y="0"/>
                </a:lnTo>
                <a:cubicBezTo>
                  <a:pt x="4450167" y="0"/>
                  <a:pt x="4467225" y="17058"/>
                  <a:pt x="4467225" y="38100"/>
                </a:cubicBezTo>
                <a:lnTo>
                  <a:pt x="4467225" y="3476625"/>
                </a:lnTo>
                <a:cubicBezTo>
                  <a:pt x="4467225" y="3497667"/>
                  <a:pt x="4450167" y="3514725"/>
                  <a:pt x="4429125" y="3514725"/>
                </a:cubicBezTo>
                <a:lnTo>
                  <a:pt x="38100" y="3514725"/>
                </a:lnTo>
                <a:cubicBezTo>
                  <a:pt x="17058" y="3514725"/>
                  <a:pt x="0" y="3497667"/>
                  <a:pt x="0" y="3476625"/>
                </a:cubicBezTo>
                <a:lnTo>
                  <a:pt x="0" y="38100"/>
                </a:lnTo>
                <a:cubicBezTo>
                  <a:pt x="0" y="17072"/>
                  <a:pt x="17072" y="0"/>
                  <a:pt x="38100" y="0"/>
                </a:cubicBezTo>
                <a:close/>
              </a:path>
            </a:pathLst>
          </a:custGeom>
          <a:solidFill>
            <a:srgbClr val="1E2024"/>
          </a:solidFill>
          <a:ln w="12700">
            <a:solidFill>
              <a:srgbClr val="4C7E9A">
                <a:alpha val="30196"/>
              </a:srgbClr>
            </a:solidFill>
            <a:prstDash val="solid"/>
            <a:round/>
            <a:headEnd/>
            <a:tailEnd/>
          </a:ln>
        </p:spPr>
        <p:txBody>
          <a:bodyPr/>
          <a:lstStyle/>
          <a:p>
            <a:endParaRPr lang="en-US"/>
          </a:p>
        </p:txBody>
      </p:sp>
      <p:sp>
        <p:nvSpPr>
          <p:cNvPr id="13317" name="Shape 3">
            <a:extLst>
              <a:ext uri="{FF2B5EF4-FFF2-40B4-BE49-F238E27FC236}">
                <a16:creationId xmlns:a16="http://schemas.microsoft.com/office/drawing/2014/main" id="{02A3F0C1-55A0-E73B-EE88-EBF81E9D0065}"/>
              </a:ext>
            </a:extLst>
          </p:cNvPr>
          <p:cNvSpPr>
            <a:spLocks/>
          </p:cNvSpPr>
          <p:nvPr/>
        </p:nvSpPr>
        <p:spPr bwMode="auto">
          <a:xfrm>
            <a:off x="566738" y="1270000"/>
            <a:ext cx="171450" cy="171450"/>
          </a:xfrm>
          <a:custGeom>
            <a:avLst/>
            <a:gdLst>
              <a:gd name="T0" fmla="*/ 85725 w 171450"/>
              <a:gd name="T1" fmla="*/ 0 h 171450"/>
              <a:gd name="T2" fmla="*/ 171450 w 171450"/>
              <a:gd name="T3" fmla="*/ 85725 h 171450"/>
              <a:gd name="T4" fmla="*/ 85725 w 171450"/>
              <a:gd name="T5" fmla="*/ 171450 h 171450"/>
              <a:gd name="T6" fmla="*/ 0 w 171450"/>
              <a:gd name="T7" fmla="*/ 85725 h 171450"/>
              <a:gd name="T8" fmla="*/ 85725 w 171450"/>
              <a:gd name="T9" fmla="*/ 0 h 171450"/>
              <a:gd name="T10" fmla="*/ 77688 w 171450"/>
              <a:gd name="T11" fmla="*/ 40184 h 171450"/>
              <a:gd name="T12" fmla="*/ 77688 w 171450"/>
              <a:gd name="T13" fmla="*/ 85725 h 171450"/>
              <a:gd name="T14" fmla="*/ 81271 w 171450"/>
              <a:gd name="T15" fmla="*/ 92422 h 171450"/>
              <a:gd name="T16" fmla="*/ 113418 w 171450"/>
              <a:gd name="T17" fmla="*/ 113854 h 171450"/>
              <a:gd name="T18" fmla="*/ 124569 w 171450"/>
              <a:gd name="T19" fmla="*/ 111610 h 171450"/>
              <a:gd name="T20" fmla="*/ 122326 w 171450"/>
              <a:gd name="T21" fmla="*/ 100459 h 171450"/>
              <a:gd name="T22" fmla="*/ 93762 w 171450"/>
              <a:gd name="T23" fmla="*/ 81439 h 171450"/>
              <a:gd name="T24" fmla="*/ 93762 w 171450"/>
              <a:gd name="T25" fmla="*/ 40184 h 171450"/>
              <a:gd name="T26" fmla="*/ 85725 w 171450"/>
              <a:gd name="T27" fmla="*/ 32147 h 171450"/>
              <a:gd name="T28" fmla="*/ 77688 w 171450"/>
              <a:gd name="T29" fmla="*/ 40184 h 17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1450" h="171450">
                <a:moveTo>
                  <a:pt x="85725" y="0"/>
                </a:moveTo>
                <a:cubicBezTo>
                  <a:pt x="133038" y="0"/>
                  <a:pt x="171450" y="38412"/>
                  <a:pt x="171450" y="85725"/>
                </a:cubicBezTo>
                <a:cubicBezTo>
                  <a:pt x="171450" y="133038"/>
                  <a:pt x="133038" y="171450"/>
                  <a:pt x="85725" y="171450"/>
                </a:cubicBezTo>
                <a:cubicBezTo>
                  <a:pt x="38412" y="171450"/>
                  <a:pt x="0" y="133038"/>
                  <a:pt x="0" y="85725"/>
                </a:cubicBezTo>
                <a:cubicBezTo>
                  <a:pt x="0" y="38412"/>
                  <a:pt x="38412" y="0"/>
                  <a:pt x="85725" y="0"/>
                </a:cubicBezTo>
                <a:close/>
                <a:moveTo>
                  <a:pt x="77688" y="40184"/>
                </a:moveTo>
                <a:lnTo>
                  <a:pt x="77688" y="85725"/>
                </a:lnTo>
                <a:cubicBezTo>
                  <a:pt x="77688" y="88404"/>
                  <a:pt x="79028" y="90915"/>
                  <a:pt x="81271" y="92422"/>
                </a:cubicBezTo>
                <a:lnTo>
                  <a:pt x="113418" y="113854"/>
                </a:lnTo>
                <a:cubicBezTo>
                  <a:pt x="117102" y="116332"/>
                  <a:pt x="122091" y="115327"/>
                  <a:pt x="124569" y="111610"/>
                </a:cubicBezTo>
                <a:cubicBezTo>
                  <a:pt x="127047" y="107893"/>
                  <a:pt x="126043" y="102937"/>
                  <a:pt x="122326" y="100459"/>
                </a:cubicBezTo>
                <a:lnTo>
                  <a:pt x="93762" y="81439"/>
                </a:lnTo>
                <a:lnTo>
                  <a:pt x="93762" y="40184"/>
                </a:lnTo>
                <a:cubicBezTo>
                  <a:pt x="93762" y="35730"/>
                  <a:pt x="90179" y="32147"/>
                  <a:pt x="85725" y="32147"/>
                </a:cubicBezTo>
                <a:cubicBezTo>
                  <a:pt x="81271" y="32147"/>
                  <a:pt x="77688" y="35730"/>
                  <a:pt x="77688" y="40184"/>
                </a:cubicBezTo>
                <a:close/>
              </a:path>
            </a:pathLst>
          </a:custGeom>
          <a:solidFill>
            <a:srgbClr val="4C7E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 name="Text 4">
            <a:extLst>
              <a:ext uri="{FF2B5EF4-FFF2-40B4-BE49-F238E27FC236}">
                <a16:creationId xmlns:a16="http://schemas.microsoft.com/office/drawing/2014/main" id="{4F9CF864-FF53-8417-3B97-8475F52BE121}"/>
              </a:ext>
            </a:extLst>
          </p:cNvPr>
          <p:cNvSpPr/>
          <p:nvPr/>
        </p:nvSpPr>
        <p:spPr>
          <a:xfrm>
            <a:off x="800100" y="1212850"/>
            <a:ext cx="3981450" cy="266700"/>
          </a:xfrm>
          <a:prstGeom prst="rect">
            <a:avLst/>
          </a:prstGeom>
          <a:noFill/>
          <a:ln/>
        </p:spPr>
        <p:txBody>
          <a:bodyPr lIns="0" tIns="0" rIns="0" bIns="0" anchor="ctr"/>
          <a:lstStyle/>
          <a:p>
            <a:pPr eaLnBrk="1" fontAlgn="auto" hangingPunct="1">
              <a:lnSpc>
                <a:spcPct val="130000"/>
              </a:lnSpc>
              <a:spcBef>
                <a:spcPts val="0"/>
              </a:spcBef>
              <a:spcAft>
                <a:spcPts val="0"/>
              </a:spcAft>
              <a:defRPr/>
            </a:pPr>
            <a:r>
              <a:rPr lang="en-US" sz="1350" b="1" dirty="0">
                <a:solidFill>
                  <a:srgbClr val="4C7E9A"/>
                </a:solidFill>
                <a:latin typeface="Liter" pitchFamily="34" charset="0"/>
                <a:ea typeface="Liter" pitchFamily="34" charset="-122"/>
                <a:cs typeface="Liter" pitchFamily="34" charset="-120"/>
              </a:rPr>
              <a:t>Why frame 25?</a:t>
            </a:r>
            <a:endParaRPr lang="en-US" sz="1600" dirty="0">
              <a:latin typeface="+mn-lt"/>
            </a:endParaRPr>
          </a:p>
        </p:txBody>
      </p:sp>
      <p:sp>
        <p:nvSpPr>
          <p:cNvPr id="13319" name="Shape 23">
            <a:extLst>
              <a:ext uri="{FF2B5EF4-FFF2-40B4-BE49-F238E27FC236}">
                <a16:creationId xmlns:a16="http://schemas.microsoft.com/office/drawing/2014/main" id="{2312E289-C70A-EB2A-5DB3-F2229166804D}"/>
              </a:ext>
            </a:extLst>
          </p:cNvPr>
          <p:cNvSpPr>
            <a:spLocks/>
          </p:cNvSpPr>
          <p:nvPr/>
        </p:nvSpPr>
        <p:spPr bwMode="auto">
          <a:xfrm>
            <a:off x="3998913" y="1065213"/>
            <a:ext cx="7810500" cy="5719762"/>
          </a:xfrm>
          <a:custGeom>
            <a:avLst/>
            <a:gdLst>
              <a:gd name="T0" fmla="*/ 38100 w 6791325"/>
              <a:gd name="T1" fmla="*/ 0 h 3514725"/>
              <a:gd name="T2" fmla="*/ 6753225 w 6791325"/>
              <a:gd name="T3" fmla="*/ 0 h 3514725"/>
              <a:gd name="T4" fmla="*/ 6791325 w 6791325"/>
              <a:gd name="T5" fmla="*/ 38100 h 3514725"/>
              <a:gd name="T6" fmla="*/ 6791325 w 6791325"/>
              <a:gd name="T7" fmla="*/ 3476625 h 3514725"/>
              <a:gd name="T8" fmla="*/ 6753225 w 6791325"/>
              <a:gd name="T9" fmla="*/ 3514725 h 3514725"/>
              <a:gd name="T10" fmla="*/ 38100 w 6791325"/>
              <a:gd name="T11" fmla="*/ 3514725 h 3514725"/>
              <a:gd name="T12" fmla="*/ 0 w 6791325"/>
              <a:gd name="T13" fmla="*/ 3476625 h 3514725"/>
              <a:gd name="T14" fmla="*/ 0 w 6791325"/>
              <a:gd name="T15" fmla="*/ 38100 h 3514725"/>
              <a:gd name="T16" fmla="*/ 38100 w 6791325"/>
              <a:gd name="T17" fmla="*/ 0 h 3514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91325" h="3514725">
                <a:moveTo>
                  <a:pt x="38100" y="0"/>
                </a:moveTo>
                <a:lnTo>
                  <a:pt x="6753225" y="0"/>
                </a:lnTo>
                <a:cubicBezTo>
                  <a:pt x="6774267" y="0"/>
                  <a:pt x="6791325" y="17058"/>
                  <a:pt x="6791325" y="38100"/>
                </a:cubicBezTo>
                <a:lnTo>
                  <a:pt x="6791325" y="3476625"/>
                </a:lnTo>
                <a:cubicBezTo>
                  <a:pt x="6791325" y="3497667"/>
                  <a:pt x="6774267" y="3514725"/>
                  <a:pt x="6753225" y="3514725"/>
                </a:cubicBezTo>
                <a:lnTo>
                  <a:pt x="38100" y="3514725"/>
                </a:lnTo>
                <a:cubicBezTo>
                  <a:pt x="17058" y="3514725"/>
                  <a:pt x="0" y="3497667"/>
                  <a:pt x="0" y="3476625"/>
                </a:cubicBezTo>
                <a:lnTo>
                  <a:pt x="0" y="38100"/>
                </a:lnTo>
                <a:cubicBezTo>
                  <a:pt x="0" y="17072"/>
                  <a:pt x="17072" y="0"/>
                  <a:pt x="38100" y="0"/>
                </a:cubicBezTo>
                <a:close/>
              </a:path>
            </a:pathLst>
          </a:custGeom>
          <a:solidFill>
            <a:srgbClr val="1E2024"/>
          </a:solidFill>
          <a:ln w="12700">
            <a:solidFill>
              <a:srgbClr val="D8A03D">
                <a:alpha val="30196"/>
              </a:srgbClr>
            </a:solidFill>
            <a:prstDash val="solid"/>
            <a:round/>
            <a:headEnd/>
            <a:tailEnd/>
          </a:ln>
        </p:spPr>
        <p:txBody>
          <a:bodyPr/>
          <a:lstStyle/>
          <a:p>
            <a:endParaRPr lang="en-US"/>
          </a:p>
        </p:txBody>
      </p:sp>
      <p:sp>
        <p:nvSpPr>
          <p:cNvPr id="13320" name="Shape 24">
            <a:extLst>
              <a:ext uri="{FF2B5EF4-FFF2-40B4-BE49-F238E27FC236}">
                <a16:creationId xmlns:a16="http://schemas.microsoft.com/office/drawing/2014/main" id="{851FDA7F-6145-D792-CF37-0A002604E9C6}"/>
              </a:ext>
            </a:extLst>
          </p:cNvPr>
          <p:cNvSpPr>
            <a:spLocks/>
          </p:cNvSpPr>
          <p:nvPr/>
        </p:nvSpPr>
        <p:spPr bwMode="auto">
          <a:xfrm>
            <a:off x="4097338" y="1127125"/>
            <a:ext cx="171450" cy="171450"/>
          </a:xfrm>
          <a:custGeom>
            <a:avLst/>
            <a:gdLst>
              <a:gd name="T0" fmla="*/ 48321 w 171450"/>
              <a:gd name="T1" fmla="*/ 0 h 171450"/>
              <a:gd name="T2" fmla="*/ 123330 w 171450"/>
              <a:gd name="T3" fmla="*/ 0 h 171450"/>
              <a:gd name="T4" fmla="*/ 139102 w 171450"/>
              <a:gd name="T5" fmla="*/ 16140 h 171450"/>
              <a:gd name="T6" fmla="*/ 138868 w 171450"/>
              <a:gd name="T7" fmla="*/ 21431 h 171450"/>
              <a:gd name="T8" fmla="*/ 155477 w 171450"/>
              <a:gd name="T9" fmla="*/ 21431 h 171450"/>
              <a:gd name="T10" fmla="*/ 171249 w 171450"/>
              <a:gd name="T11" fmla="*/ 38107 h 171450"/>
              <a:gd name="T12" fmla="*/ 131735 w 171450"/>
              <a:gd name="T13" fmla="*/ 101899 h 171450"/>
              <a:gd name="T14" fmla="*/ 115930 w 171450"/>
              <a:gd name="T15" fmla="*/ 108194 h 171450"/>
              <a:gd name="T16" fmla="*/ 96541 w 171450"/>
              <a:gd name="T17" fmla="*/ 125540 h 171450"/>
              <a:gd name="T18" fmla="*/ 96541 w 171450"/>
              <a:gd name="T19" fmla="*/ 150019 h 171450"/>
              <a:gd name="T20" fmla="*/ 117972 w 171450"/>
              <a:gd name="T21" fmla="*/ 150019 h 171450"/>
              <a:gd name="T22" fmla="*/ 128688 w 171450"/>
              <a:gd name="T23" fmla="*/ 160734 h 171450"/>
              <a:gd name="T24" fmla="*/ 117972 w 171450"/>
              <a:gd name="T25" fmla="*/ 171450 h 171450"/>
              <a:gd name="T26" fmla="*/ 53679 w 171450"/>
              <a:gd name="T27" fmla="*/ 171450 h 171450"/>
              <a:gd name="T28" fmla="*/ 42963 w 171450"/>
              <a:gd name="T29" fmla="*/ 160734 h 171450"/>
              <a:gd name="T30" fmla="*/ 53679 w 171450"/>
              <a:gd name="T31" fmla="*/ 150019 h 171450"/>
              <a:gd name="T32" fmla="*/ 75110 w 171450"/>
              <a:gd name="T33" fmla="*/ 150019 h 171450"/>
              <a:gd name="T34" fmla="*/ 75110 w 171450"/>
              <a:gd name="T35" fmla="*/ 125540 h 171450"/>
              <a:gd name="T36" fmla="*/ 56592 w 171450"/>
              <a:gd name="T37" fmla="*/ 109366 h 171450"/>
              <a:gd name="T38" fmla="*/ 37203 w 171450"/>
              <a:gd name="T39" fmla="*/ 101631 h 171450"/>
              <a:gd name="T40" fmla="*/ 402 w 171450"/>
              <a:gd name="T41" fmla="*/ 38040 h 171450"/>
              <a:gd name="T42" fmla="*/ 16174 w 171450"/>
              <a:gd name="T43" fmla="*/ 21398 h 171450"/>
              <a:gd name="T44" fmla="*/ 32783 w 171450"/>
              <a:gd name="T45" fmla="*/ 21398 h 171450"/>
              <a:gd name="T46" fmla="*/ 32549 w 171450"/>
              <a:gd name="T47" fmla="*/ 16107 h 171450"/>
              <a:gd name="T48" fmla="*/ 48321 w 171450"/>
              <a:gd name="T49" fmla="*/ -33 h 171450"/>
              <a:gd name="T50" fmla="*/ 48321 w 171450"/>
              <a:gd name="T51" fmla="*/ 0 h 171450"/>
              <a:gd name="T52" fmla="*/ 33989 w 171450"/>
              <a:gd name="T53" fmla="*/ 37505 h 171450"/>
              <a:gd name="T54" fmla="*/ 16442 w 171450"/>
              <a:gd name="T55" fmla="*/ 37505 h 171450"/>
              <a:gd name="T56" fmla="*/ 44972 w 171450"/>
              <a:gd name="T57" fmla="*/ 87600 h 171450"/>
              <a:gd name="T58" fmla="*/ 33989 w 171450"/>
              <a:gd name="T59" fmla="*/ 37505 h 171450"/>
              <a:gd name="T60" fmla="*/ 127248 w 171450"/>
              <a:gd name="T61" fmla="*/ 85993 h 171450"/>
              <a:gd name="T62" fmla="*/ 155142 w 171450"/>
              <a:gd name="T63" fmla="*/ 37505 h 171450"/>
              <a:gd name="T64" fmla="*/ 137629 w 171450"/>
              <a:gd name="T65" fmla="*/ 37505 h 171450"/>
              <a:gd name="T66" fmla="*/ 127248 w 171450"/>
              <a:gd name="T67" fmla="*/ 85993 h 171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71450" h="171450">
                <a:moveTo>
                  <a:pt x="48321" y="0"/>
                </a:moveTo>
                <a:lnTo>
                  <a:pt x="123330" y="0"/>
                </a:lnTo>
                <a:cubicBezTo>
                  <a:pt x="132204" y="0"/>
                  <a:pt x="139437" y="7300"/>
                  <a:pt x="139102" y="16140"/>
                </a:cubicBezTo>
                <a:cubicBezTo>
                  <a:pt x="139035" y="17915"/>
                  <a:pt x="138968" y="19690"/>
                  <a:pt x="138868" y="21431"/>
                </a:cubicBezTo>
                <a:lnTo>
                  <a:pt x="155477" y="21431"/>
                </a:lnTo>
                <a:cubicBezTo>
                  <a:pt x="164217" y="21431"/>
                  <a:pt x="171919" y="28664"/>
                  <a:pt x="171249" y="38107"/>
                </a:cubicBezTo>
                <a:cubicBezTo>
                  <a:pt x="168738" y="72833"/>
                  <a:pt x="150990" y="91920"/>
                  <a:pt x="131735" y="101899"/>
                </a:cubicBezTo>
                <a:cubicBezTo>
                  <a:pt x="126444" y="104645"/>
                  <a:pt x="121053" y="106687"/>
                  <a:pt x="115930" y="108194"/>
                </a:cubicBezTo>
                <a:cubicBezTo>
                  <a:pt x="109165" y="117771"/>
                  <a:pt x="102133" y="122828"/>
                  <a:pt x="96541" y="125540"/>
                </a:cubicBezTo>
                <a:lnTo>
                  <a:pt x="96541" y="150019"/>
                </a:lnTo>
                <a:lnTo>
                  <a:pt x="117972" y="150019"/>
                </a:lnTo>
                <a:cubicBezTo>
                  <a:pt x="123899" y="150019"/>
                  <a:pt x="128688" y="154807"/>
                  <a:pt x="128688" y="160734"/>
                </a:cubicBezTo>
                <a:cubicBezTo>
                  <a:pt x="128688" y="166661"/>
                  <a:pt x="123899" y="171450"/>
                  <a:pt x="117972" y="171450"/>
                </a:cubicBezTo>
                <a:lnTo>
                  <a:pt x="53679" y="171450"/>
                </a:lnTo>
                <a:cubicBezTo>
                  <a:pt x="47752" y="171450"/>
                  <a:pt x="42963" y="166661"/>
                  <a:pt x="42963" y="160734"/>
                </a:cubicBezTo>
                <a:cubicBezTo>
                  <a:pt x="42963" y="154807"/>
                  <a:pt x="47752" y="150019"/>
                  <a:pt x="53679" y="150019"/>
                </a:cubicBezTo>
                <a:lnTo>
                  <a:pt x="75110" y="150019"/>
                </a:lnTo>
                <a:lnTo>
                  <a:pt x="75110" y="125540"/>
                </a:lnTo>
                <a:cubicBezTo>
                  <a:pt x="69752" y="122962"/>
                  <a:pt x="63088" y="118173"/>
                  <a:pt x="56592" y="109366"/>
                </a:cubicBezTo>
                <a:cubicBezTo>
                  <a:pt x="50430" y="107759"/>
                  <a:pt x="43733" y="105315"/>
                  <a:pt x="37203" y="101631"/>
                </a:cubicBezTo>
                <a:cubicBezTo>
                  <a:pt x="19087" y="91485"/>
                  <a:pt x="2746" y="72364"/>
                  <a:pt x="402" y="38040"/>
                </a:cubicBezTo>
                <a:cubicBezTo>
                  <a:pt x="-234" y="28631"/>
                  <a:pt x="7434" y="21398"/>
                  <a:pt x="16174" y="21398"/>
                </a:cubicBezTo>
                <a:lnTo>
                  <a:pt x="32783" y="21398"/>
                </a:lnTo>
                <a:cubicBezTo>
                  <a:pt x="32683" y="19656"/>
                  <a:pt x="32616" y="17915"/>
                  <a:pt x="32549" y="16107"/>
                </a:cubicBezTo>
                <a:cubicBezTo>
                  <a:pt x="32214" y="7233"/>
                  <a:pt x="39447" y="-33"/>
                  <a:pt x="48321" y="-33"/>
                </a:cubicBezTo>
                <a:lnTo>
                  <a:pt x="48321" y="0"/>
                </a:lnTo>
                <a:close/>
                <a:moveTo>
                  <a:pt x="33989" y="37505"/>
                </a:moveTo>
                <a:lnTo>
                  <a:pt x="16442" y="37505"/>
                </a:lnTo>
                <a:cubicBezTo>
                  <a:pt x="18518" y="65868"/>
                  <a:pt x="31544" y="80066"/>
                  <a:pt x="44972" y="87600"/>
                </a:cubicBezTo>
                <a:cubicBezTo>
                  <a:pt x="40150" y="75110"/>
                  <a:pt x="36165" y="58802"/>
                  <a:pt x="33989" y="37505"/>
                </a:cubicBezTo>
                <a:close/>
                <a:moveTo>
                  <a:pt x="127248" y="85993"/>
                </a:moveTo>
                <a:cubicBezTo>
                  <a:pt x="140810" y="78023"/>
                  <a:pt x="153066" y="63858"/>
                  <a:pt x="155142" y="37505"/>
                </a:cubicBezTo>
                <a:lnTo>
                  <a:pt x="137629" y="37505"/>
                </a:lnTo>
                <a:cubicBezTo>
                  <a:pt x="135553" y="57898"/>
                  <a:pt x="131802" y="73737"/>
                  <a:pt x="127248" y="85993"/>
                </a:cubicBezTo>
                <a:close/>
              </a:path>
            </a:pathLst>
          </a:custGeom>
          <a:solidFill>
            <a:srgbClr val="D8A03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 name="Text 25">
            <a:extLst>
              <a:ext uri="{FF2B5EF4-FFF2-40B4-BE49-F238E27FC236}">
                <a16:creationId xmlns:a16="http://schemas.microsoft.com/office/drawing/2014/main" id="{17F032CB-305C-4448-9F90-CE360DEE2240}"/>
              </a:ext>
            </a:extLst>
          </p:cNvPr>
          <p:cNvSpPr/>
          <p:nvPr/>
        </p:nvSpPr>
        <p:spPr>
          <a:xfrm>
            <a:off x="4400550" y="1079500"/>
            <a:ext cx="6343650" cy="266700"/>
          </a:xfrm>
          <a:prstGeom prst="rect">
            <a:avLst/>
          </a:prstGeom>
          <a:noFill/>
          <a:ln/>
        </p:spPr>
        <p:txBody>
          <a:bodyPr lIns="0" tIns="0" rIns="0" bIns="0" anchor="ctr"/>
          <a:lstStyle/>
          <a:p>
            <a:pPr eaLnBrk="1" fontAlgn="auto" hangingPunct="1">
              <a:lnSpc>
                <a:spcPct val="130000"/>
              </a:lnSpc>
              <a:spcBef>
                <a:spcPts val="0"/>
              </a:spcBef>
              <a:spcAft>
                <a:spcPts val="0"/>
              </a:spcAft>
              <a:defRPr/>
            </a:pPr>
            <a:r>
              <a:rPr lang="en-US" sz="1350" b="1" dirty="0">
                <a:solidFill>
                  <a:srgbClr val="D8A03D"/>
                </a:solidFill>
                <a:latin typeface="Liter" pitchFamily="34" charset="0"/>
                <a:ea typeface="Liter" pitchFamily="34" charset="-122"/>
                <a:cs typeface="Liter" pitchFamily="34" charset="-120"/>
              </a:rPr>
              <a:t>Interior DL Performance (Frame 25)</a:t>
            </a:r>
            <a:endParaRPr lang="en-US" sz="1600" dirty="0">
              <a:latin typeface="+mn-lt"/>
            </a:endParaRPr>
          </a:p>
        </p:txBody>
      </p:sp>
      <p:sp>
        <p:nvSpPr>
          <p:cNvPr id="13322" name="Shape 26">
            <a:extLst>
              <a:ext uri="{FF2B5EF4-FFF2-40B4-BE49-F238E27FC236}">
                <a16:creationId xmlns:a16="http://schemas.microsoft.com/office/drawing/2014/main" id="{D5DADCB8-728B-BE19-351E-1D7B0591980B}"/>
              </a:ext>
            </a:extLst>
          </p:cNvPr>
          <p:cNvSpPr>
            <a:spLocks/>
          </p:cNvSpPr>
          <p:nvPr/>
        </p:nvSpPr>
        <p:spPr bwMode="auto">
          <a:xfrm>
            <a:off x="6081713" y="1376363"/>
            <a:ext cx="114300" cy="152400"/>
          </a:xfrm>
          <a:custGeom>
            <a:avLst/>
            <a:gdLst>
              <a:gd name="T0" fmla="*/ 63877 w 114300"/>
              <a:gd name="T1" fmla="*/ 5179 h 152400"/>
              <a:gd name="T2" fmla="*/ 50393 w 114300"/>
              <a:gd name="T3" fmla="*/ 5179 h 152400"/>
              <a:gd name="T4" fmla="*/ 2768 w 114300"/>
              <a:gd name="T5" fmla="*/ 52804 h 152400"/>
              <a:gd name="T6" fmla="*/ 2768 w 114300"/>
              <a:gd name="T7" fmla="*/ 66288 h 152400"/>
              <a:gd name="T8" fmla="*/ 16252 w 114300"/>
              <a:gd name="T9" fmla="*/ 66288 h 152400"/>
              <a:gd name="T10" fmla="*/ 47625 w 114300"/>
              <a:gd name="T11" fmla="*/ 34915 h 152400"/>
              <a:gd name="T12" fmla="*/ 47625 w 114300"/>
              <a:gd name="T13" fmla="*/ 145256 h 152400"/>
              <a:gd name="T14" fmla="*/ 57150 w 114300"/>
              <a:gd name="T15" fmla="*/ 154781 h 152400"/>
              <a:gd name="T16" fmla="*/ 66675 w 114300"/>
              <a:gd name="T17" fmla="*/ 145256 h 152400"/>
              <a:gd name="T18" fmla="*/ 66675 w 114300"/>
              <a:gd name="T19" fmla="*/ 34915 h 152400"/>
              <a:gd name="T20" fmla="*/ 98048 w 114300"/>
              <a:gd name="T21" fmla="*/ 66288 h 152400"/>
              <a:gd name="T22" fmla="*/ 111532 w 114300"/>
              <a:gd name="T23" fmla="*/ 66288 h 152400"/>
              <a:gd name="T24" fmla="*/ 111532 w 114300"/>
              <a:gd name="T25" fmla="*/ 52804 h 152400"/>
              <a:gd name="T26" fmla="*/ 63907 w 114300"/>
              <a:gd name="T27" fmla="*/ 5179 h 152400"/>
              <a:gd name="T28" fmla="*/ 63877 w 114300"/>
              <a:gd name="T29" fmla="*/ 5179 h 152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300" h="152400">
                <a:moveTo>
                  <a:pt x="63877" y="5179"/>
                </a:moveTo>
                <a:cubicBezTo>
                  <a:pt x="60156" y="1459"/>
                  <a:pt x="54114" y="1459"/>
                  <a:pt x="50393" y="5179"/>
                </a:cubicBezTo>
                <a:lnTo>
                  <a:pt x="2768" y="52804"/>
                </a:lnTo>
                <a:cubicBezTo>
                  <a:pt x="-952" y="56525"/>
                  <a:pt x="-952" y="62567"/>
                  <a:pt x="2768" y="66288"/>
                </a:cubicBezTo>
                <a:cubicBezTo>
                  <a:pt x="6489" y="70009"/>
                  <a:pt x="12531" y="70009"/>
                  <a:pt x="16252" y="66288"/>
                </a:cubicBezTo>
                <a:lnTo>
                  <a:pt x="47625" y="34915"/>
                </a:lnTo>
                <a:lnTo>
                  <a:pt x="47625" y="145256"/>
                </a:lnTo>
                <a:cubicBezTo>
                  <a:pt x="47625" y="150525"/>
                  <a:pt x="51881" y="154781"/>
                  <a:pt x="57150" y="154781"/>
                </a:cubicBezTo>
                <a:cubicBezTo>
                  <a:pt x="62419" y="154781"/>
                  <a:pt x="66675" y="150525"/>
                  <a:pt x="66675" y="145256"/>
                </a:cubicBezTo>
                <a:lnTo>
                  <a:pt x="66675" y="34915"/>
                </a:lnTo>
                <a:lnTo>
                  <a:pt x="98048" y="66288"/>
                </a:lnTo>
                <a:cubicBezTo>
                  <a:pt x="101769" y="70009"/>
                  <a:pt x="107811" y="70009"/>
                  <a:pt x="111532" y="66288"/>
                </a:cubicBezTo>
                <a:cubicBezTo>
                  <a:pt x="115253" y="62567"/>
                  <a:pt x="115253" y="56525"/>
                  <a:pt x="111532" y="52804"/>
                </a:cubicBezTo>
                <a:lnTo>
                  <a:pt x="63907" y="5179"/>
                </a:lnTo>
                <a:lnTo>
                  <a:pt x="63877" y="5179"/>
                </a:lnTo>
                <a:close/>
              </a:path>
            </a:pathLst>
          </a:custGeom>
          <a:solidFill>
            <a:srgbClr val="4C7E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23" name="Text 27">
            <a:extLst>
              <a:ext uri="{FF2B5EF4-FFF2-40B4-BE49-F238E27FC236}">
                <a16:creationId xmlns:a16="http://schemas.microsoft.com/office/drawing/2014/main" id="{EB2C4A00-F813-3A71-2044-5F159D2DF47D}"/>
              </a:ext>
            </a:extLst>
          </p:cNvPr>
          <p:cNvSpPr>
            <a:spLocks noChangeArrowheads="1"/>
          </p:cNvSpPr>
          <p:nvPr/>
        </p:nvSpPr>
        <p:spPr bwMode="auto">
          <a:xfrm>
            <a:off x="6245225" y="1349375"/>
            <a:ext cx="3048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4C7E9A"/>
                </a:solidFill>
                <a:latin typeface="Liter" panose="02000503030000020004" pitchFamily="2" charset="0"/>
                <a:ea typeface="Liter" panose="02000503030000020004" pitchFamily="2" charset="0"/>
                <a:cs typeface="Liter" panose="02000503030000020004" pitchFamily="2" charset="0"/>
              </a:rPr>
              <a:t>Median Depth Gained</a:t>
            </a:r>
            <a:endParaRPr lang="en-US" altLang="en-US" sz="1000"/>
          </a:p>
        </p:txBody>
      </p:sp>
      <p:sp>
        <p:nvSpPr>
          <p:cNvPr id="13324" name="Text 4">
            <a:extLst>
              <a:ext uri="{FF2B5EF4-FFF2-40B4-BE49-F238E27FC236}">
                <a16:creationId xmlns:a16="http://schemas.microsoft.com/office/drawing/2014/main" id="{C69BEB4F-4EC8-6FB3-B0D3-D4CB0445261F}"/>
              </a:ext>
            </a:extLst>
          </p:cNvPr>
          <p:cNvSpPr>
            <a:spLocks noChangeArrowheads="1"/>
          </p:cNvSpPr>
          <p:nvPr/>
        </p:nvSpPr>
        <p:spPr bwMode="auto">
          <a:xfrm>
            <a:off x="590550" y="1520825"/>
            <a:ext cx="2951163" cy="168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200">
                <a:solidFill>
                  <a:srgbClr val="DEE0E4"/>
                </a:solidFill>
                <a:latin typeface="Quattrocento Sans" panose="020B0502050000020003" pitchFamily="34" charset="0"/>
              </a:rPr>
              <a:t>In 2025, </a:t>
            </a:r>
            <a:r>
              <a:rPr lang="en-US" altLang="en-US" sz="1200">
                <a:solidFill>
                  <a:srgbClr val="DEE0E4"/>
                </a:solidFill>
                <a:latin typeface="Quattrocento Sans" panose="020B0502050000020003" pitchFamily="34" charset="0"/>
                <a:hlinkClick r:id="rId3"/>
              </a:rPr>
              <a:t>the median time to throw for NFL quarterbacks was about 2.68 seconds</a:t>
            </a:r>
            <a:r>
              <a:rPr lang="en-US" altLang="en-US" sz="1200">
                <a:solidFill>
                  <a:srgbClr val="DEE0E4"/>
                </a:solidFill>
                <a:latin typeface="Quattrocento Sans" panose="020B0502050000020003" pitchFamily="34" charset="0"/>
              </a:rPr>
              <a:t>. Next Gen Stats has previously defined a "quick pressure" as </a:t>
            </a:r>
            <a:r>
              <a:rPr lang="en-US" altLang="en-US" sz="1200">
                <a:solidFill>
                  <a:srgbClr val="DEE0E4"/>
                </a:solidFill>
                <a:latin typeface="Quattrocento Sans" panose="020B0502050000020003" pitchFamily="34" charset="0"/>
                <a:hlinkClick r:id="rId4"/>
              </a:rPr>
              <a:t>a pressure occurring within the first 2.5 seconds of a play</a:t>
            </a:r>
            <a:r>
              <a:rPr lang="en-US" altLang="en-US" sz="1200">
                <a:solidFill>
                  <a:srgbClr val="DEE0E4"/>
                </a:solidFill>
                <a:latin typeface="Quattrocento Sans" panose="020B0502050000020003" pitchFamily="34" charset="0"/>
              </a:rPr>
              <a:t> and has said the average pressure occurred within 2.9 seconds. Likewise, ESPN Analytics' pass rush win rate metric quantifies "</a:t>
            </a:r>
            <a:r>
              <a:rPr lang="en-US" altLang="en-US" sz="1200">
                <a:solidFill>
                  <a:srgbClr val="DEE0E4"/>
                </a:solidFill>
                <a:latin typeface="Quattrocento Sans" panose="020B0502050000020003" pitchFamily="34" charset="0"/>
                <a:hlinkClick r:id="rId5"/>
              </a:rPr>
              <a:t>how often a pass rusher is able to beat his block within 2.5 seconds</a:t>
            </a:r>
            <a:r>
              <a:rPr lang="en-US" altLang="en-US" sz="1200">
                <a:solidFill>
                  <a:srgbClr val="DEE0E4"/>
                </a:solidFill>
                <a:latin typeface="Quattrocento Sans" panose="020B0502050000020003" pitchFamily="34" charset="0"/>
              </a:rPr>
              <a:t>". As such, frame 25 is a reasonable time at which to evaluate the depth gained by the defensive lineman. </a:t>
            </a:r>
          </a:p>
        </p:txBody>
      </p:sp>
      <p:sp>
        <p:nvSpPr>
          <p:cNvPr id="77" name="Text 4">
            <a:extLst>
              <a:ext uri="{FF2B5EF4-FFF2-40B4-BE49-F238E27FC236}">
                <a16:creationId xmlns:a16="http://schemas.microsoft.com/office/drawing/2014/main" id="{F0FACB39-B1EE-108B-AA04-4306C492681D}"/>
              </a:ext>
            </a:extLst>
          </p:cNvPr>
          <p:cNvSpPr/>
          <p:nvPr/>
        </p:nvSpPr>
        <p:spPr>
          <a:xfrm>
            <a:off x="782638" y="3838575"/>
            <a:ext cx="2759075" cy="504825"/>
          </a:xfrm>
          <a:prstGeom prst="rect">
            <a:avLst/>
          </a:prstGeom>
          <a:noFill/>
          <a:ln/>
        </p:spPr>
        <p:txBody>
          <a:bodyPr lIns="0" tIns="0" rIns="0" bIns="0" anchor="ctr"/>
          <a:lstStyle/>
          <a:p>
            <a:pPr eaLnBrk="1" fontAlgn="auto" hangingPunct="1">
              <a:spcBef>
                <a:spcPts val="0"/>
              </a:spcBef>
              <a:spcAft>
                <a:spcPts val="0"/>
              </a:spcAft>
              <a:defRPr/>
            </a:pPr>
            <a:r>
              <a:rPr lang="en-US" sz="1350" b="1" dirty="0">
                <a:solidFill>
                  <a:srgbClr val="4C7E9A"/>
                </a:solidFill>
                <a:latin typeface="Liter" pitchFamily="34" charset="0"/>
                <a:ea typeface="Liter" pitchFamily="34" charset="-122"/>
                <a:cs typeface="Liter" pitchFamily="34" charset="-120"/>
              </a:rPr>
              <a:t>Why depth allowed (or gained) by the DL?</a:t>
            </a:r>
            <a:endParaRPr lang="en-US" sz="1600" dirty="0">
              <a:latin typeface="+mn-lt"/>
            </a:endParaRPr>
          </a:p>
        </p:txBody>
      </p:sp>
      <p:sp>
        <p:nvSpPr>
          <p:cNvPr id="13326" name="Text 4">
            <a:extLst>
              <a:ext uri="{FF2B5EF4-FFF2-40B4-BE49-F238E27FC236}">
                <a16:creationId xmlns:a16="http://schemas.microsoft.com/office/drawing/2014/main" id="{412BFC37-B182-33B0-27E9-C0654918B48D}"/>
              </a:ext>
            </a:extLst>
          </p:cNvPr>
          <p:cNvSpPr>
            <a:spLocks noChangeArrowheads="1"/>
          </p:cNvSpPr>
          <p:nvPr/>
        </p:nvSpPr>
        <p:spPr bwMode="auto">
          <a:xfrm>
            <a:off x="573088" y="4381500"/>
            <a:ext cx="3011487"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200">
                <a:solidFill>
                  <a:srgbClr val="DEE0E4"/>
                </a:solidFill>
                <a:latin typeface="Quattrocento Sans" panose="020B0502050000020003" pitchFamily="34" charset="0"/>
              </a:rPr>
              <a:t>The basic idea is that depth penetration (x-axis) at 2.5 seconds is a potential proxy for whether the interior DL beat his block, walked the OL back, gained a negligible amount of depth, or stalled out. In turn, interior OL can be evaluated by examining how much depth they allowed the DL to gain. Using one axis avoids over-crediting lateral movement.</a:t>
            </a:r>
          </a:p>
        </p:txBody>
      </p:sp>
      <p:pic>
        <p:nvPicPr>
          <p:cNvPr id="80" name="Graphic 79" descr="Badge Question Mark with solid fill">
            <a:extLst>
              <a:ext uri="{FF2B5EF4-FFF2-40B4-BE49-F238E27FC236}">
                <a16:creationId xmlns:a16="http://schemas.microsoft.com/office/drawing/2014/main" id="{41450728-3C15-451B-1263-C3F44DCC0291}"/>
              </a:ext>
            </a:extLst>
          </p:cNvPr>
          <p:cNvPicPr>
            <a:picLocks noChangeAspect="1"/>
          </p:cNvPicPr>
          <p:nvPr/>
        </p:nvPicPr>
        <p:blipFill>
          <a:blip r:embed="rId6"/>
          <a:stretch>
            <a:fillRect/>
          </a:stretch>
        </p:blipFill>
        <p:spPr>
          <a:xfrm>
            <a:off x="531813" y="3873500"/>
            <a:ext cx="233362" cy="234950"/>
          </a:xfrm>
          <a:prstGeom prst="rect">
            <a:avLst/>
          </a:prstGeom>
        </p:spPr>
      </p:pic>
      <p:sp>
        <p:nvSpPr>
          <p:cNvPr id="13328" name="Text 27">
            <a:extLst>
              <a:ext uri="{FF2B5EF4-FFF2-40B4-BE49-F238E27FC236}">
                <a16:creationId xmlns:a16="http://schemas.microsoft.com/office/drawing/2014/main" id="{18A086A5-635A-78FB-8D50-F20F2F57F0CE}"/>
              </a:ext>
            </a:extLst>
          </p:cNvPr>
          <p:cNvSpPr>
            <a:spLocks noChangeArrowheads="1"/>
          </p:cNvSpPr>
          <p:nvPr/>
        </p:nvSpPr>
        <p:spPr bwMode="auto">
          <a:xfrm>
            <a:off x="4443413" y="1354138"/>
            <a:ext cx="3048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4C7E9A"/>
                </a:solidFill>
                <a:latin typeface="Liter" panose="02000503030000020004" pitchFamily="2" charset="0"/>
                <a:ea typeface="Liter" panose="02000503030000020004" pitchFamily="2" charset="0"/>
                <a:cs typeface="Liter" panose="02000503030000020004" pitchFamily="2" charset="0"/>
              </a:rPr>
              <a:t>Player</a:t>
            </a:r>
            <a:endParaRPr lang="en-US" altLang="en-US" sz="1000"/>
          </a:p>
        </p:txBody>
      </p:sp>
      <p:sp>
        <p:nvSpPr>
          <p:cNvPr id="13329" name="Text 27">
            <a:extLst>
              <a:ext uri="{FF2B5EF4-FFF2-40B4-BE49-F238E27FC236}">
                <a16:creationId xmlns:a16="http://schemas.microsoft.com/office/drawing/2014/main" id="{842F3A0F-BA71-DF4A-4525-C201D6B59C13}"/>
              </a:ext>
            </a:extLst>
          </p:cNvPr>
          <p:cNvSpPr>
            <a:spLocks noChangeArrowheads="1"/>
          </p:cNvSpPr>
          <p:nvPr/>
        </p:nvSpPr>
        <p:spPr bwMode="auto">
          <a:xfrm>
            <a:off x="8051800" y="1387475"/>
            <a:ext cx="140176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4C7E9A"/>
                </a:solidFill>
                <a:latin typeface="Liter" panose="02000503030000020004" pitchFamily="2" charset="0"/>
                <a:ea typeface="Liter" panose="02000503030000020004" pitchFamily="2" charset="0"/>
                <a:cs typeface="Liter" panose="02000503030000020004" pitchFamily="2" charset="0"/>
              </a:rPr>
              <a:t>Draft Outcome</a:t>
            </a:r>
            <a:endParaRPr lang="en-US" altLang="en-US" sz="1000"/>
          </a:p>
        </p:txBody>
      </p:sp>
      <p:sp>
        <p:nvSpPr>
          <p:cNvPr id="13330" name="Text 27">
            <a:extLst>
              <a:ext uri="{FF2B5EF4-FFF2-40B4-BE49-F238E27FC236}">
                <a16:creationId xmlns:a16="http://schemas.microsoft.com/office/drawing/2014/main" id="{88C800BD-4140-B405-0E4F-2EEC4AA4E568}"/>
              </a:ext>
            </a:extLst>
          </p:cNvPr>
          <p:cNvSpPr>
            <a:spLocks noChangeArrowheads="1"/>
          </p:cNvSpPr>
          <p:nvPr/>
        </p:nvSpPr>
        <p:spPr bwMode="auto">
          <a:xfrm>
            <a:off x="9578975" y="1385888"/>
            <a:ext cx="17145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4C7E9A"/>
                </a:solidFill>
                <a:latin typeface="Liter" panose="02000503030000020004" pitchFamily="2" charset="0"/>
                <a:ea typeface="Liter" panose="02000503030000020004" pitchFamily="2" charset="0"/>
                <a:cs typeface="Liter" panose="02000503030000020004" pitchFamily="2" charset="0"/>
              </a:rPr>
              <a:t>NFL Outcome (2 years)</a:t>
            </a:r>
          </a:p>
          <a:p>
            <a:pPr eaLnBrk="1" hangingPunct="1">
              <a:lnSpc>
                <a:spcPct val="130000"/>
              </a:lnSpc>
            </a:pPr>
            <a:endParaRPr lang="en-US" altLang="en-US" sz="1000"/>
          </a:p>
        </p:txBody>
      </p:sp>
      <p:sp>
        <p:nvSpPr>
          <p:cNvPr id="187" name="Rectangle 186">
            <a:extLst>
              <a:ext uri="{FF2B5EF4-FFF2-40B4-BE49-F238E27FC236}">
                <a16:creationId xmlns:a16="http://schemas.microsoft.com/office/drawing/2014/main" id="{C7B8ACF0-D55A-42CE-E86D-19D3FD69325C}"/>
              </a:ext>
            </a:extLst>
          </p:cNvPr>
          <p:cNvSpPr/>
          <p:nvPr/>
        </p:nvSpPr>
        <p:spPr>
          <a:xfrm>
            <a:off x="4443413" y="1628775"/>
            <a:ext cx="7254875" cy="5040313"/>
          </a:xfrm>
          <a:prstGeom prst="rect">
            <a:avLst/>
          </a:prstGeom>
          <a:solidFill>
            <a:srgbClr val="111317"/>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3332" name="Text 29">
            <a:extLst>
              <a:ext uri="{FF2B5EF4-FFF2-40B4-BE49-F238E27FC236}">
                <a16:creationId xmlns:a16="http://schemas.microsoft.com/office/drawing/2014/main" id="{B1DA5E6F-6EEE-C513-453C-896C8031FD1D}"/>
              </a:ext>
            </a:extLst>
          </p:cNvPr>
          <p:cNvSpPr>
            <a:spLocks noChangeArrowheads="1"/>
          </p:cNvSpPr>
          <p:nvPr/>
        </p:nvSpPr>
        <p:spPr bwMode="auto">
          <a:xfrm>
            <a:off x="4518025" y="1592263"/>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Tuli Letuligasenoa</a:t>
            </a:r>
            <a:endParaRPr lang="en-US" altLang="en-US" sz="1000"/>
          </a:p>
        </p:txBody>
      </p:sp>
      <p:sp>
        <p:nvSpPr>
          <p:cNvPr id="189" name="Text 30">
            <a:extLst>
              <a:ext uri="{FF2B5EF4-FFF2-40B4-BE49-F238E27FC236}">
                <a16:creationId xmlns:a16="http://schemas.microsoft.com/office/drawing/2014/main" id="{9B84159D-5EDA-514C-30D5-DB3FE8F648C0}"/>
              </a:ext>
            </a:extLst>
          </p:cNvPr>
          <p:cNvSpPr/>
          <p:nvPr/>
        </p:nvSpPr>
        <p:spPr>
          <a:xfrm>
            <a:off x="4542382" y="1795320"/>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3 reps</a:t>
            </a:r>
            <a:endParaRPr lang="en-US" sz="1000" dirty="0">
              <a:latin typeface="+mn-lt"/>
            </a:endParaRPr>
          </a:p>
        </p:txBody>
      </p:sp>
      <p:sp>
        <p:nvSpPr>
          <p:cNvPr id="13334" name="Text 31">
            <a:extLst>
              <a:ext uri="{FF2B5EF4-FFF2-40B4-BE49-F238E27FC236}">
                <a16:creationId xmlns:a16="http://schemas.microsoft.com/office/drawing/2014/main" id="{9741DC0B-5AAF-3E2D-B9C8-3BDCA2832771}"/>
              </a:ext>
            </a:extLst>
          </p:cNvPr>
          <p:cNvSpPr>
            <a:spLocks noChangeArrowheads="1"/>
          </p:cNvSpPr>
          <p:nvPr/>
        </p:nvSpPr>
        <p:spPr bwMode="auto">
          <a:xfrm>
            <a:off x="6132513" y="1600200"/>
            <a:ext cx="1652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4.54 yards</a:t>
            </a:r>
            <a:endParaRPr lang="en-US" altLang="en-US" sz="1000"/>
          </a:p>
        </p:txBody>
      </p:sp>
      <p:sp>
        <p:nvSpPr>
          <p:cNvPr id="13335" name="Text 31">
            <a:extLst>
              <a:ext uri="{FF2B5EF4-FFF2-40B4-BE49-F238E27FC236}">
                <a16:creationId xmlns:a16="http://schemas.microsoft.com/office/drawing/2014/main" id="{DE4DC028-3343-0BD5-B0E0-C6DD3B34421F}"/>
              </a:ext>
            </a:extLst>
          </p:cNvPr>
          <p:cNvSpPr>
            <a:spLocks noChangeArrowheads="1"/>
          </p:cNvSpPr>
          <p:nvPr/>
        </p:nvSpPr>
        <p:spPr bwMode="auto">
          <a:xfrm>
            <a:off x="8085138" y="1585913"/>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Undrafted</a:t>
            </a:r>
            <a:endParaRPr lang="en-US" altLang="en-US" sz="1000"/>
          </a:p>
        </p:txBody>
      </p:sp>
      <p:sp>
        <p:nvSpPr>
          <p:cNvPr id="13336" name="Text 31">
            <a:extLst>
              <a:ext uri="{FF2B5EF4-FFF2-40B4-BE49-F238E27FC236}">
                <a16:creationId xmlns:a16="http://schemas.microsoft.com/office/drawing/2014/main" id="{1E0D40C7-D750-B94D-D68D-65D8C859FB3D}"/>
              </a:ext>
            </a:extLst>
          </p:cNvPr>
          <p:cNvSpPr>
            <a:spLocks noChangeArrowheads="1"/>
          </p:cNvSpPr>
          <p:nvPr/>
        </p:nvSpPr>
        <p:spPr bwMode="auto">
          <a:xfrm>
            <a:off x="9594850" y="1685925"/>
            <a:ext cx="18176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0 games started, 0 games played (practice squad briefly)</a:t>
            </a:r>
            <a:endParaRPr lang="en-US" altLang="en-US" sz="1000"/>
          </a:p>
        </p:txBody>
      </p:sp>
      <p:sp>
        <p:nvSpPr>
          <p:cNvPr id="13337" name="Text 29">
            <a:extLst>
              <a:ext uri="{FF2B5EF4-FFF2-40B4-BE49-F238E27FC236}">
                <a16:creationId xmlns:a16="http://schemas.microsoft.com/office/drawing/2014/main" id="{3FD97D0E-8600-41AD-27A5-D3AF5A417748}"/>
              </a:ext>
            </a:extLst>
          </p:cNvPr>
          <p:cNvSpPr>
            <a:spLocks noChangeArrowheads="1"/>
          </p:cNvSpPr>
          <p:nvPr/>
        </p:nvSpPr>
        <p:spPr bwMode="auto">
          <a:xfrm>
            <a:off x="4506913" y="2025650"/>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Jowon Briggs</a:t>
            </a:r>
            <a:endParaRPr lang="en-US" altLang="en-US" sz="1000"/>
          </a:p>
        </p:txBody>
      </p:sp>
      <p:sp>
        <p:nvSpPr>
          <p:cNvPr id="194" name="Text 30">
            <a:extLst>
              <a:ext uri="{FF2B5EF4-FFF2-40B4-BE49-F238E27FC236}">
                <a16:creationId xmlns:a16="http://schemas.microsoft.com/office/drawing/2014/main" id="{B03F5211-3440-B0A1-B2B9-68DF8A81C003}"/>
              </a:ext>
            </a:extLst>
          </p:cNvPr>
          <p:cNvSpPr/>
          <p:nvPr/>
        </p:nvSpPr>
        <p:spPr>
          <a:xfrm>
            <a:off x="4530190" y="2228975"/>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4 reps</a:t>
            </a:r>
            <a:endParaRPr lang="en-US" sz="1000" dirty="0">
              <a:latin typeface="+mn-lt"/>
            </a:endParaRPr>
          </a:p>
        </p:txBody>
      </p:sp>
      <p:sp>
        <p:nvSpPr>
          <p:cNvPr id="13339" name="Text 31">
            <a:extLst>
              <a:ext uri="{FF2B5EF4-FFF2-40B4-BE49-F238E27FC236}">
                <a16:creationId xmlns:a16="http://schemas.microsoft.com/office/drawing/2014/main" id="{6223F6FA-8726-1C4C-BA48-CD2474A2E906}"/>
              </a:ext>
            </a:extLst>
          </p:cNvPr>
          <p:cNvSpPr>
            <a:spLocks noChangeArrowheads="1"/>
          </p:cNvSpPr>
          <p:nvPr/>
        </p:nvSpPr>
        <p:spPr bwMode="auto">
          <a:xfrm>
            <a:off x="6121400" y="2033588"/>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4.17 yards</a:t>
            </a:r>
            <a:endParaRPr lang="en-US" altLang="en-US" sz="1000"/>
          </a:p>
        </p:txBody>
      </p:sp>
      <p:sp>
        <p:nvSpPr>
          <p:cNvPr id="13340" name="Text 31">
            <a:extLst>
              <a:ext uri="{FF2B5EF4-FFF2-40B4-BE49-F238E27FC236}">
                <a16:creationId xmlns:a16="http://schemas.microsoft.com/office/drawing/2014/main" id="{03E5D6A3-5918-5C0F-A42D-DCC83586932D}"/>
              </a:ext>
            </a:extLst>
          </p:cNvPr>
          <p:cNvSpPr>
            <a:spLocks noChangeArrowheads="1"/>
          </p:cNvSpPr>
          <p:nvPr/>
        </p:nvSpPr>
        <p:spPr bwMode="auto">
          <a:xfrm>
            <a:off x="8072438" y="2019300"/>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7</a:t>
            </a:r>
            <a:r>
              <a:rPr lang="en-US" altLang="en-US" sz="1000" b="1" baseline="30000">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th</a:t>
            </a: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 round</a:t>
            </a:r>
            <a:endParaRPr lang="en-US" altLang="en-US" sz="1000"/>
          </a:p>
        </p:txBody>
      </p:sp>
      <p:sp>
        <p:nvSpPr>
          <p:cNvPr id="13341" name="Text 31">
            <a:extLst>
              <a:ext uri="{FF2B5EF4-FFF2-40B4-BE49-F238E27FC236}">
                <a16:creationId xmlns:a16="http://schemas.microsoft.com/office/drawing/2014/main" id="{F72E5798-7B68-9FFC-106B-FFD4C9D4DAC7}"/>
              </a:ext>
            </a:extLst>
          </p:cNvPr>
          <p:cNvSpPr>
            <a:spLocks noChangeArrowheads="1"/>
          </p:cNvSpPr>
          <p:nvPr/>
        </p:nvSpPr>
        <p:spPr bwMode="auto">
          <a:xfrm>
            <a:off x="9582150" y="2020888"/>
            <a:ext cx="165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8 games started, 23 games played</a:t>
            </a:r>
            <a:endParaRPr lang="en-US" altLang="en-US" sz="1000"/>
          </a:p>
        </p:txBody>
      </p:sp>
      <p:sp>
        <p:nvSpPr>
          <p:cNvPr id="13342" name="Text 29">
            <a:extLst>
              <a:ext uri="{FF2B5EF4-FFF2-40B4-BE49-F238E27FC236}">
                <a16:creationId xmlns:a16="http://schemas.microsoft.com/office/drawing/2014/main" id="{9DDE4AB3-7C06-EFCF-E2AC-495736358AA1}"/>
              </a:ext>
            </a:extLst>
          </p:cNvPr>
          <p:cNvSpPr>
            <a:spLocks noChangeArrowheads="1"/>
          </p:cNvSpPr>
          <p:nvPr/>
        </p:nvSpPr>
        <p:spPr bwMode="auto">
          <a:xfrm>
            <a:off x="4518025" y="2451100"/>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Logan Lee</a:t>
            </a:r>
            <a:endParaRPr lang="en-US" altLang="en-US" sz="1000"/>
          </a:p>
        </p:txBody>
      </p:sp>
      <p:sp>
        <p:nvSpPr>
          <p:cNvPr id="199" name="Text 30">
            <a:extLst>
              <a:ext uri="{FF2B5EF4-FFF2-40B4-BE49-F238E27FC236}">
                <a16:creationId xmlns:a16="http://schemas.microsoft.com/office/drawing/2014/main" id="{094391D3-1479-ABAE-0BB0-D4F94998D023}"/>
              </a:ext>
            </a:extLst>
          </p:cNvPr>
          <p:cNvSpPr/>
          <p:nvPr/>
        </p:nvSpPr>
        <p:spPr>
          <a:xfrm>
            <a:off x="4541913" y="2653126"/>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5 reps</a:t>
            </a:r>
            <a:endParaRPr lang="en-US" sz="1000" dirty="0">
              <a:latin typeface="+mn-lt"/>
            </a:endParaRPr>
          </a:p>
        </p:txBody>
      </p:sp>
      <p:sp>
        <p:nvSpPr>
          <p:cNvPr id="13344" name="Text 31">
            <a:extLst>
              <a:ext uri="{FF2B5EF4-FFF2-40B4-BE49-F238E27FC236}">
                <a16:creationId xmlns:a16="http://schemas.microsoft.com/office/drawing/2014/main" id="{B915068C-F684-5F2B-11D5-460904684CBC}"/>
              </a:ext>
            </a:extLst>
          </p:cNvPr>
          <p:cNvSpPr>
            <a:spLocks noChangeArrowheads="1"/>
          </p:cNvSpPr>
          <p:nvPr/>
        </p:nvSpPr>
        <p:spPr bwMode="auto">
          <a:xfrm>
            <a:off x="6132513" y="2457450"/>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3.95 yards</a:t>
            </a:r>
            <a:endParaRPr lang="en-US" altLang="en-US" sz="1000"/>
          </a:p>
        </p:txBody>
      </p:sp>
      <p:sp>
        <p:nvSpPr>
          <p:cNvPr id="13345" name="Text 31">
            <a:extLst>
              <a:ext uri="{FF2B5EF4-FFF2-40B4-BE49-F238E27FC236}">
                <a16:creationId xmlns:a16="http://schemas.microsoft.com/office/drawing/2014/main" id="{C336A5B9-5C4A-1E42-C448-02F5248015D9}"/>
              </a:ext>
            </a:extLst>
          </p:cNvPr>
          <p:cNvSpPr>
            <a:spLocks noChangeArrowheads="1"/>
          </p:cNvSpPr>
          <p:nvPr/>
        </p:nvSpPr>
        <p:spPr bwMode="auto">
          <a:xfrm>
            <a:off x="8083550" y="2443163"/>
            <a:ext cx="165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6</a:t>
            </a:r>
            <a:r>
              <a:rPr lang="en-US" altLang="en-US" sz="1000" b="1" baseline="30000">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th</a:t>
            </a: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 round</a:t>
            </a:r>
            <a:endParaRPr lang="en-US" altLang="en-US" sz="1000"/>
          </a:p>
        </p:txBody>
      </p:sp>
      <p:sp>
        <p:nvSpPr>
          <p:cNvPr id="13346" name="Text 31">
            <a:extLst>
              <a:ext uri="{FF2B5EF4-FFF2-40B4-BE49-F238E27FC236}">
                <a16:creationId xmlns:a16="http://schemas.microsoft.com/office/drawing/2014/main" id="{C4EED078-35B1-5D1B-FD6E-54E33BC28EE1}"/>
              </a:ext>
            </a:extLst>
          </p:cNvPr>
          <p:cNvSpPr>
            <a:spLocks noChangeArrowheads="1"/>
          </p:cNvSpPr>
          <p:nvPr/>
        </p:nvSpPr>
        <p:spPr bwMode="auto">
          <a:xfrm>
            <a:off x="9594850" y="2446338"/>
            <a:ext cx="2006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0 games started, 7 games played</a:t>
            </a:r>
            <a:endParaRPr lang="en-US" altLang="en-US" sz="1000"/>
          </a:p>
        </p:txBody>
      </p:sp>
      <p:sp>
        <p:nvSpPr>
          <p:cNvPr id="13347" name="Text 29">
            <a:extLst>
              <a:ext uri="{FF2B5EF4-FFF2-40B4-BE49-F238E27FC236}">
                <a16:creationId xmlns:a16="http://schemas.microsoft.com/office/drawing/2014/main" id="{A8367BA3-FB75-3D6C-79D2-92358D37B685}"/>
              </a:ext>
            </a:extLst>
          </p:cNvPr>
          <p:cNvSpPr>
            <a:spLocks noChangeArrowheads="1"/>
          </p:cNvSpPr>
          <p:nvPr/>
        </p:nvSpPr>
        <p:spPr bwMode="auto">
          <a:xfrm>
            <a:off x="4519613" y="2865438"/>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Khristian Boyd</a:t>
            </a:r>
            <a:endParaRPr lang="en-US" altLang="en-US" sz="1000"/>
          </a:p>
        </p:txBody>
      </p:sp>
      <p:sp>
        <p:nvSpPr>
          <p:cNvPr id="204" name="Text 30">
            <a:extLst>
              <a:ext uri="{FF2B5EF4-FFF2-40B4-BE49-F238E27FC236}">
                <a16:creationId xmlns:a16="http://schemas.microsoft.com/office/drawing/2014/main" id="{B679A87C-D5D0-D482-AA79-988D7FE3C026}"/>
              </a:ext>
            </a:extLst>
          </p:cNvPr>
          <p:cNvSpPr/>
          <p:nvPr/>
        </p:nvSpPr>
        <p:spPr>
          <a:xfrm>
            <a:off x="4543529" y="3068379"/>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6 reps</a:t>
            </a:r>
            <a:endParaRPr lang="en-US" sz="1000" dirty="0">
              <a:latin typeface="+mn-lt"/>
            </a:endParaRPr>
          </a:p>
        </p:txBody>
      </p:sp>
      <p:sp>
        <p:nvSpPr>
          <p:cNvPr id="13349" name="Text 31">
            <a:extLst>
              <a:ext uri="{FF2B5EF4-FFF2-40B4-BE49-F238E27FC236}">
                <a16:creationId xmlns:a16="http://schemas.microsoft.com/office/drawing/2014/main" id="{1D31D642-80B9-1E9E-B79E-58CAC445F0F5}"/>
              </a:ext>
            </a:extLst>
          </p:cNvPr>
          <p:cNvSpPr>
            <a:spLocks noChangeArrowheads="1"/>
          </p:cNvSpPr>
          <p:nvPr/>
        </p:nvSpPr>
        <p:spPr bwMode="auto">
          <a:xfrm>
            <a:off x="6134100" y="2873375"/>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3.60 yards</a:t>
            </a:r>
            <a:endParaRPr lang="en-US" altLang="en-US" sz="1000"/>
          </a:p>
        </p:txBody>
      </p:sp>
      <p:sp>
        <p:nvSpPr>
          <p:cNvPr id="13350" name="Text 31">
            <a:extLst>
              <a:ext uri="{FF2B5EF4-FFF2-40B4-BE49-F238E27FC236}">
                <a16:creationId xmlns:a16="http://schemas.microsoft.com/office/drawing/2014/main" id="{644E0C3E-9C71-8823-FB64-2B8CF705C31A}"/>
              </a:ext>
            </a:extLst>
          </p:cNvPr>
          <p:cNvSpPr>
            <a:spLocks noChangeArrowheads="1"/>
          </p:cNvSpPr>
          <p:nvPr/>
        </p:nvSpPr>
        <p:spPr bwMode="auto">
          <a:xfrm>
            <a:off x="8085138" y="2859088"/>
            <a:ext cx="1652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6</a:t>
            </a:r>
            <a:r>
              <a:rPr lang="en-US" altLang="en-US" sz="1000" b="1" baseline="30000">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th</a:t>
            </a: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 round</a:t>
            </a:r>
            <a:endParaRPr lang="en-US" altLang="en-US" sz="1000"/>
          </a:p>
        </p:txBody>
      </p:sp>
      <p:sp>
        <p:nvSpPr>
          <p:cNvPr id="13351" name="Text 31">
            <a:extLst>
              <a:ext uri="{FF2B5EF4-FFF2-40B4-BE49-F238E27FC236}">
                <a16:creationId xmlns:a16="http://schemas.microsoft.com/office/drawing/2014/main" id="{517258FA-1614-398C-3239-CB5627282F57}"/>
              </a:ext>
            </a:extLst>
          </p:cNvPr>
          <p:cNvSpPr>
            <a:spLocks noChangeArrowheads="1"/>
          </p:cNvSpPr>
          <p:nvPr/>
        </p:nvSpPr>
        <p:spPr bwMode="auto">
          <a:xfrm>
            <a:off x="9596438" y="2860675"/>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0 games started, 10 games played</a:t>
            </a:r>
            <a:endParaRPr lang="en-US" altLang="en-US" sz="1000"/>
          </a:p>
        </p:txBody>
      </p:sp>
      <p:sp>
        <p:nvSpPr>
          <p:cNvPr id="13352" name="Text 29">
            <a:extLst>
              <a:ext uri="{FF2B5EF4-FFF2-40B4-BE49-F238E27FC236}">
                <a16:creationId xmlns:a16="http://schemas.microsoft.com/office/drawing/2014/main" id="{51E85A1C-8BB0-3127-769D-165902D34C77}"/>
              </a:ext>
            </a:extLst>
          </p:cNvPr>
          <p:cNvSpPr>
            <a:spLocks noChangeArrowheads="1"/>
          </p:cNvSpPr>
          <p:nvPr/>
        </p:nvSpPr>
        <p:spPr bwMode="auto">
          <a:xfrm>
            <a:off x="4506913" y="3298825"/>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Jordan Miller</a:t>
            </a:r>
            <a:endParaRPr lang="en-US" altLang="en-US" sz="1000"/>
          </a:p>
        </p:txBody>
      </p:sp>
      <p:sp>
        <p:nvSpPr>
          <p:cNvPr id="209" name="Text 30">
            <a:extLst>
              <a:ext uri="{FF2B5EF4-FFF2-40B4-BE49-F238E27FC236}">
                <a16:creationId xmlns:a16="http://schemas.microsoft.com/office/drawing/2014/main" id="{C5CAF1A5-AC7C-5E1F-1D58-09FF598D8689}"/>
              </a:ext>
            </a:extLst>
          </p:cNvPr>
          <p:cNvSpPr/>
          <p:nvPr/>
        </p:nvSpPr>
        <p:spPr>
          <a:xfrm>
            <a:off x="4531337" y="3502034"/>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3 reps</a:t>
            </a:r>
            <a:endParaRPr lang="en-US" sz="1000" dirty="0">
              <a:latin typeface="+mn-lt"/>
            </a:endParaRPr>
          </a:p>
        </p:txBody>
      </p:sp>
      <p:sp>
        <p:nvSpPr>
          <p:cNvPr id="13354" name="Text 31">
            <a:extLst>
              <a:ext uri="{FF2B5EF4-FFF2-40B4-BE49-F238E27FC236}">
                <a16:creationId xmlns:a16="http://schemas.microsoft.com/office/drawing/2014/main" id="{093636C6-BA04-0613-785B-B4D0A2B01D73}"/>
              </a:ext>
            </a:extLst>
          </p:cNvPr>
          <p:cNvSpPr>
            <a:spLocks noChangeArrowheads="1"/>
          </p:cNvSpPr>
          <p:nvPr/>
        </p:nvSpPr>
        <p:spPr bwMode="auto">
          <a:xfrm>
            <a:off x="6121400" y="3306763"/>
            <a:ext cx="165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3.60 yards</a:t>
            </a:r>
            <a:endParaRPr lang="en-US" altLang="en-US" sz="1000"/>
          </a:p>
        </p:txBody>
      </p:sp>
      <p:sp>
        <p:nvSpPr>
          <p:cNvPr id="13355" name="Text 31">
            <a:extLst>
              <a:ext uri="{FF2B5EF4-FFF2-40B4-BE49-F238E27FC236}">
                <a16:creationId xmlns:a16="http://schemas.microsoft.com/office/drawing/2014/main" id="{FCBEE5CA-ADB7-FFBB-59BE-8FE83D30918C}"/>
              </a:ext>
            </a:extLst>
          </p:cNvPr>
          <p:cNvSpPr>
            <a:spLocks noChangeArrowheads="1"/>
          </p:cNvSpPr>
          <p:nvPr/>
        </p:nvSpPr>
        <p:spPr bwMode="auto">
          <a:xfrm>
            <a:off x="8074025" y="3292475"/>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Undrafted</a:t>
            </a:r>
            <a:endParaRPr lang="en-US" altLang="en-US" sz="1000"/>
          </a:p>
        </p:txBody>
      </p:sp>
      <p:sp>
        <p:nvSpPr>
          <p:cNvPr id="13356" name="Text 31">
            <a:extLst>
              <a:ext uri="{FF2B5EF4-FFF2-40B4-BE49-F238E27FC236}">
                <a16:creationId xmlns:a16="http://schemas.microsoft.com/office/drawing/2014/main" id="{FA24075A-D69F-6807-FB4A-98CD1727C69E}"/>
              </a:ext>
            </a:extLst>
          </p:cNvPr>
          <p:cNvSpPr>
            <a:spLocks noChangeArrowheads="1"/>
          </p:cNvSpPr>
          <p:nvPr/>
        </p:nvSpPr>
        <p:spPr bwMode="auto">
          <a:xfrm>
            <a:off x="9583738" y="3294063"/>
            <a:ext cx="1652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0 games started, 0 games played (practice squad)</a:t>
            </a:r>
            <a:endParaRPr lang="en-US" altLang="en-US" sz="1000"/>
          </a:p>
        </p:txBody>
      </p:sp>
      <p:sp>
        <p:nvSpPr>
          <p:cNvPr id="13357" name="Text 29">
            <a:extLst>
              <a:ext uri="{FF2B5EF4-FFF2-40B4-BE49-F238E27FC236}">
                <a16:creationId xmlns:a16="http://schemas.microsoft.com/office/drawing/2014/main" id="{751F0AFF-16D8-44E8-C679-E3F8B4E3728D}"/>
              </a:ext>
            </a:extLst>
          </p:cNvPr>
          <p:cNvSpPr>
            <a:spLocks noChangeArrowheads="1"/>
          </p:cNvSpPr>
          <p:nvPr/>
        </p:nvSpPr>
        <p:spPr bwMode="auto">
          <a:xfrm>
            <a:off x="4519613" y="3724275"/>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Jamree Kromah</a:t>
            </a:r>
            <a:endParaRPr lang="en-US" altLang="en-US" sz="1000"/>
          </a:p>
        </p:txBody>
      </p:sp>
      <p:sp>
        <p:nvSpPr>
          <p:cNvPr id="214" name="Text 30">
            <a:extLst>
              <a:ext uri="{FF2B5EF4-FFF2-40B4-BE49-F238E27FC236}">
                <a16:creationId xmlns:a16="http://schemas.microsoft.com/office/drawing/2014/main" id="{965AF573-7675-65CB-56E3-DAFFCFB259ED}"/>
              </a:ext>
            </a:extLst>
          </p:cNvPr>
          <p:cNvSpPr/>
          <p:nvPr/>
        </p:nvSpPr>
        <p:spPr>
          <a:xfrm>
            <a:off x="4543060" y="3926185"/>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3 reps</a:t>
            </a:r>
            <a:endParaRPr lang="en-US" sz="1000" dirty="0">
              <a:latin typeface="+mn-lt"/>
            </a:endParaRPr>
          </a:p>
        </p:txBody>
      </p:sp>
      <p:sp>
        <p:nvSpPr>
          <p:cNvPr id="13359" name="Text 31">
            <a:extLst>
              <a:ext uri="{FF2B5EF4-FFF2-40B4-BE49-F238E27FC236}">
                <a16:creationId xmlns:a16="http://schemas.microsoft.com/office/drawing/2014/main" id="{63FC8D83-6EB8-6AF2-9ED0-99CD1281EF87}"/>
              </a:ext>
            </a:extLst>
          </p:cNvPr>
          <p:cNvSpPr>
            <a:spLocks noChangeArrowheads="1"/>
          </p:cNvSpPr>
          <p:nvPr/>
        </p:nvSpPr>
        <p:spPr bwMode="auto">
          <a:xfrm>
            <a:off x="6134100" y="3730625"/>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3.53 yards</a:t>
            </a:r>
            <a:endParaRPr lang="en-US" altLang="en-US" sz="1000"/>
          </a:p>
        </p:txBody>
      </p:sp>
      <p:sp>
        <p:nvSpPr>
          <p:cNvPr id="13360" name="Text 31">
            <a:extLst>
              <a:ext uri="{FF2B5EF4-FFF2-40B4-BE49-F238E27FC236}">
                <a16:creationId xmlns:a16="http://schemas.microsoft.com/office/drawing/2014/main" id="{E0A2EEB8-B876-4A0B-2B71-D24444C48CB5}"/>
              </a:ext>
            </a:extLst>
          </p:cNvPr>
          <p:cNvSpPr>
            <a:spLocks noChangeArrowheads="1"/>
          </p:cNvSpPr>
          <p:nvPr/>
        </p:nvSpPr>
        <p:spPr bwMode="auto">
          <a:xfrm>
            <a:off x="8085138" y="3716338"/>
            <a:ext cx="1652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Undrafted</a:t>
            </a:r>
            <a:endParaRPr lang="en-US" altLang="en-US" sz="1000"/>
          </a:p>
        </p:txBody>
      </p:sp>
      <p:sp>
        <p:nvSpPr>
          <p:cNvPr id="13361" name="Text 31">
            <a:extLst>
              <a:ext uri="{FF2B5EF4-FFF2-40B4-BE49-F238E27FC236}">
                <a16:creationId xmlns:a16="http://schemas.microsoft.com/office/drawing/2014/main" id="{36F6977B-BA85-0881-42A0-4E8AC240CF1E}"/>
              </a:ext>
            </a:extLst>
          </p:cNvPr>
          <p:cNvSpPr>
            <a:spLocks noChangeArrowheads="1"/>
          </p:cNvSpPr>
          <p:nvPr/>
        </p:nvSpPr>
        <p:spPr bwMode="auto">
          <a:xfrm>
            <a:off x="9596438" y="3717925"/>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0 games started, 0 games played (practice squad)</a:t>
            </a:r>
            <a:endParaRPr lang="en-US" altLang="en-US" sz="1000"/>
          </a:p>
        </p:txBody>
      </p:sp>
      <p:sp>
        <p:nvSpPr>
          <p:cNvPr id="13362" name="Text 29">
            <a:extLst>
              <a:ext uri="{FF2B5EF4-FFF2-40B4-BE49-F238E27FC236}">
                <a16:creationId xmlns:a16="http://schemas.microsoft.com/office/drawing/2014/main" id="{57A62939-2416-3AE4-F464-82B43D87BC3C}"/>
              </a:ext>
            </a:extLst>
          </p:cNvPr>
          <p:cNvSpPr>
            <a:spLocks noChangeArrowheads="1"/>
          </p:cNvSpPr>
          <p:nvPr/>
        </p:nvSpPr>
        <p:spPr bwMode="auto">
          <a:xfrm>
            <a:off x="4533900" y="4144963"/>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Myles Murphy</a:t>
            </a:r>
            <a:endParaRPr lang="en-US" altLang="en-US" sz="1000"/>
          </a:p>
        </p:txBody>
      </p:sp>
      <p:sp>
        <p:nvSpPr>
          <p:cNvPr id="219" name="Text 30">
            <a:extLst>
              <a:ext uri="{FF2B5EF4-FFF2-40B4-BE49-F238E27FC236}">
                <a16:creationId xmlns:a16="http://schemas.microsoft.com/office/drawing/2014/main" id="{7DC1BCE3-78CB-154A-B9A0-3CE3BD693CD3}"/>
              </a:ext>
            </a:extLst>
          </p:cNvPr>
          <p:cNvSpPr/>
          <p:nvPr/>
        </p:nvSpPr>
        <p:spPr>
          <a:xfrm>
            <a:off x="4557278" y="4347158"/>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7 reps</a:t>
            </a:r>
            <a:endParaRPr lang="en-US" sz="1000" dirty="0">
              <a:latin typeface="+mn-lt"/>
            </a:endParaRPr>
          </a:p>
        </p:txBody>
      </p:sp>
      <p:sp>
        <p:nvSpPr>
          <p:cNvPr id="13364" name="Text 31">
            <a:extLst>
              <a:ext uri="{FF2B5EF4-FFF2-40B4-BE49-F238E27FC236}">
                <a16:creationId xmlns:a16="http://schemas.microsoft.com/office/drawing/2014/main" id="{8C170FF8-7BE5-9024-0E62-5C9ED8F91816}"/>
              </a:ext>
            </a:extLst>
          </p:cNvPr>
          <p:cNvSpPr>
            <a:spLocks noChangeArrowheads="1"/>
          </p:cNvSpPr>
          <p:nvPr/>
        </p:nvSpPr>
        <p:spPr bwMode="auto">
          <a:xfrm>
            <a:off x="6148388" y="4151313"/>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3.47 yards</a:t>
            </a:r>
            <a:endParaRPr lang="en-US" altLang="en-US" sz="1000"/>
          </a:p>
        </p:txBody>
      </p:sp>
      <p:sp>
        <p:nvSpPr>
          <p:cNvPr id="13365" name="Text 31">
            <a:extLst>
              <a:ext uri="{FF2B5EF4-FFF2-40B4-BE49-F238E27FC236}">
                <a16:creationId xmlns:a16="http://schemas.microsoft.com/office/drawing/2014/main" id="{24D3EB07-F69B-36CA-D483-C7AF55ED5382}"/>
              </a:ext>
            </a:extLst>
          </p:cNvPr>
          <p:cNvSpPr>
            <a:spLocks noChangeArrowheads="1"/>
          </p:cNvSpPr>
          <p:nvPr/>
        </p:nvSpPr>
        <p:spPr bwMode="auto">
          <a:xfrm>
            <a:off x="8099425" y="4137025"/>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Undrafted</a:t>
            </a:r>
            <a:endParaRPr lang="en-US" altLang="en-US" sz="1000"/>
          </a:p>
        </p:txBody>
      </p:sp>
      <p:sp>
        <p:nvSpPr>
          <p:cNvPr id="13366" name="Text 31">
            <a:extLst>
              <a:ext uri="{FF2B5EF4-FFF2-40B4-BE49-F238E27FC236}">
                <a16:creationId xmlns:a16="http://schemas.microsoft.com/office/drawing/2014/main" id="{F54F84A7-CC75-D385-A5C8-921A5AE6B6E0}"/>
              </a:ext>
            </a:extLst>
          </p:cNvPr>
          <p:cNvSpPr>
            <a:spLocks noChangeArrowheads="1"/>
          </p:cNvSpPr>
          <p:nvPr/>
        </p:nvSpPr>
        <p:spPr bwMode="auto">
          <a:xfrm>
            <a:off x="9610725" y="4140200"/>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0 games started, 0 games played (didn’t make team)</a:t>
            </a:r>
            <a:endParaRPr lang="en-US" altLang="en-US" sz="1000"/>
          </a:p>
        </p:txBody>
      </p:sp>
      <p:sp>
        <p:nvSpPr>
          <p:cNvPr id="13367" name="Text 29">
            <a:extLst>
              <a:ext uri="{FF2B5EF4-FFF2-40B4-BE49-F238E27FC236}">
                <a16:creationId xmlns:a16="http://schemas.microsoft.com/office/drawing/2014/main" id="{B20E8FB7-1009-C4AC-1D0C-619AB03B9DF6}"/>
              </a:ext>
            </a:extLst>
          </p:cNvPr>
          <p:cNvSpPr>
            <a:spLocks noChangeArrowheads="1"/>
          </p:cNvSpPr>
          <p:nvPr/>
        </p:nvSpPr>
        <p:spPr bwMode="auto">
          <a:xfrm>
            <a:off x="4521200" y="4578350"/>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Evan Anderson</a:t>
            </a:r>
            <a:endParaRPr lang="en-US" altLang="en-US" sz="1000"/>
          </a:p>
        </p:txBody>
      </p:sp>
      <p:sp>
        <p:nvSpPr>
          <p:cNvPr id="224" name="Text 30">
            <a:extLst>
              <a:ext uri="{FF2B5EF4-FFF2-40B4-BE49-F238E27FC236}">
                <a16:creationId xmlns:a16="http://schemas.microsoft.com/office/drawing/2014/main" id="{C67228A0-D2CB-5374-C380-805AEA6809AB}"/>
              </a:ext>
            </a:extLst>
          </p:cNvPr>
          <p:cNvSpPr/>
          <p:nvPr/>
        </p:nvSpPr>
        <p:spPr>
          <a:xfrm>
            <a:off x="4545086" y="4780813"/>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4 reps</a:t>
            </a:r>
            <a:endParaRPr lang="en-US" sz="1000" dirty="0">
              <a:latin typeface="+mn-lt"/>
            </a:endParaRPr>
          </a:p>
        </p:txBody>
      </p:sp>
      <p:sp>
        <p:nvSpPr>
          <p:cNvPr id="13369" name="Text 31">
            <a:extLst>
              <a:ext uri="{FF2B5EF4-FFF2-40B4-BE49-F238E27FC236}">
                <a16:creationId xmlns:a16="http://schemas.microsoft.com/office/drawing/2014/main" id="{D6DB924C-4206-05C8-73B4-FF7A469FFB6F}"/>
              </a:ext>
            </a:extLst>
          </p:cNvPr>
          <p:cNvSpPr>
            <a:spLocks noChangeArrowheads="1"/>
          </p:cNvSpPr>
          <p:nvPr/>
        </p:nvSpPr>
        <p:spPr bwMode="auto">
          <a:xfrm>
            <a:off x="6135688" y="4584700"/>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3.38 yards</a:t>
            </a:r>
            <a:endParaRPr lang="en-US" altLang="en-US" sz="1000"/>
          </a:p>
        </p:txBody>
      </p:sp>
      <p:sp>
        <p:nvSpPr>
          <p:cNvPr id="13370" name="Text 31">
            <a:extLst>
              <a:ext uri="{FF2B5EF4-FFF2-40B4-BE49-F238E27FC236}">
                <a16:creationId xmlns:a16="http://schemas.microsoft.com/office/drawing/2014/main" id="{1A005D04-F052-E5BF-C284-19B388A40B2C}"/>
              </a:ext>
            </a:extLst>
          </p:cNvPr>
          <p:cNvSpPr>
            <a:spLocks noChangeArrowheads="1"/>
          </p:cNvSpPr>
          <p:nvPr/>
        </p:nvSpPr>
        <p:spPr bwMode="auto">
          <a:xfrm>
            <a:off x="8086725" y="4572000"/>
            <a:ext cx="165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Undrafted</a:t>
            </a:r>
            <a:endParaRPr lang="en-US" altLang="en-US" sz="1000"/>
          </a:p>
        </p:txBody>
      </p:sp>
      <p:sp>
        <p:nvSpPr>
          <p:cNvPr id="13371" name="Text 31">
            <a:extLst>
              <a:ext uri="{FF2B5EF4-FFF2-40B4-BE49-F238E27FC236}">
                <a16:creationId xmlns:a16="http://schemas.microsoft.com/office/drawing/2014/main" id="{B9E2435A-E2AA-1665-4ABD-E84F43772A63}"/>
              </a:ext>
            </a:extLst>
          </p:cNvPr>
          <p:cNvSpPr>
            <a:spLocks noChangeArrowheads="1"/>
          </p:cNvSpPr>
          <p:nvPr/>
        </p:nvSpPr>
        <p:spPr bwMode="auto">
          <a:xfrm>
            <a:off x="9598025" y="4573588"/>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1 game started, 12 games played</a:t>
            </a:r>
            <a:endParaRPr lang="en-US" altLang="en-US" sz="1000"/>
          </a:p>
        </p:txBody>
      </p:sp>
      <p:sp>
        <p:nvSpPr>
          <p:cNvPr id="13372" name="Text 29">
            <a:extLst>
              <a:ext uri="{FF2B5EF4-FFF2-40B4-BE49-F238E27FC236}">
                <a16:creationId xmlns:a16="http://schemas.microsoft.com/office/drawing/2014/main" id="{AAD72E17-FC70-876F-0738-77122DF56FA7}"/>
              </a:ext>
            </a:extLst>
          </p:cNvPr>
          <p:cNvSpPr>
            <a:spLocks noChangeArrowheads="1"/>
          </p:cNvSpPr>
          <p:nvPr/>
        </p:nvSpPr>
        <p:spPr bwMode="auto">
          <a:xfrm>
            <a:off x="4533900" y="5002213"/>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Fabien Lovett</a:t>
            </a:r>
            <a:endParaRPr lang="en-US" altLang="en-US" sz="1000"/>
          </a:p>
        </p:txBody>
      </p:sp>
      <p:sp>
        <p:nvSpPr>
          <p:cNvPr id="229" name="Text 30">
            <a:extLst>
              <a:ext uri="{FF2B5EF4-FFF2-40B4-BE49-F238E27FC236}">
                <a16:creationId xmlns:a16="http://schemas.microsoft.com/office/drawing/2014/main" id="{6C94EEF4-9859-0A22-5370-3AE382CB9B5D}"/>
              </a:ext>
            </a:extLst>
          </p:cNvPr>
          <p:cNvSpPr/>
          <p:nvPr/>
        </p:nvSpPr>
        <p:spPr>
          <a:xfrm>
            <a:off x="4556809" y="5204964"/>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6 reps</a:t>
            </a:r>
            <a:endParaRPr lang="en-US" sz="1000" dirty="0">
              <a:latin typeface="+mn-lt"/>
            </a:endParaRPr>
          </a:p>
        </p:txBody>
      </p:sp>
      <p:sp>
        <p:nvSpPr>
          <p:cNvPr id="13374" name="Text 31">
            <a:extLst>
              <a:ext uri="{FF2B5EF4-FFF2-40B4-BE49-F238E27FC236}">
                <a16:creationId xmlns:a16="http://schemas.microsoft.com/office/drawing/2014/main" id="{57650A06-B184-0F70-A3BB-673A08ECE823}"/>
              </a:ext>
            </a:extLst>
          </p:cNvPr>
          <p:cNvSpPr>
            <a:spLocks noChangeArrowheads="1"/>
          </p:cNvSpPr>
          <p:nvPr/>
        </p:nvSpPr>
        <p:spPr bwMode="auto">
          <a:xfrm>
            <a:off x="6146800" y="5010150"/>
            <a:ext cx="165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3.34 yards</a:t>
            </a:r>
            <a:endParaRPr lang="en-US" altLang="en-US" sz="1000"/>
          </a:p>
        </p:txBody>
      </p:sp>
      <p:sp>
        <p:nvSpPr>
          <p:cNvPr id="13375" name="Text 31">
            <a:extLst>
              <a:ext uri="{FF2B5EF4-FFF2-40B4-BE49-F238E27FC236}">
                <a16:creationId xmlns:a16="http://schemas.microsoft.com/office/drawing/2014/main" id="{32A3A55E-1BB0-1A35-8F0F-FA930A649773}"/>
              </a:ext>
            </a:extLst>
          </p:cNvPr>
          <p:cNvSpPr>
            <a:spLocks noChangeArrowheads="1"/>
          </p:cNvSpPr>
          <p:nvPr/>
        </p:nvSpPr>
        <p:spPr bwMode="auto">
          <a:xfrm>
            <a:off x="8099425" y="4995863"/>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Undrafted</a:t>
            </a:r>
            <a:endParaRPr lang="en-US" altLang="en-US" sz="1000"/>
          </a:p>
        </p:txBody>
      </p:sp>
      <p:sp>
        <p:nvSpPr>
          <p:cNvPr id="13376" name="Text 31">
            <a:extLst>
              <a:ext uri="{FF2B5EF4-FFF2-40B4-BE49-F238E27FC236}">
                <a16:creationId xmlns:a16="http://schemas.microsoft.com/office/drawing/2014/main" id="{00ACBBF0-FA61-F5FB-3E7A-C2AECEFBCB46}"/>
              </a:ext>
            </a:extLst>
          </p:cNvPr>
          <p:cNvSpPr>
            <a:spLocks noChangeArrowheads="1"/>
          </p:cNvSpPr>
          <p:nvPr/>
        </p:nvSpPr>
        <p:spPr bwMode="auto">
          <a:xfrm>
            <a:off x="9609138" y="4997450"/>
            <a:ext cx="1652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0 games started, 0 games played (practice squad)</a:t>
            </a:r>
            <a:endParaRPr lang="en-US" altLang="en-US" sz="1000"/>
          </a:p>
        </p:txBody>
      </p:sp>
      <p:sp>
        <p:nvSpPr>
          <p:cNvPr id="13377" name="Text 29">
            <a:extLst>
              <a:ext uri="{FF2B5EF4-FFF2-40B4-BE49-F238E27FC236}">
                <a16:creationId xmlns:a16="http://schemas.microsoft.com/office/drawing/2014/main" id="{C8B55178-1E34-68FB-47D4-43F9CEE14CF5}"/>
              </a:ext>
            </a:extLst>
          </p:cNvPr>
          <p:cNvSpPr>
            <a:spLocks noChangeArrowheads="1"/>
          </p:cNvSpPr>
          <p:nvPr/>
        </p:nvSpPr>
        <p:spPr bwMode="auto">
          <a:xfrm>
            <a:off x="4535488" y="5418138"/>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rPr>
              <a:t>Zion Logue</a:t>
            </a:r>
            <a:endParaRPr lang="en-US" altLang="en-US" sz="1000"/>
          </a:p>
        </p:txBody>
      </p:sp>
      <p:sp>
        <p:nvSpPr>
          <p:cNvPr id="234" name="Text 30">
            <a:extLst>
              <a:ext uri="{FF2B5EF4-FFF2-40B4-BE49-F238E27FC236}">
                <a16:creationId xmlns:a16="http://schemas.microsoft.com/office/drawing/2014/main" id="{DAF67465-163B-61F9-6338-FB5B94C48865}"/>
              </a:ext>
            </a:extLst>
          </p:cNvPr>
          <p:cNvSpPr/>
          <p:nvPr/>
        </p:nvSpPr>
        <p:spPr>
          <a:xfrm>
            <a:off x="4558425" y="5620217"/>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4 reps</a:t>
            </a:r>
            <a:endParaRPr lang="en-US" sz="1000" dirty="0">
              <a:latin typeface="+mn-lt"/>
            </a:endParaRPr>
          </a:p>
        </p:txBody>
      </p:sp>
      <p:sp>
        <p:nvSpPr>
          <p:cNvPr id="13379" name="Text 31">
            <a:extLst>
              <a:ext uri="{FF2B5EF4-FFF2-40B4-BE49-F238E27FC236}">
                <a16:creationId xmlns:a16="http://schemas.microsoft.com/office/drawing/2014/main" id="{D619DAFF-A22D-EFC1-AC68-B5BFA8293C91}"/>
              </a:ext>
            </a:extLst>
          </p:cNvPr>
          <p:cNvSpPr>
            <a:spLocks noChangeArrowheads="1"/>
          </p:cNvSpPr>
          <p:nvPr/>
        </p:nvSpPr>
        <p:spPr bwMode="auto">
          <a:xfrm>
            <a:off x="6148388" y="5424488"/>
            <a:ext cx="1652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3.08 yards</a:t>
            </a:r>
            <a:endParaRPr lang="en-US" altLang="en-US" sz="1000"/>
          </a:p>
        </p:txBody>
      </p:sp>
      <p:sp>
        <p:nvSpPr>
          <p:cNvPr id="13380" name="Text 31">
            <a:extLst>
              <a:ext uri="{FF2B5EF4-FFF2-40B4-BE49-F238E27FC236}">
                <a16:creationId xmlns:a16="http://schemas.microsoft.com/office/drawing/2014/main" id="{27BAA436-E90B-57EF-BFBC-AF5545F9DFF4}"/>
              </a:ext>
            </a:extLst>
          </p:cNvPr>
          <p:cNvSpPr>
            <a:spLocks noChangeArrowheads="1"/>
          </p:cNvSpPr>
          <p:nvPr/>
        </p:nvSpPr>
        <p:spPr bwMode="auto">
          <a:xfrm>
            <a:off x="8101013" y="5410200"/>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6</a:t>
            </a:r>
            <a:r>
              <a:rPr lang="en-US" altLang="en-US" sz="1000" b="1" baseline="30000">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th</a:t>
            </a: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 round</a:t>
            </a:r>
            <a:endParaRPr lang="en-US" altLang="en-US" sz="1000"/>
          </a:p>
        </p:txBody>
      </p:sp>
      <p:sp>
        <p:nvSpPr>
          <p:cNvPr id="13381" name="Text 31">
            <a:extLst>
              <a:ext uri="{FF2B5EF4-FFF2-40B4-BE49-F238E27FC236}">
                <a16:creationId xmlns:a16="http://schemas.microsoft.com/office/drawing/2014/main" id="{88231F60-9F65-CF7A-4F46-F1100E646F9C}"/>
              </a:ext>
            </a:extLst>
          </p:cNvPr>
          <p:cNvSpPr>
            <a:spLocks noChangeArrowheads="1"/>
          </p:cNvSpPr>
          <p:nvPr/>
        </p:nvSpPr>
        <p:spPr bwMode="auto">
          <a:xfrm>
            <a:off x="9610725" y="5413375"/>
            <a:ext cx="165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0 games started, 5 games played</a:t>
            </a:r>
            <a:endParaRPr lang="en-US" altLang="en-US" sz="1000"/>
          </a:p>
        </p:txBody>
      </p:sp>
      <p:sp>
        <p:nvSpPr>
          <p:cNvPr id="13382" name="Text 29">
            <a:extLst>
              <a:ext uri="{FF2B5EF4-FFF2-40B4-BE49-F238E27FC236}">
                <a16:creationId xmlns:a16="http://schemas.microsoft.com/office/drawing/2014/main" id="{37ADF284-D8C4-29DA-4A20-070E598577E6}"/>
              </a:ext>
            </a:extLst>
          </p:cNvPr>
          <p:cNvSpPr>
            <a:spLocks noChangeArrowheads="1"/>
          </p:cNvSpPr>
          <p:nvPr/>
        </p:nvSpPr>
        <p:spPr bwMode="auto">
          <a:xfrm>
            <a:off x="4522788" y="5851525"/>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Justin Rodgers</a:t>
            </a:r>
            <a:endParaRPr lang="en-US" altLang="en-US" sz="1000"/>
          </a:p>
        </p:txBody>
      </p:sp>
      <p:sp>
        <p:nvSpPr>
          <p:cNvPr id="239" name="Text 30">
            <a:extLst>
              <a:ext uri="{FF2B5EF4-FFF2-40B4-BE49-F238E27FC236}">
                <a16:creationId xmlns:a16="http://schemas.microsoft.com/office/drawing/2014/main" id="{0E73582F-D804-0E36-F80E-C81644A22542}"/>
              </a:ext>
            </a:extLst>
          </p:cNvPr>
          <p:cNvSpPr/>
          <p:nvPr/>
        </p:nvSpPr>
        <p:spPr>
          <a:xfrm>
            <a:off x="4546233" y="6053872"/>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8 reps</a:t>
            </a:r>
            <a:endParaRPr lang="en-US" sz="1000" dirty="0">
              <a:latin typeface="+mn-lt"/>
            </a:endParaRPr>
          </a:p>
        </p:txBody>
      </p:sp>
      <p:sp>
        <p:nvSpPr>
          <p:cNvPr id="13384" name="Text 31">
            <a:extLst>
              <a:ext uri="{FF2B5EF4-FFF2-40B4-BE49-F238E27FC236}">
                <a16:creationId xmlns:a16="http://schemas.microsoft.com/office/drawing/2014/main" id="{D8E4D3AC-706D-F99F-755F-02531169711D}"/>
              </a:ext>
            </a:extLst>
          </p:cNvPr>
          <p:cNvSpPr>
            <a:spLocks noChangeArrowheads="1"/>
          </p:cNvSpPr>
          <p:nvPr/>
        </p:nvSpPr>
        <p:spPr bwMode="auto">
          <a:xfrm>
            <a:off x="6137275" y="5857875"/>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3.06 yards</a:t>
            </a:r>
            <a:endParaRPr lang="en-US" altLang="en-US" sz="1000"/>
          </a:p>
        </p:txBody>
      </p:sp>
      <p:sp>
        <p:nvSpPr>
          <p:cNvPr id="13385" name="Text 31">
            <a:extLst>
              <a:ext uri="{FF2B5EF4-FFF2-40B4-BE49-F238E27FC236}">
                <a16:creationId xmlns:a16="http://schemas.microsoft.com/office/drawing/2014/main" id="{A6E69080-3889-C5D7-30A2-80B47D029ED5}"/>
              </a:ext>
            </a:extLst>
          </p:cNvPr>
          <p:cNvSpPr>
            <a:spLocks noChangeArrowheads="1"/>
          </p:cNvSpPr>
          <p:nvPr/>
        </p:nvSpPr>
        <p:spPr bwMode="auto">
          <a:xfrm>
            <a:off x="8088313" y="5843588"/>
            <a:ext cx="1652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7</a:t>
            </a:r>
            <a:r>
              <a:rPr lang="en-US" altLang="en-US" sz="1000" b="1" baseline="30000">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th</a:t>
            </a: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 round</a:t>
            </a:r>
            <a:endParaRPr lang="en-US" altLang="en-US" sz="1000"/>
          </a:p>
        </p:txBody>
      </p:sp>
      <p:sp>
        <p:nvSpPr>
          <p:cNvPr id="13386" name="Text 31">
            <a:extLst>
              <a:ext uri="{FF2B5EF4-FFF2-40B4-BE49-F238E27FC236}">
                <a16:creationId xmlns:a16="http://schemas.microsoft.com/office/drawing/2014/main" id="{A7101170-D220-EED6-FB28-1171D5329E55}"/>
              </a:ext>
            </a:extLst>
          </p:cNvPr>
          <p:cNvSpPr>
            <a:spLocks noChangeArrowheads="1"/>
          </p:cNvSpPr>
          <p:nvPr/>
        </p:nvSpPr>
        <p:spPr bwMode="auto">
          <a:xfrm>
            <a:off x="9599613" y="5846763"/>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0 games started, 0 games played (practice squad)</a:t>
            </a:r>
            <a:endParaRPr lang="en-US" altLang="en-US" sz="1000"/>
          </a:p>
        </p:txBody>
      </p:sp>
      <p:sp>
        <p:nvSpPr>
          <p:cNvPr id="13387" name="Text 29">
            <a:extLst>
              <a:ext uri="{FF2B5EF4-FFF2-40B4-BE49-F238E27FC236}">
                <a16:creationId xmlns:a16="http://schemas.microsoft.com/office/drawing/2014/main" id="{57A0C242-E232-0E28-4DD4-E72AC2FA4D3F}"/>
              </a:ext>
            </a:extLst>
          </p:cNvPr>
          <p:cNvSpPr>
            <a:spLocks noChangeArrowheads="1"/>
          </p:cNvSpPr>
          <p:nvPr/>
        </p:nvSpPr>
        <p:spPr bwMode="auto">
          <a:xfrm>
            <a:off x="4533900" y="6275388"/>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Nathan Pickering</a:t>
            </a:r>
            <a:endParaRPr lang="en-US" altLang="en-US" sz="1000"/>
          </a:p>
        </p:txBody>
      </p:sp>
      <p:sp>
        <p:nvSpPr>
          <p:cNvPr id="244" name="Text 30">
            <a:extLst>
              <a:ext uri="{FF2B5EF4-FFF2-40B4-BE49-F238E27FC236}">
                <a16:creationId xmlns:a16="http://schemas.microsoft.com/office/drawing/2014/main" id="{7566D1E0-6321-6293-CCA5-2CA90B86656F}"/>
              </a:ext>
            </a:extLst>
          </p:cNvPr>
          <p:cNvSpPr/>
          <p:nvPr/>
        </p:nvSpPr>
        <p:spPr>
          <a:xfrm>
            <a:off x="4557956" y="6478023"/>
            <a:ext cx="1304925" cy="190500"/>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1000" dirty="0">
                <a:solidFill>
                  <a:srgbClr val="E1E3E6">
                    <a:alpha val="60000"/>
                  </a:srgbClr>
                </a:solidFill>
                <a:latin typeface="Quattrocento Sans" pitchFamily="34" charset="0"/>
                <a:ea typeface="Quattrocento Sans" pitchFamily="34" charset="-122"/>
                <a:cs typeface="Quattrocento Sans" pitchFamily="34" charset="-120"/>
              </a:rPr>
              <a:t>6 reps</a:t>
            </a:r>
            <a:endParaRPr lang="en-US" sz="1000" dirty="0">
              <a:latin typeface="+mn-lt"/>
            </a:endParaRPr>
          </a:p>
        </p:txBody>
      </p:sp>
      <p:sp>
        <p:nvSpPr>
          <p:cNvPr id="13389" name="Text 31">
            <a:extLst>
              <a:ext uri="{FF2B5EF4-FFF2-40B4-BE49-F238E27FC236}">
                <a16:creationId xmlns:a16="http://schemas.microsoft.com/office/drawing/2014/main" id="{A16AF3C3-D918-E3EE-1D66-65EE5A5658E7}"/>
              </a:ext>
            </a:extLst>
          </p:cNvPr>
          <p:cNvSpPr>
            <a:spLocks noChangeArrowheads="1"/>
          </p:cNvSpPr>
          <p:nvPr/>
        </p:nvSpPr>
        <p:spPr bwMode="auto">
          <a:xfrm>
            <a:off x="6148388" y="6281738"/>
            <a:ext cx="16525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2.94 yards</a:t>
            </a:r>
            <a:endParaRPr lang="en-US" altLang="en-US" sz="1000"/>
          </a:p>
        </p:txBody>
      </p:sp>
      <p:sp>
        <p:nvSpPr>
          <p:cNvPr id="13390" name="Text 31">
            <a:extLst>
              <a:ext uri="{FF2B5EF4-FFF2-40B4-BE49-F238E27FC236}">
                <a16:creationId xmlns:a16="http://schemas.microsoft.com/office/drawing/2014/main" id="{C65EA87E-8312-01EF-FC6E-5ED24E54A8D8}"/>
              </a:ext>
            </a:extLst>
          </p:cNvPr>
          <p:cNvSpPr>
            <a:spLocks noChangeArrowheads="1"/>
          </p:cNvSpPr>
          <p:nvPr/>
        </p:nvSpPr>
        <p:spPr bwMode="auto">
          <a:xfrm>
            <a:off x="8099425" y="6269038"/>
            <a:ext cx="165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Undrafted</a:t>
            </a:r>
            <a:endParaRPr lang="en-US" altLang="en-US" sz="1000"/>
          </a:p>
        </p:txBody>
      </p:sp>
      <p:sp>
        <p:nvSpPr>
          <p:cNvPr id="13391" name="Text 31">
            <a:extLst>
              <a:ext uri="{FF2B5EF4-FFF2-40B4-BE49-F238E27FC236}">
                <a16:creationId xmlns:a16="http://schemas.microsoft.com/office/drawing/2014/main" id="{E56050D3-8E28-7F04-EFBF-16F868BFB686}"/>
              </a:ext>
            </a:extLst>
          </p:cNvPr>
          <p:cNvSpPr>
            <a:spLocks noChangeArrowheads="1"/>
          </p:cNvSpPr>
          <p:nvPr/>
        </p:nvSpPr>
        <p:spPr bwMode="auto">
          <a:xfrm>
            <a:off x="9610725" y="6270625"/>
            <a:ext cx="165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10000"/>
              </a:lnSpc>
            </a:pPr>
            <a:r>
              <a:rPr lang="en-US" altLang="en-US" sz="1000" b="1">
                <a:solidFill>
                  <a:srgbClr val="D8A03D"/>
                </a:solidFill>
                <a:latin typeface="Quattrocento Sans" panose="020B0502050000020003" pitchFamily="34" charset="0"/>
                <a:ea typeface="Quattrocento Sans" panose="020B0502050000020003" pitchFamily="34" charset="0"/>
                <a:cs typeface="Quattrocento Sans" panose="020B0502050000020003" pitchFamily="34" charset="0"/>
              </a:rPr>
              <a:t>0 games started, 0 games played (waived, injury)</a:t>
            </a:r>
            <a:endParaRPr lang="en-US" altLang="en-US" sz="100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11317"/>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C2294C6-AF2B-F7A1-D725-40904375D3F9}"/>
              </a:ext>
            </a:extLst>
          </p:cNvPr>
          <p:cNvSpPr/>
          <p:nvPr/>
        </p:nvSpPr>
        <p:spPr>
          <a:xfrm>
            <a:off x="360363" y="360363"/>
            <a:ext cx="11534775" cy="179387"/>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992" b="1" kern="0" spc="248" dirty="0">
                <a:solidFill>
                  <a:srgbClr val="D8A03D"/>
                </a:solidFill>
                <a:latin typeface="Quattrocento Sans" pitchFamily="34" charset="0"/>
                <a:ea typeface="Quattrocento Sans" pitchFamily="34" charset="-122"/>
                <a:cs typeface="Quattrocento Sans" pitchFamily="34" charset="-120"/>
              </a:rPr>
              <a:t>PERFORMANCE METRICS AND RESULTS</a:t>
            </a:r>
            <a:endParaRPr lang="en-US" sz="1600" dirty="0">
              <a:latin typeface="+mn-lt"/>
            </a:endParaRPr>
          </a:p>
        </p:txBody>
      </p:sp>
      <p:sp>
        <p:nvSpPr>
          <p:cNvPr id="3" name="Text 1">
            <a:extLst>
              <a:ext uri="{FF2B5EF4-FFF2-40B4-BE49-F238E27FC236}">
                <a16:creationId xmlns:a16="http://schemas.microsoft.com/office/drawing/2014/main" id="{18A363D3-323F-6863-5EBE-08F138F49DC4}"/>
              </a:ext>
            </a:extLst>
          </p:cNvPr>
          <p:cNvSpPr/>
          <p:nvPr/>
        </p:nvSpPr>
        <p:spPr>
          <a:xfrm>
            <a:off x="360363" y="611188"/>
            <a:ext cx="11633200" cy="360362"/>
          </a:xfrm>
          <a:prstGeom prst="rect">
            <a:avLst/>
          </a:prstGeom>
          <a:noFill/>
          <a:ln/>
        </p:spPr>
        <p:txBody>
          <a:bodyPr lIns="0" tIns="0" rIns="0" bIns="0" anchor="ctr"/>
          <a:lstStyle/>
          <a:p>
            <a:pPr eaLnBrk="1" fontAlgn="auto" hangingPunct="1">
              <a:lnSpc>
                <a:spcPct val="90000"/>
              </a:lnSpc>
              <a:spcBef>
                <a:spcPts val="0"/>
              </a:spcBef>
              <a:spcAft>
                <a:spcPts val="0"/>
              </a:spcAft>
              <a:defRPr/>
            </a:pPr>
            <a:r>
              <a:rPr lang="en-US" sz="2551" b="1" dirty="0">
                <a:solidFill>
                  <a:srgbClr val="E1E3E6"/>
                </a:solidFill>
                <a:latin typeface="Liter" pitchFamily="34" charset="0"/>
                <a:ea typeface="Liter" pitchFamily="34" charset="-122"/>
                <a:cs typeface="Liter" pitchFamily="34" charset="-120"/>
              </a:rPr>
              <a:t>Secondary Metrics: Stall and Bull Score</a:t>
            </a:r>
            <a:endParaRPr lang="en-US" sz="1600" dirty="0">
              <a:latin typeface="+mn-lt"/>
            </a:endParaRPr>
          </a:p>
        </p:txBody>
      </p:sp>
      <p:sp>
        <p:nvSpPr>
          <p:cNvPr id="15364" name="Shape 2">
            <a:extLst>
              <a:ext uri="{FF2B5EF4-FFF2-40B4-BE49-F238E27FC236}">
                <a16:creationId xmlns:a16="http://schemas.microsoft.com/office/drawing/2014/main" id="{3A78042C-7F57-4D92-736E-9EF54059E817}"/>
              </a:ext>
            </a:extLst>
          </p:cNvPr>
          <p:cNvSpPr>
            <a:spLocks/>
          </p:cNvSpPr>
          <p:nvPr/>
        </p:nvSpPr>
        <p:spPr bwMode="auto">
          <a:xfrm>
            <a:off x="368300" y="1001713"/>
            <a:ext cx="3289300" cy="5676900"/>
          </a:xfrm>
          <a:custGeom>
            <a:avLst/>
            <a:gdLst>
              <a:gd name="T0" fmla="*/ 35992 w 5623616"/>
              <a:gd name="T1" fmla="*/ 0 h 3833057"/>
              <a:gd name="T2" fmla="*/ 5587624 w 5623616"/>
              <a:gd name="T3" fmla="*/ 0 h 3833057"/>
              <a:gd name="T4" fmla="*/ 5623616 w 5623616"/>
              <a:gd name="T5" fmla="*/ 35992 h 3833057"/>
              <a:gd name="T6" fmla="*/ 5623616 w 5623616"/>
              <a:gd name="T7" fmla="*/ 3797064 h 3833057"/>
              <a:gd name="T8" fmla="*/ 5587624 w 5623616"/>
              <a:gd name="T9" fmla="*/ 3833057 h 3833057"/>
              <a:gd name="T10" fmla="*/ 35992 w 5623616"/>
              <a:gd name="T11" fmla="*/ 3833057 h 3833057"/>
              <a:gd name="T12" fmla="*/ 0 w 5623616"/>
              <a:gd name="T13" fmla="*/ 3797064 h 3833057"/>
              <a:gd name="T14" fmla="*/ 0 w 5623616"/>
              <a:gd name="T15" fmla="*/ 35992 h 3833057"/>
              <a:gd name="T16" fmla="*/ 35992 w 5623616"/>
              <a:gd name="T17" fmla="*/ 0 h 3833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23616" h="3833057">
                <a:moveTo>
                  <a:pt x="35992" y="0"/>
                </a:moveTo>
                <a:lnTo>
                  <a:pt x="5587624" y="0"/>
                </a:lnTo>
                <a:cubicBezTo>
                  <a:pt x="5607502" y="0"/>
                  <a:pt x="5623616" y="16114"/>
                  <a:pt x="5623616" y="35992"/>
                </a:cubicBezTo>
                <a:lnTo>
                  <a:pt x="5623616" y="3797064"/>
                </a:lnTo>
                <a:cubicBezTo>
                  <a:pt x="5623616" y="3816942"/>
                  <a:pt x="5607502" y="3833057"/>
                  <a:pt x="5587624" y="3833057"/>
                </a:cubicBezTo>
                <a:lnTo>
                  <a:pt x="35992" y="3833057"/>
                </a:lnTo>
                <a:cubicBezTo>
                  <a:pt x="16114" y="3833057"/>
                  <a:pt x="0" y="3816942"/>
                  <a:pt x="0" y="3797064"/>
                </a:cubicBezTo>
                <a:lnTo>
                  <a:pt x="0" y="35992"/>
                </a:lnTo>
                <a:cubicBezTo>
                  <a:pt x="0" y="16128"/>
                  <a:pt x="16128" y="0"/>
                  <a:pt x="35992" y="0"/>
                </a:cubicBezTo>
                <a:close/>
              </a:path>
            </a:pathLst>
          </a:custGeom>
          <a:solidFill>
            <a:srgbClr val="1E2024"/>
          </a:solidFill>
          <a:ln w="25400">
            <a:solidFill>
              <a:srgbClr val="4C7E9A"/>
            </a:solidFill>
            <a:prstDash val="solid"/>
            <a:round/>
            <a:headEnd/>
            <a:tailEnd/>
          </a:ln>
        </p:spPr>
        <p:txBody>
          <a:bodyPr/>
          <a:lstStyle/>
          <a:p>
            <a:endParaRPr lang="en-US"/>
          </a:p>
        </p:txBody>
      </p:sp>
      <p:sp>
        <p:nvSpPr>
          <p:cNvPr id="15365" name="Shape 19">
            <a:extLst>
              <a:ext uri="{FF2B5EF4-FFF2-40B4-BE49-F238E27FC236}">
                <a16:creationId xmlns:a16="http://schemas.microsoft.com/office/drawing/2014/main" id="{9F18F537-AC78-3600-80C6-840A51473441}"/>
              </a:ext>
            </a:extLst>
          </p:cNvPr>
          <p:cNvSpPr>
            <a:spLocks/>
          </p:cNvSpPr>
          <p:nvPr/>
        </p:nvSpPr>
        <p:spPr bwMode="auto">
          <a:xfrm>
            <a:off x="4265613" y="1001713"/>
            <a:ext cx="3068637" cy="5676900"/>
          </a:xfrm>
          <a:custGeom>
            <a:avLst/>
            <a:gdLst>
              <a:gd name="T0" fmla="*/ 35992 w 5623616"/>
              <a:gd name="T1" fmla="*/ 0 h 3833057"/>
              <a:gd name="T2" fmla="*/ 5587624 w 5623616"/>
              <a:gd name="T3" fmla="*/ 0 h 3833057"/>
              <a:gd name="T4" fmla="*/ 5623616 w 5623616"/>
              <a:gd name="T5" fmla="*/ 35992 h 3833057"/>
              <a:gd name="T6" fmla="*/ 5623616 w 5623616"/>
              <a:gd name="T7" fmla="*/ 3797064 h 3833057"/>
              <a:gd name="T8" fmla="*/ 5587624 w 5623616"/>
              <a:gd name="T9" fmla="*/ 3833057 h 3833057"/>
              <a:gd name="T10" fmla="*/ 35992 w 5623616"/>
              <a:gd name="T11" fmla="*/ 3833057 h 3833057"/>
              <a:gd name="T12" fmla="*/ 0 w 5623616"/>
              <a:gd name="T13" fmla="*/ 3797064 h 3833057"/>
              <a:gd name="T14" fmla="*/ 0 w 5623616"/>
              <a:gd name="T15" fmla="*/ 35992 h 3833057"/>
              <a:gd name="T16" fmla="*/ 35992 w 5623616"/>
              <a:gd name="T17" fmla="*/ 0 h 3833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23616" h="3833057">
                <a:moveTo>
                  <a:pt x="35992" y="0"/>
                </a:moveTo>
                <a:lnTo>
                  <a:pt x="5587624" y="0"/>
                </a:lnTo>
                <a:cubicBezTo>
                  <a:pt x="5607502" y="0"/>
                  <a:pt x="5623616" y="16114"/>
                  <a:pt x="5623616" y="35992"/>
                </a:cubicBezTo>
                <a:lnTo>
                  <a:pt x="5623616" y="3797064"/>
                </a:lnTo>
                <a:cubicBezTo>
                  <a:pt x="5623616" y="3816942"/>
                  <a:pt x="5607502" y="3833057"/>
                  <a:pt x="5587624" y="3833057"/>
                </a:cubicBezTo>
                <a:lnTo>
                  <a:pt x="35992" y="3833057"/>
                </a:lnTo>
                <a:cubicBezTo>
                  <a:pt x="16114" y="3833057"/>
                  <a:pt x="0" y="3816942"/>
                  <a:pt x="0" y="3797064"/>
                </a:cubicBezTo>
                <a:lnTo>
                  <a:pt x="0" y="35992"/>
                </a:lnTo>
                <a:cubicBezTo>
                  <a:pt x="0" y="16128"/>
                  <a:pt x="16128" y="0"/>
                  <a:pt x="35992" y="0"/>
                </a:cubicBezTo>
                <a:close/>
              </a:path>
            </a:pathLst>
          </a:custGeom>
          <a:solidFill>
            <a:srgbClr val="1E2024"/>
          </a:solidFill>
          <a:ln w="25400">
            <a:solidFill>
              <a:srgbClr val="3A506B"/>
            </a:solidFill>
            <a:prstDash val="solid"/>
            <a:round/>
            <a:headEnd/>
            <a:tailEnd/>
          </a:ln>
        </p:spPr>
        <p:txBody>
          <a:bodyPr/>
          <a:lstStyle/>
          <a:p>
            <a:endParaRPr lang="en-US"/>
          </a:p>
        </p:txBody>
      </p:sp>
      <p:sp>
        <p:nvSpPr>
          <p:cNvPr id="58" name="Text 4">
            <a:extLst>
              <a:ext uri="{FF2B5EF4-FFF2-40B4-BE49-F238E27FC236}">
                <a16:creationId xmlns:a16="http://schemas.microsoft.com/office/drawing/2014/main" id="{02BAC73A-E265-F45F-F309-399287561A4A}"/>
              </a:ext>
            </a:extLst>
          </p:cNvPr>
          <p:cNvSpPr/>
          <p:nvPr/>
        </p:nvSpPr>
        <p:spPr>
          <a:xfrm>
            <a:off x="749300" y="1019175"/>
            <a:ext cx="2843213" cy="219075"/>
          </a:xfrm>
          <a:prstGeom prst="rect">
            <a:avLst/>
          </a:prstGeom>
          <a:noFill/>
          <a:ln/>
        </p:spPr>
        <p:txBody>
          <a:bodyPr lIns="0" tIns="0" rIns="0" bIns="0" anchor="ctr"/>
          <a:lstStyle/>
          <a:p>
            <a:pPr eaLnBrk="1" fontAlgn="auto" hangingPunct="1">
              <a:lnSpc>
                <a:spcPct val="130000"/>
              </a:lnSpc>
              <a:spcBef>
                <a:spcPts val="0"/>
              </a:spcBef>
              <a:spcAft>
                <a:spcPts val="0"/>
              </a:spcAft>
              <a:defRPr/>
            </a:pPr>
            <a:r>
              <a:rPr lang="en-US" sz="1350" b="1" dirty="0">
                <a:solidFill>
                  <a:srgbClr val="4C7E9A"/>
                </a:solidFill>
                <a:latin typeface="Liter" pitchFamily="34" charset="0"/>
                <a:ea typeface="Liter" pitchFamily="34" charset="-122"/>
                <a:cs typeface="Liter" pitchFamily="34" charset="-120"/>
              </a:rPr>
              <a:t>What’s the purpose?</a:t>
            </a:r>
            <a:endParaRPr lang="en-US" sz="1600" dirty="0">
              <a:latin typeface="+mn-lt"/>
            </a:endParaRPr>
          </a:p>
        </p:txBody>
      </p:sp>
      <p:pic>
        <p:nvPicPr>
          <p:cNvPr id="59" name="Graphic 58" descr="Badge Question Mark with solid fill">
            <a:extLst>
              <a:ext uri="{FF2B5EF4-FFF2-40B4-BE49-F238E27FC236}">
                <a16:creationId xmlns:a16="http://schemas.microsoft.com/office/drawing/2014/main" id="{B162B5B0-6AAA-FD34-B38E-60B51AF7E1A8}"/>
              </a:ext>
            </a:extLst>
          </p:cNvPr>
          <p:cNvPicPr>
            <a:picLocks noChangeAspect="1"/>
          </p:cNvPicPr>
          <p:nvPr/>
        </p:nvPicPr>
        <p:blipFill>
          <a:blip r:embed="rId3"/>
          <a:stretch>
            <a:fillRect/>
          </a:stretch>
        </p:blipFill>
        <p:spPr>
          <a:xfrm>
            <a:off x="431800" y="1050925"/>
            <a:ext cx="233363" cy="234950"/>
          </a:xfrm>
          <a:prstGeom prst="rect">
            <a:avLst/>
          </a:prstGeom>
        </p:spPr>
      </p:pic>
      <p:sp>
        <p:nvSpPr>
          <p:cNvPr id="15368" name="Text 4">
            <a:extLst>
              <a:ext uri="{FF2B5EF4-FFF2-40B4-BE49-F238E27FC236}">
                <a16:creationId xmlns:a16="http://schemas.microsoft.com/office/drawing/2014/main" id="{986552A1-E4A4-508B-3DC4-85D9914462B1}"/>
              </a:ext>
            </a:extLst>
          </p:cNvPr>
          <p:cNvSpPr>
            <a:spLocks noChangeArrowheads="1"/>
          </p:cNvSpPr>
          <p:nvPr/>
        </p:nvSpPr>
        <p:spPr bwMode="auto">
          <a:xfrm>
            <a:off x="461963" y="1327150"/>
            <a:ext cx="3094037" cy="225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171450" indent="-1714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buFontTx/>
              <a:buChar char="-"/>
            </a:pPr>
            <a:r>
              <a:rPr lang="en-US" altLang="en-US" sz="1200">
                <a:solidFill>
                  <a:srgbClr val="DEE0E4"/>
                </a:solidFill>
                <a:latin typeface="Quattrocento Sans" panose="020B0502050000020003" pitchFamily="34" charset="0"/>
              </a:rPr>
              <a:t>DL depth allowed (or gained) can be useful for evaluating interior lineman, but it doesn’t provide context for </a:t>
            </a:r>
            <a:r>
              <a:rPr lang="en-US" altLang="en-US" sz="1200" i="1">
                <a:solidFill>
                  <a:srgbClr val="DEE0E4"/>
                </a:solidFill>
                <a:latin typeface="Quattrocento Sans" panose="020B0502050000020003" pitchFamily="34" charset="0"/>
              </a:rPr>
              <a:t>how</a:t>
            </a:r>
            <a:r>
              <a:rPr lang="en-US" altLang="en-US" sz="1200">
                <a:solidFill>
                  <a:srgbClr val="DEE0E4"/>
                </a:solidFill>
                <a:latin typeface="Quattrocento Sans" panose="020B0502050000020003" pitchFamily="34" charset="0"/>
              </a:rPr>
              <a:t> a rep was won or lost. It also isn’t phase aware, meaning that the metric doesn’t take into account what is happening in the rep besides depth penetration.</a:t>
            </a:r>
          </a:p>
          <a:p>
            <a:pPr eaLnBrk="1" hangingPunct="1">
              <a:buFontTx/>
              <a:buChar char="-"/>
            </a:pPr>
            <a:r>
              <a:rPr lang="en-US" altLang="en-US" sz="1200">
                <a:solidFill>
                  <a:srgbClr val="DEE0E4"/>
                </a:solidFill>
                <a:latin typeface="Quattrocento Sans" panose="020B0502050000020003" pitchFamily="34" charset="0"/>
              </a:rPr>
              <a:t>Stall and bull score attempt to create proxies for evaluating anchor (stall) for offensive linemen and power (bull) for defensive linemen by evaluating what happens </a:t>
            </a:r>
            <a:r>
              <a:rPr lang="en-US" altLang="en-US" sz="1200" i="1">
                <a:solidFill>
                  <a:srgbClr val="DEE0E4"/>
                </a:solidFill>
                <a:latin typeface="Quattrocento Sans" panose="020B0502050000020003" pitchFamily="34" charset="0"/>
              </a:rPr>
              <a:t>after</a:t>
            </a:r>
            <a:r>
              <a:rPr lang="en-US" altLang="en-US" sz="1200">
                <a:solidFill>
                  <a:srgbClr val="DEE0E4"/>
                </a:solidFill>
                <a:latin typeface="Quattrocento Sans" panose="020B0502050000020003" pitchFamily="34" charset="0"/>
              </a:rPr>
              <a:t> the contact-onset point</a:t>
            </a:r>
          </a:p>
          <a:p>
            <a:pPr eaLnBrk="1" hangingPunct="1">
              <a:buFontTx/>
              <a:buChar char="-"/>
            </a:pPr>
            <a:endParaRPr lang="en-US" altLang="en-US" sz="1200">
              <a:solidFill>
                <a:srgbClr val="DEE0E4"/>
              </a:solidFill>
              <a:latin typeface="Quattrocento Sans" panose="020B0502050000020003" pitchFamily="34" charset="0"/>
            </a:endParaRPr>
          </a:p>
        </p:txBody>
      </p:sp>
      <p:sp>
        <p:nvSpPr>
          <p:cNvPr id="61" name="Text 4">
            <a:extLst>
              <a:ext uri="{FF2B5EF4-FFF2-40B4-BE49-F238E27FC236}">
                <a16:creationId xmlns:a16="http://schemas.microsoft.com/office/drawing/2014/main" id="{8CCCC4E4-76CD-2C18-6CBC-9AC569027BD4}"/>
              </a:ext>
            </a:extLst>
          </p:cNvPr>
          <p:cNvSpPr/>
          <p:nvPr/>
        </p:nvSpPr>
        <p:spPr>
          <a:xfrm>
            <a:off x="739775" y="3586163"/>
            <a:ext cx="3981450" cy="266700"/>
          </a:xfrm>
          <a:prstGeom prst="rect">
            <a:avLst/>
          </a:prstGeom>
          <a:noFill/>
          <a:ln/>
        </p:spPr>
        <p:txBody>
          <a:bodyPr lIns="0" tIns="0" rIns="0" bIns="0" anchor="ctr"/>
          <a:lstStyle/>
          <a:p>
            <a:pPr eaLnBrk="1" fontAlgn="auto" hangingPunct="1">
              <a:lnSpc>
                <a:spcPct val="130000"/>
              </a:lnSpc>
              <a:spcBef>
                <a:spcPts val="0"/>
              </a:spcBef>
              <a:spcAft>
                <a:spcPts val="0"/>
              </a:spcAft>
              <a:defRPr/>
            </a:pPr>
            <a:r>
              <a:rPr lang="en-US" sz="1350" b="1" dirty="0">
                <a:solidFill>
                  <a:srgbClr val="4C7E9A"/>
                </a:solidFill>
                <a:latin typeface="Liter" pitchFamily="34" charset="0"/>
                <a:ea typeface="Liter" pitchFamily="34" charset="-122"/>
                <a:cs typeface="Liter" pitchFamily="34" charset="-120"/>
              </a:rPr>
              <a:t>Stall Score</a:t>
            </a:r>
            <a:endParaRPr lang="en-US" sz="1600" dirty="0">
              <a:latin typeface="+mn-lt"/>
            </a:endParaRPr>
          </a:p>
        </p:txBody>
      </p:sp>
      <p:sp>
        <p:nvSpPr>
          <p:cNvPr id="15370" name="Shape 3">
            <a:extLst>
              <a:ext uri="{FF2B5EF4-FFF2-40B4-BE49-F238E27FC236}">
                <a16:creationId xmlns:a16="http://schemas.microsoft.com/office/drawing/2014/main" id="{4047FF17-D663-10C1-4A96-F8A7D90EF3A4}"/>
              </a:ext>
            </a:extLst>
          </p:cNvPr>
          <p:cNvSpPr>
            <a:spLocks/>
          </p:cNvSpPr>
          <p:nvPr/>
        </p:nvSpPr>
        <p:spPr bwMode="auto">
          <a:xfrm>
            <a:off x="439738" y="3630613"/>
            <a:ext cx="215900" cy="215900"/>
          </a:xfrm>
          <a:custGeom>
            <a:avLst/>
            <a:gdLst>
              <a:gd name="T0" fmla="*/ 107973 w 215947"/>
              <a:gd name="T1" fmla="*/ 0 h 215947"/>
              <a:gd name="T2" fmla="*/ 113625 w 215947"/>
              <a:gd name="T3" fmla="*/ 1223 h 215947"/>
              <a:gd name="T4" fmla="*/ 193087 w 215947"/>
              <a:gd name="T5" fmla="*/ 34923 h 215947"/>
              <a:gd name="T6" fmla="*/ 209241 w 215947"/>
              <a:gd name="T7" fmla="*/ 59048 h 215947"/>
              <a:gd name="T8" fmla="*/ 119150 w 215947"/>
              <a:gd name="T9" fmla="*/ 212235 h 215947"/>
              <a:gd name="T10" fmla="*/ 96881 w 215947"/>
              <a:gd name="T11" fmla="*/ 212235 h 215947"/>
              <a:gd name="T12" fmla="*/ 6791 w 215947"/>
              <a:gd name="T13" fmla="*/ 59048 h 215947"/>
              <a:gd name="T14" fmla="*/ 22944 w 215947"/>
              <a:gd name="T15" fmla="*/ 34923 h 215947"/>
              <a:gd name="T16" fmla="*/ 102364 w 215947"/>
              <a:gd name="T17" fmla="*/ 1223 h 215947"/>
              <a:gd name="T18" fmla="*/ 107973 w 215947"/>
              <a:gd name="T19" fmla="*/ 0 h 215947"/>
              <a:gd name="T20" fmla="*/ 107973 w 215947"/>
              <a:gd name="T21" fmla="*/ 28174 h 215947"/>
              <a:gd name="T22" fmla="*/ 107973 w 215947"/>
              <a:gd name="T23" fmla="*/ 187646 h 215947"/>
              <a:gd name="T24" fmla="*/ 182205 w 215947"/>
              <a:gd name="T25" fmla="*/ 59681 h 215947"/>
              <a:gd name="T26" fmla="*/ 107973 w 215947"/>
              <a:gd name="T27" fmla="*/ 28216 h 215947"/>
              <a:gd name="T28" fmla="*/ 107973 w 215947"/>
              <a:gd name="T29" fmla="*/ 28216 h 215947"/>
              <a:gd name="T30" fmla="*/ 107973 w 215947"/>
              <a:gd name="T31" fmla="*/ 28174 h 215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5947" h="215947">
                <a:moveTo>
                  <a:pt x="107973" y="0"/>
                </a:moveTo>
                <a:cubicBezTo>
                  <a:pt x="109914" y="0"/>
                  <a:pt x="111854" y="422"/>
                  <a:pt x="113625" y="1223"/>
                </a:cubicBezTo>
                <a:lnTo>
                  <a:pt x="193087" y="34923"/>
                </a:lnTo>
                <a:cubicBezTo>
                  <a:pt x="202366" y="38845"/>
                  <a:pt x="209283" y="47998"/>
                  <a:pt x="209241" y="59048"/>
                </a:cubicBezTo>
                <a:cubicBezTo>
                  <a:pt x="209030" y="100888"/>
                  <a:pt x="191822" y="177439"/>
                  <a:pt x="119150" y="212235"/>
                </a:cubicBezTo>
                <a:cubicBezTo>
                  <a:pt x="112107" y="215609"/>
                  <a:pt x="103924" y="215609"/>
                  <a:pt x="96881" y="212235"/>
                </a:cubicBezTo>
                <a:cubicBezTo>
                  <a:pt x="24167" y="177439"/>
                  <a:pt x="7001" y="100888"/>
                  <a:pt x="6791" y="59048"/>
                </a:cubicBezTo>
                <a:cubicBezTo>
                  <a:pt x="6748" y="47998"/>
                  <a:pt x="13665" y="38845"/>
                  <a:pt x="22944" y="34923"/>
                </a:cubicBezTo>
                <a:lnTo>
                  <a:pt x="102364" y="1223"/>
                </a:lnTo>
                <a:cubicBezTo>
                  <a:pt x="104135" y="422"/>
                  <a:pt x="106033" y="0"/>
                  <a:pt x="107973" y="0"/>
                </a:cubicBezTo>
                <a:close/>
                <a:moveTo>
                  <a:pt x="107973" y="28174"/>
                </a:moveTo>
                <a:lnTo>
                  <a:pt x="107973" y="187646"/>
                </a:lnTo>
                <a:cubicBezTo>
                  <a:pt x="166178" y="159472"/>
                  <a:pt x="181826" y="97050"/>
                  <a:pt x="182205" y="59681"/>
                </a:cubicBezTo>
                <a:lnTo>
                  <a:pt x="107973" y="28216"/>
                </a:lnTo>
                <a:lnTo>
                  <a:pt x="107973" y="28174"/>
                </a:lnTo>
                <a:close/>
              </a:path>
            </a:pathLst>
          </a:custGeom>
          <a:solidFill>
            <a:srgbClr val="4C7E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71" name="Text 4">
            <a:extLst>
              <a:ext uri="{FF2B5EF4-FFF2-40B4-BE49-F238E27FC236}">
                <a16:creationId xmlns:a16="http://schemas.microsoft.com/office/drawing/2014/main" id="{8401CF03-5152-FB86-26FF-79E77314464C}"/>
              </a:ext>
            </a:extLst>
          </p:cNvPr>
          <p:cNvSpPr>
            <a:spLocks noChangeArrowheads="1"/>
          </p:cNvSpPr>
          <p:nvPr/>
        </p:nvSpPr>
        <p:spPr bwMode="auto">
          <a:xfrm>
            <a:off x="547688" y="3852863"/>
            <a:ext cx="3008312" cy="225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171450" indent="-17145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buFontTx/>
              <a:buChar char="-"/>
            </a:pPr>
            <a:r>
              <a:rPr lang="en-US" altLang="en-US" sz="1200">
                <a:solidFill>
                  <a:srgbClr val="DEE0E4"/>
                </a:solidFill>
                <a:latin typeface="Quattrocento Sans" panose="020B0502050000020003" pitchFamily="34" charset="0"/>
              </a:rPr>
              <a:t>Arrest Component: Negative AUC of positive closing velocity (how much closing rate slows after contact)</a:t>
            </a:r>
          </a:p>
          <a:p>
            <a:pPr eaLnBrk="1" hangingPunct="1">
              <a:buFontTx/>
              <a:buChar char="-"/>
            </a:pPr>
            <a:r>
              <a:rPr lang="en-US" altLang="en-US" sz="1200">
                <a:solidFill>
                  <a:srgbClr val="DEE0E4"/>
                </a:solidFill>
                <a:latin typeface="Quattrocento Sans" panose="020B0502050000020003" pitchFamily="34" charset="0"/>
              </a:rPr>
              <a:t>Displacement Component: Absolute change in axis-projected post-contact position (how much the OL moved)</a:t>
            </a:r>
          </a:p>
          <a:p>
            <a:pPr eaLnBrk="1" hangingPunct="1">
              <a:buFontTx/>
              <a:buChar char="-"/>
            </a:pPr>
            <a:r>
              <a:rPr lang="en-US" altLang="en-US" sz="1200">
                <a:solidFill>
                  <a:srgbClr val="DEE0E4"/>
                </a:solidFill>
                <a:latin typeface="Quattrocento Sans" panose="020B0502050000020003" pitchFamily="34" charset="0"/>
              </a:rPr>
              <a:t>Stall Score = z</a:t>
            </a:r>
            <a:r>
              <a:rPr lang="en-US" altLang="en-US" sz="1200" baseline="-25000">
                <a:solidFill>
                  <a:srgbClr val="DEE0E4"/>
                </a:solidFill>
                <a:latin typeface="Quattrocento Sans" panose="020B0502050000020003" pitchFamily="34" charset="0"/>
              </a:rPr>
              <a:t>Arrest</a:t>
            </a:r>
            <a:r>
              <a:rPr lang="en-US" altLang="en-US" sz="1200">
                <a:solidFill>
                  <a:srgbClr val="DEE0E4"/>
                </a:solidFill>
                <a:latin typeface="Quattrocento Sans" panose="020B0502050000020003" pitchFamily="34" charset="0"/>
              </a:rPr>
              <a:t> - z</a:t>
            </a:r>
            <a:r>
              <a:rPr lang="en-US" altLang="en-US" sz="1200" baseline="-25000">
                <a:solidFill>
                  <a:srgbClr val="DEE0E4"/>
                </a:solidFill>
                <a:latin typeface="Quattrocento Sans" panose="020B0502050000020003" pitchFamily="34" charset="0"/>
              </a:rPr>
              <a:t>Displacement</a:t>
            </a:r>
          </a:p>
        </p:txBody>
      </p:sp>
      <p:sp>
        <p:nvSpPr>
          <p:cNvPr id="66" name="Text 4">
            <a:extLst>
              <a:ext uri="{FF2B5EF4-FFF2-40B4-BE49-F238E27FC236}">
                <a16:creationId xmlns:a16="http://schemas.microsoft.com/office/drawing/2014/main" id="{E2CA384C-FA10-5F0F-FB0D-948B01681546}"/>
              </a:ext>
            </a:extLst>
          </p:cNvPr>
          <p:cNvSpPr/>
          <p:nvPr/>
        </p:nvSpPr>
        <p:spPr>
          <a:xfrm>
            <a:off x="741363" y="5172075"/>
            <a:ext cx="3981450" cy="266700"/>
          </a:xfrm>
          <a:prstGeom prst="rect">
            <a:avLst/>
          </a:prstGeom>
          <a:noFill/>
          <a:ln/>
        </p:spPr>
        <p:txBody>
          <a:bodyPr lIns="0" tIns="0" rIns="0" bIns="0" anchor="ctr"/>
          <a:lstStyle/>
          <a:p>
            <a:pPr eaLnBrk="1" fontAlgn="auto" hangingPunct="1">
              <a:lnSpc>
                <a:spcPct val="130000"/>
              </a:lnSpc>
              <a:spcBef>
                <a:spcPts val="0"/>
              </a:spcBef>
              <a:spcAft>
                <a:spcPts val="0"/>
              </a:spcAft>
              <a:defRPr/>
            </a:pPr>
            <a:r>
              <a:rPr lang="en-US" sz="1350" b="1" dirty="0">
                <a:solidFill>
                  <a:srgbClr val="4C7E9A"/>
                </a:solidFill>
                <a:latin typeface="Liter" pitchFamily="34" charset="0"/>
                <a:ea typeface="Liter" pitchFamily="34" charset="-122"/>
                <a:cs typeface="Liter" pitchFamily="34" charset="-120"/>
              </a:rPr>
              <a:t>Bull Score</a:t>
            </a:r>
            <a:endParaRPr lang="en-US" sz="1600" dirty="0">
              <a:latin typeface="+mn-lt"/>
            </a:endParaRPr>
          </a:p>
        </p:txBody>
      </p:sp>
      <p:sp>
        <p:nvSpPr>
          <p:cNvPr id="68" name="Text 4">
            <a:extLst>
              <a:ext uri="{FF2B5EF4-FFF2-40B4-BE49-F238E27FC236}">
                <a16:creationId xmlns:a16="http://schemas.microsoft.com/office/drawing/2014/main" id="{F53B6FF1-BB85-1510-1250-AB7E0F1CC55F}"/>
              </a:ext>
            </a:extLst>
          </p:cNvPr>
          <p:cNvSpPr/>
          <p:nvPr/>
        </p:nvSpPr>
        <p:spPr>
          <a:xfrm>
            <a:off x="549275" y="5438775"/>
            <a:ext cx="3043238" cy="2251075"/>
          </a:xfrm>
          <a:prstGeom prst="rect">
            <a:avLst/>
          </a:prstGeom>
          <a:noFill/>
          <a:ln/>
        </p:spPr>
        <p:txBody>
          <a:bodyPr lIns="0" tIns="0" rIns="0" bIns="0"/>
          <a:lstStyle/>
          <a:p>
            <a:pPr marL="171450" indent="-171450" eaLnBrk="1" fontAlgn="auto" hangingPunct="1">
              <a:spcBef>
                <a:spcPts val="0"/>
              </a:spcBef>
              <a:spcAft>
                <a:spcPts val="0"/>
              </a:spcAft>
              <a:buFontTx/>
              <a:buChar char="-"/>
              <a:defRPr/>
            </a:pPr>
            <a:r>
              <a:rPr lang="en-US" sz="1200" dirty="0">
                <a:solidFill>
                  <a:srgbClr val="DEE0E4"/>
                </a:solidFill>
                <a:latin typeface="Quattrocento Sans" panose="020B0502050000020003" pitchFamily="34" charset="0"/>
              </a:rPr>
              <a:t>Arrest Component</a:t>
            </a:r>
          </a:p>
          <a:p>
            <a:pPr marL="171450" indent="-171450" eaLnBrk="1" fontAlgn="auto" hangingPunct="1">
              <a:spcBef>
                <a:spcPts val="0"/>
              </a:spcBef>
              <a:spcAft>
                <a:spcPts val="0"/>
              </a:spcAft>
              <a:buFontTx/>
              <a:buChar char="-"/>
              <a:defRPr/>
            </a:pPr>
            <a:r>
              <a:rPr lang="en-US" sz="1200" dirty="0">
                <a:solidFill>
                  <a:srgbClr val="DEE0E4"/>
                </a:solidFill>
                <a:latin typeface="Quattrocento Sans" panose="020B0502050000020003" pitchFamily="34" charset="0"/>
              </a:rPr>
              <a:t>Walk-Back Component: Maximum of 0 and negative displacement along rush axis (OL backward movement only)</a:t>
            </a:r>
          </a:p>
          <a:p>
            <a:pPr marL="171450" indent="-171450" eaLnBrk="1" fontAlgn="auto" hangingPunct="1">
              <a:spcBef>
                <a:spcPts val="0"/>
              </a:spcBef>
              <a:spcAft>
                <a:spcPts val="0"/>
              </a:spcAft>
              <a:buFontTx/>
              <a:buChar char="-"/>
              <a:defRPr/>
            </a:pPr>
            <a:r>
              <a:rPr lang="en-US" sz="1200" dirty="0">
                <a:solidFill>
                  <a:srgbClr val="DEE0E4"/>
                </a:solidFill>
                <a:latin typeface="Quattrocento Sans" panose="020B0502050000020003" pitchFamily="34" charset="0"/>
              </a:rPr>
              <a:t>Bull Score = </a:t>
            </a:r>
            <a:r>
              <a:rPr lang="en-US" sz="1200" dirty="0" err="1">
                <a:solidFill>
                  <a:srgbClr val="DEE0E4"/>
                </a:solidFill>
                <a:latin typeface="Quattrocento Sans" panose="020B0502050000020003" pitchFamily="34" charset="0"/>
              </a:rPr>
              <a:t>z</a:t>
            </a:r>
            <a:r>
              <a:rPr lang="en-US" sz="1200" baseline="-25000" dirty="0" err="1">
                <a:solidFill>
                  <a:srgbClr val="DEE0E4"/>
                </a:solidFill>
                <a:latin typeface="Quattrocento Sans" panose="020B0502050000020003" pitchFamily="34" charset="0"/>
              </a:rPr>
              <a:t>Walk</a:t>
            </a:r>
            <a:r>
              <a:rPr lang="en-US" sz="1200" baseline="-25000" dirty="0">
                <a:solidFill>
                  <a:srgbClr val="DEE0E4"/>
                </a:solidFill>
                <a:latin typeface="Quattrocento Sans" panose="020B0502050000020003" pitchFamily="34" charset="0"/>
              </a:rPr>
              <a:t>-Back</a:t>
            </a:r>
            <a:r>
              <a:rPr lang="en-US" sz="1200" dirty="0">
                <a:solidFill>
                  <a:srgbClr val="DEE0E4"/>
                </a:solidFill>
                <a:latin typeface="Quattrocento Sans" panose="020B0502050000020003" pitchFamily="34" charset="0"/>
              </a:rPr>
              <a:t> + 0.25*</a:t>
            </a:r>
            <a:r>
              <a:rPr lang="en-US" sz="1200" dirty="0" err="1">
                <a:solidFill>
                  <a:srgbClr val="DEE0E4"/>
                </a:solidFill>
                <a:latin typeface="Quattrocento Sans" panose="020B0502050000020003" pitchFamily="34" charset="0"/>
              </a:rPr>
              <a:t>z</a:t>
            </a:r>
            <a:r>
              <a:rPr lang="en-US" sz="1200" baseline="-25000" dirty="0" err="1">
                <a:solidFill>
                  <a:srgbClr val="DEE0E4"/>
                </a:solidFill>
                <a:latin typeface="Quattrocento Sans" panose="020B0502050000020003" pitchFamily="34" charset="0"/>
              </a:rPr>
              <a:t>Arrest</a:t>
            </a:r>
            <a:endParaRPr lang="en-US" sz="1200" baseline="-25000" dirty="0">
              <a:solidFill>
                <a:srgbClr val="DEE0E4"/>
              </a:solidFill>
              <a:latin typeface="Quattrocento Sans" panose="020B0502050000020003" pitchFamily="34" charset="0"/>
            </a:endParaRPr>
          </a:p>
          <a:p>
            <a:pPr eaLnBrk="1" fontAlgn="auto" hangingPunct="1">
              <a:spcBef>
                <a:spcPts val="0"/>
              </a:spcBef>
              <a:spcAft>
                <a:spcPts val="0"/>
              </a:spcAft>
              <a:defRPr/>
            </a:pPr>
            <a:r>
              <a:rPr lang="en-US" sz="1200" baseline="-25000" dirty="0">
                <a:solidFill>
                  <a:srgbClr val="DEE0E4"/>
                </a:solidFill>
                <a:latin typeface="Quattrocento Sans" panose="020B0502050000020003" pitchFamily="34" charset="0"/>
              </a:rPr>
              <a:t>(Weighting introduced to keep bull = walk-back given engagement)</a:t>
            </a:r>
          </a:p>
        </p:txBody>
      </p:sp>
      <p:pic>
        <p:nvPicPr>
          <p:cNvPr id="70" name="Graphic 69">
            <a:extLst>
              <a:ext uri="{FF2B5EF4-FFF2-40B4-BE49-F238E27FC236}">
                <a16:creationId xmlns:a16="http://schemas.microsoft.com/office/drawing/2014/main" id="{55485FCD-5243-0246-1800-D17E2D846EA8}"/>
              </a:ext>
            </a:extLst>
          </p:cNvPr>
          <p:cNvPicPr>
            <a:picLocks noChangeAspect="1"/>
          </p:cNvPicPr>
          <p:nvPr/>
        </p:nvPicPr>
        <p:blipFill>
          <a:blip r:embed="rId4"/>
          <a:stretch>
            <a:fillRect/>
          </a:stretch>
        </p:blipFill>
        <p:spPr>
          <a:xfrm>
            <a:off x="439738" y="5154613"/>
            <a:ext cx="266700" cy="266700"/>
          </a:xfrm>
          <a:prstGeom prst="rect">
            <a:avLst/>
          </a:prstGeom>
        </p:spPr>
      </p:pic>
      <p:sp>
        <p:nvSpPr>
          <p:cNvPr id="15375" name="Shape 3">
            <a:extLst>
              <a:ext uri="{FF2B5EF4-FFF2-40B4-BE49-F238E27FC236}">
                <a16:creationId xmlns:a16="http://schemas.microsoft.com/office/drawing/2014/main" id="{C500B57E-A9E4-D2FE-03D0-5890CB05593B}"/>
              </a:ext>
            </a:extLst>
          </p:cNvPr>
          <p:cNvSpPr>
            <a:spLocks/>
          </p:cNvSpPr>
          <p:nvPr/>
        </p:nvSpPr>
        <p:spPr bwMode="auto">
          <a:xfrm>
            <a:off x="4397375" y="1063625"/>
            <a:ext cx="215900" cy="215900"/>
          </a:xfrm>
          <a:custGeom>
            <a:avLst/>
            <a:gdLst>
              <a:gd name="T0" fmla="*/ 107973 w 215947"/>
              <a:gd name="T1" fmla="*/ 0 h 215947"/>
              <a:gd name="T2" fmla="*/ 113625 w 215947"/>
              <a:gd name="T3" fmla="*/ 1223 h 215947"/>
              <a:gd name="T4" fmla="*/ 193087 w 215947"/>
              <a:gd name="T5" fmla="*/ 34923 h 215947"/>
              <a:gd name="T6" fmla="*/ 209241 w 215947"/>
              <a:gd name="T7" fmla="*/ 59048 h 215947"/>
              <a:gd name="T8" fmla="*/ 119150 w 215947"/>
              <a:gd name="T9" fmla="*/ 212235 h 215947"/>
              <a:gd name="T10" fmla="*/ 96881 w 215947"/>
              <a:gd name="T11" fmla="*/ 212235 h 215947"/>
              <a:gd name="T12" fmla="*/ 6791 w 215947"/>
              <a:gd name="T13" fmla="*/ 59048 h 215947"/>
              <a:gd name="T14" fmla="*/ 22944 w 215947"/>
              <a:gd name="T15" fmla="*/ 34923 h 215947"/>
              <a:gd name="T16" fmla="*/ 102364 w 215947"/>
              <a:gd name="T17" fmla="*/ 1223 h 215947"/>
              <a:gd name="T18" fmla="*/ 107973 w 215947"/>
              <a:gd name="T19" fmla="*/ 0 h 215947"/>
              <a:gd name="T20" fmla="*/ 107973 w 215947"/>
              <a:gd name="T21" fmla="*/ 28174 h 215947"/>
              <a:gd name="T22" fmla="*/ 107973 w 215947"/>
              <a:gd name="T23" fmla="*/ 187646 h 215947"/>
              <a:gd name="T24" fmla="*/ 182205 w 215947"/>
              <a:gd name="T25" fmla="*/ 59681 h 215947"/>
              <a:gd name="T26" fmla="*/ 107973 w 215947"/>
              <a:gd name="T27" fmla="*/ 28216 h 215947"/>
              <a:gd name="T28" fmla="*/ 107973 w 215947"/>
              <a:gd name="T29" fmla="*/ 28216 h 215947"/>
              <a:gd name="T30" fmla="*/ 107973 w 215947"/>
              <a:gd name="T31" fmla="*/ 28174 h 215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5947" h="215947">
                <a:moveTo>
                  <a:pt x="107973" y="0"/>
                </a:moveTo>
                <a:cubicBezTo>
                  <a:pt x="109914" y="0"/>
                  <a:pt x="111854" y="422"/>
                  <a:pt x="113625" y="1223"/>
                </a:cubicBezTo>
                <a:lnTo>
                  <a:pt x="193087" y="34923"/>
                </a:lnTo>
                <a:cubicBezTo>
                  <a:pt x="202366" y="38845"/>
                  <a:pt x="209283" y="47998"/>
                  <a:pt x="209241" y="59048"/>
                </a:cubicBezTo>
                <a:cubicBezTo>
                  <a:pt x="209030" y="100888"/>
                  <a:pt x="191822" y="177439"/>
                  <a:pt x="119150" y="212235"/>
                </a:cubicBezTo>
                <a:cubicBezTo>
                  <a:pt x="112107" y="215609"/>
                  <a:pt x="103924" y="215609"/>
                  <a:pt x="96881" y="212235"/>
                </a:cubicBezTo>
                <a:cubicBezTo>
                  <a:pt x="24167" y="177439"/>
                  <a:pt x="7001" y="100888"/>
                  <a:pt x="6791" y="59048"/>
                </a:cubicBezTo>
                <a:cubicBezTo>
                  <a:pt x="6748" y="47998"/>
                  <a:pt x="13665" y="38845"/>
                  <a:pt x="22944" y="34923"/>
                </a:cubicBezTo>
                <a:lnTo>
                  <a:pt x="102364" y="1223"/>
                </a:lnTo>
                <a:cubicBezTo>
                  <a:pt x="104135" y="422"/>
                  <a:pt x="106033" y="0"/>
                  <a:pt x="107973" y="0"/>
                </a:cubicBezTo>
                <a:close/>
                <a:moveTo>
                  <a:pt x="107973" y="28174"/>
                </a:moveTo>
                <a:lnTo>
                  <a:pt x="107973" y="187646"/>
                </a:lnTo>
                <a:cubicBezTo>
                  <a:pt x="166178" y="159472"/>
                  <a:pt x="181826" y="97050"/>
                  <a:pt x="182205" y="59681"/>
                </a:cubicBezTo>
                <a:lnTo>
                  <a:pt x="107973" y="28216"/>
                </a:lnTo>
                <a:lnTo>
                  <a:pt x="107973" y="28174"/>
                </a:lnTo>
                <a:close/>
              </a:path>
            </a:pathLst>
          </a:custGeom>
          <a:solidFill>
            <a:srgbClr val="D8A03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 name="Text 4">
            <a:extLst>
              <a:ext uri="{FF2B5EF4-FFF2-40B4-BE49-F238E27FC236}">
                <a16:creationId xmlns:a16="http://schemas.microsoft.com/office/drawing/2014/main" id="{E699B4A4-0745-CC52-147B-F327289907B2}"/>
              </a:ext>
            </a:extLst>
          </p:cNvPr>
          <p:cNvSpPr/>
          <p:nvPr/>
        </p:nvSpPr>
        <p:spPr>
          <a:xfrm>
            <a:off x="4708525" y="1063625"/>
            <a:ext cx="2841625" cy="219075"/>
          </a:xfrm>
          <a:prstGeom prst="rect">
            <a:avLst/>
          </a:prstGeom>
          <a:noFill/>
          <a:ln/>
        </p:spPr>
        <p:txBody>
          <a:bodyPr lIns="0" tIns="0" rIns="0" bIns="0" anchor="ctr"/>
          <a:lstStyle/>
          <a:p>
            <a:pPr eaLnBrk="1" fontAlgn="auto" hangingPunct="1">
              <a:lnSpc>
                <a:spcPct val="130000"/>
              </a:lnSpc>
              <a:spcBef>
                <a:spcPts val="0"/>
              </a:spcBef>
              <a:spcAft>
                <a:spcPts val="0"/>
              </a:spcAft>
              <a:defRPr/>
            </a:pPr>
            <a:r>
              <a:rPr lang="en-US" sz="1350" b="1" dirty="0">
                <a:solidFill>
                  <a:srgbClr val="D8A03D"/>
                </a:solidFill>
                <a:latin typeface="Liter" pitchFamily="34" charset="0"/>
                <a:ea typeface="Liter" pitchFamily="34" charset="-122"/>
                <a:cs typeface="Liter" pitchFamily="34" charset="-120"/>
              </a:rPr>
              <a:t>Top 3 OL by Stall Score</a:t>
            </a:r>
            <a:endParaRPr lang="en-US" sz="1600" dirty="0">
              <a:solidFill>
                <a:srgbClr val="D8A03D"/>
              </a:solidFill>
              <a:latin typeface="+mn-lt"/>
            </a:endParaRPr>
          </a:p>
        </p:txBody>
      </p:sp>
      <p:sp>
        <p:nvSpPr>
          <p:cNvPr id="15377" name="Text 27">
            <a:extLst>
              <a:ext uri="{FF2B5EF4-FFF2-40B4-BE49-F238E27FC236}">
                <a16:creationId xmlns:a16="http://schemas.microsoft.com/office/drawing/2014/main" id="{C4CCE2C4-BAFF-8390-B935-3037F6AF24F8}"/>
              </a:ext>
            </a:extLst>
          </p:cNvPr>
          <p:cNvSpPr>
            <a:spLocks noChangeArrowheads="1"/>
          </p:cNvSpPr>
          <p:nvPr/>
        </p:nvSpPr>
        <p:spPr bwMode="auto">
          <a:xfrm>
            <a:off x="4398963" y="1289050"/>
            <a:ext cx="97948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4C7E9A"/>
                </a:solidFill>
                <a:latin typeface="Liter" panose="02000503030000020004" pitchFamily="2" charset="0"/>
                <a:ea typeface="Liter" panose="02000503030000020004" pitchFamily="2" charset="0"/>
                <a:cs typeface="Liter" panose="02000503030000020004" pitchFamily="2" charset="0"/>
              </a:rPr>
              <a:t>Player</a:t>
            </a:r>
            <a:endParaRPr lang="en-US" altLang="en-US" sz="1000"/>
          </a:p>
        </p:txBody>
      </p:sp>
      <p:sp>
        <p:nvSpPr>
          <p:cNvPr id="15378" name="Text 29">
            <a:extLst>
              <a:ext uri="{FF2B5EF4-FFF2-40B4-BE49-F238E27FC236}">
                <a16:creationId xmlns:a16="http://schemas.microsoft.com/office/drawing/2014/main" id="{5F6A5EF1-4F2E-8BB7-EE2C-AED723E045B0}"/>
              </a:ext>
            </a:extLst>
          </p:cNvPr>
          <p:cNvSpPr>
            <a:spLocks noChangeArrowheads="1"/>
          </p:cNvSpPr>
          <p:nvPr/>
        </p:nvSpPr>
        <p:spPr bwMode="auto">
          <a:xfrm>
            <a:off x="4398963" y="1454150"/>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Kaitori Leveston</a:t>
            </a:r>
            <a:endParaRPr lang="en-US" altLang="en-US" sz="1000"/>
          </a:p>
        </p:txBody>
      </p:sp>
      <p:sp>
        <p:nvSpPr>
          <p:cNvPr id="15379" name="Text 27">
            <a:extLst>
              <a:ext uri="{FF2B5EF4-FFF2-40B4-BE49-F238E27FC236}">
                <a16:creationId xmlns:a16="http://schemas.microsoft.com/office/drawing/2014/main" id="{680BB91F-0A1E-3D09-9A2E-6951D6CE3E90}"/>
              </a:ext>
            </a:extLst>
          </p:cNvPr>
          <p:cNvSpPr>
            <a:spLocks noChangeArrowheads="1"/>
          </p:cNvSpPr>
          <p:nvPr/>
        </p:nvSpPr>
        <p:spPr bwMode="auto">
          <a:xfrm>
            <a:off x="6615113" y="1289050"/>
            <a:ext cx="9779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4C7E9A"/>
                </a:solidFill>
                <a:latin typeface="Liter" panose="02000503030000020004" pitchFamily="2" charset="0"/>
                <a:ea typeface="Liter" panose="02000503030000020004" pitchFamily="2" charset="0"/>
                <a:cs typeface="Liter" panose="02000503030000020004" pitchFamily="2" charset="0"/>
              </a:rPr>
              <a:t>Stall Score</a:t>
            </a:r>
            <a:endParaRPr lang="en-US" altLang="en-US" sz="1000"/>
          </a:p>
        </p:txBody>
      </p:sp>
      <p:sp>
        <p:nvSpPr>
          <p:cNvPr id="15380" name="Text 29">
            <a:extLst>
              <a:ext uri="{FF2B5EF4-FFF2-40B4-BE49-F238E27FC236}">
                <a16:creationId xmlns:a16="http://schemas.microsoft.com/office/drawing/2014/main" id="{C6F348CC-B42E-2EE7-CF31-7AC27DC990BB}"/>
              </a:ext>
            </a:extLst>
          </p:cNvPr>
          <p:cNvSpPr>
            <a:spLocks noChangeArrowheads="1"/>
          </p:cNvSpPr>
          <p:nvPr/>
        </p:nvSpPr>
        <p:spPr bwMode="auto">
          <a:xfrm>
            <a:off x="6615113" y="1454150"/>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0.94</a:t>
            </a:r>
            <a:endParaRPr lang="en-US" altLang="en-US" sz="1000"/>
          </a:p>
        </p:txBody>
      </p:sp>
      <p:sp>
        <p:nvSpPr>
          <p:cNvPr id="15381" name="Text 29">
            <a:extLst>
              <a:ext uri="{FF2B5EF4-FFF2-40B4-BE49-F238E27FC236}">
                <a16:creationId xmlns:a16="http://schemas.microsoft.com/office/drawing/2014/main" id="{1246CF5B-96ED-3293-6B60-94C5C91FAAF6}"/>
              </a:ext>
            </a:extLst>
          </p:cNvPr>
          <p:cNvSpPr>
            <a:spLocks noChangeArrowheads="1"/>
          </p:cNvSpPr>
          <p:nvPr/>
        </p:nvSpPr>
        <p:spPr bwMode="auto">
          <a:xfrm>
            <a:off x="4398963" y="1698625"/>
            <a:ext cx="2136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000" b="1" i="1">
                <a:solidFill>
                  <a:srgbClr val="DEE0E4"/>
                </a:solidFill>
                <a:latin typeface="Quattrocento Sans" panose="020B0502050000020003" pitchFamily="34" charset="0"/>
                <a:ea typeface="Quattrocento Sans" panose="020B0502050000020003" pitchFamily="34" charset="0"/>
                <a:cs typeface="Quattrocento Sans" panose="020B0502050000020003" pitchFamily="34" charset="0"/>
              </a:rPr>
              <a:t>“</a:t>
            </a:r>
            <a:r>
              <a:rPr lang="en-US" altLang="en-US" sz="1000" i="1">
                <a:solidFill>
                  <a:srgbClr val="DEE0E4"/>
                </a:solidFill>
                <a:latin typeface="Quattrocento Sans" panose="020B0502050000020003" pitchFamily="34" charset="0"/>
              </a:rPr>
              <a:t>Leveston showed an excellent punch in 1-on-1's and was able to sit down to absorb bull rushes.” </a:t>
            </a:r>
          </a:p>
          <a:p>
            <a:pPr eaLnBrk="1" hangingPunct="1"/>
            <a:r>
              <a:rPr lang="en-US" altLang="en-US" sz="1000" i="1">
                <a:solidFill>
                  <a:srgbClr val="DEE0E4"/>
                </a:solidFill>
                <a:latin typeface="Quattrocento Sans" panose="020B0502050000020003" pitchFamily="34" charset="0"/>
              </a:rPr>
              <a:t>—</a:t>
            </a:r>
            <a:r>
              <a:rPr lang="en-US" altLang="en-US" sz="1000" i="1">
                <a:solidFill>
                  <a:srgbClr val="DEE0E4"/>
                </a:solidFill>
                <a:latin typeface="Quattrocento Sans" panose="020B0502050000020003" pitchFamily="34" charset="0"/>
                <a:hlinkClick r:id="rId5"/>
              </a:rPr>
              <a:t>Giants.com</a:t>
            </a:r>
            <a:r>
              <a:rPr lang="en-US" altLang="en-US" sz="1000" i="1">
                <a:solidFill>
                  <a:srgbClr val="DEE0E4"/>
                </a:solidFill>
                <a:latin typeface="Quattrocento Sans" panose="020B0502050000020003" pitchFamily="34" charset="0"/>
              </a:rPr>
              <a:t> (1/29/2024)</a:t>
            </a:r>
          </a:p>
        </p:txBody>
      </p:sp>
      <p:sp>
        <p:nvSpPr>
          <p:cNvPr id="15382" name="Text 29">
            <a:extLst>
              <a:ext uri="{FF2B5EF4-FFF2-40B4-BE49-F238E27FC236}">
                <a16:creationId xmlns:a16="http://schemas.microsoft.com/office/drawing/2014/main" id="{BD10084D-0230-B798-CD8F-E6F213B83F85}"/>
              </a:ext>
            </a:extLst>
          </p:cNvPr>
          <p:cNvSpPr>
            <a:spLocks noChangeArrowheads="1"/>
          </p:cNvSpPr>
          <p:nvPr/>
        </p:nvSpPr>
        <p:spPr bwMode="auto">
          <a:xfrm>
            <a:off x="4398963" y="2333625"/>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Mason McCormick</a:t>
            </a:r>
            <a:endParaRPr lang="en-US" altLang="en-US" sz="1000" dirty="0"/>
          </a:p>
        </p:txBody>
      </p:sp>
      <p:sp>
        <p:nvSpPr>
          <p:cNvPr id="15383" name="Text 29">
            <a:extLst>
              <a:ext uri="{FF2B5EF4-FFF2-40B4-BE49-F238E27FC236}">
                <a16:creationId xmlns:a16="http://schemas.microsoft.com/office/drawing/2014/main" id="{9849E65E-79C2-3FA5-68F8-411B2EBBEDD4}"/>
              </a:ext>
            </a:extLst>
          </p:cNvPr>
          <p:cNvSpPr>
            <a:spLocks noChangeArrowheads="1"/>
          </p:cNvSpPr>
          <p:nvPr/>
        </p:nvSpPr>
        <p:spPr bwMode="auto">
          <a:xfrm>
            <a:off x="6615113" y="2333625"/>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0.87</a:t>
            </a:r>
            <a:endParaRPr lang="en-US" altLang="en-US" sz="1000"/>
          </a:p>
        </p:txBody>
      </p:sp>
      <p:sp>
        <p:nvSpPr>
          <p:cNvPr id="15384" name="Text 29">
            <a:extLst>
              <a:ext uri="{FF2B5EF4-FFF2-40B4-BE49-F238E27FC236}">
                <a16:creationId xmlns:a16="http://schemas.microsoft.com/office/drawing/2014/main" id="{01EE333E-1C3A-2405-27C8-520570E5AF1F}"/>
              </a:ext>
            </a:extLst>
          </p:cNvPr>
          <p:cNvSpPr>
            <a:spLocks noChangeArrowheads="1"/>
          </p:cNvSpPr>
          <p:nvPr/>
        </p:nvSpPr>
        <p:spPr bwMode="auto">
          <a:xfrm>
            <a:off x="4398963" y="2578100"/>
            <a:ext cx="2136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000" b="1" i="1">
                <a:solidFill>
                  <a:srgbClr val="DEE0E4"/>
                </a:solidFill>
                <a:latin typeface="Quattrocento Sans" panose="020B0502050000020003" pitchFamily="34" charset="0"/>
                <a:ea typeface="Quattrocento Sans" panose="020B0502050000020003" pitchFamily="34" charset="0"/>
                <a:cs typeface="Quattrocento Sans" panose="020B0502050000020003" pitchFamily="34" charset="0"/>
              </a:rPr>
              <a:t>“</a:t>
            </a:r>
            <a:r>
              <a:rPr lang="en-US" altLang="en-US" sz="1000" i="1">
                <a:solidFill>
                  <a:srgbClr val="DEE0E4"/>
                </a:solidFill>
                <a:latin typeface="Quattrocento Sans" panose="020B0502050000020003" pitchFamily="34" charset="0"/>
              </a:rPr>
              <a:t>McCormick played both guard and center, showing power, good feet, and a nasty streak.” </a:t>
            </a:r>
          </a:p>
          <a:p>
            <a:pPr eaLnBrk="1" hangingPunct="1"/>
            <a:r>
              <a:rPr lang="en-US" altLang="en-US" sz="1000" i="1">
                <a:solidFill>
                  <a:srgbClr val="DEE0E4"/>
                </a:solidFill>
                <a:latin typeface="Quattrocento Sans" panose="020B0502050000020003" pitchFamily="34" charset="0"/>
              </a:rPr>
              <a:t>—</a:t>
            </a:r>
            <a:r>
              <a:rPr lang="en-US" altLang="en-US" sz="1000" i="1">
                <a:solidFill>
                  <a:srgbClr val="DEE0E4"/>
                </a:solidFill>
                <a:latin typeface="Quattrocento Sans" panose="020B0502050000020003" pitchFamily="34" charset="0"/>
                <a:hlinkClick r:id="rId5"/>
              </a:rPr>
              <a:t>Giants.com</a:t>
            </a:r>
            <a:r>
              <a:rPr lang="en-US" altLang="en-US" sz="1000" i="1">
                <a:solidFill>
                  <a:srgbClr val="DEE0E4"/>
                </a:solidFill>
                <a:latin typeface="Quattrocento Sans" panose="020B0502050000020003" pitchFamily="34" charset="0"/>
              </a:rPr>
              <a:t> (1/29/2024)</a:t>
            </a:r>
          </a:p>
        </p:txBody>
      </p:sp>
      <p:sp>
        <p:nvSpPr>
          <p:cNvPr id="15385" name="Text 29">
            <a:extLst>
              <a:ext uri="{FF2B5EF4-FFF2-40B4-BE49-F238E27FC236}">
                <a16:creationId xmlns:a16="http://schemas.microsoft.com/office/drawing/2014/main" id="{2E0B3E7A-D09A-6322-3AA7-A33C555D3B16}"/>
              </a:ext>
            </a:extLst>
          </p:cNvPr>
          <p:cNvSpPr>
            <a:spLocks noChangeArrowheads="1"/>
          </p:cNvSpPr>
          <p:nvPr/>
        </p:nvSpPr>
        <p:spPr bwMode="auto">
          <a:xfrm>
            <a:off x="4398963" y="3217863"/>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Christian Mahogany</a:t>
            </a:r>
            <a:endParaRPr lang="en-US" altLang="en-US" sz="1000"/>
          </a:p>
        </p:txBody>
      </p:sp>
      <p:sp>
        <p:nvSpPr>
          <p:cNvPr id="15386" name="Text 29">
            <a:extLst>
              <a:ext uri="{FF2B5EF4-FFF2-40B4-BE49-F238E27FC236}">
                <a16:creationId xmlns:a16="http://schemas.microsoft.com/office/drawing/2014/main" id="{933DB272-E77C-3939-780B-C3DAFFC13CC3}"/>
              </a:ext>
            </a:extLst>
          </p:cNvPr>
          <p:cNvSpPr>
            <a:spLocks noChangeArrowheads="1"/>
          </p:cNvSpPr>
          <p:nvPr/>
        </p:nvSpPr>
        <p:spPr bwMode="auto">
          <a:xfrm>
            <a:off x="6615113" y="3187700"/>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0.54</a:t>
            </a:r>
            <a:endParaRPr lang="en-US" altLang="en-US" sz="1000"/>
          </a:p>
        </p:txBody>
      </p:sp>
      <p:sp>
        <p:nvSpPr>
          <p:cNvPr id="15387" name="Text 29">
            <a:extLst>
              <a:ext uri="{FF2B5EF4-FFF2-40B4-BE49-F238E27FC236}">
                <a16:creationId xmlns:a16="http://schemas.microsoft.com/office/drawing/2014/main" id="{F6BF6620-58CF-EDB7-6F15-E509F69FCBF0}"/>
              </a:ext>
            </a:extLst>
          </p:cNvPr>
          <p:cNvSpPr>
            <a:spLocks noChangeArrowheads="1"/>
          </p:cNvSpPr>
          <p:nvPr/>
        </p:nvSpPr>
        <p:spPr bwMode="auto">
          <a:xfrm>
            <a:off x="4398963" y="3430588"/>
            <a:ext cx="2136775"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000" b="1" i="1">
                <a:solidFill>
                  <a:srgbClr val="DEE0E4"/>
                </a:solidFill>
                <a:latin typeface="Quattrocento Sans" panose="020B0502050000020003" pitchFamily="34" charset="0"/>
                <a:ea typeface="Quattrocento Sans" panose="020B0502050000020003" pitchFamily="34" charset="0"/>
                <a:cs typeface="Quattrocento Sans" panose="020B0502050000020003" pitchFamily="34" charset="0"/>
              </a:rPr>
              <a:t>“</a:t>
            </a:r>
            <a:r>
              <a:rPr lang="en-US" altLang="en-US" sz="1000" i="1">
                <a:solidFill>
                  <a:srgbClr val="DEE0E4"/>
                </a:solidFill>
                <a:latin typeface="Quattrocento Sans" panose="020B0502050000020003" pitchFamily="34" charset="0"/>
                <a:ea typeface="Quattrocento Sans" panose="020B0502050000020003" pitchFamily="34" charset="0"/>
                <a:cs typeface="Quattrocento Sans" panose="020B0502050000020003" pitchFamily="34" charset="0"/>
              </a:rPr>
              <a:t>H</a:t>
            </a:r>
            <a:r>
              <a:rPr lang="en-US" altLang="en-US" sz="1000" i="1">
                <a:solidFill>
                  <a:srgbClr val="DEE0E4"/>
                </a:solidFill>
                <a:latin typeface="Quattrocento Sans" panose="020B0502050000020003" pitchFamily="34" charset="0"/>
              </a:rPr>
              <a:t>is raw power has people buzzing.” —</a:t>
            </a:r>
            <a:r>
              <a:rPr lang="en-US" altLang="en-US" sz="1000" i="1">
                <a:solidFill>
                  <a:srgbClr val="DEE0E4"/>
                </a:solidFill>
                <a:latin typeface="Quattrocento Sans" panose="020B0502050000020003" pitchFamily="34" charset="0"/>
                <a:hlinkClick r:id="rId6"/>
              </a:rPr>
              <a:t>Windy City Gridiron</a:t>
            </a:r>
            <a:r>
              <a:rPr lang="en-US" altLang="en-US" sz="1000" i="1">
                <a:solidFill>
                  <a:srgbClr val="DEE0E4"/>
                </a:solidFill>
                <a:latin typeface="Quattrocento Sans" panose="020B0502050000020003" pitchFamily="34" charset="0"/>
              </a:rPr>
              <a:t> (1/27/2024)</a:t>
            </a:r>
          </a:p>
        </p:txBody>
      </p:sp>
      <p:sp>
        <p:nvSpPr>
          <p:cNvPr id="15388" name="Text 27">
            <a:extLst>
              <a:ext uri="{FF2B5EF4-FFF2-40B4-BE49-F238E27FC236}">
                <a16:creationId xmlns:a16="http://schemas.microsoft.com/office/drawing/2014/main" id="{7C12ADAE-15CF-153D-37DA-353AB2146510}"/>
              </a:ext>
            </a:extLst>
          </p:cNvPr>
          <p:cNvSpPr>
            <a:spLocks noChangeArrowheads="1"/>
          </p:cNvSpPr>
          <p:nvPr/>
        </p:nvSpPr>
        <p:spPr bwMode="auto">
          <a:xfrm>
            <a:off x="4398963" y="4162425"/>
            <a:ext cx="97948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4C7E9A"/>
                </a:solidFill>
                <a:latin typeface="Liter" panose="02000503030000020004" pitchFamily="2" charset="0"/>
                <a:ea typeface="Liter" panose="02000503030000020004" pitchFamily="2" charset="0"/>
                <a:cs typeface="Liter" panose="02000503030000020004" pitchFamily="2" charset="0"/>
              </a:rPr>
              <a:t>Player</a:t>
            </a:r>
            <a:endParaRPr lang="en-US" altLang="en-US" sz="1000"/>
          </a:p>
        </p:txBody>
      </p:sp>
      <p:sp>
        <p:nvSpPr>
          <p:cNvPr id="15389" name="Text 29">
            <a:extLst>
              <a:ext uri="{FF2B5EF4-FFF2-40B4-BE49-F238E27FC236}">
                <a16:creationId xmlns:a16="http://schemas.microsoft.com/office/drawing/2014/main" id="{E3FCEC48-248B-09D8-4251-0CD2D3D0F517}"/>
              </a:ext>
            </a:extLst>
          </p:cNvPr>
          <p:cNvSpPr>
            <a:spLocks noChangeArrowheads="1"/>
          </p:cNvSpPr>
          <p:nvPr/>
        </p:nvSpPr>
        <p:spPr bwMode="auto">
          <a:xfrm>
            <a:off x="4398963" y="4327525"/>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Jowon Briggs</a:t>
            </a:r>
            <a:endParaRPr lang="en-US" altLang="en-US" sz="1000"/>
          </a:p>
        </p:txBody>
      </p:sp>
      <p:sp>
        <p:nvSpPr>
          <p:cNvPr id="15390" name="Text 27">
            <a:extLst>
              <a:ext uri="{FF2B5EF4-FFF2-40B4-BE49-F238E27FC236}">
                <a16:creationId xmlns:a16="http://schemas.microsoft.com/office/drawing/2014/main" id="{F933C9EB-2CEA-FBDF-D920-656DA3C8A960}"/>
              </a:ext>
            </a:extLst>
          </p:cNvPr>
          <p:cNvSpPr>
            <a:spLocks noChangeArrowheads="1"/>
          </p:cNvSpPr>
          <p:nvPr/>
        </p:nvSpPr>
        <p:spPr bwMode="auto">
          <a:xfrm>
            <a:off x="6615113" y="4162425"/>
            <a:ext cx="9779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4C7E9A"/>
                </a:solidFill>
                <a:latin typeface="Liter" panose="02000503030000020004" pitchFamily="2" charset="0"/>
                <a:ea typeface="Liter" panose="02000503030000020004" pitchFamily="2" charset="0"/>
                <a:cs typeface="Liter" panose="02000503030000020004" pitchFamily="2" charset="0"/>
              </a:rPr>
              <a:t>Bull Score</a:t>
            </a:r>
            <a:endParaRPr lang="en-US" altLang="en-US" sz="1000"/>
          </a:p>
        </p:txBody>
      </p:sp>
      <p:sp>
        <p:nvSpPr>
          <p:cNvPr id="15391" name="Text 29">
            <a:extLst>
              <a:ext uri="{FF2B5EF4-FFF2-40B4-BE49-F238E27FC236}">
                <a16:creationId xmlns:a16="http://schemas.microsoft.com/office/drawing/2014/main" id="{357C3098-5ABC-0CCD-0BC0-7463341AD71E}"/>
              </a:ext>
            </a:extLst>
          </p:cNvPr>
          <p:cNvSpPr>
            <a:spLocks noChangeArrowheads="1"/>
          </p:cNvSpPr>
          <p:nvPr/>
        </p:nvSpPr>
        <p:spPr bwMode="auto">
          <a:xfrm>
            <a:off x="4398963" y="4572000"/>
            <a:ext cx="2136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000" b="1" i="1">
                <a:solidFill>
                  <a:srgbClr val="DEE0E4"/>
                </a:solidFill>
                <a:latin typeface="Quattrocento Sans" panose="020B0502050000020003" pitchFamily="34" charset="0"/>
                <a:ea typeface="Quattrocento Sans" panose="020B0502050000020003" pitchFamily="34" charset="0"/>
                <a:cs typeface="Quattrocento Sans" panose="020B0502050000020003" pitchFamily="34" charset="0"/>
              </a:rPr>
              <a:t>“</a:t>
            </a:r>
            <a:r>
              <a:rPr lang="en-US" altLang="en-US" sz="1000" i="1">
                <a:solidFill>
                  <a:srgbClr val="DEE0E4"/>
                </a:solidFill>
                <a:latin typeface="Quattrocento Sans" panose="020B0502050000020003" pitchFamily="34" charset="0"/>
              </a:rPr>
              <a:t>Briggs won twice in OL/DL 1v1 with his bull rush. Powerful player.”</a:t>
            </a:r>
          </a:p>
          <a:p>
            <a:pPr eaLnBrk="1" hangingPunct="1"/>
            <a:r>
              <a:rPr lang="en-US" altLang="en-US" sz="1000" i="1">
                <a:solidFill>
                  <a:srgbClr val="DEE0E4"/>
                </a:solidFill>
                <a:latin typeface="Quattrocento Sans" panose="020B0502050000020003" pitchFamily="34" charset="0"/>
              </a:rPr>
              <a:t> —</a:t>
            </a:r>
            <a:r>
              <a:rPr lang="en-US" altLang="en-US" sz="1000" i="1">
                <a:solidFill>
                  <a:srgbClr val="DEE0E4"/>
                </a:solidFill>
                <a:latin typeface="Quattrocento Sans" panose="020B0502050000020003" pitchFamily="34" charset="0"/>
                <a:hlinkClick r:id="rId7"/>
              </a:rPr>
              <a:t>Steelers Depot</a:t>
            </a:r>
            <a:r>
              <a:rPr lang="en-US" altLang="en-US" sz="1000" i="1">
                <a:solidFill>
                  <a:srgbClr val="DEE0E4"/>
                </a:solidFill>
                <a:latin typeface="Quattrocento Sans" panose="020B0502050000020003" pitchFamily="34" charset="0"/>
              </a:rPr>
              <a:t> (1/27/2024)</a:t>
            </a:r>
          </a:p>
        </p:txBody>
      </p:sp>
      <p:sp>
        <p:nvSpPr>
          <p:cNvPr id="15392" name="Text 29">
            <a:extLst>
              <a:ext uri="{FF2B5EF4-FFF2-40B4-BE49-F238E27FC236}">
                <a16:creationId xmlns:a16="http://schemas.microsoft.com/office/drawing/2014/main" id="{472A9353-6F1F-405D-5FE8-13E9B73A95F3}"/>
              </a:ext>
            </a:extLst>
          </p:cNvPr>
          <p:cNvSpPr>
            <a:spLocks noChangeArrowheads="1"/>
          </p:cNvSpPr>
          <p:nvPr/>
        </p:nvSpPr>
        <p:spPr bwMode="auto">
          <a:xfrm>
            <a:off x="4398963" y="5068888"/>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Tuli Letuligasenoa</a:t>
            </a:r>
            <a:endParaRPr lang="en-US" altLang="en-US" sz="1000"/>
          </a:p>
        </p:txBody>
      </p:sp>
      <p:sp>
        <p:nvSpPr>
          <p:cNvPr id="15393" name="Text 29">
            <a:extLst>
              <a:ext uri="{FF2B5EF4-FFF2-40B4-BE49-F238E27FC236}">
                <a16:creationId xmlns:a16="http://schemas.microsoft.com/office/drawing/2014/main" id="{4436FE74-EB53-4F82-0EC8-CA8F43311CA1}"/>
              </a:ext>
            </a:extLst>
          </p:cNvPr>
          <p:cNvSpPr>
            <a:spLocks noChangeArrowheads="1"/>
          </p:cNvSpPr>
          <p:nvPr/>
        </p:nvSpPr>
        <p:spPr bwMode="auto">
          <a:xfrm>
            <a:off x="6615113" y="5068888"/>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0.98</a:t>
            </a:r>
            <a:endParaRPr lang="en-US" altLang="en-US" sz="1000"/>
          </a:p>
        </p:txBody>
      </p:sp>
      <p:sp>
        <p:nvSpPr>
          <p:cNvPr id="15394" name="Text 29">
            <a:extLst>
              <a:ext uri="{FF2B5EF4-FFF2-40B4-BE49-F238E27FC236}">
                <a16:creationId xmlns:a16="http://schemas.microsoft.com/office/drawing/2014/main" id="{BF95554D-6321-D56D-E8F6-B1D60F0D83B2}"/>
              </a:ext>
            </a:extLst>
          </p:cNvPr>
          <p:cNvSpPr>
            <a:spLocks noChangeArrowheads="1"/>
          </p:cNvSpPr>
          <p:nvPr/>
        </p:nvSpPr>
        <p:spPr bwMode="auto">
          <a:xfrm>
            <a:off x="4398963" y="5311775"/>
            <a:ext cx="2136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000" b="1" i="1">
                <a:solidFill>
                  <a:srgbClr val="DEE0E4"/>
                </a:solidFill>
                <a:latin typeface="Quattrocento Sans" panose="020B0502050000020003" pitchFamily="34" charset="0"/>
                <a:ea typeface="Quattrocento Sans" panose="020B0502050000020003" pitchFamily="34" charset="0"/>
                <a:cs typeface="Quattrocento Sans" panose="020B0502050000020003" pitchFamily="34" charset="0"/>
              </a:rPr>
              <a:t>“</a:t>
            </a:r>
            <a:r>
              <a:rPr lang="en-US" altLang="en-US" sz="1000" i="1">
                <a:solidFill>
                  <a:srgbClr val="DEE0E4"/>
                </a:solidFill>
                <a:latin typeface="Quattrocento Sans" panose="020B0502050000020003" pitchFamily="34" charset="0"/>
              </a:rPr>
              <a:t>Letuligasenoa showed off an impressive bull rush.”</a:t>
            </a:r>
          </a:p>
          <a:p>
            <a:pPr eaLnBrk="1" hangingPunct="1"/>
            <a:r>
              <a:rPr lang="en-US" altLang="en-US" sz="1000" i="1">
                <a:solidFill>
                  <a:srgbClr val="DEE0E4"/>
                </a:solidFill>
                <a:latin typeface="Quattrocento Sans" panose="020B0502050000020003" pitchFamily="34" charset="0"/>
              </a:rPr>
              <a:t>—</a:t>
            </a:r>
            <a:r>
              <a:rPr lang="en-US" altLang="en-US" sz="1000" i="1">
                <a:solidFill>
                  <a:srgbClr val="DEE0E4"/>
                </a:solidFill>
                <a:latin typeface="Quattrocento Sans" panose="020B0502050000020003" pitchFamily="34" charset="0"/>
                <a:hlinkClick r:id="rId7"/>
              </a:rPr>
              <a:t>Steelers Depot</a:t>
            </a:r>
            <a:r>
              <a:rPr lang="en-US" altLang="en-US" sz="1000" i="1">
                <a:solidFill>
                  <a:srgbClr val="DEE0E4"/>
                </a:solidFill>
                <a:latin typeface="Quattrocento Sans" panose="020B0502050000020003" pitchFamily="34" charset="0"/>
              </a:rPr>
              <a:t> (1/27/2024)</a:t>
            </a:r>
          </a:p>
        </p:txBody>
      </p:sp>
      <p:sp>
        <p:nvSpPr>
          <p:cNvPr id="15395" name="Text 29">
            <a:extLst>
              <a:ext uri="{FF2B5EF4-FFF2-40B4-BE49-F238E27FC236}">
                <a16:creationId xmlns:a16="http://schemas.microsoft.com/office/drawing/2014/main" id="{557A57F3-0EA0-158A-CE97-E5554F40BB2A}"/>
              </a:ext>
            </a:extLst>
          </p:cNvPr>
          <p:cNvSpPr>
            <a:spLocks noChangeArrowheads="1"/>
          </p:cNvSpPr>
          <p:nvPr/>
        </p:nvSpPr>
        <p:spPr bwMode="auto">
          <a:xfrm>
            <a:off x="4398963" y="5813425"/>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Myles Murphy</a:t>
            </a:r>
            <a:endParaRPr lang="en-US" altLang="en-US" sz="1000"/>
          </a:p>
        </p:txBody>
      </p:sp>
      <p:sp>
        <p:nvSpPr>
          <p:cNvPr id="15396" name="Text 29">
            <a:extLst>
              <a:ext uri="{FF2B5EF4-FFF2-40B4-BE49-F238E27FC236}">
                <a16:creationId xmlns:a16="http://schemas.microsoft.com/office/drawing/2014/main" id="{2F3DA82F-6C6D-E8ED-3327-87D4835BDC35}"/>
              </a:ext>
            </a:extLst>
          </p:cNvPr>
          <p:cNvSpPr>
            <a:spLocks noChangeArrowheads="1"/>
          </p:cNvSpPr>
          <p:nvPr/>
        </p:nvSpPr>
        <p:spPr bwMode="auto">
          <a:xfrm>
            <a:off x="6615113" y="5813425"/>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0.97</a:t>
            </a:r>
            <a:endParaRPr lang="en-US" altLang="en-US" sz="1000"/>
          </a:p>
        </p:txBody>
      </p:sp>
      <p:sp>
        <p:nvSpPr>
          <p:cNvPr id="15397" name="Text 29">
            <a:extLst>
              <a:ext uri="{FF2B5EF4-FFF2-40B4-BE49-F238E27FC236}">
                <a16:creationId xmlns:a16="http://schemas.microsoft.com/office/drawing/2014/main" id="{F3B806CD-1385-1070-F434-58F19D983948}"/>
              </a:ext>
            </a:extLst>
          </p:cNvPr>
          <p:cNvSpPr>
            <a:spLocks noChangeArrowheads="1"/>
          </p:cNvSpPr>
          <p:nvPr/>
        </p:nvSpPr>
        <p:spPr bwMode="auto">
          <a:xfrm>
            <a:off x="4398963" y="6056313"/>
            <a:ext cx="2136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000" b="1" i="1">
                <a:solidFill>
                  <a:srgbClr val="DEE0E4"/>
                </a:solidFill>
                <a:latin typeface="Quattrocento Sans" panose="020B0502050000020003" pitchFamily="34" charset="0"/>
                <a:ea typeface="Quattrocento Sans" panose="020B0502050000020003" pitchFamily="34" charset="0"/>
                <a:cs typeface="Quattrocento Sans" panose="020B0502050000020003" pitchFamily="34" charset="0"/>
              </a:rPr>
              <a:t>“</a:t>
            </a:r>
            <a:r>
              <a:rPr lang="en-US" altLang="en-US" sz="1000">
                <a:solidFill>
                  <a:srgbClr val="DEE0E4"/>
                </a:solidFill>
                <a:latin typeface="Quattrocento Sans" panose="020B0502050000020003" pitchFamily="34" charset="0"/>
              </a:rPr>
              <a:t>Murphy … played like a bowling ball with spikes during 1-on-1 matchups.” </a:t>
            </a:r>
            <a:r>
              <a:rPr lang="en-US" altLang="en-US" sz="1000" i="1">
                <a:solidFill>
                  <a:srgbClr val="DEE0E4"/>
                </a:solidFill>
                <a:latin typeface="Quattrocento Sans" panose="020B0502050000020003" pitchFamily="34" charset="0"/>
              </a:rPr>
              <a:t>—</a:t>
            </a:r>
            <a:r>
              <a:rPr lang="en-US" altLang="en-US" sz="1000" i="1">
                <a:solidFill>
                  <a:srgbClr val="DEE0E4"/>
                </a:solidFill>
                <a:latin typeface="Quattrocento Sans" panose="020B0502050000020003" pitchFamily="34" charset="0"/>
                <a:hlinkClick r:id="rId8"/>
              </a:rPr>
              <a:t>All Access Football</a:t>
            </a:r>
            <a:r>
              <a:rPr lang="en-US" altLang="en-US" sz="1000" i="1">
                <a:solidFill>
                  <a:srgbClr val="DEE0E4"/>
                </a:solidFill>
                <a:latin typeface="Quattrocento Sans" panose="020B0502050000020003" pitchFamily="34" charset="0"/>
              </a:rPr>
              <a:t> (2/7/2024)</a:t>
            </a:r>
          </a:p>
        </p:txBody>
      </p:sp>
      <p:sp>
        <p:nvSpPr>
          <p:cNvPr id="15398" name="Text 29">
            <a:extLst>
              <a:ext uri="{FF2B5EF4-FFF2-40B4-BE49-F238E27FC236}">
                <a16:creationId xmlns:a16="http://schemas.microsoft.com/office/drawing/2014/main" id="{6F42F998-B484-B6A0-B864-574E1C7D8227}"/>
              </a:ext>
            </a:extLst>
          </p:cNvPr>
          <p:cNvSpPr>
            <a:spLocks noChangeArrowheads="1"/>
          </p:cNvSpPr>
          <p:nvPr/>
        </p:nvSpPr>
        <p:spPr bwMode="auto">
          <a:xfrm>
            <a:off x="6607175" y="4343400"/>
            <a:ext cx="1314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000" b="1">
                <a:solidFill>
                  <a:srgbClr val="E1E3E6"/>
                </a:solidFill>
                <a:latin typeface="Quattrocento Sans" panose="020B0502050000020003" pitchFamily="34" charset="0"/>
                <a:ea typeface="Quattrocento Sans" panose="020B0502050000020003" pitchFamily="34" charset="0"/>
                <a:cs typeface="Quattrocento Sans" panose="020B0502050000020003" pitchFamily="34" charset="0"/>
              </a:rPr>
              <a:t>1.23</a:t>
            </a:r>
            <a:endParaRPr lang="en-US" altLang="en-US" sz="1000"/>
          </a:p>
        </p:txBody>
      </p:sp>
      <p:sp>
        <p:nvSpPr>
          <p:cNvPr id="101" name="Text 4">
            <a:extLst>
              <a:ext uri="{FF2B5EF4-FFF2-40B4-BE49-F238E27FC236}">
                <a16:creationId xmlns:a16="http://schemas.microsoft.com/office/drawing/2014/main" id="{6A49C0F2-EB73-4CF6-880B-7509011F6E36}"/>
              </a:ext>
            </a:extLst>
          </p:cNvPr>
          <p:cNvSpPr/>
          <p:nvPr/>
        </p:nvSpPr>
        <p:spPr>
          <a:xfrm>
            <a:off x="4708525" y="3905250"/>
            <a:ext cx="2841625" cy="219075"/>
          </a:xfrm>
          <a:prstGeom prst="rect">
            <a:avLst/>
          </a:prstGeom>
          <a:noFill/>
          <a:ln/>
        </p:spPr>
        <p:txBody>
          <a:bodyPr lIns="0" tIns="0" rIns="0" bIns="0" anchor="ctr"/>
          <a:lstStyle/>
          <a:p>
            <a:pPr eaLnBrk="1" fontAlgn="auto" hangingPunct="1">
              <a:lnSpc>
                <a:spcPct val="130000"/>
              </a:lnSpc>
              <a:spcBef>
                <a:spcPts val="0"/>
              </a:spcBef>
              <a:spcAft>
                <a:spcPts val="0"/>
              </a:spcAft>
              <a:defRPr/>
            </a:pPr>
            <a:r>
              <a:rPr lang="en-US" sz="1350" b="1" dirty="0">
                <a:solidFill>
                  <a:srgbClr val="D8A03D"/>
                </a:solidFill>
                <a:latin typeface="Liter" pitchFamily="34" charset="0"/>
                <a:ea typeface="Liter" pitchFamily="34" charset="-122"/>
                <a:cs typeface="Liter" pitchFamily="34" charset="-120"/>
              </a:rPr>
              <a:t>Top 3 DL by Bull Score</a:t>
            </a:r>
            <a:endParaRPr lang="en-US" sz="1600" dirty="0">
              <a:solidFill>
                <a:srgbClr val="D8A03D"/>
              </a:solidFill>
              <a:latin typeface="+mn-lt"/>
            </a:endParaRPr>
          </a:p>
        </p:txBody>
      </p:sp>
      <p:pic>
        <p:nvPicPr>
          <p:cNvPr id="102" name="Graphic 101">
            <a:extLst>
              <a:ext uri="{FF2B5EF4-FFF2-40B4-BE49-F238E27FC236}">
                <a16:creationId xmlns:a16="http://schemas.microsoft.com/office/drawing/2014/main" id="{0BB272A9-9D84-1075-D1C0-EB56C8529B9F}"/>
              </a:ext>
            </a:extLst>
          </p:cNvPr>
          <p:cNvPicPr>
            <a:picLocks noChangeAspect="1"/>
          </p:cNvPicPr>
          <p:nvPr/>
        </p:nvPicPr>
        <p:blipFill>
          <a:blip r:embed="rId9"/>
          <a:stretch>
            <a:fillRect/>
          </a:stretch>
        </p:blipFill>
        <p:spPr>
          <a:xfrm>
            <a:off x="4371975" y="3881438"/>
            <a:ext cx="266700" cy="266700"/>
          </a:xfrm>
          <a:prstGeom prst="rect">
            <a:avLst/>
          </a:prstGeom>
        </p:spPr>
      </p:pic>
      <p:pic>
        <p:nvPicPr>
          <p:cNvPr id="15401" name="Picture 111" descr="A screenshot of a video game&#10;&#10;AI-generated content may be incorrect.">
            <a:extLst>
              <a:ext uri="{FF2B5EF4-FFF2-40B4-BE49-F238E27FC236}">
                <a16:creationId xmlns:a16="http://schemas.microsoft.com/office/drawing/2014/main" id="{3BABADCD-7704-4810-5315-7F8847B89F0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89850" y="1196975"/>
            <a:ext cx="36449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02" name="Picture 113" descr="A screenshot of a video game&#10;&#10;AI-generated content may be incorrect.">
            <a:extLst>
              <a:ext uri="{FF2B5EF4-FFF2-40B4-BE49-F238E27FC236}">
                <a16:creationId xmlns:a16="http://schemas.microsoft.com/office/drawing/2014/main" id="{1916FBAD-32AD-A6F4-0422-E1D39F43E5A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89850" y="3978275"/>
            <a:ext cx="36449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Text 4">
            <a:extLst>
              <a:ext uri="{FF2B5EF4-FFF2-40B4-BE49-F238E27FC236}">
                <a16:creationId xmlns:a16="http://schemas.microsoft.com/office/drawing/2014/main" id="{54FCF632-C830-EE4A-90A7-EC80B9E254D6}"/>
              </a:ext>
            </a:extLst>
          </p:cNvPr>
          <p:cNvSpPr/>
          <p:nvPr/>
        </p:nvSpPr>
        <p:spPr>
          <a:xfrm>
            <a:off x="7689850" y="973138"/>
            <a:ext cx="3644900" cy="219075"/>
          </a:xfrm>
          <a:prstGeom prst="rect">
            <a:avLst/>
          </a:prstGeom>
          <a:noFill/>
          <a:ln/>
        </p:spPr>
        <p:txBody>
          <a:bodyPr lIns="0" tIns="0" rIns="0" bIns="0" anchor="ctr"/>
          <a:lstStyle/>
          <a:p>
            <a:pPr algn="ctr" eaLnBrk="1" fontAlgn="auto" hangingPunct="1">
              <a:lnSpc>
                <a:spcPct val="130000"/>
              </a:lnSpc>
              <a:spcBef>
                <a:spcPts val="0"/>
              </a:spcBef>
              <a:spcAft>
                <a:spcPts val="0"/>
              </a:spcAft>
              <a:defRPr/>
            </a:pPr>
            <a:r>
              <a:rPr lang="en-US" sz="1350" b="1" dirty="0">
                <a:solidFill>
                  <a:srgbClr val="D8A03D"/>
                </a:solidFill>
                <a:latin typeface="Liter" pitchFamily="34" charset="0"/>
                <a:ea typeface="Liter" pitchFamily="34" charset="-122"/>
                <a:cs typeface="Liter" pitchFamily="34" charset="-120"/>
              </a:rPr>
              <a:t>Top 6 Reps by Stall Score</a:t>
            </a:r>
            <a:endParaRPr lang="en-US" sz="1600" dirty="0">
              <a:solidFill>
                <a:srgbClr val="D8A03D"/>
              </a:solidFill>
              <a:latin typeface="+mn-lt"/>
            </a:endParaRPr>
          </a:p>
        </p:txBody>
      </p:sp>
      <p:sp>
        <p:nvSpPr>
          <p:cNvPr id="116" name="Text 4">
            <a:extLst>
              <a:ext uri="{FF2B5EF4-FFF2-40B4-BE49-F238E27FC236}">
                <a16:creationId xmlns:a16="http://schemas.microsoft.com/office/drawing/2014/main" id="{2B943298-7E14-A0A8-A43B-C7033BEE7841}"/>
              </a:ext>
            </a:extLst>
          </p:cNvPr>
          <p:cNvSpPr/>
          <p:nvPr/>
        </p:nvSpPr>
        <p:spPr>
          <a:xfrm>
            <a:off x="7689850" y="3760788"/>
            <a:ext cx="3644900" cy="217487"/>
          </a:xfrm>
          <a:prstGeom prst="rect">
            <a:avLst/>
          </a:prstGeom>
          <a:noFill/>
          <a:ln/>
        </p:spPr>
        <p:txBody>
          <a:bodyPr lIns="0" tIns="0" rIns="0" bIns="0" anchor="ctr"/>
          <a:lstStyle/>
          <a:p>
            <a:pPr algn="ctr" eaLnBrk="1" fontAlgn="auto" hangingPunct="1">
              <a:lnSpc>
                <a:spcPct val="130000"/>
              </a:lnSpc>
              <a:spcBef>
                <a:spcPts val="0"/>
              </a:spcBef>
              <a:spcAft>
                <a:spcPts val="0"/>
              </a:spcAft>
              <a:defRPr/>
            </a:pPr>
            <a:r>
              <a:rPr lang="en-US" sz="1350" b="1" dirty="0">
                <a:solidFill>
                  <a:srgbClr val="D8A03D"/>
                </a:solidFill>
                <a:latin typeface="Liter" pitchFamily="34" charset="0"/>
                <a:ea typeface="Liter" pitchFamily="34" charset="-122"/>
                <a:cs typeface="Liter" pitchFamily="34" charset="-120"/>
              </a:rPr>
              <a:t>Top 6 Reps by Bull Score</a:t>
            </a:r>
            <a:endParaRPr lang="en-US" sz="1600" dirty="0">
              <a:solidFill>
                <a:srgbClr val="D8A03D"/>
              </a:solidFill>
              <a:latin typeface="+mn-lt"/>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317"/>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407AE78-9DA6-C06D-ED19-ED3E9ECF6647}"/>
              </a:ext>
            </a:extLst>
          </p:cNvPr>
          <p:cNvSpPr/>
          <p:nvPr/>
        </p:nvSpPr>
        <p:spPr>
          <a:xfrm>
            <a:off x="319088" y="319088"/>
            <a:ext cx="11609387" cy="160337"/>
          </a:xfrm>
          <a:prstGeom prst="rect">
            <a:avLst/>
          </a:prstGeom>
          <a:noFill/>
          <a:ln/>
        </p:spPr>
        <p:txBody>
          <a:bodyPr lIns="0" tIns="0" rIns="0" bIns="0" anchor="ctr"/>
          <a:lstStyle/>
          <a:p>
            <a:pPr eaLnBrk="1" fontAlgn="auto" hangingPunct="1">
              <a:lnSpc>
                <a:spcPct val="120000"/>
              </a:lnSpc>
              <a:spcBef>
                <a:spcPts val="0"/>
              </a:spcBef>
              <a:spcAft>
                <a:spcPts val="0"/>
              </a:spcAft>
              <a:defRPr/>
            </a:pPr>
            <a:r>
              <a:rPr lang="en-US" sz="881" b="1" kern="0" spc="220" dirty="0">
                <a:solidFill>
                  <a:srgbClr val="D8A03D"/>
                </a:solidFill>
                <a:latin typeface="Quattrocento Sans" pitchFamily="34" charset="0"/>
              </a:rPr>
              <a:t>CONCLUSION</a:t>
            </a:r>
            <a:endParaRPr lang="en-US" sz="1600" dirty="0">
              <a:latin typeface="+mn-lt"/>
            </a:endParaRPr>
          </a:p>
        </p:txBody>
      </p:sp>
      <p:sp>
        <p:nvSpPr>
          <p:cNvPr id="3" name="Text 1">
            <a:extLst>
              <a:ext uri="{FF2B5EF4-FFF2-40B4-BE49-F238E27FC236}">
                <a16:creationId xmlns:a16="http://schemas.microsoft.com/office/drawing/2014/main" id="{9C3811C2-A2DA-B804-8120-1E96DAD80579}"/>
              </a:ext>
            </a:extLst>
          </p:cNvPr>
          <p:cNvSpPr/>
          <p:nvPr/>
        </p:nvSpPr>
        <p:spPr>
          <a:xfrm>
            <a:off x="319088" y="542925"/>
            <a:ext cx="11696700" cy="320675"/>
          </a:xfrm>
          <a:prstGeom prst="rect">
            <a:avLst/>
          </a:prstGeom>
          <a:noFill/>
          <a:ln/>
        </p:spPr>
        <p:txBody>
          <a:bodyPr lIns="0" tIns="0" rIns="0" bIns="0" anchor="ctr"/>
          <a:lstStyle/>
          <a:p>
            <a:pPr eaLnBrk="1" fontAlgn="auto" hangingPunct="1">
              <a:lnSpc>
                <a:spcPct val="90000"/>
              </a:lnSpc>
              <a:spcBef>
                <a:spcPts val="0"/>
              </a:spcBef>
              <a:spcAft>
                <a:spcPts val="0"/>
              </a:spcAft>
              <a:defRPr/>
            </a:pPr>
            <a:r>
              <a:rPr lang="en-US" sz="2266" b="1" dirty="0">
                <a:solidFill>
                  <a:srgbClr val="E1E3E6"/>
                </a:solidFill>
                <a:latin typeface="Liter" pitchFamily="34" charset="0"/>
                <a:ea typeface="Liter" pitchFamily="34" charset="-122"/>
                <a:cs typeface="Liter" pitchFamily="34" charset="-120"/>
              </a:rPr>
              <a:t>Important Notes, Recap, and Final Thoughts</a:t>
            </a:r>
            <a:endParaRPr lang="en-US" sz="1600" dirty="0">
              <a:latin typeface="+mn-lt"/>
            </a:endParaRPr>
          </a:p>
        </p:txBody>
      </p:sp>
      <p:sp>
        <p:nvSpPr>
          <p:cNvPr id="17412" name="Shape 46">
            <a:extLst>
              <a:ext uri="{FF2B5EF4-FFF2-40B4-BE49-F238E27FC236}">
                <a16:creationId xmlns:a16="http://schemas.microsoft.com/office/drawing/2014/main" id="{76ECBEC3-6674-9E48-B01A-9E34CC275A6F}"/>
              </a:ext>
            </a:extLst>
          </p:cNvPr>
          <p:cNvSpPr>
            <a:spLocks/>
          </p:cNvSpPr>
          <p:nvPr/>
        </p:nvSpPr>
        <p:spPr bwMode="auto">
          <a:xfrm>
            <a:off x="319088" y="962025"/>
            <a:ext cx="46037" cy="2892425"/>
          </a:xfrm>
          <a:custGeom>
            <a:avLst/>
            <a:gdLst>
              <a:gd name="T0" fmla="*/ 37058 w 37058"/>
              <a:gd name="T1" fmla="*/ 0 h 1334079"/>
              <a:gd name="T2" fmla="*/ 37058 w 37058"/>
              <a:gd name="T3" fmla="*/ 0 h 1334079"/>
              <a:gd name="T4" fmla="*/ 37058 w 37058"/>
              <a:gd name="T5" fmla="*/ 1334079 h 1334079"/>
              <a:gd name="T6" fmla="*/ 37058 w 37058"/>
              <a:gd name="T7" fmla="*/ 1334079 h 1334079"/>
              <a:gd name="T8" fmla="*/ 0 w 37058"/>
              <a:gd name="T9" fmla="*/ 1297021 h 1334079"/>
              <a:gd name="T10" fmla="*/ 0 w 37058"/>
              <a:gd name="T11" fmla="*/ 37058 h 1334079"/>
              <a:gd name="T12" fmla="*/ 37058 w 37058"/>
              <a:gd name="T13" fmla="*/ 0 h 1334079"/>
            </a:gdLst>
            <a:ahLst/>
            <a:cxnLst>
              <a:cxn ang="0">
                <a:pos x="T0" y="T1"/>
              </a:cxn>
              <a:cxn ang="0">
                <a:pos x="T2" y="T3"/>
              </a:cxn>
              <a:cxn ang="0">
                <a:pos x="T4" y="T5"/>
              </a:cxn>
              <a:cxn ang="0">
                <a:pos x="T6" y="T7"/>
              </a:cxn>
              <a:cxn ang="0">
                <a:pos x="T8" y="T9"/>
              </a:cxn>
              <a:cxn ang="0">
                <a:pos x="T10" y="T11"/>
              </a:cxn>
              <a:cxn ang="0">
                <a:pos x="T12" y="T13"/>
              </a:cxn>
            </a:cxnLst>
            <a:rect l="0" t="0" r="r" b="b"/>
            <a:pathLst>
              <a:path w="37058" h="1334079">
                <a:moveTo>
                  <a:pt x="37058" y="0"/>
                </a:moveTo>
                <a:lnTo>
                  <a:pt x="37058" y="0"/>
                </a:lnTo>
                <a:lnTo>
                  <a:pt x="37058" y="1334079"/>
                </a:lnTo>
                <a:cubicBezTo>
                  <a:pt x="16591" y="1334079"/>
                  <a:pt x="0" y="1317488"/>
                  <a:pt x="0" y="1297021"/>
                </a:cubicBezTo>
                <a:lnTo>
                  <a:pt x="0" y="37058"/>
                </a:lnTo>
                <a:cubicBezTo>
                  <a:pt x="0" y="16591"/>
                  <a:pt x="16591" y="0"/>
                  <a:pt x="37058" y="0"/>
                </a:cubicBezTo>
                <a:close/>
              </a:path>
            </a:pathLst>
          </a:custGeom>
          <a:solidFill>
            <a:srgbClr val="D8A03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13" name="Text 48">
            <a:extLst>
              <a:ext uri="{FF2B5EF4-FFF2-40B4-BE49-F238E27FC236}">
                <a16:creationId xmlns:a16="http://schemas.microsoft.com/office/drawing/2014/main" id="{200D5C6A-5174-D218-FCF3-177B3EAC1E72}"/>
              </a:ext>
            </a:extLst>
          </p:cNvPr>
          <p:cNvSpPr>
            <a:spLocks noChangeArrowheads="1"/>
          </p:cNvSpPr>
          <p:nvPr/>
        </p:nvSpPr>
        <p:spPr bwMode="auto">
          <a:xfrm>
            <a:off x="758825" y="958850"/>
            <a:ext cx="30384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400" b="1">
                <a:solidFill>
                  <a:srgbClr val="E1E3E6"/>
                </a:solidFill>
                <a:latin typeface="Quattrocento Sans" panose="020B0502050000020003" pitchFamily="34" charset="0"/>
                <a:ea typeface="Liter" panose="02000503030000020004" pitchFamily="2" charset="0"/>
                <a:cs typeface="Liter" panose="02000503030000020004" pitchFamily="2" charset="0"/>
              </a:rPr>
              <a:t>Limitations</a:t>
            </a:r>
            <a:endParaRPr lang="en-US" altLang="en-US" sz="1400">
              <a:latin typeface="Quattrocento Sans" panose="020B0502050000020003" pitchFamily="34" charset="0"/>
            </a:endParaRPr>
          </a:p>
        </p:txBody>
      </p:sp>
      <p:pic>
        <p:nvPicPr>
          <p:cNvPr id="66" name="Graphic 65" descr="Information with solid fill">
            <a:extLst>
              <a:ext uri="{FF2B5EF4-FFF2-40B4-BE49-F238E27FC236}">
                <a16:creationId xmlns:a16="http://schemas.microsoft.com/office/drawing/2014/main" id="{A4A63FA7-2923-7A49-D75D-DB0290FCEC2D}"/>
              </a:ext>
            </a:extLst>
          </p:cNvPr>
          <p:cNvPicPr>
            <a:picLocks noChangeAspect="1"/>
          </p:cNvPicPr>
          <p:nvPr/>
        </p:nvPicPr>
        <p:blipFill>
          <a:blip r:embed="rId3"/>
          <a:stretch>
            <a:fillRect/>
          </a:stretch>
        </p:blipFill>
        <p:spPr>
          <a:xfrm>
            <a:off x="406400" y="946150"/>
            <a:ext cx="309563" cy="309563"/>
          </a:xfrm>
          <a:prstGeom prst="rect">
            <a:avLst/>
          </a:prstGeom>
        </p:spPr>
      </p:pic>
      <p:sp>
        <p:nvSpPr>
          <p:cNvPr id="17415" name="TextBox 66">
            <a:extLst>
              <a:ext uri="{FF2B5EF4-FFF2-40B4-BE49-F238E27FC236}">
                <a16:creationId xmlns:a16="http://schemas.microsoft.com/office/drawing/2014/main" id="{4497B367-EEF2-CDD1-A1DA-76C6AA7CBE6D}"/>
              </a:ext>
            </a:extLst>
          </p:cNvPr>
          <p:cNvSpPr txBox="1">
            <a:spLocks noChangeArrowheads="1"/>
          </p:cNvSpPr>
          <p:nvPr/>
        </p:nvSpPr>
        <p:spPr bwMode="auto">
          <a:xfrm>
            <a:off x="406400" y="1277938"/>
            <a:ext cx="5689600"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400" b="1">
                <a:solidFill>
                  <a:srgbClr val="DEE0E4"/>
                </a:solidFill>
                <a:latin typeface="Quattrocento Sans" panose="020B0502050000020003" pitchFamily="34" charset="0"/>
              </a:rPr>
              <a:t>Small sample size. </a:t>
            </a:r>
            <a:r>
              <a:rPr lang="en-US" altLang="en-US" sz="1400">
                <a:solidFill>
                  <a:srgbClr val="DEE0E4"/>
                </a:solidFill>
                <a:latin typeface="Quattrocento Sans" panose="020B0502050000020003" pitchFamily="34" charset="0"/>
              </a:rPr>
              <a:t>Reps have been pulled from 2024 East-West Shrine Bowl practice alone, and many players only have around three or four reps. 10 seconds worth of data (or ~2 seconds for the secondary metrics!)</a:t>
            </a:r>
            <a:r>
              <a:rPr lang="en-US" altLang="en-US" sz="1400" b="1">
                <a:solidFill>
                  <a:srgbClr val="DEE0E4"/>
                </a:solidFill>
                <a:latin typeface="Quattrocento Sans" panose="020B0502050000020003" pitchFamily="34" charset="0"/>
              </a:rPr>
              <a:t> </a:t>
            </a:r>
            <a:r>
              <a:rPr lang="en-US" altLang="en-US" sz="1400">
                <a:solidFill>
                  <a:srgbClr val="DEE0E4"/>
                </a:solidFill>
                <a:latin typeface="Quattrocento Sans" panose="020B0502050000020003" pitchFamily="34" charset="0"/>
              </a:rPr>
              <a:t>can’t paint a full picture or be used as a comprehensive evaluation. Without more data, the metrics are best seen as tracking-based proxies for interior OL/DL performance.</a:t>
            </a:r>
          </a:p>
          <a:p>
            <a:pPr eaLnBrk="1" hangingPunct="1"/>
            <a:endParaRPr lang="en-US" altLang="en-US" sz="1400">
              <a:solidFill>
                <a:srgbClr val="DEE0E4"/>
              </a:solidFill>
              <a:latin typeface="Quattrocento Sans" panose="020B0502050000020003" pitchFamily="34" charset="0"/>
            </a:endParaRPr>
          </a:p>
          <a:p>
            <a:pPr eaLnBrk="1" hangingPunct="1"/>
            <a:r>
              <a:rPr lang="en-US" altLang="en-US" sz="1400" b="1">
                <a:solidFill>
                  <a:srgbClr val="DEE0E4"/>
                </a:solidFill>
                <a:latin typeface="Quattrocento Sans" panose="020B0502050000020003" pitchFamily="34" charset="0"/>
              </a:rPr>
              <a:t>Lack of film-based validation. </a:t>
            </a:r>
            <a:r>
              <a:rPr lang="en-US" altLang="en-US" sz="1400">
                <a:solidFill>
                  <a:srgbClr val="DEE0E4"/>
                </a:solidFill>
                <a:latin typeface="Quattrocento Sans" panose="020B0502050000020003" pitchFamily="34" charset="0"/>
              </a:rPr>
              <a:t>The gold standard for manual labeling is to match the timestamps/frames of events with the same reference points on film. Features like rep start, rep end and contact onsets are rough approximations and are not validated against ground truth (film). Metrics can be sensitive to frame errors of three frames and beyond</a:t>
            </a:r>
            <a:endParaRPr lang="en-US" altLang="en-US" sz="1400" b="1">
              <a:solidFill>
                <a:srgbClr val="DEE0E4"/>
              </a:solidFill>
              <a:latin typeface="Quattrocento Sans" panose="020B0502050000020003" pitchFamily="34" charset="0"/>
            </a:endParaRPr>
          </a:p>
          <a:p>
            <a:pPr eaLnBrk="1" hangingPunct="1"/>
            <a:endParaRPr lang="en-US" altLang="en-US" sz="1400">
              <a:solidFill>
                <a:srgbClr val="DEE0E4"/>
              </a:solidFill>
              <a:latin typeface="Quattrocento Sans" panose="020B0502050000020003" pitchFamily="34" charset="0"/>
            </a:endParaRPr>
          </a:p>
        </p:txBody>
      </p:sp>
      <p:sp>
        <p:nvSpPr>
          <p:cNvPr id="17416" name="Shape 46">
            <a:extLst>
              <a:ext uri="{FF2B5EF4-FFF2-40B4-BE49-F238E27FC236}">
                <a16:creationId xmlns:a16="http://schemas.microsoft.com/office/drawing/2014/main" id="{FB18D423-A7D6-7F61-D33B-E4FA29F76EEB}"/>
              </a:ext>
            </a:extLst>
          </p:cNvPr>
          <p:cNvSpPr>
            <a:spLocks/>
          </p:cNvSpPr>
          <p:nvPr/>
        </p:nvSpPr>
        <p:spPr bwMode="auto">
          <a:xfrm>
            <a:off x="6137275" y="974725"/>
            <a:ext cx="44450" cy="2892425"/>
          </a:xfrm>
          <a:custGeom>
            <a:avLst/>
            <a:gdLst>
              <a:gd name="T0" fmla="*/ 37058 w 37058"/>
              <a:gd name="T1" fmla="*/ 0 h 1334079"/>
              <a:gd name="T2" fmla="*/ 37058 w 37058"/>
              <a:gd name="T3" fmla="*/ 0 h 1334079"/>
              <a:gd name="T4" fmla="*/ 37058 w 37058"/>
              <a:gd name="T5" fmla="*/ 1334079 h 1334079"/>
              <a:gd name="T6" fmla="*/ 37058 w 37058"/>
              <a:gd name="T7" fmla="*/ 1334079 h 1334079"/>
              <a:gd name="T8" fmla="*/ 0 w 37058"/>
              <a:gd name="T9" fmla="*/ 1297021 h 1334079"/>
              <a:gd name="T10" fmla="*/ 0 w 37058"/>
              <a:gd name="T11" fmla="*/ 37058 h 1334079"/>
              <a:gd name="T12" fmla="*/ 37058 w 37058"/>
              <a:gd name="T13" fmla="*/ 0 h 1334079"/>
            </a:gdLst>
            <a:ahLst/>
            <a:cxnLst>
              <a:cxn ang="0">
                <a:pos x="T0" y="T1"/>
              </a:cxn>
              <a:cxn ang="0">
                <a:pos x="T2" y="T3"/>
              </a:cxn>
              <a:cxn ang="0">
                <a:pos x="T4" y="T5"/>
              </a:cxn>
              <a:cxn ang="0">
                <a:pos x="T6" y="T7"/>
              </a:cxn>
              <a:cxn ang="0">
                <a:pos x="T8" y="T9"/>
              </a:cxn>
              <a:cxn ang="0">
                <a:pos x="T10" y="T11"/>
              </a:cxn>
              <a:cxn ang="0">
                <a:pos x="T12" y="T13"/>
              </a:cxn>
            </a:cxnLst>
            <a:rect l="0" t="0" r="r" b="b"/>
            <a:pathLst>
              <a:path w="37058" h="1334079">
                <a:moveTo>
                  <a:pt x="37058" y="0"/>
                </a:moveTo>
                <a:lnTo>
                  <a:pt x="37058" y="0"/>
                </a:lnTo>
                <a:lnTo>
                  <a:pt x="37058" y="1334079"/>
                </a:lnTo>
                <a:cubicBezTo>
                  <a:pt x="16591" y="1334079"/>
                  <a:pt x="0" y="1317488"/>
                  <a:pt x="0" y="1297021"/>
                </a:cubicBezTo>
                <a:lnTo>
                  <a:pt x="0" y="37058"/>
                </a:lnTo>
                <a:cubicBezTo>
                  <a:pt x="0" y="16591"/>
                  <a:pt x="16591" y="0"/>
                  <a:pt x="37058" y="0"/>
                </a:cubicBezTo>
                <a:close/>
              </a:path>
            </a:pathLst>
          </a:custGeom>
          <a:solidFill>
            <a:srgbClr val="D8A03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17" name="Text 48">
            <a:extLst>
              <a:ext uri="{FF2B5EF4-FFF2-40B4-BE49-F238E27FC236}">
                <a16:creationId xmlns:a16="http://schemas.microsoft.com/office/drawing/2014/main" id="{BD5D9DE5-7300-F057-2B72-6F934CB158D0}"/>
              </a:ext>
            </a:extLst>
          </p:cNvPr>
          <p:cNvSpPr>
            <a:spLocks noChangeArrowheads="1"/>
          </p:cNvSpPr>
          <p:nvPr/>
        </p:nvSpPr>
        <p:spPr bwMode="auto">
          <a:xfrm>
            <a:off x="6602413" y="973138"/>
            <a:ext cx="3832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en-US" altLang="en-US" sz="1400" b="1">
                <a:solidFill>
                  <a:srgbClr val="E1E3E6"/>
                </a:solidFill>
                <a:latin typeface="Quattrocento Sans" panose="020B0502050000020003" pitchFamily="34" charset="0"/>
                <a:ea typeface="Liter" panose="02000503030000020004" pitchFamily="2" charset="0"/>
                <a:cs typeface="Liter" panose="02000503030000020004" pitchFamily="2" charset="0"/>
              </a:rPr>
              <a:t>Extensions of the Framework (Not Pursued)</a:t>
            </a:r>
            <a:endParaRPr lang="en-US" altLang="en-US" sz="1400">
              <a:latin typeface="Quattrocento Sans" panose="020B0502050000020003" pitchFamily="34" charset="0"/>
            </a:endParaRPr>
          </a:p>
        </p:txBody>
      </p:sp>
      <p:pic>
        <p:nvPicPr>
          <p:cNvPr id="79" name="Graphic 78">
            <a:extLst>
              <a:ext uri="{FF2B5EF4-FFF2-40B4-BE49-F238E27FC236}">
                <a16:creationId xmlns:a16="http://schemas.microsoft.com/office/drawing/2014/main" id="{416BE8C5-D54F-12B3-EC29-5CE940094E44}"/>
              </a:ext>
            </a:extLst>
          </p:cNvPr>
          <p:cNvPicPr>
            <a:picLocks noChangeAspect="1"/>
          </p:cNvPicPr>
          <p:nvPr/>
        </p:nvPicPr>
        <p:blipFill>
          <a:blip r:embed="rId4"/>
          <a:stretch>
            <a:fillRect/>
          </a:stretch>
        </p:blipFill>
        <p:spPr>
          <a:xfrm>
            <a:off x="6257925" y="990600"/>
            <a:ext cx="260350" cy="258763"/>
          </a:xfrm>
          <a:prstGeom prst="rect">
            <a:avLst/>
          </a:prstGeom>
        </p:spPr>
      </p:pic>
      <p:sp>
        <p:nvSpPr>
          <p:cNvPr id="17419" name="TextBox 86">
            <a:extLst>
              <a:ext uri="{FF2B5EF4-FFF2-40B4-BE49-F238E27FC236}">
                <a16:creationId xmlns:a16="http://schemas.microsoft.com/office/drawing/2014/main" id="{40B50444-1CBB-5C92-778A-D505019D0D74}"/>
              </a:ext>
            </a:extLst>
          </p:cNvPr>
          <p:cNvSpPr txBox="1">
            <a:spLocks noChangeArrowheads="1"/>
          </p:cNvSpPr>
          <p:nvPr/>
        </p:nvSpPr>
        <p:spPr bwMode="auto">
          <a:xfrm>
            <a:off x="6178550" y="1277938"/>
            <a:ext cx="5689600" cy="246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1400" b="1">
                <a:solidFill>
                  <a:srgbClr val="DEE0E4"/>
                </a:solidFill>
                <a:latin typeface="Quattrocento Sans" panose="020B0502050000020003" pitchFamily="34" charset="0"/>
              </a:rPr>
              <a:t>Analyze edge reps</a:t>
            </a:r>
            <a:r>
              <a:rPr lang="en-US" altLang="en-US" sz="1400">
                <a:solidFill>
                  <a:srgbClr val="DEE0E4"/>
                </a:solidFill>
                <a:latin typeface="Quattrocento Sans" panose="020B0502050000020003" pitchFamily="34" charset="0"/>
              </a:rPr>
              <a:t>. DE-OT reps have a different texture (wider rush axis) and require different metrics that appropriately handle lateral displacement. The data is there to quantify  “bend” (i.e., speed and tightness through a turn while “gaining” on an OL).</a:t>
            </a:r>
          </a:p>
          <a:p>
            <a:pPr eaLnBrk="1" hangingPunct="1"/>
            <a:endParaRPr lang="en-US" altLang="en-US" sz="1400" b="1">
              <a:solidFill>
                <a:srgbClr val="DEE0E4"/>
              </a:solidFill>
              <a:latin typeface="Quattrocento Sans" panose="020B0502050000020003" pitchFamily="34" charset="0"/>
            </a:endParaRPr>
          </a:p>
          <a:p>
            <a:pPr eaLnBrk="1" hangingPunct="1"/>
            <a:r>
              <a:rPr lang="en-US" altLang="en-US" sz="1400" b="1">
                <a:solidFill>
                  <a:srgbClr val="DEE0E4"/>
                </a:solidFill>
                <a:latin typeface="Quattrocento Sans" panose="020B0502050000020003" pitchFamily="34" charset="0"/>
              </a:rPr>
              <a:t>Use general pipeline idea for other individual reps.</a:t>
            </a:r>
            <a:r>
              <a:rPr lang="en-US" altLang="en-US" sz="1400">
                <a:solidFill>
                  <a:srgbClr val="DEE0E4"/>
                </a:solidFill>
                <a:latin typeface="Quattrocento Sans" panose="020B0502050000020003" pitchFamily="34" charset="0"/>
              </a:rPr>
              <a:t> The automated pipeline was developed by taking advantage of the specific movement signatures of 1-on-1 OL-DL reps, like a DL always crossing a specific yardage threshold if they are involved in a rep. Other reps are obviously different, but repeated movement specifics may be found. (Or, if there’s a snap of the football, even better.)</a:t>
            </a:r>
            <a:endParaRPr lang="en-US" altLang="en-US" sz="1400" b="1">
              <a:solidFill>
                <a:srgbClr val="DEE0E4"/>
              </a:solidFill>
              <a:latin typeface="Quattrocento Sans" panose="020B0502050000020003" pitchFamily="34" charset="0"/>
            </a:endParaRPr>
          </a:p>
        </p:txBody>
      </p:sp>
      <p:sp>
        <p:nvSpPr>
          <p:cNvPr id="17420" name="TextBox 87">
            <a:extLst>
              <a:ext uri="{FF2B5EF4-FFF2-40B4-BE49-F238E27FC236}">
                <a16:creationId xmlns:a16="http://schemas.microsoft.com/office/drawing/2014/main" id="{A4898EB5-DE2A-93D5-5683-47184C9D12FD}"/>
              </a:ext>
            </a:extLst>
          </p:cNvPr>
          <p:cNvSpPr txBox="1">
            <a:spLocks noChangeArrowheads="1"/>
          </p:cNvSpPr>
          <p:nvPr/>
        </p:nvSpPr>
        <p:spPr bwMode="auto">
          <a:xfrm>
            <a:off x="0" y="3948113"/>
            <a:ext cx="12192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a:solidFill>
                  <a:srgbClr val="D8A03D"/>
                </a:solidFill>
                <a:latin typeface="Quattrocento Sans" panose="020B0502050000020003" pitchFamily="34" charset="0"/>
              </a:rPr>
              <a:t>RECAP</a:t>
            </a:r>
          </a:p>
        </p:txBody>
      </p:sp>
      <p:pic>
        <p:nvPicPr>
          <p:cNvPr id="17421" name="Picture 89">
            <a:extLst>
              <a:ext uri="{FF2B5EF4-FFF2-40B4-BE49-F238E27FC236}">
                <a16:creationId xmlns:a16="http://schemas.microsoft.com/office/drawing/2014/main" id="{8CB971DC-05B1-90DD-EEC5-F6CE432DAE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4250" y="4699000"/>
            <a:ext cx="2162175"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2" name="TextBox 90">
            <a:extLst>
              <a:ext uri="{FF2B5EF4-FFF2-40B4-BE49-F238E27FC236}">
                <a16:creationId xmlns:a16="http://schemas.microsoft.com/office/drawing/2014/main" id="{346F5FEA-3650-BC2A-FA4A-933D1107DE59}"/>
              </a:ext>
            </a:extLst>
          </p:cNvPr>
          <p:cNvSpPr txBox="1">
            <a:spLocks noChangeArrowheads="1"/>
          </p:cNvSpPr>
          <p:nvPr/>
        </p:nvSpPr>
        <p:spPr bwMode="auto">
          <a:xfrm>
            <a:off x="693738" y="4340225"/>
            <a:ext cx="32369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1400">
                <a:solidFill>
                  <a:srgbClr val="D8A03D"/>
                </a:solidFill>
                <a:latin typeface="Quattrocento Sans" panose="020B0502050000020003" pitchFamily="34" charset="0"/>
              </a:rPr>
              <a:t>Unstructured Data to Segmented Reps</a:t>
            </a:r>
          </a:p>
        </p:txBody>
      </p:sp>
      <p:sp>
        <p:nvSpPr>
          <p:cNvPr id="17423" name="TextBox 91">
            <a:extLst>
              <a:ext uri="{FF2B5EF4-FFF2-40B4-BE49-F238E27FC236}">
                <a16:creationId xmlns:a16="http://schemas.microsoft.com/office/drawing/2014/main" id="{4904A102-33A5-77CC-2D9E-4AD91B8011B8}"/>
              </a:ext>
            </a:extLst>
          </p:cNvPr>
          <p:cNvSpPr txBox="1">
            <a:spLocks noChangeArrowheads="1"/>
          </p:cNvSpPr>
          <p:nvPr/>
        </p:nvSpPr>
        <p:spPr bwMode="auto">
          <a:xfrm>
            <a:off x="627063" y="5930900"/>
            <a:ext cx="323691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a:solidFill>
                  <a:srgbClr val="DEE0E4"/>
                </a:solidFill>
              </a:rPr>
              <a:t>Given a few manual inputs, an automated algorithm can loop through six practice sessions and return frames for the identified OL-DL pairs in a tidy format in less than a minute.</a:t>
            </a:r>
          </a:p>
        </p:txBody>
      </p:sp>
      <p:sp>
        <p:nvSpPr>
          <p:cNvPr id="17424" name="TextBox 92">
            <a:extLst>
              <a:ext uri="{FF2B5EF4-FFF2-40B4-BE49-F238E27FC236}">
                <a16:creationId xmlns:a16="http://schemas.microsoft.com/office/drawing/2014/main" id="{7DF27D57-60DD-83C8-8035-767A95EE49C9}"/>
              </a:ext>
            </a:extLst>
          </p:cNvPr>
          <p:cNvSpPr txBox="1">
            <a:spLocks noChangeArrowheads="1"/>
          </p:cNvSpPr>
          <p:nvPr/>
        </p:nvSpPr>
        <p:spPr bwMode="auto">
          <a:xfrm>
            <a:off x="4411663" y="4332288"/>
            <a:ext cx="33877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1400">
                <a:solidFill>
                  <a:srgbClr val="D8A03D"/>
                </a:solidFill>
                <a:latin typeface="Quattrocento Sans" panose="020B0502050000020003" pitchFamily="34" charset="0"/>
              </a:rPr>
              <a:t>Relevant Features from Segmented Data</a:t>
            </a:r>
          </a:p>
        </p:txBody>
      </p:sp>
      <p:sp>
        <p:nvSpPr>
          <p:cNvPr id="17425" name="TextBox 93">
            <a:extLst>
              <a:ext uri="{FF2B5EF4-FFF2-40B4-BE49-F238E27FC236}">
                <a16:creationId xmlns:a16="http://schemas.microsoft.com/office/drawing/2014/main" id="{F43971C4-1EC4-3927-719C-6E46232B56D2}"/>
              </a:ext>
            </a:extLst>
          </p:cNvPr>
          <p:cNvSpPr txBox="1">
            <a:spLocks noChangeArrowheads="1"/>
          </p:cNvSpPr>
          <p:nvPr/>
        </p:nvSpPr>
        <p:spPr bwMode="auto">
          <a:xfrm>
            <a:off x="4411663" y="5921375"/>
            <a:ext cx="32369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a:solidFill>
                  <a:srgbClr val="DEE0E4"/>
                </a:solidFill>
              </a:rPr>
              <a:t>Relevant observables, like the contact-onset point and matchup type, are extracted from the data and used to provide context-aware identifiers for use in building metrics</a:t>
            </a:r>
          </a:p>
        </p:txBody>
      </p:sp>
      <p:sp>
        <p:nvSpPr>
          <p:cNvPr id="17426" name="TextBox 94">
            <a:extLst>
              <a:ext uri="{FF2B5EF4-FFF2-40B4-BE49-F238E27FC236}">
                <a16:creationId xmlns:a16="http://schemas.microsoft.com/office/drawing/2014/main" id="{4C82F19F-0DC6-3B85-CD6F-D00E1BE182DC}"/>
              </a:ext>
            </a:extLst>
          </p:cNvPr>
          <p:cNvSpPr txBox="1">
            <a:spLocks noChangeArrowheads="1"/>
          </p:cNvSpPr>
          <p:nvPr/>
        </p:nvSpPr>
        <p:spPr bwMode="auto">
          <a:xfrm>
            <a:off x="8001000" y="4337050"/>
            <a:ext cx="3867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1400">
                <a:solidFill>
                  <a:srgbClr val="D8A03D"/>
                </a:solidFill>
                <a:latin typeface="Quattrocento Sans" panose="020B0502050000020003" pitchFamily="34" charset="0"/>
              </a:rPr>
              <a:t>Meaningful Metrics that Quantify Interior Play</a:t>
            </a:r>
          </a:p>
        </p:txBody>
      </p:sp>
      <p:sp>
        <p:nvSpPr>
          <p:cNvPr id="17427" name="TextBox 95">
            <a:extLst>
              <a:ext uri="{FF2B5EF4-FFF2-40B4-BE49-F238E27FC236}">
                <a16:creationId xmlns:a16="http://schemas.microsoft.com/office/drawing/2014/main" id="{DD96F7C5-0B3B-5B1C-6D9A-250C74B34D0B}"/>
              </a:ext>
            </a:extLst>
          </p:cNvPr>
          <p:cNvSpPr txBox="1">
            <a:spLocks noChangeArrowheads="1"/>
          </p:cNvSpPr>
          <p:nvPr/>
        </p:nvSpPr>
        <p:spPr bwMode="auto">
          <a:xfrm>
            <a:off x="8261350" y="5927725"/>
            <a:ext cx="32369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1200">
                <a:solidFill>
                  <a:srgbClr val="DEE0E4"/>
                </a:solidFill>
              </a:rPr>
              <a:t>Depth allowed at frame 25, as well as stall and bull score, show some correlation to NFL outcomes and what on-the-ground media report in their writeups</a:t>
            </a:r>
          </a:p>
        </p:txBody>
      </p:sp>
      <p:grpSp>
        <p:nvGrpSpPr>
          <p:cNvPr id="146" name="Graphic 101">
            <a:extLst>
              <a:ext uri="{FF2B5EF4-FFF2-40B4-BE49-F238E27FC236}">
                <a16:creationId xmlns:a16="http://schemas.microsoft.com/office/drawing/2014/main" id="{B42A38E8-86C1-CA5A-CAA8-29856F78F8A8}"/>
              </a:ext>
            </a:extLst>
          </p:cNvPr>
          <p:cNvGrpSpPr/>
          <p:nvPr/>
        </p:nvGrpSpPr>
        <p:grpSpPr>
          <a:xfrm>
            <a:off x="9224710" y="4742247"/>
            <a:ext cx="1310660" cy="863963"/>
            <a:chOff x="9224710" y="4742247"/>
            <a:chExt cx="1310660" cy="863963"/>
          </a:xfrm>
          <a:solidFill>
            <a:schemeClr val="bg1"/>
          </a:solidFill>
        </p:grpSpPr>
        <p:sp>
          <p:nvSpPr>
            <p:cNvPr id="147" name="Oval 146">
              <a:extLst>
                <a:ext uri="{FF2B5EF4-FFF2-40B4-BE49-F238E27FC236}">
                  <a16:creationId xmlns:a16="http://schemas.microsoft.com/office/drawing/2014/main" id="{13656F66-78F3-6E17-EE02-27DE1D04C327}"/>
                </a:ext>
              </a:extLst>
            </p:cNvPr>
            <p:cNvSpPr/>
            <p:nvPr/>
          </p:nvSpPr>
          <p:spPr>
            <a:xfrm>
              <a:off x="10100235" y="4857863"/>
              <a:ext cx="103002" cy="103002"/>
            </a:xfrm>
            <a:prstGeom prst="ellipse">
              <a:avLst/>
            </a:prstGeom>
            <a:solidFill>
              <a:srgbClr val="0096FF"/>
            </a:solidFill>
            <a:ln w="2611" cap="flat">
              <a:noFill/>
              <a:prstDash val="solid"/>
              <a:miter/>
            </a:ln>
          </p:spPr>
          <p:txBody>
            <a:bodyPr/>
            <a:lstStyle/>
            <a:p>
              <a:pPr eaLnBrk="1" fontAlgn="auto" hangingPunct="1">
                <a:spcBef>
                  <a:spcPts val="0"/>
                </a:spcBef>
                <a:spcAft>
                  <a:spcPts val="0"/>
                </a:spcAft>
                <a:defRPr/>
              </a:pPr>
              <a:endParaRPr lang="en-US">
                <a:latin typeface="+mn-lt"/>
              </a:endParaRPr>
            </a:p>
          </p:txBody>
        </p:sp>
        <p:sp>
          <p:nvSpPr>
            <p:cNvPr id="148" name="Oval 147">
              <a:extLst>
                <a:ext uri="{FF2B5EF4-FFF2-40B4-BE49-F238E27FC236}">
                  <a16:creationId xmlns:a16="http://schemas.microsoft.com/office/drawing/2014/main" id="{EBC54972-A04A-229C-38BC-ECB8324BBC94}"/>
                </a:ext>
              </a:extLst>
            </p:cNvPr>
            <p:cNvSpPr/>
            <p:nvPr/>
          </p:nvSpPr>
          <p:spPr>
            <a:xfrm>
              <a:off x="10432367" y="4742247"/>
              <a:ext cx="103002" cy="103002"/>
            </a:xfrm>
            <a:prstGeom prst="ellipse">
              <a:avLst/>
            </a:prstGeom>
            <a:solidFill>
              <a:srgbClr val="0096FF"/>
            </a:solidFill>
            <a:ln w="2611" cap="flat">
              <a:noFill/>
              <a:prstDash val="solid"/>
              <a:miter/>
            </a:ln>
          </p:spPr>
          <p:txBody>
            <a:bodyPr/>
            <a:lstStyle/>
            <a:p>
              <a:pPr eaLnBrk="1" fontAlgn="auto" hangingPunct="1">
                <a:spcBef>
                  <a:spcPts val="0"/>
                </a:spcBef>
                <a:spcAft>
                  <a:spcPts val="0"/>
                </a:spcAft>
                <a:defRPr/>
              </a:pPr>
              <a:endParaRPr lang="en-US">
                <a:latin typeface="+mn-lt"/>
              </a:endParaRPr>
            </a:p>
          </p:txBody>
        </p:sp>
        <p:sp>
          <p:nvSpPr>
            <p:cNvPr id="149" name="Oval 148">
              <a:extLst>
                <a:ext uri="{FF2B5EF4-FFF2-40B4-BE49-F238E27FC236}">
                  <a16:creationId xmlns:a16="http://schemas.microsoft.com/office/drawing/2014/main" id="{1FCB7CC2-636C-DE6C-427A-274215106EAB}"/>
                </a:ext>
              </a:extLst>
            </p:cNvPr>
            <p:cNvSpPr/>
            <p:nvPr/>
          </p:nvSpPr>
          <p:spPr>
            <a:xfrm>
              <a:off x="9837473" y="5189995"/>
              <a:ext cx="84084" cy="84084"/>
            </a:xfrm>
            <a:prstGeom prst="ellipse">
              <a:avLst/>
            </a:prstGeom>
            <a:solidFill>
              <a:srgbClr val="0096FF"/>
            </a:solidFill>
            <a:ln w="2611" cap="flat">
              <a:noFill/>
              <a:prstDash val="solid"/>
              <a:miter/>
            </a:ln>
          </p:spPr>
          <p:txBody>
            <a:bodyPr/>
            <a:lstStyle/>
            <a:p>
              <a:pPr eaLnBrk="1" fontAlgn="auto" hangingPunct="1">
                <a:spcBef>
                  <a:spcPts val="0"/>
                </a:spcBef>
                <a:spcAft>
                  <a:spcPts val="0"/>
                </a:spcAft>
                <a:defRPr/>
              </a:pPr>
              <a:endParaRPr lang="en-US">
                <a:latin typeface="+mn-lt"/>
              </a:endParaRPr>
            </a:p>
          </p:txBody>
        </p:sp>
        <p:sp>
          <p:nvSpPr>
            <p:cNvPr id="150" name="Oval 149">
              <a:extLst>
                <a:ext uri="{FF2B5EF4-FFF2-40B4-BE49-F238E27FC236}">
                  <a16:creationId xmlns:a16="http://schemas.microsoft.com/office/drawing/2014/main" id="{AB8A0087-502F-95F1-0719-0FB8783DDAD6}"/>
                </a:ext>
              </a:extLst>
            </p:cNvPr>
            <p:cNvSpPr/>
            <p:nvPr/>
          </p:nvSpPr>
          <p:spPr>
            <a:xfrm>
              <a:off x="9568404" y="5147953"/>
              <a:ext cx="84084" cy="84084"/>
            </a:xfrm>
            <a:prstGeom prst="ellipse">
              <a:avLst/>
            </a:prstGeom>
            <a:solidFill>
              <a:srgbClr val="0096FF"/>
            </a:solidFill>
            <a:ln w="2611" cap="flat">
              <a:noFill/>
              <a:prstDash val="solid"/>
              <a:miter/>
            </a:ln>
          </p:spPr>
          <p:txBody>
            <a:bodyPr/>
            <a:lstStyle/>
            <a:p>
              <a:pPr eaLnBrk="1" fontAlgn="auto" hangingPunct="1">
                <a:spcBef>
                  <a:spcPts val="0"/>
                </a:spcBef>
                <a:spcAft>
                  <a:spcPts val="0"/>
                </a:spcAft>
                <a:defRPr/>
              </a:pPr>
              <a:endParaRPr lang="en-US">
                <a:latin typeface="+mn-lt"/>
              </a:endParaRPr>
            </a:p>
          </p:txBody>
        </p:sp>
        <p:sp>
          <p:nvSpPr>
            <p:cNvPr id="151" name="Oval 150">
              <a:extLst>
                <a:ext uri="{FF2B5EF4-FFF2-40B4-BE49-F238E27FC236}">
                  <a16:creationId xmlns:a16="http://schemas.microsoft.com/office/drawing/2014/main" id="{308F9AB4-98C2-9176-8038-C9257BA19A54}"/>
                </a:ext>
              </a:extLst>
            </p:cNvPr>
            <p:cNvSpPr/>
            <p:nvPr/>
          </p:nvSpPr>
          <p:spPr>
            <a:xfrm>
              <a:off x="9433869" y="5522127"/>
              <a:ext cx="84084" cy="84084"/>
            </a:xfrm>
            <a:prstGeom prst="ellipse">
              <a:avLst/>
            </a:prstGeom>
            <a:solidFill>
              <a:srgbClr val="0096FF"/>
            </a:solidFill>
            <a:ln w="2611" cap="flat">
              <a:noFill/>
              <a:prstDash val="solid"/>
              <a:miter/>
            </a:ln>
          </p:spPr>
          <p:txBody>
            <a:bodyPr/>
            <a:lstStyle/>
            <a:p>
              <a:pPr eaLnBrk="1" fontAlgn="auto" hangingPunct="1">
                <a:spcBef>
                  <a:spcPts val="0"/>
                </a:spcBef>
                <a:spcAft>
                  <a:spcPts val="0"/>
                </a:spcAft>
                <a:defRPr/>
              </a:pPr>
              <a:endParaRPr lang="en-US">
                <a:latin typeface="+mn-lt"/>
              </a:endParaRPr>
            </a:p>
          </p:txBody>
        </p:sp>
        <p:sp>
          <p:nvSpPr>
            <p:cNvPr id="152" name="Oval 151">
              <a:extLst>
                <a:ext uri="{FF2B5EF4-FFF2-40B4-BE49-F238E27FC236}">
                  <a16:creationId xmlns:a16="http://schemas.microsoft.com/office/drawing/2014/main" id="{93174767-8F29-C873-03E6-4BBA76C9B956}"/>
                </a:ext>
              </a:extLst>
            </p:cNvPr>
            <p:cNvSpPr/>
            <p:nvPr/>
          </p:nvSpPr>
          <p:spPr>
            <a:xfrm>
              <a:off x="9224710" y="5387592"/>
              <a:ext cx="84084" cy="84084"/>
            </a:xfrm>
            <a:prstGeom prst="ellipse">
              <a:avLst/>
            </a:prstGeom>
            <a:solidFill>
              <a:srgbClr val="0096FF"/>
            </a:solidFill>
            <a:ln w="2611" cap="flat">
              <a:noFill/>
              <a:prstDash val="solid"/>
              <a:miter/>
            </a:ln>
          </p:spPr>
          <p:txBody>
            <a:bodyPr/>
            <a:lstStyle/>
            <a:p>
              <a:pPr eaLnBrk="1" fontAlgn="auto" hangingPunct="1">
                <a:spcBef>
                  <a:spcPts val="0"/>
                </a:spcBef>
                <a:spcAft>
                  <a:spcPts val="0"/>
                </a:spcAft>
                <a:defRPr/>
              </a:pPr>
              <a:endParaRPr lang="en-US">
                <a:latin typeface="+mn-lt"/>
              </a:endParaRPr>
            </a:p>
          </p:txBody>
        </p:sp>
      </p:grpSp>
      <p:sp>
        <p:nvSpPr>
          <p:cNvPr id="17429" name="Freeform 152">
            <a:extLst>
              <a:ext uri="{FF2B5EF4-FFF2-40B4-BE49-F238E27FC236}">
                <a16:creationId xmlns:a16="http://schemas.microsoft.com/office/drawing/2014/main" id="{4DE22118-776D-8744-2056-48D1DE57ED93}"/>
              </a:ext>
            </a:extLst>
          </p:cNvPr>
          <p:cNvSpPr>
            <a:spLocks/>
          </p:cNvSpPr>
          <p:nvPr/>
        </p:nvSpPr>
        <p:spPr bwMode="auto">
          <a:xfrm>
            <a:off x="10137775" y="4981575"/>
            <a:ext cx="20638" cy="904875"/>
          </a:xfrm>
          <a:custGeom>
            <a:avLst/>
            <a:gdLst/>
            <a:ahLst/>
            <a:cxnLst/>
            <a:rect l="0" t="0" r="r" b="b"/>
            <a:pathLst>
              <a:path w="21021" h="903903">
                <a:moveTo>
                  <a:pt x="0" y="893393"/>
                </a:moveTo>
                <a:cubicBezTo>
                  <a:pt x="0" y="888138"/>
                  <a:pt x="5255" y="882883"/>
                  <a:pt x="10511" y="882883"/>
                </a:cubicBezTo>
                <a:cubicBezTo>
                  <a:pt x="15766" y="882883"/>
                  <a:pt x="21021" y="888138"/>
                  <a:pt x="21021" y="893393"/>
                </a:cubicBezTo>
                <a:cubicBezTo>
                  <a:pt x="21021" y="898649"/>
                  <a:pt x="15766" y="903904"/>
                  <a:pt x="10511" y="903904"/>
                </a:cubicBezTo>
                <a:cubicBezTo>
                  <a:pt x="5255" y="903904"/>
                  <a:pt x="0" y="898649"/>
                  <a:pt x="0" y="893393"/>
                </a:cubicBezTo>
                <a:close/>
                <a:moveTo>
                  <a:pt x="0" y="861862"/>
                </a:moveTo>
                <a:cubicBezTo>
                  <a:pt x="0" y="856607"/>
                  <a:pt x="5255" y="851351"/>
                  <a:pt x="10511" y="851351"/>
                </a:cubicBezTo>
                <a:cubicBezTo>
                  <a:pt x="15766" y="851351"/>
                  <a:pt x="21021" y="856607"/>
                  <a:pt x="21021" y="861862"/>
                </a:cubicBezTo>
                <a:cubicBezTo>
                  <a:pt x="21021" y="867117"/>
                  <a:pt x="15766" y="872372"/>
                  <a:pt x="10511" y="872372"/>
                </a:cubicBezTo>
                <a:cubicBezTo>
                  <a:pt x="5255" y="872372"/>
                  <a:pt x="0" y="867117"/>
                  <a:pt x="0" y="861862"/>
                </a:cubicBezTo>
                <a:close/>
                <a:moveTo>
                  <a:pt x="0" y="830330"/>
                </a:moveTo>
                <a:cubicBezTo>
                  <a:pt x="0" y="825075"/>
                  <a:pt x="5255" y="819820"/>
                  <a:pt x="10511" y="819820"/>
                </a:cubicBezTo>
                <a:cubicBezTo>
                  <a:pt x="15766" y="819820"/>
                  <a:pt x="21021" y="825075"/>
                  <a:pt x="21021" y="830330"/>
                </a:cubicBezTo>
                <a:cubicBezTo>
                  <a:pt x="21021" y="835585"/>
                  <a:pt x="15766" y="840841"/>
                  <a:pt x="10511" y="840841"/>
                </a:cubicBezTo>
                <a:cubicBezTo>
                  <a:pt x="5255" y="840841"/>
                  <a:pt x="0" y="835585"/>
                  <a:pt x="0" y="830330"/>
                </a:cubicBezTo>
                <a:close/>
                <a:moveTo>
                  <a:pt x="0" y="798799"/>
                </a:moveTo>
                <a:cubicBezTo>
                  <a:pt x="0" y="793543"/>
                  <a:pt x="5255" y="788288"/>
                  <a:pt x="10511" y="788288"/>
                </a:cubicBezTo>
                <a:cubicBezTo>
                  <a:pt x="15766" y="788288"/>
                  <a:pt x="21021" y="793543"/>
                  <a:pt x="21021" y="798799"/>
                </a:cubicBezTo>
                <a:cubicBezTo>
                  <a:pt x="21021" y="804054"/>
                  <a:pt x="15766" y="809309"/>
                  <a:pt x="10511" y="809309"/>
                </a:cubicBezTo>
                <a:cubicBezTo>
                  <a:pt x="5255" y="809309"/>
                  <a:pt x="0" y="804054"/>
                  <a:pt x="0" y="798799"/>
                </a:cubicBezTo>
                <a:close/>
                <a:moveTo>
                  <a:pt x="0" y="767267"/>
                </a:moveTo>
                <a:cubicBezTo>
                  <a:pt x="0" y="762012"/>
                  <a:pt x="5255" y="756757"/>
                  <a:pt x="10511" y="756757"/>
                </a:cubicBezTo>
                <a:cubicBezTo>
                  <a:pt x="15766" y="756757"/>
                  <a:pt x="21021" y="762012"/>
                  <a:pt x="21021" y="767267"/>
                </a:cubicBezTo>
                <a:cubicBezTo>
                  <a:pt x="21021" y="772522"/>
                  <a:pt x="15766" y="777778"/>
                  <a:pt x="10511" y="777778"/>
                </a:cubicBezTo>
                <a:cubicBezTo>
                  <a:pt x="5255" y="777778"/>
                  <a:pt x="0" y="772522"/>
                  <a:pt x="0" y="767267"/>
                </a:cubicBezTo>
                <a:close/>
                <a:moveTo>
                  <a:pt x="0" y="735736"/>
                </a:moveTo>
                <a:cubicBezTo>
                  <a:pt x="0" y="730480"/>
                  <a:pt x="5255" y="725225"/>
                  <a:pt x="10511" y="725225"/>
                </a:cubicBezTo>
                <a:cubicBezTo>
                  <a:pt x="15766" y="725225"/>
                  <a:pt x="21021" y="730480"/>
                  <a:pt x="21021" y="735736"/>
                </a:cubicBezTo>
                <a:cubicBezTo>
                  <a:pt x="21021" y="740991"/>
                  <a:pt x="15766" y="746246"/>
                  <a:pt x="10511" y="746246"/>
                </a:cubicBezTo>
                <a:cubicBezTo>
                  <a:pt x="5255" y="746246"/>
                  <a:pt x="0" y="740991"/>
                  <a:pt x="0" y="735736"/>
                </a:cubicBezTo>
                <a:close/>
                <a:moveTo>
                  <a:pt x="0" y="704204"/>
                </a:moveTo>
                <a:cubicBezTo>
                  <a:pt x="0" y="698949"/>
                  <a:pt x="5255" y="693694"/>
                  <a:pt x="10511" y="693694"/>
                </a:cubicBezTo>
                <a:cubicBezTo>
                  <a:pt x="15766" y="693694"/>
                  <a:pt x="21021" y="698949"/>
                  <a:pt x="21021" y="704204"/>
                </a:cubicBezTo>
                <a:cubicBezTo>
                  <a:pt x="21021" y="709459"/>
                  <a:pt x="15766" y="714715"/>
                  <a:pt x="10511" y="714715"/>
                </a:cubicBezTo>
                <a:cubicBezTo>
                  <a:pt x="5255" y="714715"/>
                  <a:pt x="0" y="709459"/>
                  <a:pt x="0" y="704204"/>
                </a:cubicBezTo>
                <a:close/>
                <a:moveTo>
                  <a:pt x="0" y="672673"/>
                </a:moveTo>
                <a:cubicBezTo>
                  <a:pt x="0" y="667417"/>
                  <a:pt x="5255" y="662162"/>
                  <a:pt x="10511" y="662162"/>
                </a:cubicBezTo>
                <a:cubicBezTo>
                  <a:pt x="15766" y="662162"/>
                  <a:pt x="21021" y="667417"/>
                  <a:pt x="21021" y="672673"/>
                </a:cubicBezTo>
                <a:cubicBezTo>
                  <a:pt x="21021" y="677928"/>
                  <a:pt x="15766" y="683183"/>
                  <a:pt x="10511" y="683183"/>
                </a:cubicBezTo>
                <a:cubicBezTo>
                  <a:pt x="5255" y="683183"/>
                  <a:pt x="0" y="677928"/>
                  <a:pt x="0" y="672673"/>
                </a:cubicBezTo>
                <a:close/>
                <a:moveTo>
                  <a:pt x="0" y="641141"/>
                </a:moveTo>
                <a:cubicBezTo>
                  <a:pt x="0" y="635886"/>
                  <a:pt x="5255" y="630631"/>
                  <a:pt x="10511" y="630631"/>
                </a:cubicBezTo>
                <a:cubicBezTo>
                  <a:pt x="15766" y="630631"/>
                  <a:pt x="21021" y="635886"/>
                  <a:pt x="21021" y="641141"/>
                </a:cubicBezTo>
                <a:cubicBezTo>
                  <a:pt x="21021" y="646396"/>
                  <a:pt x="15766" y="651652"/>
                  <a:pt x="10511" y="651652"/>
                </a:cubicBezTo>
                <a:cubicBezTo>
                  <a:pt x="5255" y="651652"/>
                  <a:pt x="0" y="646396"/>
                  <a:pt x="0" y="641141"/>
                </a:cubicBezTo>
                <a:close/>
                <a:moveTo>
                  <a:pt x="0" y="609610"/>
                </a:moveTo>
                <a:cubicBezTo>
                  <a:pt x="0" y="604354"/>
                  <a:pt x="5255" y="599099"/>
                  <a:pt x="10511" y="599099"/>
                </a:cubicBezTo>
                <a:cubicBezTo>
                  <a:pt x="15766" y="599099"/>
                  <a:pt x="21021" y="604354"/>
                  <a:pt x="21021" y="609610"/>
                </a:cubicBezTo>
                <a:cubicBezTo>
                  <a:pt x="21021" y="614865"/>
                  <a:pt x="15766" y="620120"/>
                  <a:pt x="10511" y="620120"/>
                </a:cubicBezTo>
                <a:cubicBezTo>
                  <a:pt x="5255" y="620120"/>
                  <a:pt x="0" y="614865"/>
                  <a:pt x="0" y="609610"/>
                </a:cubicBezTo>
                <a:close/>
                <a:moveTo>
                  <a:pt x="0" y="578078"/>
                </a:moveTo>
                <a:cubicBezTo>
                  <a:pt x="0" y="572823"/>
                  <a:pt x="5255" y="567568"/>
                  <a:pt x="10511" y="567568"/>
                </a:cubicBezTo>
                <a:cubicBezTo>
                  <a:pt x="15766" y="567568"/>
                  <a:pt x="21021" y="572823"/>
                  <a:pt x="21021" y="578078"/>
                </a:cubicBezTo>
                <a:cubicBezTo>
                  <a:pt x="21021" y="583333"/>
                  <a:pt x="15766" y="588589"/>
                  <a:pt x="10511" y="588589"/>
                </a:cubicBezTo>
                <a:cubicBezTo>
                  <a:pt x="5255" y="588589"/>
                  <a:pt x="0" y="583333"/>
                  <a:pt x="0" y="578078"/>
                </a:cubicBezTo>
                <a:close/>
                <a:moveTo>
                  <a:pt x="0" y="546546"/>
                </a:moveTo>
                <a:cubicBezTo>
                  <a:pt x="0" y="541291"/>
                  <a:pt x="5255" y="536036"/>
                  <a:pt x="10511" y="536036"/>
                </a:cubicBezTo>
                <a:cubicBezTo>
                  <a:pt x="15766" y="536036"/>
                  <a:pt x="21021" y="541291"/>
                  <a:pt x="21021" y="546546"/>
                </a:cubicBezTo>
                <a:cubicBezTo>
                  <a:pt x="21021" y="551802"/>
                  <a:pt x="15766" y="557057"/>
                  <a:pt x="10511" y="557057"/>
                </a:cubicBezTo>
                <a:cubicBezTo>
                  <a:pt x="5255" y="557057"/>
                  <a:pt x="0" y="551802"/>
                  <a:pt x="0" y="546546"/>
                </a:cubicBezTo>
                <a:close/>
                <a:moveTo>
                  <a:pt x="0" y="515015"/>
                </a:moveTo>
                <a:cubicBezTo>
                  <a:pt x="0" y="509760"/>
                  <a:pt x="5255" y="504504"/>
                  <a:pt x="10511" y="504504"/>
                </a:cubicBezTo>
                <a:cubicBezTo>
                  <a:pt x="15766" y="504504"/>
                  <a:pt x="21021" y="509760"/>
                  <a:pt x="21021" y="515015"/>
                </a:cubicBezTo>
                <a:cubicBezTo>
                  <a:pt x="21021" y="520270"/>
                  <a:pt x="15766" y="525525"/>
                  <a:pt x="10511" y="525525"/>
                </a:cubicBezTo>
                <a:cubicBezTo>
                  <a:pt x="5255" y="525525"/>
                  <a:pt x="0" y="520270"/>
                  <a:pt x="0" y="515015"/>
                </a:cubicBezTo>
                <a:close/>
                <a:moveTo>
                  <a:pt x="0" y="483483"/>
                </a:moveTo>
                <a:cubicBezTo>
                  <a:pt x="0" y="478228"/>
                  <a:pt x="5255" y="472973"/>
                  <a:pt x="10511" y="472973"/>
                </a:cubicBezTo>
                <a:cubicBezTo>
                  <a:pt x="15766" y="472973"/>
                  <a:pt x="21021" y="478228"/>
                  <a:pt x="21021" y="483483"/>
                </a:cubicBezTo>
                <a:cubicBezTo>
                  <a:pt x="21021" y="488739"/>
                  <a:pt x="15766" y="493994"/>
                  <a:pt x="10511" y="493994"/>
                </a:cubicBezTo>
                <a:cubicBezTo>
                  <a:pt x="5255" y="493994"/>
                  <a:pt x="0" y="488739"/>
                  <a:pt x="0" y="483483"/>
                </a:cubicBezTo>
                <a:close/>
                <a:moveTo>
                  <a:pt x="0" y="451952"/>
                </a:moveTo>
                <a:cubicBezTo>
                  <a:pt x="0" y="446697"/>
                  <a:pt x="5255" y="441441"/>
                  <a:pt x="10511" y="441441"/>
                </a:cubicBezTo>
                <a:cubicBezTo>
                  <a:pt x="15766" y="441441"/>
                  <a:pt x="21021" y="446697"/>
                  <a:pt x="21021" y="451952"/>
                </a:cubicBezTo>
                <a:cubicBezTo>
                  <a:pt x="21021" y="457207"/>
                  <a:pt x="15766" y="462462"/>
                  <a:pt x="10511" y="462462"/>
                </a:cubicBezTo>
                <a:cubicBezTo>
                  <a:pt x="5255" y="462462"/>
                  <a:pt x="0" y="457207"/>
                  <a:pt x="0" y="451952"/>
                </a:cubicBezTo>
                <a:close/>
                <a:moveTo>
                  <a:pt x="0" y="420420"/>
                </a:moveTo>
                <a:cubicBezTo>
                  <a:pt x="0" y="415165"/>
                  <a:pt x="5255" y="409910"/>
                  <a:pt x="10511" y="409910"/>
                </a:cubicBezTo>
                <a:cubicBezTo>
                  <a:pt x="15766" y="409910"/>
                  <a:pt x="21021" y="415165"/>
                  <a:pt x="21021" y="420420"/>
                </a:cubicBezTo>
                <a:cubicBezTo>
                  <a:pt x="21021" y="425676"/>
                  <a:pt x="15766" y="430931"/>
                  <a:pt x="10511" y="430931"/>
                </a:cubicBezTo>
                <a:cubicBezTo>
                  <a:pt x="5255" y="430931"/>
                  <a:pt x="0" y="425676"/>
                  <a:pt x="0" y="420420"/>
                </a:cubicBezTo>
                <a:close/>
                <a:moveTo>
                  <a:pt x="0" y="388889"/>
                </a:moveTo>
                <a:cubicBezTo>
                  <a:pt x="0" y="383634"/>
                  <a:pt x="5255" y="378378"/>
                  <a:pt x="10511" y="378378"/>
                </a:cubicBezTo>
                <a:cubicBezTo>
                  <a:pt x="15766" y="378378"/>
                  <a:pt x="21021" y="383634"/>
                  <a:pt x="21021" y="388889"/>
                </a:cubicBezTo>
                <a:cubicBezTo>
                  <a:pt x="21021" y="394144"/>
                  <a:pt x="15766" y="399399"/>
                  <a:pt x="10511" y="399399"/>
                </a:cubicBezTo>
                <a:cubicBezTo>
                  <a:pt x="5255" y="399399"/>
                  <a:pt x="0" y="394144"/>
                  <a:pt x="0" y="388889"/>
                </a:cubicBezTo>
                <a:close/>
                <a:moveTo>
                  <a:pt x="0" y="357357"/>
                </a:moveTo>
                <a:cubicBezTo>
                  <a:pt x="0" y="352102"/>
                  <a:pt x="5255" y="346847"/>
                  <a:pt x="10511" y="346847"/>
                </a:cubicBezTo>
                <a:cubicBezTo>
                  <a:pt x="15766" y="346847"/>
                  <a:pt x="21021" y="352102"/>
                  <a:pt x="21021" y="357357"/>
                </a:cubicBezTo>
                <a:cubicBezTo>
                  <a:pt x="21021" y="362613"/>
                  <a:pt x="15766" y="367868"/>
                  <a:pt x="10511" y="367868"/>
                </a:cubicBezTo>
                <a:cubicBezTo>
                  <a:pt x="5255" y="367868"/>
                  <a:pt x="0" y="362613"/>
                  <a:pt x="0" y="357357"/>
                </a:cubicBezTo>
                <a:close/>
                <a:moveTo>
                  <a:pt x="0" y="325826"/>
                </a:moveTo>
                <a:cubicBezTo>
                  <a:pt x="0" y="320571"/>
                  <a:pt x="5255" y="315315"/>
                  <a:pt x="10511" y="315315"/>
                </a:cubicBezTo>
                <a:cubicBezTo>
                  <a:pt x="15766" y="315315"/>
                  <a:pt x="21021" y="320571"/>
                  <a:pt x="21021" y="325826"/>
                </a:cubicBezTo>
                <a:cubicBezTo>
                  <a:pt x="21021" y="331081"/>
                  <a:pt x="15766" y="336336"/>
                  <a:pt x="10511" y="336336"/>
                </a:cubicBezTo>
                <a:cubicBezTo>
                  <a:pt x="5255" y="336336"/>
                  <a:pt x="0" y="331081"/>
                  <a:pt x="0" y="325826"/>
                </a:cubicBezTo>
                <a:close/>
                <a:moveTo>
                  <a:pt x="0" y="294294"/>
                </a:moveTo>
                <a:cubicBezTo>
                  <a:pt x="0" y="289039"/>
                  <a:pt x="5255" y="283784"/>
                  <a:pt x="10511" y="283784"/>
                </a:cubicBezTo>
                <a:cubicBezTo>
                  <a:pt x="15766" y="283784"/>
                  <a:pt x="21021" y="289039"/>
                  <a:pt x="21021" y="294294"/>
                </a:cubicBezTo>
                <a:cubicBezTo>
                  <a:pt x="21021" y="299550"/>
                  <a:pt x="15766" y="304805"/>
                  <a:pt x="10511" y="304805"/>
                </a:cubicBezTo>
                <a:cubicBezTo>
                  <a:pt x="5255" y="304805"/>
                  <a:pt x="0" y="299550"/>
                  <a:pt x="0" y="294294"/>
                </a:cubicBezTo>
                <a:close/>
                <a:moveTo>
                  <a:pt x="0" y="262763"/>
                </a:moveTo>
                <a:cubicBezTo>
                  <a:pt x="0" y="256456"/>
                  <a:pt x="5255" y="252252"/>
                  <a:pt x="10511" y="252252"/>
                </a:cubicBezTo>
                <a:cubicBezTo>
                  <a:pt x="15766" y="252252"/>
                  <a:pt x="21021" y="256456"/>
                  <a:pt x="21021" y="262763"/>
                </a:cubicBezTo>
                <a:cubicBezTo>
                  <a:pt x="21021" y="268018"/>
                  <a:pt x="15766" y="273273"/>
                  <a:pt x="10511" y="273273"/>
                </a:cubicBezTo>
                <a:cubicBezTo>
                  <a:pt x="5255" y="273273"/>
                  <a:pt x="0" y="268018"/>
                  <a:pt x="0" y="262763"/>
                </a:cubicBezTo>
                <a:close/>
                <a:moveTo>
                  <a:pt x="0" y="231231"/>
                </a:moveTo>
                <a:cubicBezTo>
                  <a:pt x="0" y="224925"/>
                  <a:pt x="5255" y="220721"/>
                  <a:pt x="10511" y="220721"/>
                </a:cubicBezTo>
                <a:cubicBezTo>
                  <a:pt x="15766" y="220721"/>
                  <a:pt x="21021" y="224925"/>
                  <a:pt x="21021" y="231231"/>
                </a:cubicBezTo>
                <a:cubicBezTo>
                  <a:pt x="21021" y="236486"/>
                  <a:pt x="15766" y="241742"/>
                  <a:pt x="10511" y="241742"/>
                </a:cubicBezTo>
                <a:cubicBezTo>
                  <a:pt x="5255" y="241742"/>
                  <a:pt x="0" y="236486"/>
                  <a:pt x="0" y="231231"/>
                </a:cubicBezTo>
                <a:close/>
                <a:moveTo>
                  <a:pt x="0" y="199700"/>
                </a:moveTo>
                <a:cubicBezTo>
                  <a:pt x="0" y="193393"/>
                  <a:pt x="5255" y="189189"/>
                  <a:pt x="10511" y="189189"/>
                </a:cubicBezTo>
                <a:cubicBezTo>
                  <a:pt x="15766" y="189189"/>
                  <a:pt x="21021" y="193393"/>
                  <a:pt x="21021" y="199700"/>
                </a:cubicBezTo>
                <a:cubicBezTo>
                  <a:pt x="21021" y="204955"/>
                  <a:pt x="15766" y="210210"/>
                  <a:pt x="10511" y="210210"/>
                </a:cubicBezTo>
                <a:cubicBezTo>
                  <a:pt x="5255" y="210210"/>
                  <a:pt x="0" y="204955"/>
                  <a:pt x="0" y="199700"/>
                </a:cubicBezTo>
                <a:close/>
                <a:moveTo>
                  <a:pt x="0" y="168168"/>
                </a:moveTo>
                <a:cubicBezTo>
                  <a:pt x="0" y="161862"/>
                  <a:pt x="5255" y="157658"/>
                  <a:pt x="10511" y="157658"/>
                </a:cubicBezTo>
                <a:cubicBezTo>
                  <a:pt x="15766" y="157658"/>
                  <a:pt x="21021" y="161862"/>
                  <a:pt x="21021" y="168168"/>
                </a:cubicBezTo>
                <a:cubicBezTo>
                  <a:pt x="21021" y="173423"/>
                  <a:pt x="15766" y="178679"/>
                  <a:pt x="10511" y="178679"/>
                </a:cubicBezTo>
                <a:cubicBezTo>
                  <a:pt x="5255" y="178679"/>
                  <a:pt x="0" y="173423"/>
                  <a:pt x="0" y="168168"/>
                </a:cubicBezTo>
                <a:close/>
                <a:moveTo>
                  <a:pt x="0" y="136637"/>
                </a:moveTo>
                <a:cubicBezTo>
                  <a:pt x="0" y="130330"/>
                  <a:pt x="5255" y="126126"/>
                  <a:pt x="10511" y="126126"/>
                </a:cubicBezTo>
                <a:cubicBezTo>
                  <a:pt x="15766" y="126126"/>
                  <a:pt x="21021" y="130330"/>
                  <a:pt x="21021" y="136637"/>
                </a:cubicBezTo>
                <a:cubicBezTo>
                  <a:pt x="21021" y="141892"/>
                  <a:pt x="15766" y="147147"/>
                  <a:pt x="10511" y="147147"/>
                </a:cubicBezTo>
                <a:cubicBezTo>
                  <a:pt x="5255" y="147147"/>
                  <a:pt x="0" y="141892"/>
                  <a:pt x="0" y="136637"/>
                </a:cubicBezTo>
                <a:close/>
                <a:moveTo>
                  <a:pt x="0" y="105105"/>
                </a:moveTo>
                <a:cubicBezTo>
                  <a:pt x="0" y="98799"/>
                  <a:pt x="5255" y="94595"/>
                  <a:pt x="10511" y="94595"/>
                </a:cubicBezTo>
                <a:cubicBezTo>
                  <a:pt x="15766" y="94595"/>
                  <a:pt x="21021" y="98799"/>
                  <a:pt x="21021" y="105105"/>
                </a:cubicBezTo>
                <a:cubicBezTo>
                  <a:pt x="21021" y="110360"/>
                  <a:pt x="15766" y="115616"/>
                  <a:pt x="10511" y="115616"/>
                </a:cubicBezTo>
                <a:cubicBezTo>
                  <a:pt x="5255" y="115616"/>
                  <a:pt x="0" y="110360"/>
                  <a:pt x="0" y="105105"/>
                </a:cubicBezTo>
                <a:close/>
                <a:moveTo>
                  <a:pt x="0" y="73574"/>
                </a:moveTo>
                <a:cubicBezTo>
                  <a:pt x="0" y="67267"/>
                  <a:pt x="5255" y="63063"/>
                  <a:pt x="10511" y="63063"/>
                </a:cubicBezTo>
                <a:cubicBezTo>
                  <a:pt x="15766" y="63063"/>
                  <a:pt x="21021" y="67267"/>
                  <a:pt x="21021" y="73574"/>
                </a:cubicBezTo>
                <a:cubicBezTo>
                  <a:pt x="21021" y="78829"/>
                  <a:pt x="15766" y="84084"/>
                  <a:pt x="10511" y="84084"/>
                </a:cubicBezTo>
                <a:cubicBezTo>
                  <a:pt x="5255" y="84084"/>
                  <a:pt x="0" y="78829"/>
                  <a:pt x="0" y="73574"/>
                </a:cubicBezTo>
                <a:close/>
                <a:moveTo>
                  <a:pt x="0" y="42042"/>
                </a:moveTo>
                <a:cubicBezTo>
                  <a:pt x="0" y="35736"/>
                  <a:pt x="5255" y="31532"/>
                  <a:pt x="10511" y="31532"/>
                </a:cubicBezTo>
                <a:cubicBezTo>
                  <a:pt x="15766" y="31532"/>
                  <a:pt x="21021" y="35736"/>
                  <a:pt x="21021" y="42042"/>
                </a:cubicBezTo>
                <a:cubicBezTo>
                  <a:pt x="21021" y="47297"/>
                  <a:pt x="15766" y="52553"/>
                  <a:pt x="10511" y="52553"/>
                </a:cubicBezTo>
                <a:cubicBezTo>
                  <a:pt x="5255" y="52553"/>
                  <a:pt x="0" y="47297"/>
                  <a:pt x="0" y="42042"/>
                </a:cubicBezTo>
                <a:close/>
                <a:moveTo>
                  <a:pt x="0" y="10511"/>
                </a:moveTo>
                <a:cubicBezTo>
                  <a:pt x="0" y="4204"/>
                  <a:pt x="5255" y="0"/>
                  <a:pt x="10511" y="0"/>
                </a:cubicBezTo>
                <a:cubicBezTo>
                  <a:pt x="15766" y="0"/>
                  <a:pt x="21021" y="4204"/>
                  <a:pt x="21021" y="10511"/>
                </a:cubicBezTo>
                <a:cubicBezTo>
                  <a:pt x="21021" y="15766"/>
                  <a:pt x="15766" y="21021"/>
                  <a:pt x="10511" y="21021"/>
                </a:cubicBezTo>
                <a:cubicBezTo>
                  <a:pt x="5255" y="21021"/>
                  <a:pt x="0" y="15766"/>
                  <a:pt x="0" y="10511"/>
                </a:cubicBezTo>
                <a:close/>
              </a:path>
            </a:pathLst>
          </a:custGeom>
          <a:solidFill>
            <a:schemeClr val="bg1"/>
          </a:solidFill>
          <a:ln>
            <a:noFill/>
          </a:ln>
          <a:extLst>
            <a:ext uri="{91240B29-F687-4F45-9708-019B960494DF}">
              <a14:hiddenLine xmlns:a14="http://schemas.microsoft.com/office/drawing/2010/main" w="2611" cap="flat">
                <a:solidFill>
                  <a:srgbClr val="000000"/>
                </a:solidFill>
                <a:prstDash val="solid"/>
                <a:miter lim="800000"/>
                <a:headEnd/>
                <a:tailEnd/>
              </a14:hiddenLine>
            </a:ext>
          </a:extLst>
        </p:spPr>
        <p:txBody>
          <a:bodyPr/>
          <a:lstStyle/>
          <a:p>
            <a:endParaRPr lang="en-US"/>
          </a:p>
        </p:txBody>
      </p:sp>
      <p:sp>
        <p:nvSpPr>
          <p:cNvPr id="17430" name="Freeform 153">
            <a:extLst>
              <a:ext uri="{FF2B5EF4-FFF2-40B4-BE49-F238E27FC236}">
                <a16:creationId xmlns:a16="http://schemas.microsoft.com/office/drawing/2014/main" id="{63DFE012-5CF1-7DB5-1061-87CA69412C0D}"/>
              </a:ext>
            </a:extLst>
          </p:cNvPr>
          <p:cNvSpPr>
            <a:spLocks/>
          </p:cNvSpPr>
          <p:nvPr/>
        </p:nvSpPr>
        <p:spPr bwMode="auto">
          <a:xfrm>
            <a:off x="10137775" y="4603750"/>
            <a:ext cx="20638" cy="241300"/>
          </a:xfrm>
          <a:custGeom>
            <a:avLst/>
            <a:gdLst>
              <a:gd name="T0" fmla="*/ 0 w 21021"/>
              <a:gd name="T1" fmla="*/ 231231 h 241741"/>
              <a:gd name="T2" fmla="*/ 10511 w 21021"/>
              <a:gd name="T3" fmla="*/ 220721 h 241741"/>
              <a:gd name="T4" fmla="*/ 10511 w 21021"/>
              <a:gd name="T5" fmla="*/ 220721 h 241741"/>
              <a:gd name="T6" fmla="*/ 21021 w 21021"/>
              <a:gd name="T7" fmla="*/ 231231 h 241741"/>
              <a:gd name="T8" fmla="*/ 21021 w 21021"/>
              <a:gd name="T9" fmla="*/ 231231 h 241741"/>
              <a:gd name="T10" fmla="*/ 10511 w 21021"/>
              <a:gd name="T11" fmla="*/ 241742 h 241741"/>
              <a:gd name="T12" fmla="*/ 10511 w 21021"/>
              <a:gd name="T13" fmla="*/ 241742 h 241741"/>
              <a:gd name="T14" fmla="*/ 0 w 21021"/>
              <a:gd name="T15" fmla="*/ 231231 h 241741"/>
              <a:gd name="T16" fmla="*/ 0 w 21021"/>
              <a:gd name="T17" fmla="*/ 199700 h 241741"/>
              <a:gd name="T18" fmla="*/ 10511 w 21021"/>
              <a:gd name="T19" fmla="*/ 189189 h 241741"/>
              <a:gd name="T20" fmla="*/ 10511 w 21021"/>
              <a:gd name="T21" fmla="*/ 189189 h 241741"/>
              <a:gd name="T22" fmla="*/ 21021 w 21021"/>
              <a:gd name="T23" fmla="*/ 199700 h 241741"/>
              <a:gd name="T24" fmla="*/ 21021 w 21021"/>
              <a:gd name="T25" fmla="*/ 199700 h 241741"/>
              <a:gd name="T26" fmla="*/ 10511 w 21021"/>
              <a:gd name="T27" fmla="*/ 210210 h 241741"/>
              <a:gd name="T28" fmla="*/ 10511 w 21021"/>
              <a:gd name="T29" fmla="*/ 210210 h 241741"/>
              <a:gd name="T30" fmla="*/ 0 w 21021"/>
              <a:gd name="T31" fmla="*/ 199700 h 241741"/>
              <a:gd name="T32" fmla="*/ 0 w 21021"/>
              <a:gd name="T33" fmla="*/ 168168 h 241741"/>
              <a:gd name="T34" fmla="*/ 10511 w 21021"/>
              <a:gd name="T35" fmla="*/ 157658 h 241741"/>
              <a:gd name="T36" fmla="*/ 10511 w 21021"/>
              <a:gd name="T37" fmla="*/ 157658 h 241741"/>
              <a:gd name="T38" fmla="*/ 21021 w 21021"/>
              <a:gd name="T39" fmla="*/ 168168 h 241741"/>
              <a:gd name="T40" fmla="*/ 21021 w 21021"/>
              <a:gd name="T41" fmla="*/ 168168 h 241741"/>
              <a:gd name="T42" fmla="*/ 10511 w 21021"/>
              <a:gd name="T43" fmla="*/ 178679 h 241741"/>
              <a:gd name="T44" fmla="*/ 10511 w 21021"/>
              <a:gd name="T45" fmla="*/ 178679 h 241741"/>
              <a:gd name="T46" fmla="*/ 0 w 21021"/>
              <a:gd name="T47" fmla="*/ 168168 h 241741"/>
              <a:gd name="T48" fmla="*/ 0 w 21021"/>
              <a:gd name="T49" fmla="*/ 136637 h 241741"/>
              <a:gd name="T50" fmla="*/ 10511 w 21021"/>
              <a:gd name="T51" fmla="*/ 126126 h 241741"/>
              <a:gd name="T52" fmla="*/ 10511 w 21021"/>
              <a:gd name="T53" fmla="*/ 126126 h 241741"/>
              <a:gd name="T54" fmla="*/ 21021 w 21021"/>
              <a:gd name="T55" fmla="*/ 136637 h 241741"/>
              <a:gd name="T56" fmla="*/ 21021 w 21021"/>
              <a:gd name="T57" fmla="*/ 136637 h 241741"/>
              <a:gd name="T58" fmla="*/ 10511 w 21021"/>
              <a:gd name="T59" fmla="*/ 147147 h 241741"/>
              <a:gd name="T60" fmla="*/ 10511 w 21021"/>
              <a:gd name="T61" fmla="*/ 147147 h 241741"/>
              <a:gd name="T62" fmla="*/ 0 w 21021"/>
              <a:gd name="T63" fmla="*/ 136637 h 241741"/>
              <a:gd name="T64" fmla="*/ 0 w 21021"/>
              <a:gd name="T65" fmla="*/ 105105 h 241741"/>
              <a:gd name="T66" fmla="*/ 10511 w 21021"/>
              <a:gd name="T67" fmla="*/ 94595 h 241741"/>
              <a:gd name="T68" fmla="*/ 10511 w 21021"/>
              <a:gd name="T69" fmla="*/ 94595 h 241741"/>
              <a:gd name="T70" fmla="*/ 21021 w 21021"/>
              <a:gd name="T71" fmla="*/ 105105 h 241741"/>
              <a:gd name="T72" fmla="*/ 21021 w 21021"/>
              <a:gd name="T73" fmla="*/ 105105 h 241741"/>
              <a:gd name="T74" fmla="*/ 10511 w 21021"/>
              <a:gd name="T75" fmla="*/ 115616 h 241741"/>
              <a:gd name="T76" fmla="*/ 10511 w 21021"/>
              <a:gd name="T77" fmla="*/ 115616 h 241741"/>
              <a:gd name="T78" fmla="*/ 0 w 21021"/>
              <a:gd name="T79" fmla="*/ 105105 h 241741"/>
              <a:gd name="T80" fmla="*/ 0 w 21021"/>
              <a:gd name="T81" fmla="*/ 73574 h 241741"/>
              <a:gd name="T82" fmla="*/ 10511 w 21021"/>
              <a:gd name="T83" fmla="*/ 63063 h 241741"/>
              <a:gd name="T84" fmla="*/ 10511 w 21021"/>
              <a:gd name="T85" fmla="*/ 63063 h 241741"/>
              <a:gd name="T86" fmla="*/ 21021 w 21021"/>
              <a:gd name="T87" fmla="*/ 73574 h 241741"/>
              <a:gd name="T88" fmla="*/ 21021 w 21021"/>
              <a:gd name="T89" fmla="*/ 73574 h 241741"/>
              <a:gd name="T90" fmla="*/ 10511 w 21021"/>
              <a:gd name="T91" fmla="*/ 84084 h 241741"/>
              <a:gd name="T92" fmla="*/ 10511 w 21021"/>
              <a:gd name="T93" fmla="*/ 84084 h 241741"/>
              <a:gd name="T94" fmla="*/ 0 w 21021"/>
              <a:gd name="T95" fmla="*/ 73574 h 241741"/>
              <a:gd name="T96" fmla="*/ 0 w 21021"/>
              <a:gd name="T97" fmla="*/ 42042 h 241741"/>
              <a:gd name="T98" fmla="*/ 10511 w 21021"/>
              <a:gd name="T99" fmla="*/ 31532 h 241741"/>
              <a:gd name="T100" fmla="*/ 10511 w 21021"/>
              <a:gd name="T101" fmla="*/ 31532 h 241741"/>
              <a:gd name="T102" fmla="*/ 21021 w 21021"/>
              <a:gd name="T103" fmla="*/ 42042 h 241741"/>
              <a:gd name="T104" fmla="*/ 21021 w 21021"/>
              <a:gd name="T105" fmla="*/ 42042 h 241741"/>
              <a:gd name="T106" fmla="*/ 10511 w 21021"/>
              <a:gd name="T107" fmla="*/ 52553 h 241741"/>
              <a:gd name="T108" fmla="*/ 10511 w 21021"/>
              <a:gd name="T109" fmla="*/ 52553 h 241741"/>
              <a:gd name="T110" fmla="*/ 0 w 21021"/>
              <a:gd name="T111" fmla="*/ 42042 h 241741"/>
              <a:gd name="T112" fmla="*/ 0 w 21021"/>
              <a:gd name="T113" fmla="*/ 10511 h 241741"/>
              <a:gd name="T114" fmla="*/ 10511 w 21021"/>
              <a:gd name="T115" fmla="*/ 0 h 241741"/>
              <a:gd name="T116" fmla="*/ 10511 w 21021"/>
              <a:gd name="T117" fmla="*/ 0 h 241741"/>
              <a:gd name="T118" fmla="*/ 21021 w 21021"/>
              <a:gd name="T119" fmla="*/ 10511 h 241741"/>
              <a:gd name="T120" fmla="*/ 21021 w 21021"/>
              <a:gd name="T121" fmla="*/ 10511 h 241741"/>
              <a:gd name="T122" fmla="*/ 10511 w 21021"/>
              <a:gd name="T123" fmla="*/ 21021 h 241741"/>
              <a:gd name="T124" fmla="*/ 10511 w 21021"/>
              <a:gd name="T125" fmla="*/ 21021 h 241741"/>
              <a:gd name="T126" fmla="*/ 0 w 21021"/>
              <a:gd name="T127" fmla="*/ 10511 h 241741"/>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60000 65536"/>
              <a:gd name="T190" fmla="*/ 0 60000 65536"/>
              <a:gd name="T191" fmla="*/ 0 60000 65536"/>
            </a:gdLst>
            <a:ahLst/>
            <a:cxnLst>
              <a:cxn ang="T128">
                <a:pos x="T0" y="T1"/>
              </a:cxn>
              <a:cxn ang="T129">
                <a:pos x="T2" y="T3"/>
              </a:cxn>
              <a:cxn ang="T130">
                <a:pos x="T4" y="T5"/>
              </a:cxn>
              <a:cxn ang="T131">
                <a:pos x="T6" y="T7"/>
              </a:cxn>
              <a:cxn ang="T132">
                <a:pos x="T8" y="T9"/>
              </a:cxn>
              <a:cxn ang="T133">
                <a:pos x="T10" y="T11"/>
              </a:cxn>
              <a:cxn ang="T134">
                <a:pos x="T12" y="T13"/>
              </a:cxn>
              <a:cxn ang="T135">
                <a:pos x="T14" y="T15"/>
              </a:cxn>
              <a:cxn ang="T136">
                <a:pos x="T16" y="T17"/>
              </a:cxn>
              <a:cxn ang="T137">
                <a:pos x="T18" y="T19"/>
              </a:cxn>
              <a:cxn ang="T138">
                <a:pos x="T20" y="T21"/>
              </a:cxn>
              <a:cxn ang="T139">
                <a:pos x="T22" y="T23"/>
              </a:cxn>
              <a:cxn ang="T140">
                <a:pos x="T24" y="T25"/>
              </a:cxn>
              <a:cxn ang="T141">
                <a:pos x="T26" y="T27"/>
              </a:cxn>
              <a:cxn ang="T142">
                <a:pos x="T28" y="T29"/>
              </a:cxn>
              <a:cxn ang="T143">
                <a:pos x="T30" y="T31"/>
              </a:cxn>
              <a:cxn ang="T144">
                <a:pos x="T32" y="T33"/>
              </a:cxn>
              <a:cxn ang="T145">
                <a:pos x="T34" y="T35"/>
              </a:cxn>
              <a:cxn ang="T146">
                <a:pos x="T36" y="T37"/>
              </a:cxn>
              <a:cxn ang="T147">
                <a:pos x="T38" y="T39"/>
              </a:cxn>
              <a:cxn ang="T148">
                <a:pos x="T40" y="T41"/>
              </a:cxn>
              <a:cxn ang="T149">
                <a:pos x="T42" y="T43"/>
              </a:cxn>
              <a:cxn ang="T150">
                <a:pos x="T44" y="T45"/>
              </a:cxn>
              <a:cxn ang="T151">
                <a:pos x="T46" y="T47"/>
              </a:cxn>
              <a:cxn ang="T152">
                <a:pos x="T48" y="T49"/>
              </a:cxn>
              <a:cxn ang="T153">
                <a:pos x="T50" y="T51"/>
              </a:cxn>
              <a:cxn ang="T154">
                <a:pos x="T52" y="T53"/>
              </a:cxn>
              <a:cxn ang="T155">
                <a:pos x="T54" y="T55"/>
              </a:cxn>
              <a:cxn ang="T156">
                <a:pos x="T56" y="T57"/>
              </a:cxn>
              <a:cxn ang="T157">
                <a:pos x="T58" y="T59"/>
              </a:cxn>
              <a:cxn ang="T158">
                <a:pos x="T60" y="T61"/>
              </a:cxn>
              <a:cxn ang="T159">
                <a:pos x="T62" y="T63"/>
              </a:cxn>
              <a:cxn ang="T160">
                <a:pos x="T64" y="T65"/>
              </a:cxn>
              <a:cxn ang="T161">
                <a:pos x="T66" y="T67"/>
              </a:cxn>
              <a:cxn ang="T162">
                <a:pos x="T68" y="T69"/>
              </a:cxn>
              <a:cxn ang="T163">
                <a:pos x="T70" y="T71"/>
              </a:cxn>
              <a:cxn ang="T164">
                <a:pos x="T72" y="T73"/>
              </a:cxn>
              <a:cxn ang="T165">
                <a:pos x="T74" y="T75"/>
              </a:cxn>
              <a:cxn ang="T166">
                <a:pos x="T76" y="T77"/>
              </a:cxn>
              <a:cxn ang="T167">
                <a:pos x="T78" y="T79"/>
              </a:cxn>
              <a:cxn ang="T168">
                <a:pos x="T80" y="T81"/>
              </a:cxn>
              <a:cxn ang="T169">
                <a:pos x="T82" y="T83"/>
              </a:cxn>
              <a:cxn ang="T170">
                <a:pos x="T84" y="T85"/>
              </a:cxn>
              <a:cxn ang="T171">
                <a:pos x="T86" y="T87"/>
              </a:cxn>
              <a:cxn ang="T172">
                <a:pos x="T88" y="T89"/>
              </a:cxn>
              <a:cxn ang="T173">
                <a:pos x="T90" y="T91"/>
              </a:cxn>
              <a:cxn ang="T174">
                <a:pos x="T92" y="T93"/>
              </a:cxn>
              <a:cxn ang="T175">
                <a:pos x="T94" y="T95"/>
              </a:cxn>
              <a:cxn ang="T176">
                <a:pos x="T96" y="T97"/>
              </a:cxn>
              <a:cxn ang="T177">
                <a:pos x="T98" y="T99"/>
              </a:cxn>
              <a:cxn ang="T178">
                <a:pos x="T100" y="T101"/>
              </a:cxn>
              <a:cxn ang="T179">
                <a:pos x="T102" y="T103"/>
              </a:cxn>
              <a:cxn ang="T180">
                <a:pos x="T104" y="T105"/>
              </a:cxn>
              <a:cxn ang="T181">
                <a:pos x="T106" y="T107"/>
              </a:cxn>
              <a:cxn ang="T182">
                <a:pos x="T108" y="T109"/>
              </a:cxn>
              <a:cxn ang="T183">
                <a:pos x="T110" y="T111"/>
              </a:cxn>
              <a:cxn ang="T184">
                <a:pos x="T112" y="T113"/>
              </a:cxn>
              <a:cxn ang="T185">
                <a:pos x="T114" y="T115"/>
              </a:cxn>
              <a:cxn ang="T186">
                <a:pos x="T116" y="T117"/>
              </a:cxn>
              <a:cxn ang="T187">
                <a:pos x="T118" y="T119"/>
              </a:cxn>
              <a:cxn ang="T188">
                <a:pos x="T120" y="T121"/>
              </a:cxn>
              <a:cxn ang="T189">
                <a:pos x="T122" y="T123"/>
              </a:cxn>
              <a:cxn ang="T190">
                <a:pos x="T124" y="T125"/>
              </a:cxn>
              <a:cxn ang="T191">
                <a:pos x="T126" y="T127"/>
              </a:cxn>
            </a:cxnLst>
            <a:rect l="0" t="0" r="r" b="b"/>
            <a:pathLst>
              <a:path w="21021" h="241741">
                <a:moveTo>
                  <a:pt x="0" y="231231"/>
                </a:moveTo>
                <a:cubicBezTo>
                  <a:pt x="0" y="224925"/>
                  <a:pt x="5255" y="220721"/>
                  <a:pt x="10511" y="220721"/>
                </a:cubicBezTo>
                <a:cubicBezTo>
                  <a:pt x="15766" y="220721"/>
                  <a:pt x="21021" y="224925"/>
                  <a:pt x="21021" y="231231"/>
                </a:cubicBezTo>
                <a:cubicBezTo>
                  <a:pt x="21021" y="236486"/>
                  <a:pt x="15766" y="241742"/>
                  <a:pt x="10511" y="241742"/>
                </a:cubicBezTo>
                <a:cubicBezTo>
                  <a:pt x="5255" y="241742"/>
                  <a:pt x="0" y="236486"/>
                  <a:pt x="0" y="231231"/>
                </a:cubicBezTo>
                <a:close/>
                <a:moveTo>
                  <a:pt x="0" y="199700"/>
                </a:moveTo>
                <a:cubicBezTo>
                  <a:pt x="0" y="193393"/>
                  <a:pt x="5255" y="189189"/>
                  <a:pt x="10511" y="189189"/>
                </a:cubicBezTo>
                <a:cubicBezTo>
                  <a:pt x="15766" y="189189"/>
                  <a:pt x="21021" y="193393"/>
                  <a:pt x="21021" y="199700"/>
                </a:cubicBezTo>
                <a:cubicBezTo>
                  <a:pt x="21021" y="204955"/>
                  <a:pt x="15766" y="210210"/>
                  <a:pt x="10511" y="210210"/>
                </a:cubicBezTo>
                <a:cubicBezTo>
                  <a:pt x="5255" y="210210"/>
                  <a:pt x="0" y="204955"/>
                  <a:pt x="0" y="199700"/>
                </a:cubicBezTo>
                <a:close/>
                <a:moveTo>
                  <a:pt x="0" y="168168"/>
                </a:moveTo>
                <a:cubicBezTo>
                  <a:pt x="0" y="161862"/>
                  <a:pt x="5255" y="157658"/>
                  <a:pt x="10511" y="157658"/>
                </a:cubicBezTo>
                <a:cubicBezTo>
                  <a:pt x="15766" y="157658"/>
                  <a:pt x="21021" y="161862"/>
                  <a:pt x="21021" y="168168"/>
                </a:cubicBezTo>
                <a:cubicBezTo>
                  <a:pt x="21021" y="173423"/>
                  <a:pt x="15766" y="178679"/>
                  <a:pt x="10511" y="178679"/>
                </a:cubicBezTo>
                <a:cubicBezTo>
                  <a:pt x="5255" y="178679"/>
                  <a:pt x="0" y="173423"/>
                  <a:pt x="0" y="168168"/>
                </a:cubicBezTo>
                <a:close/>
                <a:moveTo>
                  <a:pt x="0" y="136637"/>
                </a:moveTo>
                <a:cubicBezTo>
                  <a:pt x="0" y="130330"/>
                  <a:pt x="5255" y="126126"/>
                  <a:pt x="10511" y="126126"/>
                </a:cubicBezTo>
                <a:cubicBezTo>
                  <a:pt x="15766" y="126126"/>
                  <a:pt x="21021" y="130330"/>
                  <a:pt x="21021" y="136637"/>
                </a:cubicBezTo>
                <a:cubicBezTo>
                  <a:pt x="21021" y="141892"/>
                  <a:pt x="15766" y="147147"/>
                  <a:pt x="10511" y="147147"/>
                </a:cubicBezTo>
                <a:cubicBezTo>
                  <a:pt x="5255" y="147147"/>
                  <a:pt x="0" y="141892"/>
                  <a:pt x="0" y="136637"/>
                </a:cubicBezTo>
                <a:close/>
                <a:moveTo>
                  <a:pt x="0" y="105105"/>
                </a:moveTo>
                <a:cubicBezTo>
                  <a:pt x="0" y="98799"/>
                  <a:pt x="5255" y="94595"/>
                  <a:pt x="10511" y="94595"/>
                </a:cubicBezTo>
                <a:cubicBezTo>
                  <a:pt x="15766" y="94595"/>
                  <a:pt x="21021" y="98799"/>
                  <a:pt x="21021" y="105105"/>
                </a:cubicBezTo>
                <a:cubicBezTo>
                  <a:pt x="21021" y="110360"/>
                  <a:pt x="15766" y="115616"/>
                  <a:pt x="10511" y="115616"/>
                </a:cubicBezTo>
                <a:cubicBezTo>
                  <a:pt x="5255" y="115616"/>
                  <a:pt x="0" y="110360"/>
                  <a:pt x="0" y="105105"/>
                </a:cubicBezTo>
                <a:close/>
                <a:moveTo>
                  <a:pt x="0" y="73574"/>
                </a:moveTo>
                <a:cubicBezTo>
                  <a:pt x="0" y="67267"/>
                  <a:pt x="5255" y="63063"/>
                  <a:pt x="10511" y="63063"/>
                </a:cubicBezTo>
                <a:cubicBezTo>
                  <a:pt x="15766" y="63063"/>
                  <a:pt x="21021" y="67267"/>
                  <a:pt x="21021" y="73574"/>
                </a:cubicBezTo>
                <a:cubicBezTo>
                  <a:pt x="21021" y="78829"/>
                  <a:pt x="15766" y="84084"/>
                  <a:pt x="10511" y="84084"/>
                </a:cubicBezTo>
                <a:cubicBezTo>
                  <a:pt x="5255" y="84084"/>
                  <a:pt x="0" y="78829"/>
                  <a:pt x="0" y="73574"/>
                </a:cubicBezTo>
                <a:close/>
                <a:moveTo>
                  <a:pt x="0" y="42042"/>
                </a:moveTo>
                <a:cubicBezTo>
                  <a:pt x="0" y="35736"/>
                  <a:pt x="5255" y="31532"/>
                  <a:pt x="10511" y="31532"/>
                </a:cubicBezTo>
                <a:cubicBezTo>
                  <a:pt x="15766" y="31532"/>
                  <a:pt x="21021" y="35736"/>
                  <a:pt x="21021" y="42042"/>
                </a:cubicBezTo>
                <a:cubicBezTo>
                  <a:pt x="21021" y="47297"/>
                  <a:pt x="15766" y="52553"/>
                  <a:pt x="10511" y="52553"/>
                </a:cubicBezTo>
                <a:cubicBezTo>
                  <a:pt x="5255" y="52553"/>
                  <a:pt x="0" y="47297"/>
                  <a:pt x="0" y="42042"/>
                </a:cubicBezTo>
                <a:close/>
                <a:moveTo>
                  <a:pt x="0" y="10511"/>
                </a:moveTo>
                <a:cubicBezTo>
                  <a:pt x="0" y="4204"/>
                  <a:pt x="5255" y="0"/>
                  <a:pt x="10511" y="0"/>
                </a:cubicBezTo>
                <a:cubicBezTo>
                  <a:pt x="15766" y="0"/>
                  <a:pt x="21021" y="4204"/>
                  <a:pt x="21021" y="10511"/>
                </a:cubicBezTo>
                <a:cubicBezTo>
                  <a:pt x="21021" y="15766"/>
                  <a:pt x="15766" y="21021"/>
                  <a:pt x="10511" y="21021"/>
                </a:cubicBezTo>
                <a:cubicBezTo>
                  <a:pt x="5255" y="21021"/>
                  <a:pt x="0" y="15766"/>
                  <a:pt x="0" y="10511"/>
                </a:cubicBezTo>
                <a:close/>
              </a:path>
            </a:pathLst>
          </a:custGeom>
          <a:solidFill>
            <a:schemeClr val="bg1"/>
          </a:solidFill>
          <a:ln>
            <a:noFill/>
          </a:ln>
          <a:extLst>
            <a:ext uri="{91240B29-F687-4F45-9708-019B960494DF}">
              <a14:hiddenLine xmlns:a14="http://schemas.microsoft.com/office/drawing/2010/main" w="2611" cap="flat">
                <a:solidFill>
                  <a:srgbClr val="000000"/>
                </a:solidFill>
                <a:prstDash val="solid"/>
                <a:miter lim="800000"/>
                <a:headEnd/>
                <a:tailEnd/>
              </a14:hiddenLine>
            </a:ext>
          </a:extLst>
        </p:spPr>
        <p:txBody>
          <a:bodyPr/>
          <a:lstStyle/>
          <a:p>
            <a:endParaRPr lang="en-US"/>
          </a:p>
        </p:txBody>
      </p:sp>
      <p:sp>
        <p:nvSpPr>
          <p:cNvPr id="17431" name="Freeform 154">
            <a:extLst>
              <a:ext uri="{FF2B5EF4-FFF2-40B4-BE49-F238E27FC236}">
                <a16:creationId xmlns:a16="http://schemas.microsoft.com/office/drawing/2014/main" id="{53EA67C0-8AE4-00EC-6352-DCB0BCF9665F}"/>
              </a:ext>
            </a:extLst>
          </p:cNvPr>
          <p:cNvSpPr>
            <a:spLocks/>
          </p:cNvSpPr>
          <p:nvPr/>
        </p:nvSpPr>
        <p:spPr bwMode="auto">
          <a:xfrm>
            <a:off x="10090150" y="4848225"/>
            <a:ext cx="123825" cy="123825"/>
          </a:xfrm>
          <a:custGeom>
            <a:avLst/>
            <a:gdLst>
              <a:gd name="T0" fmla="*/ 62012 w 124023"/>
              <a:gd name="T1" fmla="*/ 124024 h 124024"/>
              <a:gd name="T2" fmla="*/ 0 w 124023"/>
              <a:gd name="T3" fmla="*/ 62012 h 124024"/>
              <a:gd name="T4" fmla="*/ 62012 w 124023"/>
              <a:gd name="T5" fmla="*/ 0 h 124024"/>
              <a:gd name="T6" fmla="*/ 124024 w 124023"/>
              <a:gd name="T7" fmla="*/ 62012 h 124024"/>
              <a:gd name="T8" fmla="*/ 62012 w 124023"/>
              <a:gd name="T9" fmla="*/ 124024 h 124024"/>
              <a:gd name="T10" fmla="*/ 62012 w 124023"/>
              <a:gd name="T11" fmla="*/ 19970 h 124024"/>
              <a:gd name="T12" fmla="*/ 21021 w 124023"/>
              <a:gd name="T13" fmla="*/ 60961 h 124024"/>
              <a:gd name="T14" fmla="*/ 62012 w 124023"/>
              <a:gd name="T15" fmla="*/ 101952 h 124024"/>
              <a:gd name="T16" fmla="*/ 103003 w 124023"/>
              <a:gd name="T17" fmla="*/ 60961 h 124024"/>
              <a:gd name="T18" fmla="*/ 62012 w 124023"/>
              <a:gd name="T19" fmla="*/ 19970 h 1240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4023" h="124024">
                <a:moveTo>
                  <a:pt x="62012" y="124024"/>
                </a:moveTo>
                <a:cubicBezTo>
                  <a:pt x="27327" y="124024"/>
                  <a:pt x="0" y="95646"/>
                  <a:pt x="0" y="62012"/>
                </a:cubicBezTo>
                <a:cubicBezTo>
                  <a:pt x="0" y="28378"/>
                  <a:pt x="28378" y="0"/>
                  <a:pt x="62012" y="0"/>
                </a:cubicBezTo>
                <a:cubicBezTo>
                  <a:pt x="96697" y="0"/>
                  <a:pt x="124024" y="28378"/>
                  <a:pt x="124024" y="62012"/>
                </a:cubicBezTo>
                <a:cubicBezTo>
                  <a:pt x="124024" y="95646"/>
                  <a:pt x="95646" y="124024"/>
                  <a:pt x="62012" y="124024"/>
                </a:cubicBezTo>
                <a:close/>
                <a:moveTo>
                  <a:pt x="62012" y="19970"/>
                </a:moveTo>
                <a:cubicBezTo>
                  <a:pt x="38889" y="19970"/>
                  <a:pt x="21021" y="38889"/>
                  <a:pt x="21021" y="60961"/>
                </a:cubicBezTo>
                <a:cubicBezTo>
                  <a:pt x="21021" y="84084"/>
                  <a:pt x="39940" y="101952"/>
                  <a:pt x="62012" y="101952"/>
                </a:cubicBezTo>
                <a:cubicBezTo>
                  <a:pt x="85135" y="101952"/>
                  <a:pt x="103003" y="83033"/>
                  <a:pt x="103003" y="60961"/>
                </a:cubicBezTo>
                <a:cubicBezTo>
                  <a:pt x="103003" y="38889"/>
                  <a:pt x="84084" y="19970"/>
                  <a:pt x="62012" y="19970"/>
                </a:cubicBezTo>
                <a:close/>
              </a:path>
            </a:pathLst>
          </a:custGeom>
          <a:solidFill>
            <a:schemeClr val="bg1"/>
          </a:solidFill>
          <a:ln>
            <a:noFill/>
          </a:ln>
          <a:extLst>
            <a:ext uri="{91240B29-F687-4F45-9708-019B960494DF}">
              <a14:hiddenLine xmlns:a14="http://schemas.microsoft.com/office/drawing/2010/main" w="2611" cap="flat">
                <a:solidFill>
                  <a:srgbClr val="000000"/>
                </a:solidFill>
                <a:prstDash val="solid"/>
                <a:miter lim="800000"/>
                <a:headEnd/>
                <a:tailEnd/>
              </a14:hiddenLine>
            </a:ext>
          </a:extLst>
        </p:spPr>
        <p:txBody>
          <a:bodyPr/>
          <a:lstStyle/>
          <a:p>
            <a:endParaRPr lang="en-US"/>
          </a:p>
        </p:txBody>
      </p:sp>
      <p:sp>
        <p:nvSpPr>
          <p:cNvPr id="17432" name="Freeform 155">
            <a:extLst>
              <a:ext uri="{FF2B5EF4-FFF2-40B4-BE49-F238E27FC236}">
                <a16:creationId xmlns:a16="http://schemas.microsoft.com/office/drawing/2014/main" id="{22B719FB-03A6-BA08-8792-C783DF643609}"/>
              </a:ext>
            </a:extLst>
          </p:cNvPr>
          <p:cNvSpPr>
            <a:spLocks/>
          </p:cNvSpPr>
          <p:nvPr/>
        </p:nvSpPr>
        <p:spPr bwMode="auto">
          <a:xfrm>
            <a:off x="10421938" y="4732338"/>
            <a:ext cx="123825" cy="123825"/>
          </a:xfrm>
          <a:custGeom>
            <a:avLst/>
            <a:gdLst>
              <a:gd name="T0" fmla="*/ 62012 w 124023"/>
              <a:gd name="T1" fmla="*/ 124024 h 124024"/>
              <a:gd name="T2" fmla="*/ 0 w 124023"/>
              <a:gd name="T3" fmla="*/ 62012 h 124024"/>
              <a:gd name="T4" fmla="*/ 62012 w 124023"/>
              <a:gd name="T5" fmla="*/ 0 h 124024"/>
              <a:gd name="T6" fmla="*/ 124024 w 124023"/>
              <a:gd name="T7" fmla="*/ 62012 h 124024"/>
              <a:gd name="T8" fmla="*/ 62012 w 124023"/>
              <a:gd name="T9" fmla="*/ 124024 h 124024"/>
              <a:gd name="T10" fmla="*/ 62012 w 124023"/>
              <a:gd name="T11" fmla="*/ 19970 h 124024"/>
              <a:gd name="T12" fmla="*/ 21021 w 124023"/>
              <a:gd name="T13" fmla="*/ 60961 h 124024"/>
              <a:gd name="T14" fmla="*/ 62012 w 124023"/>
              <a:gd name="T15" fmla="*/ 101952 h 124024"/>
              <a:gd name="T16" fmla="*/ 103003 w 124023"/>
              <a:gd name="T17" fmla="*/ 60961 h 124024"/>
              <a:gd name="T18" fmla="*/ 62012 w 124023"/>
              <a:gd name="T19" fmla="*/ 19970 h 1240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4023" h="124024">
                <a:moveTo>
                  <a:pt x="62012" y="124024"/>
                </a:moveTo>
                <a:cubicBezTo>
                  <a:pt x="27327" y="124024"/>
                  <a:pt x="0" y="95646"/>
                  <a:pt x="0" y="62012"/>
                </a:cubicBezTo>
                <a:cubicBezTo>
                  <a:pt x="0" y="28378"/>
                  <a:pt x="28378" y="0"/>
                  <a:pt x="62012" y="0"/>
                </a:cubicBezTo>
                <a:cubicBezTo>
                  <a:pt x="96697" y="0"/>
                  <a:pt x="124024" y="28378"/>
                  <a:pt x="124024" y="62012"/>
                </a:cubicBezTo>
                <a:cubicBezTo>
                  <a:pt x="124024" y="95646"/>
                  <a:pt x="96697" y="124024"/>
                  <a:pt x="62012" y="124024"/>
                </a:cubicBezTo>
                <a:close/>
                <a:moveTo>
                  <a:pt x="62012" y="19970"/>
                </a:moveTo>
                <a:cubicBezTo>
                  <a:pt x="38889" y="19970"/>
                  <a:pt x="21021" y="38889"/>
                  <a:pt x="21021" y="60961"/>
                </a:cubicBezTo>
                <a:cubicBezTo>
                  <a:pt x="21021" y="84084"/>
                  <a:pt x="39940" y="101952"/>
                  <a:pt x="62012" y="101952"/>
                </a:cubicBezTo>
                <a:cubicBezTo>
                  <a:pt x="85135" y="101952"/>
                  <a:pt x="103003" y="83033"/>
                  <a:pt x="103003" y="60961"/>
                </a:cubicBezTo>
                <a:cubicBezTo>
                  <a:pt x="104054" y="38889"/>
                  <a:pt x="85135" y="19970"/>
                  <a:pt x="62012" y="19970"/>
                </a:cubicBezTo>
                <a:close/>
              </a:path>
            </a:pathLst>
          </a:custGeom>
          <a:solidFill>
            <a:schemeClr val="bg1"/>
          </a:solidFill>
          <a:ln>
            <a:noFill/>
          </a:ln>
          <a:extLst>
            <a:ext uri="{91240B29-F687-4F45-9708-019B960494DF}">
              <a14:hiddenLine xmlns:a14="http://schemas.microsoft.com/office/drawing/2010/main" w="2611" cap="flat">
                <a:solidFill>
                  <a:srgbClr val="000000"/>
                </a:solidFill>
                <a:prstDash val="solid"/>
                <a:miter lim="800000"/>
                <a:headEnd/>
                <a:tailEnd/>
              </a14:hiddenLine>
            </a:ext>
          </a:extLst>
        </p:spPr>
        <p:txBody>
          <a:bodyPr/>
          <a:lstStyle/>
          <a:p>
            <a:endParaRPr lang="en-US"/>
          </a:p>
        </p:txBody>
      </p:sp>
      <p:sp>
        <p:nvSpPr>
          <p:cNvPr id="17433" name="Freeform 156">
            <a:extLst>
              <a:ext uri="{FF2B5EF4-FFF2-40B4-BE49-F238E27FC236}">
                <a16:creationId xmlns:a16="http://schemas.microsoft.com/office/drawing/2014/main" id="{5BD5BD8E-26E8-662D-B7D2-889B94E7072F}"/>
              </a:ext>
            </a:extLst>
          </p:cNvPr>
          <p:cNvSpPr>
            <a:spLocks/>
          </p:cNvSpPr>
          <p:nvPr/>
        </p:nvSpPr>
        <p:spPr bwMode="auto">
          <a:xfrm>
            <a:off x="9826625" y="5180013"/>
            <a:ext cx="104775" cy="104775"/>
          </a:xfrm>
          <a:custGeom>
            <a:avLst/>
            <a:gdLst>
              <a:gd name="T0" fmla="*/ 52553 w 105138"/>
              <a:gd name="T1" fmla="*/ 105105 h 105105"/>
              <a:gd name="T2" fmla="*/ 0 w 105138"/>
              <a:gd name="T3" fmla="*/ 52553 h 105105"/>
              <a:gd name="T4" fmla="*/ 52553 w 105138"/>
              <a:gd name="T5" fmla="*/ 0 h 105105"/>
              <a:gd name="T6" fmla="*/ 105105 w 105138"/>
              <a:gd name="T7" fmla="*/ 52553 h 105105"/>
              <a:gd name="T8" fmla="*/ 52553 w 105138"/>
              <a:gd name="T9" fmla="*/ 105105 h 105105"/>
              <a:gd name="T10" fmla="*/ 52553 w 105138"/>
              <a:gd name="T11" fmla="*/ 19970 h 105105"/>
              <a:gd name="T12" fmla="*/ 21021 w 105138"/>
              <a:gd name="T13" fmla="*/ 51501 h 105105"/>
              <a:gd name="T14" fmla="*/ 52553 w 105138"/>
              <a:gd name="T15" fmla="*/ 83033 h 105105"/>
              <a:gd name="T16" fmla="*/ 84084 w 105138"/>
              <a:gd name="T17" fmla="*/ 51501 h 105105"/>
              <a:gd name="T18" fmla="*/ 52553 w 105138"/>
              <a:gd name="T19" fmla="*/ 19970 h 10510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138" h="105105">
                <a:moveTo>
                  <a:pt x="52553" y="105105"/>
                </a:moveTo>
                <a:cubicBezTo>
                  <a:pt x="23123" y="105105"/>
                  <a:pt x="0" y="80931"/>
                  <a:pt x="0" y="52553"/>
                </a:cubicBezTo>
                <a:cubicBezTo>
                  <a:pt x="0" y="23123"/>
                  <a:pt x="24174" y="0"/>
                  <a:pt x="52553" y="0"/>
                </a:cubicBezTo>
                <a:cubicBezTo>
                  <a:pt x="81982" y="0"/>
                  <a:pt x="105105" y="24174"/>
                  <a:pt x="105105" y="52553"/>
                </a:cubicBezTo>
                <a:cubicBezTo>
                  <a:pt x="106156" y="80931"/>
                  <a:pt x="81982" y="105105"/>
                  <a:pt x="52553" y="105105"/>
                </a:cubicBezTo>
                <a:close/>
                <a:moveTo>
                  <a:pt x="52553" y="19970"/>
                </a:moveTo>
                <a:cubicBezTo>
                  <a:pt x="34685" y="19970"/>
                  <a:pt x="21021" y="34685"/>
                  <a:pt x="21021" y="51501"/>
                </a:cubicBezTo>
                <a:cubicBezTo>
                  <a:pt x="21021" y="68318"/>
                  <a:pt x="35736" y="83033"/>
                  <a:pt x="52553" y="83033"/>
                </a:cubicBezTo>
                <a:cubicBezTo>
                  <a:pt x="69369" y="83033"/>
                  <a:pt x="84084" y="68318"/>
                  <a:pt x="84084" y="51501"/>
                </a:cubicBezTo>
                <a:cubicBezTo>
                  <a:pt x="84084" y="34685"/>
                  <a:pt x="70420" y="19970"/>
                  <a:pt x="52553" y="19970"/>
                </a:cubicBezTo>
                <a:close/>
              </a:path>
            </a:pathLst>
          </a:custGeom>
          <a:solidFill>
            <a:schemeClr val="bg1"/>
          </a:solidFill>
          <a:ln>
            <a:noFill/>
          </a:ln>
          <a:extLst>
            <a:ext uri="{91240B29-F687-4F45-9708-019B960494DF}">
              <a14:hiddenLine xmlns:a14="http://schemas.microsoft.com/office/drawing/2010/main" w="2611" cap="flat">
                <a:solidFill>
                  <a:srgbClr val="000000"/>
                </a:solidFill>
                <a:prstDash val="solid"/>
                <a:miter lim="800000"/>
                <a:headEnd/>
                <a:tailEnd/>
              </a14:hiddenLine>
            </a:ext>
          </a:extLst>
        </p:spPr>
        <p:txBody>
          <a:bodyPr/>
          <a:lstStyle/>
          <a:p>
            <a:endParaRPr lang="en-US"/>
          </a:p>
        </p:txBody>
      </p:sp>
      <p:sp>
        <p:nvSpPr>
          <p:cNvPr id="17434" name="Freeform 157">
            <a:extLst>
              <a:ext uri="{FF2B5EF4-FFF2-40B4-BE49-F238E27FC236}">
                <a16:creationId xmlns:a16="http://schemas.microsoft.com/office/drawing/2014/main" id="{F06DA9F8-9C8A-B61D-F232-083A60625D57}"/>
              </a:ext>
            </a:extLst>
          </p:cNvPr>
          <p:cNvSpPr>
            <a:spLocks/>
          </p:cNvSpPr>
          <p:nvPr/>
        </p:nvSpPr>
        <p:spPr bwMode="auto">
          <a:xfrm>
            <a:off x="9558338" y="5138738"/>
            <a:ext cx="104775" cy="104775"/>
          </a:xfrm>
          <a:custGeom>
            <a:avLst/>
            <a:gdLst>
              <a:gd name="T0" fmla="*/ 52553 w 105105"/>
              <a:gd name="T1" fmla="*/ 105105 h 105105"/>
              <a:gd name="T2" fmla="*/ 0 w 105105"/>
              <a:gd name="T3" fmla="*/ 52553 h 105105"/>
              <a:gd name="T4" fmla="*/ 52553 w 105105"/>
              <a:gd name="T5" fmla="*/ 0 h 105105"/>
              <a:gd name="T6" fmla="*/ 105105 w 105105"/>
              <a:gd name="T7" fmla="*/ 52553 h 105105"/>
              <a:gd name="T8" fmla="*/ 52553 w 105105"/>
              <a:gd name="T9" fmla="*/ 105105 h 105105"/>
              <a:gd name="T10" fmla="*/ 52553 w 105105"/>
              <a:gd name="T11" fmla="*/ 19970 h 105105"/>
              <a:gd name="T12" fmla="*/ 21021 w 105105"/>
              <a:gd name="T13" fmla="*/ 51502 h 105105"/>
              <a:gd name="T14" fmla="*/ 52553 w 105105"/>
              <a:gd name="T15" fmla="*/ 83033 h 105105"/>
              <a:gd name="T16" fmla="*/ 84084 w 105105"/>
              <a:gd name="T17" fmla="*/ 51502 h 105105"/>
              <a:gd name="T18" fmla="*/ 52553 w 105105"/>
              <a:gd name="T19" fmla="*/ 19970 h 10510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105" h="105105">
                <a:moveTo>
                  <a:pt x="52553" y="105105"/>
                </a:moveTo>
                <a:cubicBezTo>
                  <a:pt x="23123" y="105105"/>
                  <a:pt x="0" y="80931"/>
                  <a:pt x="0" y="52553"/>
                </a:cubicBezTo>
                <a:cubicBezTo>
                  <a:pt x="0" y="24174"/>
                  <a:pt x="24174" y="0"/>
                  <a:pt x="52553" y="0"/>
                </a:cubicBezTo>
                <a:cubicBezTo>
                  <a:pt x="80931" y="0"/>
                  <a:pt x="105105" y="24174"/>
                  <a:pt x="105105" y="52553"/>
                </a:cubicBezTo>
                <a:cubicBezTo>
                  <a:pt x="105105" y="80931"/>
                  <a:pt x="80931" y="105105"/>
                  <a:pt x="52553" y="105105"/>
                </a:cubicBezTo>
                <a:close/>
                <a:moveTo>
                  <a:pt x="52553" y="19970"/>
                </a:moveTo>
                <a:cubicBezTo>
                  <a:pt x="34685" y="19970"/>
                  <a:pt x="21021" y="34685"/>
                  <a:pt x="21021" y="51502"/>
                </a:cubicBezTo>
                <a:cubicBezTo>
                  <a:pt x="21021" y="68318"/>
                  <a:pt x="35736" y="83033"/>
                  <a:pt x="52553" y="83033"/>
                </a:cubicBezTo>
                <a:cubicBezTo>
                  <a:pt x="69369" y="83033"/>
                  <a:pt x="84084" y="68318"/>
                  <a:pt x="84084" y="51502"/>
                </a:cubicBezTo>
                <a:cubicBezTo>
                  <a:pt x="84084" y="34685"/>
                  <a:pt x="69369" y="19970"/>
                  <a:pt x="52553" y="19970"/>
                </a:cubicBezTo>
                <a:close/>
              </a:path>
            </a:pathLst>
          </a:custGeom>
          <a:solidFill>
            <a:schemeClr val="bg1"/>
          </a:solidFill>
          <a:ln>
            <a:noFill/>
          </a:ln>
          <a:extLst>
            <a:ext uri="{91240B29-F687-4F45-9708-019B960494DF}">
              <a14:hiddenLine xmlns:a14="http://schemas.microsoft.com/office/drawing/2010/main" w="2611" cap="flat">
                <a:solidFill>
                  <a:srgbClr val="000000"/>
                </a:solidFill>
                <a:prstDash val="solid"/>
                <a:miter lim="800000"/>
                <a:headEnd/>
                <a:tailEnd/>
              </a14:hiddenLine>
            </a:ext>
          </a:extLst>
        </p:spPr>
        <p:txBody>
          <a:bodyPr/>
          <a:lstStyle/>
          <a:p>
            <a:endParaRPr lang="en-US"/>
          </a:p>
        </p:txBody>
      </p:sp>
      <p:sp>
        <p:nvSpPr>
          <p:cNvPr id="17435" name="Freeform 158">
            <a:extLst>
              <a:ext uri="{FF2B5EF4-FFF2-40B4-BE49-F238E27FC236}">
                <a16:creationId xmlns:a16="http://schemas.microsoft.com/office/drawing/2014/main" id="{336DAFE7-6367-D7B2-F3A7-D2A40E48F623}"/>
              </a:ext>
            </a:extLst>
          </p:cNvPr>
          <p:cNvSpPr>
            <a:spLocks/>
          </p:cNvSpPr>
          <p:nvPr/>
        </p:nvSpPr>
        <p:spPr bwMode="auto">
          <a:xfrm>
            <a:off x="9423400" y="5511800"/>
            <a:ext cx="104775" cy="104775"/>
          </a:xfrm>
          <a:custGeom>
            <a:avLst/>
            <a:gdLst>
              <a:gd name="T0" fmla="*/ 52553 w 105105"/>
              <a:gd name="T1" fmla="*/ 105105 h 105105"/>
              <a:gd name="T2" fmla="*/ 0 w 105105"/>
              <a:gd name="T3" fmla="*/ 52553 h 105105"/>
              <a:gd name="T4" fmla="*/ 52553 w 105105"/>
              <a:gd name="T5" fmla="*/ 0 h 105105"/>
              <a:gd name="T6" fmla="*/ 105105 w 105105"/>
              <a:gd name="T7" fmla="*/ 52553 h 105105"/>
              <a:gd name="T8" fmla="*/ 52553 w 105105"/>
              <a:gd name="T9" fmla="*/ 105105 h 105105"/>
              <a:gd name="T10" fmla="*/ 52553 w 105105"/>
              <a:gd name="T11" fmla="*/ 21021 h 105105"/>
              <a:gd name="T12" fmla="*/ 21021 w 105105"/>
              <a:gd name="T13" fmla="*/ 52553 h 105105"/>
              <a:gd name="T14" fmla="*/ 52553 w 105105"/>
              <a:gd name="T15" fmla="*/ 84084 h 105105"/>
              <a:gd name="T16" fmla="*/ 84084 w 105105"/>
              <a:gd name="T17" fmla="*/ 52553 h 105105"/>
              <a:gd name="T18" fmla="*/ 52553 w 105105"/>
              <a:gd name="T19" fmla="*/ 21021 h 10510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105" h="105105">
                <a:moveTo>
                  <a:pt x="52553" y="105105"/>
                </a:moveTo>
                <a:cubicBezTo>
                  <a:pt x="23123" y="105105"/>
                  <a:pt x="0" y="80931"/>
                  <a:pt x="0" y="52553"/>
                </a:cubicBezTo>
                <a:cubicBezTo>
                  <a:pt x="0" y="24174"/>
                  <a:pt x="24174" y="0"/>
                  <a:pt x="52553" y="0"/>
                </a:cubicBezTo>
                <a:cubicBezTo>
                  <a:pt x="80931" y="0"/>
                  <a:pt x="105105" y="24174"/>
                  <a:pt x="105105" y="52553"/>
                </a:cubicBezTo>
                <a:cubicBezTo>
                  <a:pt x="105105" y="80931"/>
                  <a:pt x="80931" y="105105"/>
                  <a:pt x="52553" y="105105"/>
                </a:cubicBezTo>
                <a:close/>
                <a:moveTo>
                  <a:pt x="52553" y="21021"/>
                </a:moveTo>
                <a:cubicBezTo>
                  <a:pt x="34685" y="21021"/>
                  <a:pt x="21021" y="35736"/>
                  <a:pt x="21021" y="52553"/>
                </a:cubicBezTo>
                <a:cubicBezTo>
                  <a:pt x="21021" y="69369"/>
                  <a:pt x="35736" y="84084"/>
                  <a:pt x="52553" y="84084"/>
                </a:cubicBezTo>
                <a:cubicBezTo>
                  <a:pt x="69369" y="84084"/>
                  <a:pt x="84084" y="69369"/>
                  <a:pt x="84084" y="52553"/>
                </a:cubicBezTo>
                <a:cubicBezTo>
                  <a:pt x="84084" y="35736"/>
                  <a:pt x="69369" y="21021"/>
                  <a:pt x="52553" y="21021"/>
                </a:cubicBezTo>
                <a:close/>
              </a:path>
            </a:pathLst>
          </a:custGeom>
          <a:solidFill>
            <a:schemeClr val="bg1"/>
          </a:solidFill>
          <a:ln>
            <a:noFill/>
          </a:ln>
          <a:extLst>
            <a:ext uri="{91240B29-F687-4F45-9708-019B960494DF}">
              <a14:hiddenLine xmlns:a14="http://schemas.microsoft.com/office/drawing/2010/main" w="2611" cap="flat">
                <a:solidFill>
                  <a:srgbClr val="000000"/>
                </a:solidFill>
                <a:prstDash val="solid"/>
                <a:miter lim="800000"/>
                <a:headEnd/>
                <a:tailEnd/>
              </a14:hiddenLine>
            </a:ext>
          </a:extLst>
        </p:spPr>
        <p:txBody>
          <a:bodyPr/>
          <a:lstStyle/>
          <a:p>
            <a:endParaRPr lang="en-US"/>
          </a:p>
        </p:txBody>
      </p:sp>
      <p:sp>
        <p:nvSpPr>
          <p:cNvPr id="17436" name="Freeform 159">
            <a:extLst>
              <a:ext uri="{FF2B5EF4-FFF2-40B4-BE49-F238E27FC236}">
                <a16:creationId xmlns:a16="http://schemas.microsoft.com/office/drawing/2014/main" id="{BE020FB7-AF6B-4724-3A3A-93F6382D2FCB}"/>
              </a:ext>
            </a:extLst>
          </p:cNvPr>
          <p:cNvSpPr>
            <a:spLocks/>
          </p:cNvSpPr>
          <p:nvPr/>
        </p:nvSpPr>
        <p:spPr bwMode="auto">
          <a:xfrm>
            <a:off x="9213850" y="5376863"/>
            <a:ext cx="104775" cy="104775"/>
          </a:xfrm>
          <a:custGeom>
            <a:avLst/>
            <a:gdLst>
              <a:gd name="T0" fmla="*/ 52553 w 105105"/>
              <a:gd name="T1" fmla="*/ 105105 h 105105"/>
              <a:gd name="T2" fmla="*/ 0 w 105105"/>
              <a:gd name="T3" fmla="*/ 52553 h 105105"/>
              <a:gd name="T4" fmla="*/ 52553 w 105105"/>
              <a:gd name="T5" fmla="*/ 0 h 105105"/>
              <a:gd name="T6" fmla="*/ 105105 w 105105"/>
              <a:gd name="T7" fmla="*/ 52553 h 105105"/>
              <a:gd name="T8" fmla="*/ 52553 w 105105"/>
              <a:gd name="T9" fmla="*/ 105105 h 105105"/>
              <a:gd name="T10" fmla="*/ 52553 w 105105"/>
              <a:gd name="T11" fmla="*/ 19970 h 105105"/>
              <a:gd name="T12" fmla="*/ 21021 w 105105"/>
              <a:gd name="T13" fmla="*/ 51502 h 105105"/>
              <a:gd name="T14" fmla="*/ 52553 w 105105"/>
              <a:gd name="T15" fmla="*/ 83033 h 105105"/>
              <a:gd name="T16" fmla="*/ 84084 w 105105"/>
              <a:gd name="T17" fmla="*/ 51502 h 105105"/>
              <a:gd name="T18" fmla="*/ 52553 w 105105"/>
              <a:gd name="T19" fmla="*/ 19970 h 10510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5105" h="105105">
                <a:moveTo>
                  <a:pt x="52553" y="105105"/>
                </a:moveTo>
                <a:cubicBezTo>
                  <a:pt x="23123" y="105105"/>
                  <a:pt x="0" y="80931"/>
                  <a:pt x="0" y="52553"/>
                </a:cubicBezTo>
                <a:cubicBezTo>
                  <a:pt x="0" y="24174"/>
                  <a:pt x="24174" y="0"/>
                  <a:pt x="52553" y="0"/>
                </a:cubicBezTo>
                <a:cubicBezTo>
                  <a:pt x="80931" y="0"/>
                  <a:pt x="105105" y="24174"/>
                  <a:pt x="105105" y="52553"/>
                </a:cubicBezTo>
                <a:cubicBezTo>
                  <a:pt x="105105" y="80931"/>
                  <a:pt x="81982" y="105105"/>
                  <a:pt x="52553" y="105105"/>
                </a:cubicBezTo>
                <a:close/>
                <a:moveTo>
                  <a:pt x="52553" y="19970"/>
                </a:moveTo>
                <a:cubicBezTo>
                  <a:pt x="34685" y="19970"/>
                  <a:pt x="21021" y="34685"/>
                  <a:pt x="21021" y="51502"/>
                </a:cubicBezTo>
                <a:cubicBezTo>
                  <a:pt x="21021" y="69369"/>
                  <a:pt x="35736" y="83033"/>
                  <a:pt x="52553" y="83033"/>
                </a:cubicBezTo>
                <a:cubicBezTo>
                  <a:pt x="70420" y="83033"/>
                  <a:pt x="84084" y="68318"/>
                  <a:pt x="84084" y="51502"/>
                </a:cubicBezTo>
                <a:cubicBezTo>
                  <a:pt x="85135" y="34685"/>
                  <a:pt x="70420" y="19970"/>
                  <a:pt x="52553" y="19970"/>
                </a:cubicBezTo>
                <a:close/>
              </a:path>
            </a:pathLst>
          </a:custGeom>
          <a:solidFill>
            <a:schemeClr val="bg1"/>
          </a:solidFill>
          <a:ln>
            <a:noFill/>
          </a:ln>
          <a:extLst>
            <a:ext uri="{91240B29-F687-4F45-9708-019B960494DF}">
              <a14:hiddenLine xmlns:a14="http://schemas.microsoft.com/office/drawing/2010/main" w="2611" cap="flat">
                <a:solidFill>
                  <a:srgbClr val="000000"/>
                </a:solidFill>
                <a:prstDash val="solid"/>
                <a:miter lim="800000"/>
                <a:headEnd/>
                <a:tailEnd/>
              </a14:hiddenLine>
            </a:ext>
          </a:extLst>
        </p:spPr>
        <p:txBody>
          <a:bodyPr/>
          <a:lstStyle/>
          <a:p>
            <a:endParaRPr lang="en-US"/>
          </a:p>
        </p:txBody>
      </p:sp>
      <p:sp>
        <p:nvSpPr>
          <p:cNvPr id="17437" name="Freeform 160">
            <a:extLst>
              <a:ext uri="{FF2B5EF4-FFF2-40B4-BE49-F238E27FC236}">
                <a16:creationId xmlns:a16="http://schemas.microsoft.com/office/drawing/2014/main" id="{FD185B91-0FAC-B05E-5049-2C99D8A5BCC6}"/>
              </a:ext>
            </a:extLst>
          </p:cNvPr>
          <p:cNvSpPr>
            <a:spLocks/>
          </p:cNvSpPr>
          <p:nvPr/>
        </p:nvSpPr>
        <p:spPr bwMode="auto">
          <a:xfrm>
            <a:off x="9291638" y="5441950"/>
            <a:ext cx="122237" cy="85725"/>
          </a:xfrm>
          <a:custGeom>
            <a:avLst/>
            <a:gdLst>
              <a:gd name="T0" fmla="*/ 111083 w 122316"/>
              <a:gd name="T1" fmla="*/ 86909 h 86908"/>
              <a:gd name="T2" fmla="*/ 105828 w 122316"/>
              <a:gd name="T3" fmla="*/ 84807 h 86908"/>
              <a:gd name="T4" fmla="*/ 4927 w 122316"/>
              <a:gd name="T5" fmla="*/ 19641 h 86908"/>
              <a:gd name="T6" fmla="*/ 1774 w 122316"/>
              <a:gd name="T7" fmla="*/ 4927 h 86908"/>
              <a:gd name="T8" fmla="*/ 16488 w 122316"/>
              <a:gd name="T9" fmla="*/ 1774 h 86908"/>
              <a:gd name="T10" fmla="*/ 117389 w 122316"/>
              <a:gd name="T11" fmla="*/ 66939 h 86908"/>
              <a:gd name="T12" fmla="*/ 120542 w 122316"/>
              <a:gd name="T13" fmla="*/ 81654 h 86908"/>
              <a:gd name="T14" fmla="*/ 111083 w 122316"/>
              <a:gd name="T15" fmla="*/ 86909 h 8690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2316" h="86908">
                <a:moveTo>
                  <a:pt x="111083" y="86909"/>
                </a:moveTo>
                <a:cubicBezTo>
                  <a:pt x="108981" y="86909"/>
                  <a:pt x="106879" y="85858"/>
                  <a:pt x="105828" y="84807"/>
                </a:cubicBezTo>
                <a:lnTo>
                  <a:pt x="4927" y="19641"/>
                </a:lnTo>
                <a:cubicBezTo>
                  <a:pt x="-328" y="16488"/>
                  <a:pt x="-1380" y="10182"/>
                  <a:pt x="1774" y="4927"/>
                </a:cubicBezTo>
                <a:cubicBezTo>
                  <a:pt x="4927" y="-328"/>
                  <a:pt x="11233" y="-1380"/>
                  <a:pt x="16488" y="1774"/>
                </a:cubicBezTo>
                <a:lnTo>
                  <a:pt x="117389" y="66939"/>
                </a:lnTo>
                <a:cubicBezTo>
                  <a:pt x="122645" y="70092"/>
                  <a:pt x="123696" y="76398"/>
                  <a:pt x="120542" y="81654"/>
                </a:cubicBezTo>
                <a:cubicBezTo>
                  <a:pt x="117389" y="84807"/>
                  <a:pt x="114236" y="86909"/>
                  <a:pt x="111083" y="86909"/>
                </a:cubicBezTo>
                <a:close/>
              </a:path>
            </a:pathLst>
          </a:custGeom>
          <a:solidFill>
            <a:schemeClr val="bg1"/>
          </a:solidFill>
          <a:ln>
            <a:noFill/>
          </a:ln>
          <a:extLst>
            <a:ext uri="{91240B29-F687-4F45-9708-019B960494DF}">
              <a14:hiddenLine xmlns:a14="http://schemas.microsoft.com/office/drawing/2010/main" w="2611" cap="flat">
                <a:solidFill>
                  <a:srgbClr val="000000"/>
                </a:solidFill>
                <a:prstDash val="solid"/>
                <a:miter lim="800000"/>
                <a:headEnd/>
                <a:tailEnd/>
              </a14:hiddenLine>
            </a:ext>
          </a:extLst>
        </p:spPr>
        <p:txBody>
          <a:bodyPr/>
          <a:lstStyle/>
          <a:p>
            <a:endParaRPr lang="en-US"/>
          </a:p>
        </p:txBody>
      </p:sp>
      <p:sp>
        <p:nvSpPr>
          <p:cNvPr id="17438" name="Freeform 161">
            <a:extLst>
              <a:ext uri="{FF2B5EF4-FFF2-40B4-BE49-F238E27FC236}">
                <a16:creationId xmlns:a16="http://schemas.microsoft.com/office/drawing/2014/main" id="{BFF916B8-8BAD-0FCE-E50F-0976398E4230}"/>
              </a:ext>
            </a:extLst>
          </p:cNvPr>
          <p:cNvSpPr>
            <a:spLocks/>
          </p:cNvSpPr>
          <p:nvPr/>
        </p:nvSpPr>
        <p:spPr bwMode="auto">
          <a:xfrm>
            <a:off x="9480550" y="5253038"/>
            <a:ext cx="114300" cy="277812"/>
          </a:xfrm>
          <a:custGeom>
            <a:avLst/>
            <a:gdLst>
              <a:gd name="T0" fmla="*/ 10118 w 113779"/>
              <a:gd name="T1" fmla="*/ 278136 h 278135"/>
              <a:gd name="T2" fmla="*/ 6965 w 113779"/>
              <a:gd name="T3" fmla="*/ 277085 h 278135"/>
              <a:gd name="T4" fmla="*/ 658 w 113779"/>
              <a:gd name="T5" fmla="*/ 263421 h 278135"/>
              <a:gd name="T6" fmla="*/ 93151 w 113779"/>
              <a:gd name="T7" fmla="*/ 6965 h 278135"/>
              <a:gd name="T8" fmla="*/ 106815 w 113779"/>
              <a:gd name="T9" fmla="*/ 658 h 278135"/>
              <a:gd name="T10" fmla="*/ 113121 w 113779"/>
              <a:gd name="T11" fmla="*/ 14322 h 278135"/>
              <a:gd name="T12" fmla="*/ 20628 w 113779"/>
              <a:gd name="T13" fmla="*/ 270778 h 278135"/>
              <a:gd name="T14" fmla="*/ 10118 w 113779"/>
              <a:gd name="T15" fmla="*/ 278136 h 27813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3779" h="278135">
                <a:moveTo>
                  <a:pt x="10118" y="278136"/>
                </a:moveTo>
                <a:cubicBezTo>
                  <a:pt x="9067" y="278136"/>
                  <a:pt x="8016" y="278136"/>
                  <a:pt x="6965" y="277085"/>
                </a:cubicBezTo>
                <a:cubicBezTo>
                  <a:pt x="1709" y="274983"/>
                  <a:pt x="-1444" y="268676"/>
                  <a:pt x="658" y="263421"/>
                </a:cubicBezTo>
                <a:lnTo>
                  <a:pt x="93151" y="6965"/>
                </a:lnTo>
                <a:cubicBezTo>
                  <a:pt x="95253" y="1709"/>
                  <a:pt x="101559" y="-1444"/>
                  <a:pt x="106815" y="658"/>
                </a:cubicBezTo>
                <a:cubicBezTo>
                  <a:pt x="112070" y="2761"/>
                  <a:pt x="115223" y="9067"/>
                  <a:pt x="113121" y="14322"/>
                </a:cubicBezTo>
                <a:lnTo>
                  <a:pt x="20628" y="270778"/>
                </a:lnTo>
                <a:cubicBezTo>
                  <a:pt x="18526" y="276034"/>
                  <a:pt x="14322" y="278136"/>
                  <a:pt x="10118" y="278136"/>
                </a:cubicBezTo>
                <a:close/>
              </a:path>
            </a:pathLst>
          </a:custGeom>
          <a:solidFill>
            <a:schemeClr val="bg1"/>
          </a:solidFill>
          <a:ln>
            <a:noFill/>
          </a:ln>
          <a:extLst>
            <a:ext uri="{91240B29-F687-4F45-9708-019B960494DF}">
              <a14:hiddenLine xmlns:a14="http://schemas.microsoft.com/office/drawing/2010/main" w="2611" cap="flat">
                <a:solidFill>
                  <a:srgbClr val="000000"/>
                </a:solidFill>
                <a:prstDash val="solid"/>
                <a:miter lim="800000"/>
                <a:headEnd/>
                <a:tailEnd/>
              </a14:hiddenLine>
            </a:ext>
          </a:extLst>
        </p:spPr>
        <p:txBody>
          <a:bodyPr/>
          <a:lstStyle/>
          <a:p>
            <a:endParaRPr lang="en-US"/>
          </a:p>
        </p:txBody>
      </p:sp>
      <p:sp>
        <p:nvSpPr>
          <p:cNvPr id="17439" name="Freeform 162">
            <a:extLst>
              <a:ext uri="{FF2B5EF4-FFF2-40B4-BE49-F238E27FC236}">
                <a16:creationId xmlns:a16="http://schemas.microsoft.com/office/drawing/2014/main" id="{4CC5309C-497C-0B13-4F62-1D9409241A2A}"/>
              </a:ext>
            </a:extLst>
          </p:cNvPr>
          <p:cNvSpPr>
            <a:spLocks/>
          </p:cNvSpPr>
          <p:nvPr/>
        </p:nvSpPr>
        <p:spPr bwMode="auto">
          <a:xfrm>
            <a:off x="9640888" y="5187950"/>
            <a:ext cx="166687" cy="41275"/>
          </a:xfrm>
          <a:custGeom>
            <a:avLst/>
            <a:gdLst>
              <a:gd name="T0" fmla="*/ 156769 w 166390"/>
              <a:gd name="T1" fmla="*/ 42204 h 42204"/>
              <a:gd name="T2" fmla="*/ 154667 w 166390"/>
              <a:gd name="T3" fmla="*/ 42204 h 42204"/>
              <a:gd name="T4" fmla="*/ 8571 w 166390"/>
              <a:gd name="T5" fmla="*/ 20132 h 42204"/>
              <a:gd name="T6" fmla="*/ 162 w 166390"/>
              <a:gd name="T7" fmla="*/ 8571 h 42204"/>
              <a:gd name="T8" fmla="*/ 11724 w 166390"/>
              <a:gd name="T9" fmla="*/ 162 h 42204"/>
              <a:gd name="T10" fmla="*/ 157820 w 166390"/>
              <a:gd name="T11" fmla="*/ 22234 h 42204"/>
              <a:gd name="T12" fmla="*/ 166228 w 166390"/>
              <a:gd name="T13" fmla="*/ 33796 h 42204"/>
              <a:gd name="T14" fmla="*/ 156769 w 166390"/>
              <a:gd name="T15" fmla="*/ 42204 h 422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6390" h="42204">
                <a:moveTo>
                  <a:pt x="156769" y="42204"/>
                </a:moveTo>
                <a:cubicBezTo>
                  <a:pt x="155718" y="42204"/>
                  <a:pt x="155718" y="42204"/>
                  <a:pt x="154667" y="42204"/>
                </a:cubicBezTo>
                <a:lnTo>
                  <a:pt x="8571" y="20132"/>
                </a:lnTo>
                <a:cubicBezTo>
                  <a:pt x="3315" y="19081"/>
                  <a:pt x="-889" y="13826"/>
                  <a:pt x="162" y="8571"/>
                </a:cubicBezTo>
                <a:cubicBezTo>
                  <a:pt x="1213" y="3315"/>
                  <a:pt x="6468" y="-889"/>
                  <a:pt x="11724" y="162"/>
                </a:cubicBezTo>
                <a:lnTo>
                  <a:pt x="157820" y="22234"/>
                </a:lnTo>
                <a:cubicBezTo>
                  <a:pt x="163075" y="23285"/>
                  <a:pt x="167279" y="28541"/>
                  <a:pt x="166228" y="33796"/>
                </a:cubicBezTo>
                <a:cubicBezTo>
                  <a:pt x="167279" y="38000"/>
                  <a:pt x="162024" y="42204"/>
                  <a:pt x="156769" y="42204"/>
                </a:cubicBezTo>
                <a:close/>
              </a:path>
            </a:pathLst>
          </a:custGeom>
          <a:solidFill>
            <a:schemeClr val="bg1"/>
          </a:solidFill>
          <a:ln>
            <a:noFill/>
          </a:ln>
          <a:extLst>
            <a:ext uri="{91240B29-F687-4F45-9708-019B960494DF}">
              <a14:hiddenLine xmlns:a14="http://schemas.microsoft.com/office/drawing/2010/main" w="2611" cap="flat">
                <a:solidFill>
                  <a:srgbClr val="000000"/>
                </a:solidFill>
                <a:prstDash val="solid"/>
                <a:miter lim="800000"/>
                <a:headEnd/>
                <a:tailEnd/>
              </a14:hiddenLine>
            </a:ext>
          </a:extLst>
        </p:spPr>
        <p:txBody>
          <a:bodyPr/>
          <a:lstStyle/>
          <a:p>
            <a:endParaRPr lang="en-US"/>
          </a:p>
        </p:txBody>
      </p:sp>
      <p:sp>
        <p:nvSpPr>
          <p:cNvPr id="17440" name="Freeform 163">
            <a:extLst>
              <a:ext uri="{FF2B5EF4-FFF2-40B4-BE49-F238E27FC236}">
                <a16:creationId xmlns:a16="http://schemas.microsoft.com/office/drawing/2014/main" id="{1A0DF1AB-ACD7-AE2A-570C-87533550681E}"/>
              </a:ext>
            </a:extLst>
          </p:cNvPr>
          <p:cNvSpPr>
            <a:spLocks/>
          </p:cNvSpPr>
          <p:nvPr/>
        </p:nvSpPr>
        <p:spPr bwMode="auto">
          <a:xfrm>
            <a:off x="9898063" y="4972050"/>
            <a:ext cx="204787" cy="236538"/>
          </a:xfrm>
          <a:custGeom>
            <a:avLst/>
            <a:gdLst>
              <a:gd name="T0" fmla="*/ 10034 w 205052"/>
              <a:gd name="T1" fmla="*/ 237061 h 237060"/>
              <a:gd name="T2" fmla="*/ 3727 w 205052"/>
              <a:gd name="T3" fmla="*/ 234959 h 237060"/>
              <a:gd name="T4" fmla="*/ 2676 w 205052"/>
              <a:gd name="T5" fmla="*/ 220244 h 237060"/>
              <a:gd name="T6" fmla="*/ 186610 w 205052"/>
              <a:gd name="T7" fmla="*/ 3727 h 237060"/>
              <a:gd name="T8" fmla="*/ 201325 w 205052"/>
              <a:gd name="T9" fmla="*/ 2676 h 237060"/>
              <a:gd name="T10" fmla="*/ 202376 w 205052"/>
              <a:gd name="T11" fmla="*/ 17391 h 237060"/>
              <a:gd name="T12" fmla="*/ 18442 w 205052"/>
              <a:gd name="T13" fmla="*/ 233908 h 237060"/>
              <a:gd name="T14" fmla="*/ 10034 w 205052"/>
              <a:gd name="T15" fmla="*/ 237061 h 23706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5052" h="237060">
                <a:moveTo>
                  <a:pt x="10034" y="237061"/>
                </a:moveTo>
                <a:cubicBezTo>
                  <a:pt x="7932" y="237061"/>
                  <a:pt x="4778" y="236010"/>
                  <a:pt x="3727" y="234959"/>
                </a:cubicBezTo>
                <a:cubicBezTo>
                  <a:pt x="-477" y="230754"/>
                  <a:pt x="-1528" y="224448"/>
                  <a:pt x="2676" y="220244"/>
                </a:cubicBezTo>
                <a:lnTo>
                  <a:pt x="186610" y="3727"/>
                </a:lnTo>
                <a:cubicBezTo>
                  <a:pt x="190814" y="-477"/>
                  <a:pt x="197121" y="-1528"/>
                  <a:pt x="201325" y="2676"/>
                </a:cubicBezTo>
                <a:cubicBezTo>
                  <a:pt x="205529" y="6881"/>
                  <a:pt x="206580" y="13187"/>
                  <a:pt x="202376" y="17391"/>
                </a:cubicBezTo>
                <a:lnTo>
                  <a:pt x="18442" y="233908"/>
                </a:lnTo>
                <a:cubicBezTo>
                  <a:pt x="16340" y="236010"/>
                  <a:pt x="13187" y="237061"/>
                  <a:pt x="10034" y="237061"/>
                </a:cubicBezTo>
                <a:close/>
              </a:path>
            </a:pathLst>
          </a:custGeom>
          <a:solidFill>
            <a:schemeClr val="bg1"/>
          </a:solidFill>
          <a:ln>
            <a:noFill/>
          </a:ln>
          <a:extLst>
            <a:ext uri="{91240B29-F687-4F45-9708-019B960494DF}">
              <a14:hiddenLine xmlns:a14="http://schemas.microsoft.com/office/drawing/2010/main" w="2611" cap="flat">
                <a:solidFill>
                  <a:srgbClr val="000000"/>
                </a:solidFill>
                <a:prstDash val="solid"/>
                <a:miter lim="800000"/>
                <a:headEnd/>
                <a:tailEnd/>
              </a14:hiddenLine>
            </a:ext>
          </a:extLst>
        </p:spPr>
        <p:txBody>
          <a:bodyPr/>
          <a:lstStyle/>
          <a:p>
            <a:endParaRPr lang="en-US"/>
          </a:p>
        </p:txBody>
      </p:sp>
      <p:sp>
        <p:nvSpPr>
          <p:cNvPr id="17441" name="Freeform 164">
            <a:extLst>
              <a:ext uri="{FF2B5EF4-FFF2-40B4-BE49-F238E27FC236}">
                <a16:creationId xmlns:a16="http://schemas.microsoft.com/office/drawing/2014/main" id="{7AF8A626-45A9-CEC0-9246-D3B863159702}"/>
              </a:ext>
            </a:extLst>
          </p:cNvPr>
          <p:cNvSpPr>
            <a:spLocks/>
          </p:cNvSpPr>
          <p:nvPr/>
        </p:nvSpPr>
        <p:spPr bwMode="auto">
          <a:xfrm>
            <a:off x="10191750" y="4816475"/>
            <a:ext cx="211138" cy="88900"/>
          </a:xfrm>
          <a:custGeom>
            <a:avLst/>
            <a:gdLst>
              <a:gd name="T0" fmla="*/ 10118 w 210476"/>
              <a:gd name="T1" fmla="*/ 88947 h 88946"/>
              <a:gd name="T2" fmla="*/ 658 w 210476"/>
              <a:gd name="T3" fmla="*/ 81589 h 88946"/>
              <a:gd name="T4" fmla="*/ 6965 w 210476"/>
              <a:gd name="T5" fmla="*/ 67926 h 88946"/>
              <a:gd name="T6" fmla="*/ 196154 w 210476"/>
              <a:gd name="T7" fmla="*/ 658 h 88946"/>
              <a:gd name="T8" fmla="*/ 209818 w 210476"/>
              <a:gd name="T9" fmla="*/ 6965 h 88946"/>
              <a:gd name="T10" fmla="*/ 203511 w 210476"/>
              <a:gd name="T11" fmla="*/ 20628 h 88946"/>
              <a:gd name="T12" fmla="*/ 14322 w 210476"/>
              <a:gd name="T13" fmla="*/ 87896 h 88946"/>
              <a:gd name="T14" fmla="*/ 10118 w 210476"/>
              <a:gd name="T15" fmla="*/ 88947 h 88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0476" h="88946">
                <a:moveTo>
                  <a:pt x="10118" y="88947"/>
                </a:moveTo>
                <a:cubicBezTo>
                  <a:pt x="5914" y="88947"/>
                  <a:pt x="1709" y="85794"/>
                  <a:pt x="658" y="81589"/>
                </a:cubicBezTo>
                <a:cubicBezTo>
                  <a:pt x="-1444" y="76334"/>
                  <a:pt x="1709" y="70028"/>
                  <a:pt x="6965" y="67926"/>
                </a:cubicBezTo>
                <a:lnTo>
                  <a:pt x="196154" y="658"/>
                </a:lnTo>
                <a:cubicBezTo>
                  <a:pt x="201409" y="-1444"/>
                  <a:pt x="207716" y="1709"/>
                  <a:pt x="209818" y="6965"/>
                </a:cubicBezTo>
                <a:cubicBezTo>
                  <a:pt x="211920" y="12220"/>
                  <a:pt x="208767" y="18526"/>
                  <a:pt x="203511" y="20628"/>
                </a:cubicBezTo>
                <a:lnTo>
                  <a:pt x="14322" y="87896"/>
                </a:lnTo>
                <a:cubicBezTo>
                  <a:pt x="12220" y="88947"/>
                  <a:pt x="11169" y="88947"/>
                  <a:pt x="10118" y="88947"/>
                </a:cubicBezTo>
                <a:close/>
              </a:path>
            </a:pathLst>
          </a:custGeom>
          <a:solidFill>
            <a:schemeClr val="bg1"/>
          </a:solidFill>
          <a:ln>
            <a:noFill/>
          </a:ln>
          <a:extLst>
            <a:ext uri="{91240B29-F687-4F45-9708-019B960494DF}">
              <a14:hiddenLine xmlns:a14="http://schemas.microsoft.com/office/drawing/2010/main" w="2611" cap="flat">
                <a:solidFill>
                  <a:srgbClr val="000000"/>
                </a:solidFill>
                <a:prstDash val="solid"/>
                <a:miter lim="800000"/>
                <a:headEnd/>
                <a:tailEnd/>
              </a14:hiddenLine>
            </a:ext>
          </a:extLst>
        </p:spPr>
        <p:txBody>
          <a:bodyPr/>
          <a:lstStyle/>
          <a:p>
            <a:endParaRPr lang="en-US"/>
          </a:p>
        </p:txBody>
      </p:sp>
      <p:pic>
        <p:nvPicPr>
          <p:cNvPr id="167" name="Graphic 166">
            <a:extLst>
              <a:ext uri="{FF2B5EF4-FFF2-40B4-BE49-F238E27FC236}">
                <a16:creationId xmlns:a16="http://schemas.microsoft.com/office/drawing/2014/main" id="{69084595-133B-45F4-31FB-19C732F05A05}"/>
              </a:ext>
            </a:extLst>
          </p:cNvPr>
          <p:cNvPicPr>
            <a:picLocks noChangeAspect="1"/>
          </p:cNvPicPr>
          <p:nvPr/>
        </p:nvPicPr>
        <p:blipFill>
          <a:blip r:embed="rId6"/>
          <a:stretch>
            <a:fillRect/>
          </a:stretch>
        </p:blipFill>
        <p:spPr>
          <a:xfrm>
            <a:off x="5500688" y="4713288"/>
            <a:ext cx="1058862" cy="1060450"/>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1317"/>
        </a:solidFill>
        <a:effectLst/>
      </p:bgPr>
    </p:bg>
    <p:spTree>
      <p:nvGrpSpPr>
        <p:cNvPr id="1" name=""/>
        <p:cNvGrpSpPr/>
        <p:nvPr/>
      </p:nvGrpSpPr>
      <p:grpSpPr>
        <a:xfrm>
          <a:off x="0" y="0"/>
          <a:ext cx="0" cy="0"/>
          <a:chOff x="0" y="0"/>
          <a:chExt cx="0" cy="0"/>
        </a:xfrm>
      </p:grpSpPr>
      <p:pic>
        <p:nvPicPr>
          <p:cNvPr id="19458" name="Picture 9" descr="A green grid with red and blue dots&#10;&#10;AI-generated content may be incorrect.">
            <a:extLst>
              <a:ext uri="{FF2B5EF4-FFF2-40B4-BE49-F238E27FC236}">
                <a16:creationId xmlns:a16="http://schemas.microsoft.com/office/drawing/2014/main" id="{6E1AFFCC-2B72-5E5E-2099-CEB5890BD3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 y="0"/>
            <a:ext cx="12185650" cy="686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9" name="TextBox 10">
            <a:extLst>
              <a:ext uri="{FF2B5EF4-FFF2-40B4-BE49-F238E27FC236}">
                <a16:creationId xmlns:a16="http://schemas.microsoft.com/office/drawing/2014/main" id="{5A64D3D2-8043-BF31-E312-8C0A6DFB7D11}"/>
              </a:ext>
            </a:extLst>
          </p:cNvPr>
          <p:cNvSpPr txBox="1">
            <a:spLocks noChangeArrowheads="1"/>
          </p:cNvSpPr>
          <p:nvPr/>
        </p:nvSpPr>
        <p:spPr bwMode="auto">
          <a:xfrm>
            <a:off x="0" y="2936875"/>
            <a:ext cx="12179300" cy="923925"/>
          </a:xfrm>
          <a:prstGeom prst="rect">
            <a:avLst/>
          </a:prstGeom>
          <a:solidFill>
            <a:srgbClr val="1D2024"/>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a:solidFill>
                  <a:srgbClr val="DEE0E4"/>
                </a:solidFill>
                <a:latin typeface="Quattrocento Sans" panose="020B0502050000020003" pitchFamily="34" charset="0"/>
              </a:rPr>
              <a:t>Thank you!</a:t>
            </a:r>
          </a:p>
          <a:p>
            <a:pPr algn="ctr" eaLnBrk="1" hangingPunct="1"/>
            <a:r>
              <a:rPr lang="en-US" altLang="en-US">
                <a:solidFill>
                  <a:srgbClr val="D8A03D"/>
                </a:solidFill>
                <a:latin typeface="Quattrocento Sans" panose="020B0502050000020003" pitchFamily="34" charset="0"/>
              </a:rPr>
              <a:t>Shrine Bowl x Sūmer Sports 2026 Analytics Competition</a:t>
            </a:r>
          </a:p>
          <a:p>
            <a:pPr algn="ctr" eaLnBrk="1" hangingPunct="1"/>
            <a:r>
              <a:rPr lang="en-US" altLang="en-US">
                <a:solidFill>
                  <a:srgbClr val="DEE0E4"/>
                </a:solidFill>
                <a:latin typeface="Quattrocento Sans" panose="020B0502050000020003" pitchFamily="34" charset="0"/>
              </a:rPr>
              <a:t>Submission by Dan Falkenheim (@thefalkon)</a:t>
            </a:r>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1416</TotalTime>
  <Words>2599</Words>
  <Application>Microsoft Macintosh PowerPoint</Application>
  <PresentationFormat>Widescreen</PresentationFormat>
  <Paragraphs>340</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Quattrocento Sans</vt:lpstr>
      <vt:lpstr>Calibri Light</vt:lpstr>
      <vt:lpstr>Arial</vt:lpstr>
      <vt:lpstr>Liter</vt:lpstr>
      <vt:lpstr>Calibri</vt:lpstr>
      <vt:lpstr>Aptos</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Sumer x Shrine Analytics Competition</dc:title>
  <dc:subject>Sumer x Shrine Analytics Competition</dc:subject>
  <dc:creator>Kimi</dc:creator>
  <cp:lastModifiedBy>Falkenheim, Daniel J</cp:lastModifiedBy>
  <cp:revision>11</cp:revision>
  <dcterms:created xsi:type="dcterms:W3CDTF">2026-01-11T01:34:34Z</dcterms:created>
  <dcterms:modified xsi:type="dcterms:W3CDTF">2026-01-12T01:28:19Z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{"Label":"Sumer x Shrine Analytics Competition","ContentProducer":"001191110108MACG2KBH8F10000","ProduceID":"19baa8bf-0192-866b-8000-0000f9dd9b67","ReservedCode1":"","ContentPropagator":"001191110108MACG2KBH8F20000","PropagateID":"19baa8bf-0192-866b-8000-0000f9dd9b67","ReservedCode2":""}</vt:lpwstr>
  </property>
</Properties>
</file>