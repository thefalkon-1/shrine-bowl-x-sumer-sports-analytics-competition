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66" r:id="rId2"/>
    <p:sldId id="267" r:id="rId3"/>
    <p:sldId id="258" r:id="rId4"/>
    <p:sldId id="268" r:id="rId5"/>
    <p:sldId id="272" r:id="rId6"/>
    <p:sldId id="261" r:id="rId7"/>
    <p:sldId id="269" r:id="rId8"/>
    <p:sldId id="262" r:id="rId9"/>
    <p:sldId id="264" r:id="rId10"/>
    <p:sldId id="271" r:id="rId11"/>
  </p:sldIdLst>
  <p:sldSz cx="12192000" cy="6858000"/>
  <p:notesSz cx="6858000" cy="12192000"/>
  <p:embeddedFontLst>
    <p:embeddedFont>
      <p:font typeface="Liter" panose="02000503030000020004" pitchFamily="2" charset="0"/>
      <p:regular r:id=""/>
    </p:embeddedFont>
    <p:embeddedFont>
      <p:font typeface="Quattrocento Sans" panose="020B0502050000020003" pitchFamily="34" charset="0"/>
      <p:regular r:id="rId13"/>
      <p:bold r:id="rId14"/>
      <p:italic r:id="rId15"/>
      <p:boldItalic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8A03D"/>
    <a:srgbClr val="DEE0E4"/>
    <a:srgbClr val="1D2024"/>
    <a:srgbClr val="0096FF"/>
    <a:srgbClr val="4A7C98"/>
    <a:srgbClr val="111317"/>
    <a:srgbClr val="E7E7E7"/>
    <a:srgbClr val="F75930"/>
    <a:srgbClr val="FF2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8"/>
    <p:restoredTop sz="94610"/>
  </p:normalViewPr>
  <p:slideViewPr>
    <p:cSldViewPr snapToGrid="0" snapToObjects="1">
      <p:cViewPr>
        <p:scale>
          <a:sx n="110" d="100"/>
          <a:sy n="110" d="100"/>
        </p:scale>
        <p:origin x="656" y="3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53820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C554D-A361-035F-EA43-3F580658FE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5C73E0-E26C-3EFF-7074-A027C81C8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BF76B-7D49-08F9-FF87-14A2B4D4F1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E7A875-D3BC-7C5B-AF10-774713F73805}"/>
              </a:ext>
            </a:extLst>
          </p:cNvPr>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3511596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DCC90-EAC4-994A-B4C0-36956E9BBC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8FE6A-267E-7CFF-376E-3F8C7CB82D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C0498E-56AF-ED0B-FC0B-7BBA25975D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1B1DD9-360A-0F8E-3C27-F70655B9D9E6}"/>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719849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DF334-7F46-5EB3-C525-6907035F98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A7D66-B009-EF99-B5CD-09BBC6500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2F3E8-9205-B84D-0C32-4AAA37FDE0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16ECB6-DA09-CD74-D0F9-3628052E0354}"/>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9390023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9F4F2-8D61-AE15-4C6B-0E42BCDC8F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8B9EE5-CA86-8C56-60AF-CB688E5681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C328B0-1E9B-17E4-9EB9-24F2DEB009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B3ED28-25D8-591F-C82B-2405CE00A581}"/>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6072111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8594F-9ABE-4425-20E8-245F4BC730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22575-650A-EE87-11FB-2D2EA7494D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74DD95-7EC7-AF55-2495-42BC8EC6B4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1C8BDC-426B-8398-6315-1B096F00E50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954033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428AE-87D4-2647-F948-68C4FACDED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7FC628-0EFF-BC84-9D7D-08D2EF23E4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91BBCA-C600-4982-80D9-39E4287F60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86A006-3685-BD40-E6D6-9F0A7FB9C7FE}"/>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9729198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4.svg"/></Relationships>
</file>

<file path=ppt/slides/_rels/slide4.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8.svg"/><Relationship Id="rId5" Type="http://schemas.openxmlformats.org/officeDocument/2006/relationships/image" Target="../media/image17.png"/><Relationship Id="rId10" Type="http://schemas.openxmlformats.org/officeDocument/2006/relationships/image" Target="../media/image22.svg"/><Relationship Id="rId4" Type="http://schemas.openxmlformats.org/officeDocument/2006/relationships/image" Target="../media/image16.svg"/><Relationship Id="rId9" Type="http://schemas.openxmlformats.org/officeDocument/2006/relationships/image" Target="../media/image21.png"/></Relationships>
</file>

<file path=ppt/slides/_rels/slide5.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19.png"/><Relationship Id="rId7" Type="http://schemas.openxmlformats.org/officeDocument/2006/relationships/image" Target="../media/image25.png"/><Relationship Id="rId12" Type="http://schemas.openxmlformats.org/officeDocument/2006/relationships/image" Target="../media/image30.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4.svg"/><Relationship Id="rId11" Type="http://schemas.openxmlformats.org/officeDocument/2006/relationships/image" Target="../media/image29.png"/><Relationship Id="rId5" Type="http://schemas.openxmlformats.org/officeDocument/2006/relationships/image" Target="../media/image23.png"/><Relationship Id="rId10" Type="http://schemas.openxmlformats.org/officeDocument/2006/relationships/image" Target="../media/image28.svg"/><Relationship Id="rId4" Type="http://schemas.openxmlformats.org/officeDocument/2006/relationships/image" Target="../media/image20.svg"/><Relationship Id="rId9" Type="http://schemas.openxmlformats.org/officeDocument/2006/relationships/image" Target="../media/image27.png"/></Relationships>
</file>

<file path=ppt/slides/_rels/slide6.xml.rels><?xml version="1.0" encoding="UTF-8" standalone="yes"?>
<Relationships xmlns="http://schemas.openxmlformats.org/package/2006/relationships"><Relationship Id="rId3" Type="http://schemas.openxmlformats.org/officeDocument/2006/relationships/hyperlink" Target="https://sumersports.com/players/quarterback/?plays=100" TargetMode="External"/><Relationship Id="rId7" Type="http://schemas.openxmlformats.org/officeDocument/2006/relationships/image" Target="../media/image32.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hyperlink" Target="https://www.espn.com/nfl/story/_/id/46138675/2025-nfl-win-rates-top-teams-players-rankings-pass-run-block" TargetMode="External"/><Relationship Id="rId4" Type="http://schemas.openxmlformats.org/officeDocument/2006/relationships/hyperlink" Target="https://www.nfl.com/news/next-gen-stats-introduction-to-pressure-probability"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sumersports.com/players/quarterback/?plays=100" TargetMode="External"/><Relationship Id="rId7" Type="http://schemas.openxmlformats.org/officeDocument/2006/relationships/image" Target="../media/image3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hyperlink" Target="https://www.espn.com/nfl/story/_/id/46138675/2025-nfl-win-rates-top-teams-players-rankings-pass-run-block" TargetMode="External"/><Relationship Id="rId4" Type="http://schemas.openxmlformats.org/officeDocument/2006/relationships/hyperlink" Target="https://www.nfl.com/news/next-gen-stats-introduction-to-pressure-probability"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www.windycitygridiron.com/2024/1/27/24052964/shrine-bowl-standouts-christian-mahogany-malik-washington-tahj-washington" TargetMode="External"/><Relationship Id="rId13" Type="http://schemas.openxmlformats.org/officeDocument/2006/relationships/image" Target="../media/image37.gif"/><Relationship Id="rId3" Type="http://schemas.openxmlformats.org/officeDocument/2006/relationships/image" Target="../media/image31.png"/><Relationship Id="rId7" Type="http://schemas.openxmlformats.org/officeDocument/2006/relationships/hyperlink" Target="https://www.giants.com/news/practice-report-notes-from-east-west-shrine-bowl-nfl-draft-2024" TargetMode="External"/><Relationship Id="rId12" Type="http://schemas.openxmlformats.org/officeDocument/2006/relationships/image" Target="../media/image36.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4.svg"/><Relationship Id="rId11" Type="http://schemas.openxmlformats.org/officeDocument/2006/relationships/image" Target="../media/image35.png"/><Relationship Id="rId5" Type="http://schemas.openxmlformats.org/officeDocument/2006/relationships/image" Target="../media/image33.png"/><Relationship Id="rId10" Type="http://schemas.openxmlformats.org/officeDocument/2006/relationships/hyperlink" Target="https://www.allaccessfootball.com/p/on-location-2024-east-west-shrine" TargetMode="External"/><Relationship Id="rId4" Type="http://schemas.openxmlformats.org/officeDocument/2006/relationships/image" Target="../media/image32.svg"/><Relationship Id="rId9" Type="http://schemas.openxmlformats.org/officeDocument/2006/relationships/hyperlink" Target="https://steelersdepot.com/2024/01/2024-east-west-shrine-bowl-practice-notes-day-1/" TargetMode="External"/><Relationship Id="rId14" Type="http://schemas.openxmlformats.org/officeDocument/2006/relationships/image" Target="../media/image38.gif"/></Relationships>
</file>

<file path=ppt/slides/_rels/slide9.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19.png"/><Relationship Id="rId7" Type="http://schemas.openxmlformats.org/officeDocument/2006/relationships/image" Target="../media/image4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20.svg"/><Relationship Id="rId9" Type="http://schemas.openxmlformats.org/officeDocument/2006/relationships/image" Target="../media/image43.svg"/></Relationships>
</file>

<file path=ppt/slides/_rels/slide1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1317"/>
        </a:solidFill>
        <a:effectLst/>
      </p:bgPr>
    </p:bg>
    <p:spTree>
      <p:nvGrpSpPr>
        <p:cNvPr id="1" name="">
          <a:extLst>
            <a:ext uri="{FF2B5EF4-FFF2-40B4-BE49-F238E27FC236}">
              <a16:creationId xmlns:a16="http://schemas.microsoft.com/office/drawing/2014/main" id="{1D4BD7DC-A36A-1333-AA43-A061E8BDE473}"/>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D22BCA59-22D4-8025-5D48-ABF4988E07C2}"/>
              </a:ext>
            </a:extLst>
          </p:cNvPr>
          <p:cNvSpPr/>
          <p:nvPr/>
        </p:nvSpPr>
        <p:spPr>
          <a:xfrm>
            <a:off x="0" y="138896"/>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flip="none" rotWithShape="1">
            <a:gsLst>
              <a:gs pos="0">
                <a:srgbClr val="111317">
                  <a:alpha val="95000"/>
                </a:srgbClr>
              </a:gs>
              <a:gs pos="50000">
                <a:srgbClr val="111317">
                  <a:alpha val="85000"/>
                </a:srgbClr>
              </a:gs>
              <a:gs pos="100000">
                <a:srgbClr val="3A506B">
                  <a:alpha val="60000"/>
                </a:srgbClr>
              </a:gs>
            </a:gsLst>
            <a:lin ang="2700000" scaled="1"/>
          </a:gradFill>
          <a:ln>
            <a:solidFill>
              <a:schemeClr val="accent1"/>
            </a:solidFill>
          </a:ln>
        </p:spPr>
        <p:txBody>
          <a:bodyPr/>
          <a:lstStyle/>
          <a:p>
            <a:endParaRPr lang="en-US"/>
          </a:p>
        </p:txBody>
      </p:sp>
      <p:sp>
        <p:nvSpPr>
          <p:cNvPr id="4" name="Shape 1">
            <a:extLst>
              <a:ext uri="{FF2B5EF4-FFF2-40B4-BE49-F238E27FC236}">
                <a16:creationId xmlns:a16="http://schemas.microsoft.com/office/drawing/2014/main" id="{26B16D80-BAC7-6871-2135-AE9A3A51595F}"/>
              </a:ext>
            </a:extLst>
          </p:cNvPr>
          <p:cNvSpPr/>
          <p:nvPr/>
        </p:nvSpPr>
        <p:spPr>
          <a:xfrm>
            <a:off x="381000" y="47625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8A03D"/>
          </a:solidFill>
          <a:ln/>
        </p:spPr>
        <p:txBody>
          <a:bodyPr/>
          <a:lstStyle/>
          <a:p>
            <a:endParaRPr lang="en-US"/>
          </a:p>
        </p:txBody>
      </p:sp>
      <p:sp>
        <p:nvSpPr>
          <p:cNvPr id="5" name="Text 2">
            <a:extLst>
              <a:ext uri="{FF2B5EF4-FFF2-40B4-BE49-F238E27FC236}">
                <a16:creationId xmlns:a16="http://schemas.microsoft.com/office/drawing/2014/main" id="{4603F451-41AA-3A36-ACBC-FAFBCE8F1D76}"/>
              </a:ext>
            </a:extLst>
          </p:cNvPr>
          <p:cNvSpPr/>
          <p:nvPr/>
        </p:nvSpPr>
        <p:spPr>
          <a:xfrm>
            <a:off x="1257300" y="381000"/>
            <a:ext cx="8001000" cy="190500"/>
          </a:xfrm>
          <a:prstGeom prst="rect">
            <a:avLst/>
          </a:prstGeom>
          <a:noFill/>
          <a:ln/>
        </p:spPr>
        <p:txBody>
          <a:bodyPr wrap="square" lIns="0" tIns="0" rIns="0" bIns="0" rtlCol="0" anchor="ctr"/>
          <a:lstStyle/>
          <a:p>
            <a:pPr>
              <a:lnSpc>
                <a:spcPct val="130000"/>
              </a:lnSpc>
            </a:pPr>
            <a:r>
              <a:rPr lang="en-US" sz="1200" b="1" kern="0" spc="360" dirty="0">
                <a:solidFill>
                  <a:srgbClr val="D8A03D"/>
                </a:solidFill>
                <a:latin typeface="Quattrocento Sans" pitchFamily="34" charset="0"/>
              </a:rPr>
              <a:t>Shrine Bowl x </a:t>
            </a:r>
            <a:r>
              <a:rPr lang="en-US" sz="1200" b="1" kern="0" spc="360" dirty="0" err="1">
                <a:solidFill>
                  <a:srgbClr val="D8A03D"/>
                </a:solidFill>
                <a:latin typeface="Quattrocento Sans" pitchFamily="34" charset="0"/>
              </a:rPr>
              <a:t>S</a:t>
            </a:r>
            <a:r>
              <a:rPr lang="en-US" sz="1200" b="1" dirty="0" err="1">
                <a:solidFill>
                  <a:srgbClr val="D8A03D"/>
                </a:solidFill>
              </a:rPr>
              <a:t>ū</a:t>
            </a:r>
            <a:r>
              <a:rPr lang="en-US" sz="1200" b="1" dirty="0">
                <a:solidFill>
                  <a:srgbClr val="D8A03D"/>
                </a:solidFill>
              </a:rPr>
              <a:t> </a:t>
            </a:r>
            <a:r>
              <a:rPr lang="en-US" sz="1200" b="1" kern="0" spc="360" dirty="0" err="1">
                <a:solidFill>
                  <a:srgbClr val="D8A03D"/>
                </a:solidFill>
                <a:latin typeface="Quattrocento Sans" pitchFamily="34" charset="0"/>
              </a:rPr>
              <a:t>mer</a:t>
            </a:r>
            <a:r>
              <a:rPr lang="en-US" sz="1200" b="1" kern="0" spc="360" dirty="0">
                <a:solidFill>
                  <a:srgbClr val="D8A03D"/>
                </a:solidFill>
                <a:latin typeface="Quattrocento Sans" pitchFamily="34" charset="0"/>
              </a:rPr>
              <a:t> Sports 2026 Analytics Competition</a:t>
            </a:r>
            <a:endParaRPr lang="en-US" sz="1600" dirty="0"/>
          </a:p>
        </p:txBody>
      </p:sp>
      <p:sp>
        <p:nvSpPr>
          <p:cNvPr id="6" name="Text 3">
            <a:extLst>
              <a:ext uri="{FF2B5EF4-FFF2-40B4-BE49-F238E27FC236}">
                <a16:creationId xmlns:a16="http://schemas.microsoft.com/office/drawing/2014/main" id="{2E7DC4CA-E816-C90C-92DD-EEB76D930212}"/>
              </a:ext>
            </a:extLst>
          </p:cNvPr>
          <p:cNvSpPr/>
          <p:nvPr/>
        </p:nvSpPr>
        <p:spPr>
          <a:xfrm>
            <a:off x="-1" y="1262063"/>
            <a:ext cx="12191999" cy="1714500"/>
          </a:xfrm>
          <a:prstGeom prst="rect">
            <a:avLst/>
          </a:prstGeom>
          <a:noFill/>
          <a:ln/>
        </p:spPr>
        <p:txBody>
          <a:bodyPr wrap="square" lIns="0" tIns="0" rIns="0" bIns="0" rtlCol="0" anchor="ctr"/>
          <a:lstStyle/>
          <a:p>
            <a:pPr algn="ctr">
              <a:lnSpc>
                <a:spcPct val="100000"/>
              </a:lnSpc>
            </a:pPr>
            <a:r>
              <a:rPr lang="en-US" sz="4800" b="1" dirty="0">
                <a:solidFill>
                  <a:srgbClr val="E7E7E7"/>
                </a:solidFill>
                <a:latin typeface="Liter" pitchFamily="34" charset="0"/>
                <a:ea typeface="Liter" pitchFamily="34" charset="-122"/>
                <a:cs typeface="Liter" pitchFamily="34" charset="-120"/>
              </a:rPr>
              <a:t>OL-DL Drill Evaluation</a:t>
            </a:r>
            <a:r>
              <a:rPr lang="en-US" sz="4800" dirty="0">
                <a:solidFill>
                  <a:srgbClr val="E7E7E7"/>
                </a:solidFill>
              </a:rPr>
              <a:t> </a:t>
            </a:r>
          </a:p>
          <a:p>
            <a:pPr algn="ctr">
              <a:lnSpc>
                <a:spcPct val="100000"/>
              </a:lnSpc>
            </a:pPr>
            <a:r>
              <a:rPr lang="en-US" sz="4800" b="1" dirty="0">
                <a:solidFill>
                  <a:srgbClr val="E7E7E7"/>
                </a:solidFill>
                <a:latin typeface="Liter" pitchFamily="34" charset="0"/>
                <a:ea typeface="Liter" pitchFamily="34" charset="-122"/>
                <a:cs typeface="Liter" pitchFamily="34" charset="-120"/>
              </a:rPr>
              <a:t>from Tracking Data</a:t>
            </a:r>
            <a:endParaRPr lang="en-US" sz="4800" dirty="0">
              <a:solidFill>
                <a:srgbClr val="E7E7E7"/>
              </a:solidFill>
            </a:endParaRPr>
          </a:p>
        </p:txBody>
      </p:sp>
      <p:sp>
        <p:nvSpPr>
          <p:cNvPr id="7" name="Text 4">
            <a:extLst>
              <a:ext uri="{FF2B5EF4-FFF2-40B4-BE49-F238E27FC236}">
                <a16:creationId xmlns:a16="http://schemas.microsoft.com/office/drawing/2014/main" id="{90F61606-7EB2-62C4-D734-265BF323D8D6}"/>
              </a:ext>
            </a:extLst>
          </p:cNvPr>
          <p:cNvSpPr/>
          <p:nvPr/>
        </p:nvSpPr>
        <p:spPr>
          <a:xfrm>
            <a:off x="0" y="4625048"/>
            <a:ext cx="12192000" cy="371475"/>
          </a:xfrm>
          <a:prstGeom prst="rect">
            <a:avLst/>
          </a:prstGeom>
          <a:noFill/>
          <a:ln/>
        </p:spPr>
        <p:txBody>
          <a:bodyPr wrap="square" lIns="0" tIns="0" rIns="0" bIns="0" rtlCol="0" anchor="ctr"/>
          <a:lstStyle/>
          <a:p>
            <a:pPr algn="ctr">
              <a:lnSpc>
                <a:spcPct val="140000"/>
              </a:lnSpc>
            </a:pPr>
            <a:r>
              <a:rPr lang="en-US" sz="1800" dirty="0">
                <a:solidFill>
                  <a:srgbClr val="E1E3E6">
                    <a:alpha val="80000"/>
                  </a:srgbClr>
                </a:solidFill>
                <a:latin typeface="Quattrocento Sans" pitchFamily="34" charset="0"/>
                <a:ea typeface="Quattrocento Sans" pitchFamily="34" charset="-122"/>
                <a:cs typeface="Quattrocento Sans" pitchFamily="34" charset="-120"/>
              </a:rPr>
              <a:t>Automated Data Pipeline to Advanced Metrics for Interior Linemen</a:t>
            </a:r>
            <a:endParaRPr lang="en-US" sz="1600" dirty="0"/>
          </a:p>
        </p:txBody>
      </p:sp>
      <p:sp>
        <p:nvSpPr>
          <p:cNvPr id="15" name="Text 12">
            <a:extLst>
              <a:ext uri="{FF2B5EF4-FFF2-40B4-BE49-F238E27FC236}">
                <a16:creationId xmlns:a16="http://schemas.microsoft.com/office/drawing/2014/main" id="{232FD2DD-8487-1E3D-1DE5-DAABB20848C3}"/>
              </a:ext>
            </a:extLst>
          </p:cNvPr>
          <p:cNvSpPr/>
          <p:nvPr/>
        </p:nvSpPr>
        <p:spPr>
          <a:xfrm>
            <a:off x="7614285" y="6248400"/>
            <a:ext cx="4276725" cy="228600"/>
          </a:xfrm>
          <a:prstGeom prst="rect">
            <a:avLst/>
          </a:prstGeom>
          <a:noFill/>
          <a:ln/>
        </p:spPr>
        <p:txBody>
          <a:bodyPr wrap="square" lIns="0" tIns="0" rIns="0" bIns="0" rtlCol="0" anchor="ctr"/>
          <a:lstStyle/>
          <a:p>
            <a:pPr algn="r">
              <a:lnSpc>
                <a:spcPct val="130000"/>
              </a:lnSpc>
            </a:pPr>
            <a:r>
              <a:rPr lang="en-US" sz="1200" dirty="0">
                <a:solidFill>
                  <a:srgbClr val="E1E3E6">
                    <a:alpha val="60000"/>
                  </a:srgbClr>
                </a:solidFill>
                <a:latin typeface="Quattrocento Sans" pitchFamily="34" charset="0"/>
                <a:ea typeface="Quattrocento Sans" pitchFamily="34" charset="-122"/>
                <a:cs typeface="Quattrocento Sans" pitchFamily="34" charset="-120"/>
              </a:rPr>
              <a:t>Submission by Dan Falkenheim</a:t>
            </a:r>
            <a:endParaRPr lang="en-US" sz="1600" dirty="0"/>
          </a:p>
        </p:txBody>
      </p:sp>
      <p:sp>
        <p:nvSpPr>
          <p:cNvPr id="14" name="Oval 13">
            <a:extLst>
              <a:ext uri="{FF2B5EF4-FFF2-40B4-BE49-F238E27FC236}">
                <a16:creationId xmlns:a16="http://schemas.microsoft.com/office/drawing/2014/main" id="{51937BAE-5628-FE6B-2460-043EB218100C}"/>
              </a:ext>
            </a:extLst>
          </p:cNvPr>
          <p:cNvSpPr/>
          <p:nvPr/>
        </p:nvSpPr>
        <p:spPr>
          <a:xfrm>
            <a:off x="5611256" y="3405477"/>
            <a:ext cx="319489" cy="319489"/>
          </a:xfrm>
          <a:prstGeom prst="ellipse">
            <a:avLst/>
          </a:prstGeom>
          <a:solidFill>
            <a:srgbClr val="FF26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6" name="Oval 15">
            <a:extLst>
              <a:ext uri="{FF2B5EF4-FFF2-40B4-BE49-F238E27FC236}">
                <a16:creationId xmlns:a16="http://schemas.microsoft.com/office/drawing/2014/main" id="{DA7054FC-46BB-0B5F-6400-6E9B81BED83F}"/>
              </a:ext>
            </a:extLst>
          </p:cNvPr>
          <p:cNvSpPr/>
          <p:nvPr/>
        </p:nvSpPr>
        <p:spPr>
          <a:xfrm>
            <a:off x="6261252" y="3768747"/>
            <a:ext cx="319489" cy="319489"/>
          </a:xfrm>
          <a:prstGeom prst="ellipse">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cxnSp>
        <p:nvCxnSpPr>
          <p:cNvPr id="18" name="Straight Connector 17">
            <a:extLst>
              <a:ext uri="{FF2B5EF4-FFF2-40B4-BE49-F238E27FC236}">
                <a16:creationId xmlns:a16="http://schemas.microsoft.com/office/drawing/2014/main" id="{16AEE9F3-E799-BBED-5B0C-E940586FBA04}"/>
              </a:ext>
            </a:extLst>
          </p:cNvPr>
          <p:cNvCxnSpPr/>
          <p:nvPr/>
        </p:nvCxnSpPr>
        <p:spPr>
          <a:xfrm>
            <a:off x="6095998" y="3115019"/>
            <a:ext cx="0" cy="1222872"/>
          </a:xfrm>
          <a:prstGeom prst="line">
            <a:avLst/>
          </a:prstGeom>
          <a:ln>
            <a:solidFill>
              <a:srgbClr val="D8A03D"/>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B0B55A7-928B-E739-7ACB-19F1C29AEF56}"/>
              </a:ext>
            </a:extLst>
          </p:cNvPr>
          <p:cNvSpPr txBox="1"/>
          <p:nvPr/>
        </p:nvSpPr>
        <p:spPr>
          <a:xfrm>
            <a:off x="5604906" y="3425825"/>
            <a:ext cx="351390" cy="276999"/>
          </a:xfrm>
          <a:prstGeom prst="rect">
            <a:avLst/>
          </a:prstGeom>
          <a:noFill/>
        </p:spPr>
        <p:txBody>
          <a:bodyPr wrap="square" rtlCol="0">
            <a:spAutoFit/>
          </a:bodyPr>
          <a:lstStyle/>
          <a:p>
            <a:r>
              <a:rPr lang="en-US" sz="1200" dirty="0">
                <a:solidFill>
                  <a:srgbClr val="E7E7E7"/>
                </a:solidFill>
              </a:rPr>
              <a:t>99</a:t>
            </a:r>
          </a:p>
        </p:txBody>
      </p:sp>
      <p:sp>
        <p:nvSpPr>
          <p:cNvPr id="21" name="TextBox 20">
            <a:extLst>
              <a:ext uri="{FF2B5EF4-FFF2-40B4-BE49-F238E27FC236}">
                <a16:creationId xmlns:a16="http://schemas.microsoft.com/office/drawing/2014/main" id="{4A516FAC-2E69-FA80-D688-B36AB9A072FC}"/>
              </a:ext>
            </a:extLst>
          </p:cNvPr>
          <p:cNvSpPr txBox="1"/>
          <p:nvPr/>
        </p:nvSpPr>
        <p:spPr>
          <a:xfrm>
            <a:off x="6251727" y="3786816"/>
            <a:ext cx="403954" cy="276999"/>
          </a:xfrm>
          <a:prstGeom prst="rect">
            <a:avLst/>
          </a:prstGeom>
          <a:noFill/>
        </p:spPr>
        <p:txBody>
          <a:bodyPr wrap="square" rtlCol="0">
            <a:spAutoFit/>
          </a:bodyPr>
          <a:lstStyle/>
          <a:p>
            <a:r>
              <a:rPr lang="en-US" sz="1200" dirty="0">
                <a:solidFill>
                  <a:srgbClr val="E7E7E7"/>
                </a:solidFill>
              </a:rPr>
              <a:t>68</a:t>
            </a:r>
          </a:p>
        </p:txBody>
      </p:sp>
    </p:spTree>
    <p:extLst>
      <p:ext uri="{BB962C8B-B14F-4D97-AF65-F5344CB8AC3E}">
        <p14:creationId xmlns:p14="http://schemas.microsoft.com/office/powerpoint/2010/main" val="78990262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11317"/>
        </a:solidFill>
        <a:effectLst/>
      </p:bgPr>
    </p:bg>
    <p:spTree>
      <p:nvGrpSpPr>
        <p:cNvPr id="1" name="">
          <a:extLst>
            <a:ext uri="{FF2B5EF4-FFF2-40B4-BE49-F238E27FC236}">
              <a16:creationId xmlns:a16="http://schemas.microsoft.com/office/drawing/2014/main" id="{36E3AFF8-EB52-D141-4363-808763FB70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56B955C-E5F5-39A8-AF14-3E244174114A}"/>
              </a:ext>
            </a:extLst>
          </p:cNvPr>
          <p:cNvSpPr/>
          <p:nvPr/>
        </p:nvSpPr>
        <p:spPr>
          <a:xfrm>
            <a:off x="381000" y="381000"/>
            <a:ext cx="11496675" cy="190500"/>
          </a:xfrm>
          <a:prstGeom prst="rect">
            <a:avLst/>
          </a:prstGeom>
          <a:noFill/>
          <a:ln/>
        </p:spPr>
        <p:txBody>
          <a:bodyPr wrap="square" lIns="0" tIns="0" rIns="0" bIns="0" rtlCol="0" anchor="ctr"/>
          <a:lstStyle/>
          <a:p>
            <a:pPr>
              <a:lnSpc>
                <a:spcPct val="120000"/>
              </a:lnSpc>
            </a:pPr>
            <a:r>
              <a:rPr lang="en-US" sz="1050" b="1" kern="0" spc="263" dirty="0">
                <a:solidFill>
                  <a:srgbClr val="D8A03D"/>
                </a:solidFill>
                <a:latin typeface="Quattrocento Sans" pitchFamily="34" charset="0"/>
                <a:ea typeface="Quattrocento Sans" pitchFamily="34" charset="-122"/>
                <a:cs typeface="Quattrocento Sans" pitchFamily="34" charset="-120"/>
              </a:rPr>
              <a:t>END-TO-END WORKFLOW</a:t>
            </a:r>
            <a:endParaRPr lang="en-US" sz="1600" dirty="0"/>
          </a:p>
        </p:txBody>
      </p:sp>
      <p:sp>
        <p:nvSpPr>
          <p:cNvPr id="3" name="Text 1">
            <a:extLst>
              <a:ext uri="{FF2B5EF4-FFF2-40B4-BE49-F238E27FC236}">
                <a16:creationId xmlns:a16="http://schemas.microsoft.com/office/drawing/2014/main" id="{C69198AB-E8F7-7C96-0BCD-AE63AEB870C4}"/>
              </a:ext>
            </a:extLst>
          </p:cNvPr>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000" b="1" dirty="0">
                <a:solidFill>
                  <a:srgbClr val="E1E3E6"/>
                </a:solidFill>
                <a:latin typeface="Liter" pitchFamily="34" charset="0"/>
                <a:ea typeface="Liter" pitchFamily="34" charset="-122"/>
                <a:cs typeface="Liter" pitchFamily="34" charset="-120"/>
              </a:rPr>
              <a:t>Converting Raw Tracking Data  Into Meaningful Metrics</a:t>
            </a:r>
            <a:endParaRPr lang="en-US" sz="2000" dirty="0"/>
          </a:p>
        </p:txBody>
      </p:sp>
      <p:sp>
        <p:nvSpPr>
          <p:cNvPr id="70" name="Shape 2">
            <a:extLst>
              <a:ext uri="{FF2B5EF4-FFF2-40B4-BE49-F238E27FC236}">
                <a16:creationId xmlns:a16="http://schemas.microsoft.com/office/drawing/2014/main" id="{25BDBAFA-A7A3-E2BC-B2F7-9B769B9867B7}"/>
              </a:ext>
            </a:extLst>
          </p:cNvPr>
          <p:cNvSpPr/>
          <p:nvPr/>
        </p:nvSpPr>
        <p:spPr>
          <a:xfrm>
            <a:off x="400051" y="1219200"/>
            <a:ext cx="2887160" cy="5257800"/>
          </a:xfrm>
          <a:custGeom>
            <a:avLst/>
            <a:gdLst/>
            <a:ahLst/>
            <a:cxnLst/>
            <a:rect l="l" t="t" r="r" b="b"/>
            <a:pathLst>
              <a:path w="8172450" h="1447800">
                <a:moveTo>
                  <a:pt x="0" y="0"/>
                </a:moveTo>
                <a:lnTo>
                  <a:pt x="8134344" y="0"/>
                </a:lnTo>
                <a:cubicBezTo>
                  <a:pt x="8155389" y="0"/>
                  <a:pt x="8172450" y="17061"/>
                  <a:pt x="8172450" y="38106"/>
                </a:cubicBezTo>
                <a:lnTo>
                  <a:pt x="8172450" y="1409694"/>
                </a:lnTo>
                <a:cubicBezTo>
                  <a:pt x="8172450" y="1430739"/>
                  <a:pt x="8155389" y="1447800"/>
                  <a:pt x="8134344" y="1447800"/>
                </a:cubicBezTo>
                <a:lnTo>
                  <a:pt x="0" y="1447800"/>
                </a:lnTo>
                <a:lnTo>
                  <a:pt x="0" y="0"/>
                </a:lnTo>
                <a:close/>
              </a:path>
            </a:pathLst>
          </a:custGeom>
          <a:solidFill>
            <a:srgbClr val="1E2024"/>
          </a:solidFill>
          <a:ln/>
        </p:spPr>
        <p:txBody>
          <a:bodyPr/>
          <a:lstStyle/>
          <a:p>
            <a:endParaRPr lang="en-US" dirty="0"/>
          </a:p>
        </p:txBody>
      </p:sp>
      <p:sp>
        <p:nvSpPr>
          <p:cNvPr id="71" name="Shape 3">
            <a:extLst>
              <a:ext uri="{FF2B5EF4-FFF2-40B4-BE49-F238E27FC236}">
                <a16:creationId xmlns:a16="http://schemas.microsoft.com/office/drawing/2014/main" id="{809B8FB0-F78F-E737-23A0-D2CD160A1970}"/>
              </a:ext>
            </a:extLst>
          </p:cNvPr>
          <p:cNvSpPr/>
          <p:nvPr/>
        </p:nvSpPr>
        <p:spPr>
          <a:xfrm flipH="1">
            <a:off x="354331" y="1219200"/>
            <a:ext cx="45719" cy="5257800"/>
          </a:xfrm>
          <a:custGeom>
            <a:avLst/>
            <a:gdLst/>
            <a:ahLst/>
            <a:cxnLst/>
            <a:rect l="l" t="t" r="r" b="b"/>
            <a:pathLst>
              <a:path w="38100" h="1447800">
                <a:moveTo>
                  <a:pt x="0" y="0"/>
                </a:moveTo>
                <a:lnTo>
                  <a:pt x="38100" y="0"/>
                </a:lnTo>
                <a:lnTo>
                  <a:pt x="38100" y="1447800"/>
                </a:lnTo>
                <a:lnTo>
                  <a:pt x="0" y="1447800"/>
                </a:lnTo>
                <a:lnTo>
                  <a:pt x="0" y="0"/>
                </a:lnTo>
                <a:close/>
              </a:path>
            </a:pathLst>
          </a:custGeom>
          <a:solidFill>
            <a:srgbClr val="4C7E9A"/>
          </a:solidFill>
          <a:ln/>
        </p:spPr>
        <p:txBody>
          <a:bodyPr/>
          <a:lstStyle/>
          <a:p>
            <a:endParaRPr lang="en-US"/>
          </a:p>
        </p:txBody>
      </p:sp>
      <p:sp>
        <p:nvSpPr>
          <p:cNvPr id="74" name="Text 6">
            <a:extLst>
              <a:ext uri="{FF2B5EF4-FFF2-40B4-BE49-F238E27FC236}">
                <a16:creationId xmlns:a16="http://schemas.microsoft.com/office/drawing/2014/main" id="{EE9CF83E-5219-49EC-0955-D556DC1773B0}"/>
              </a:ext>
            </a:extLst>
          </p:cNvPr>
          <p:cNvSpPr/>
          <p:nvPr/>
        </p:nvSpPr>
        <p:spPr>
          <a:xfrm>
            <a:off x="487607" y="1257300"/>
            <a:ext cx="7334250" cy="266700"/>
          </a:xfrm>
          <a:prstGeom prst="rect">
            <a:avLst/>
          </a:prstGeom>
          <a:noFill/>
          <a:ln/>
        </p:spPr>
        <p:txBody>
          <a:bodyPr wrap="square" lIns="0" tIns="0" rIns="0" bIns="0" rtlCol="0" anchor="ctr"/>
          <a:lstStyle/>
          <a:p>
            <a:pPr>
              <a:lnSpc>
                <a:spcPct val="120000"/>
              </a:lnSpc>
            </a:pPr>
            <a:r>
              <a:rPr lang="en-US" sz="1500" b="1" dirty="0">
                <a:solidFill>
                  <a:srgbClr val="4C7E9A"/>
                </a:solidFill>
                <a:latin typeface="Liter" pitchFamily="34" charset="0"/>
                <a:ea typeface="Liter" pitchFamily="34" charset="-122"/>
                <a:cs typeface="Liter" pitchFamily="34" charset="-120"/>
              </a:rPr>
              <a:t>The Problem</a:t>
            </a:r>
            <a:endParaRPr lang="en-US" sz="1600" dirty="0"/>
          </a:p>
        </p:txBody>
      </p:sp>
      <p:sp>
        <p:nvSpPr>
          <p:cNvPr id="78" name="Shape 4">
            <a:extLst>
              <a:ext uri="{FF2B5EF4-FFF2-40B4-BE49-F238E27FC236}">
                <a16:creationId xmlns:a16="http://schemas.microsoft.com/office/drawing/2014/main" id="{FD29F94A-5F31-5993-1612-2F7B7102552B}"/>
              </a:ext>
            </a:extLst>
          </p:cNvPr>
          <p:cNvSpPr/>
          <p:nvPr/>
        </p:nvSpPr>
        <p:spPr>
          <a:xfrm>
            <a:off x="487607" y="1699067"/>
            <a:ext cx="457200" cy="457200"/>
          </a:xfrm>
          <a:custGeom>
            <a:avLst/>
            <a:gdLst/>
            <a:ahLst/>
            <a:cxnLst/>
            <a:rect l="l" t="t" r="r" b="b"/>
            <a:pathLst>
              <a:path w="457200" h="457200">
                <a:moveTo>
                  <a:pt x="38098" y="0"/>
                </a:moveTo>
                <a:lnTo>
                  <a:pt x="419102" y="0"/>
                </a:lnTo>
                <a:cubicBezTo>
                  <a:pt x="440143" y="0"/>
                  <a:pt x="457200" y="17057"/>
                  <a:pt x="457200" y="38098"/>
                </a:cubicBezTo>
                <a:lnTo>
                  <a:pt x="457200" y="419102"/>
                </a:lnTo>
                <a:cubicBezTo>
                  <a:pt x="457200" y="440143"/>
                  <a:pt x="440143" y="457200"/>
                  <a:pt x="419102" y="457200"/>
                </a:cubicBezTo>
                <a:lnTo>
                  <a:pt x="38098" y="457200"/>
                </a:lnTo>
                <a:cubicBezTo>
                  <a:pt x="17057" y="457200"/>
                  <a:pt x="0" y="440143"/>
                  <a:pt x="0" y="419102"/>
                </a:cubicBezTo>
                <a:lnTo>
                  <a:pt x="0" y="38098"/>
                </a:lnTo>
                <a:cubicBezTo>
                  <a:pt x="0" y="17071"/>
                  <a:pt x="17071" y="0"/>
                  <a:pt x="38098" y="0"/>
                </a:cubicBezTo>
                <a:close/>
              </a:path>
            </a:pathLst>
          </a:custGeom>
          <a:solidFill>
            <a:srgbClr val="4C7E9A"/>
          </a:solidFill>
          <a:ln/>
        </p:spPr>
        <p:txBody>
          <a:bodyPr/>
          <a:lstStyle/>
          <a:p>
            <a:endParaRPr lang="en-US"/>
          </a:p>
        </p:txBody>
      </p:sp>
      <p:sp>
        <p:nvSpPr>
          <p:cNvPr id="79" name="Text 5">
            <a:extLst>
              <a:ext uri="{FF2B5EF4-FFF2-40B4-BE49-F238E27FC236}">
                <a16:creationId xmlns:a16="http://schemas.microsoft.com/office/drawing/2014/main" id="{376D9238-46CA-C0EE-0CBB-7E225463015C}"/>
              </a:ext>
            </a:extLst>
          </p:cNvPr>
          <p:cNvSpPr/>
          <p:nvPr/>
        </p:nvSpPr>
        <p:spPr>
          <a:xfrm>
            <a:off x="487606" y="1699067"/>
            <a:ext cx="457201"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01</a:t>
            </a:r>
            <a:endParaRPr lang="en-US" sz="1600" dirty="0"/>
          </a:p>
        </p:txBody>
      </p:sp>
      <p:sp>
        <p:nvSpPr>
          <p:cNvPr id="80" name="Text 7">
            <a:extLst>
              <a:ext uri="{FF2B5EF4-FFF2-40B4-BE49-F238E27FC236}">
                <a16:creationId xmlns:a16="http://schemas.microsoft.com/office/drawing/2014/main" id="{54774F2E-DF3B-72FA-4F71-65B23937CEA5}"/>
              </a:ext>
            </a:extLst>
          </p:cNvPr>
          <p:cNvSpPr/>
          <p:nvPr/>
        </p:nvSpPr>
        <p:spPr>
          <a:xfrm>
            <a:off x="1041722" y="1641192"/>
            <a:ext cx="2106592" cy="1460821"/>
          </a:xfrm>
          <a:prstGeom prst="rect">
            <a:avLst/>
          </a:prstGeom>
          <a:noFill/>
          <a:ln/>
        </p:spPr>
        <p:txBody>
          <a:bodyPr wrap="square" lIns="0" tIns="0" rIns="0" bIns="0" rtlCol="0" anchor="t"/>
          <a:lstStyle/>
          <a:p>
            <a:pPr>
              <a:lnSpc>
                <a:spcPct val="140000"/>
              </a:lnSpc>
            </a:pPr>
            <a:r>
              <a:rPr lang="en-US" sz="1200" dirty="0">
                <a:solidFill>
                  <a:srgbClr val="E1E3E6">
                    <a:alpha val="80000"/>
                  </a:srgbClr>
                </a:solidFill>
                <a:latin typeface="Quattrocento Sans" pitchFamily="34" charset="0"/>
                <a:ea typeface="Quattrocento Sans" pitchFamily="34" charset="-122"/>
                <a:cs typeface="Quattrocento Sans" pitchFamily="34" charset="-120"/>
              </a:rPr>
              <a:t>Inputs are continuous stream of Zebra tracking data without distinct “stop” or “start” markers for individual reps or labels for which two players are participating in the active rep.</a:t>
            </a:r>
            <a:endParaRPr lang="en-US" sz="1600" dirty="0"/>
          </a:p>
        </p:txBody>
      </p:sp>
      <p:sp>
        <p:nvSpPr>
          <p:cNvPr id="81" name="Shape 4">
            <a:extLst>
              <a:ext uri="{FF2B5EF4-FFF2-40B4-BE49-F238E27FC236}">
                <a16:creationId xmlns:a16="http://schemas.microsoft.com/office/drawing/2014/main" id="{4C96B953-77E7-E5AB-4B93-97EF2D228B91}"/>
              </a:ext>
            </a:extLst>
          </p:cNvPr>
          <p:cNvSpPr/>
          <p:nvPr/>
        </p:nvSpPr>
        <p:spPr>
          <a:xfrm>
            <a:off x="487606" y="3413568"/>
            <a:ext cx="457200" cy="457200"/>
          </a:xfrm>
          <a:custGeom>
            <a:avLst/>
            <a:gdLst/>
            <a:ahLst/>
            <a:cxnLst/>
            <a:rect l="l" t="t" r="r" b="b"/>
            <a:pathLst>
              <a:path w="457200" h="457200">
                <a:moveTo>
                  <a:pt x="38098" y="0"/>
                </a:moveTo>
                <a:lnTo>
                  <a:pt x="419102" y="0"/>
                </a:lnTo>
                <a:cubicBezTo>
                  <a:pt x="440143" y="0"/>
                  <a:pt x="457200" y="17057"/>
                  <a:pt x="457200" y="38098"/>
                </a:cubicBezTo>
                <a:lnTo>
                  <a:pt x="457200" y="419102"/>
                </a:lnTo>
                <a:cubicBezTo>
                  <a:pt x="457200" y="440143"/>
                  <a:pt x="440143" y="457200"/>
                  <a:pt x="419102" y="457200"/>
                </a:cubicBezTo>
                <a:lnTo>
                  <a:pt x="38098" y="457200"/>
                </a:lnTo>
                <a:cubicBezTo>
                  <a:pt x="17057" y="457200"/>
                  <a:pt x="0" y="440143"/>
                  <a:pt x="0" y="419102"/>
                </a:cubicBezTo>
                <a:lnTo>
                  <a:pt x="0" y="38098"/>
                </a:lnTo>
                <a:cubicBezTo>
                  <a:pt x="0" y="17071"/>
                  <a:pt x="17071" y="0"/>
                  <a:pt x="38098" y="0"/>
                </a:cubicBezTo>
                <a:close/>
              </a:path>
            </a:pathLst>
          </a:custGeom>
          <a:solidFill>
            <a:srgbClr val="4C7E9A"/>
          </a:solidFill>
          <a:ln/>
        </p:spPr>
        <p:txBody>
          <a:bodyPr/>
          <a:lstStyle/>
          <a:p>
            <a:endParaRPr lang="en-US"/>
          </a:p>
        </p:txBody>
      </p:sp>
      <p:sp>
        <p:nvSpPr>
          <p:cNvPr id="82" name="Text 7">
            <a:extLst>
              <a:ext uri="{FF2B5EF4-FFF2-40B4-BE49-F238E27FC236}">
                <a16:creationId xmlns:a16="http://schemas.microsoft.com/office/drawing/2014/main" id="{8999BA7B-829A-3E69-CC3A-D7BAAF8FE2AF}"/>
              </a:ext>
            </a:extLst>
          </p:cNvPr>
          <p:cNvSpPr/>
          <p:nvPr/>
        </p:nvSpPr>
        <p:spPr>
          <a:xfrm>
            <a:off x="1041721" y="3359552"/>
            <a:ext cx="2106592" cy="1445389"/>
          </a:xfrm>
          <a:prstGeom prst="rect">
            <a:avLst/>
          </a:prstGeom>
          <a:noFill/>
          <a:ln/>
        </p:spPr>
        <p:txBody>
          <a:bodyPr wrap="square" lIns="0" tIns="0" rIns="0" bIns="0" rtlCol="0" anchor="t"/>
          <a:lstStyle/>
          <a:p>
            <a:pPr>
              <a:lnSpc>
                <a:spcPct val="140000"/>
              </a:lnSpc>
            </a:pPr>
            <a:r>
              <a:rPr lang="en-US" sz="1200" dirty="0">
                <a:solidFill>
                  <a:srgbClr val="E1E3E6">
                    <a:alpha val="80000"/>
                  </a:srgbClr>
                </a:solidFill>
                <a:latin typeface="Quattrocento Sans" pitchFamily="34" charset="0"/>
                <a:ea typeface="Quattrocento Sans" pitchFamily="34" charset="-122"/>
                <a:cs typeface="Quattrocento Sans" pitchFamily="34" charset="-120"/>
              </a:rPr>
              <a:t>Manual charting can be slow and hard to scale.</a:t>
            </a:r>
            <a:endParaRPr lang="en-US" sz="1600" dirty="0"/>
          </a:p>
        </p:txBody>
      </p:sp>
      <p:sp>
        <p:nvSpPr>
          <p:cNvPr id="83" name="Text 5">
            <a:extLst>
              <a:ext uri="{FF2B5EF4-FFF2-40B4-BE49-F238E27FC236}">
                <a16:creationId xmlns:a16="http://schemas.microsoft.com/office/drawing/2014/main" id="{12302949-3A92-233A-5A48-7384F9C0EC1C}"/>
              </a:ext>
            </a:extLst>
          </p:cNvPr>
          <p:cNvSpPr/>
          <p:nvPr/>
        </p:nvSpPr>
        <p:spPr>
          <a:xfrm>
            <a:off x="487605" y="3413568"/>
            <a:ext cx="457201"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02</a:t>
            </a:r>
            <a:endParaRPr lang="en-US" sz="1600" dirty="0"/>
          </a:p>
        </p:txBody>
      </p:sp>
      <p:sp>
        <p:nvSpPr>
          <p:cNvPr id="84" name="Shape 4">
            <a:extLst>
              <a:ext uri="{FF2B5EF4-FFF2-40B4-BE49-F238E27FC236}">
                <a16:creationId xmlns:a16="http://schemas.microsoft.com/office/drawing/2014/main" id="{D5FFC50E-115D-543A-349D-F830D6B1641C}"/>
              </a:ext>
            </a:extLst>
          </p:cNvPr>
          <p:cNvSpPr/>
          <p:nvPr/>
        </p:nvSpPr>
        <p:spPr>
          <a:xfrm>
            <a:off x="487606" y="4247427"/>
            <a:ext cx="457200" cy="457200"/>
          </a:xfrm>
          <a:custGeom>
            <a:avLst/>
            <a:gdLst/>
            <a:ahLst/>
            <a:cxnLst/>
            <a:rect l="l" t="t" r="r" b="b"/>
            <a:pathLst>
              <a:path w="457200" h="457200">
                <a:moveTo>
                  <a:pt x="38098" y="0"/>
                </a:moveTo>
                <a:lnTo>
                  <a:pt x="419102" y="0"/>
                </a:lnTo>
                <a:cubicBezTo>
                  <a:pt x="440143" y="0"/>
                  <a:pt x="457200" y="17057"/>
                  <a:pt x="457200" y="38098"/>
                </a:cubicBezTo>
                <a:lnTo>
                  <a:pt x="457200" y="419102"/>
                </a:lnTo>
                <a:cubicBezTo>
                  <a:pt x="457200" y="440143"/>
                  <a:pt x="440143" y="457200"/>
                  <a:pt x="419102" y="457200"/>
                </a:cubicBezTo>
                <a:lnTo>
                  <a:pt x="38098" y="457200"/>
                </a:lnTo>
                <a:cubicBezTo>
                  <a:pt x="17057" y="457200"/>
                  <a:pt x="0" y="440143"/>
                  <a:pt x="0" y="419102"/>
                </a:cubicBezTo>
                <a:lnTo>
                  <a:pt x="0" y="38098"/>
                </a:lnTo>
                <a:cubicBezTo>
                  <a:pt x="0" y="17071"/>
                  <a:pt x="17071" y="0"/>
                  <a:pt x="38098" y="0"/>
                </a:cubicBezTo>
                <a:close/>
              </a:path>
            </a:pathLst>
          </a:custGeom>
          <a:solidFill>
            <a:srgbClr val="4C7E9A"/>
          </a:solidFill>
          <a:ln/>
        </p:spPr>
        <p:txBody>
          <a:bodyPr/>
          <a:lstStyle/>
          <a:p>
            <a:endParaRPr lang="en-US"/>
          </a:p>
        </p:txBody>
      </p:sp>
      <p:sp>
        <p:nvSpPr>
          <p:cNvPr id="85" name="Text 7">
            <a:extLst>
              <a:ext uri="{FF2B5EF4-FFF2-40B4-BE49-F238E27FC236}">
                <a16:creationId xmlns:a16="http://schemas.microsoft.com/office/drawing/2014/main" id="{4CB61E9E-3E3D-C679-4F79-9E35F07533D3}"/>
              </a:ext>
            </a:extLst>
          </p:cNvPr>
          <p:cNvSpPr/>
          <p:nvPr/>
        </p:nvSpPr>
        <p:spPr>
          <a:xfrm>
            <a:off x="1041721" y="4193411"/>
            <a:ext cx="2106592" cy="2184240"/>
          </a:xfrm>
          <a:prstGeom prst="rect">
            <a:avLst/>
          </a:prstGeom>
          <a:noFill/>
          <a:ln/>
        </p:spPr>
        <p:txBody>
          <a:bodyPr wrap="square" lIns="0" tIns="0" rIns="0" bIns="0" rtlCol="0" anchor="t"/>
          <a:lstStyle/>
          <a:p>
            <a:pPr>
              <a:lnSpc>
                <a:spcPct val="140000"/>
              </a:lnSpc>
            </a:pPr>
            <a:r>
              <a:rPr lang="en-US" sz="1200" dirty="0">
                <a:solidFill>
                  <a:srgbClr val="E1E3E6">
                    <a:alpha val="80000"/>
                  </a:srgbClr>
                </a:solidFill>
                <a:latin typeface="Quattrocento Sans" pitchFamily="34" charset="0"/>
                <a:ea typeface="Quattrocento Sans" pitchFamily="34" charset="-122"/>
                <a:cs typeface="Quattrocento Sans" pitchFamily="34" charset="-120"/>
              </a:rPr>
              <a:t>An individual 1-on-1 OL-DL rep has several phases (get off, set, engagement, anchor, finish) and properly quantifying a lineman’s performance requires phase-aware measurements that anchor to consistent events.</a:t>
            </a:r>
            <a:endParaRPr lang="en-US" sz="1600" dirty="0"/>
          </a:p>
        </p:txBody>
      </p:sp>
      <p:sp>
        <p:nvSpPr>
          <p:cNvPr id="86" name="Text 5">
            <a:extLst>
              <a:ext uri="{FF2B5EF4-FFF2-40B4-BE49-F238E27FC236}">
                <a16:creationId xmlns:a16="http://schemas.microsoft.com/office/drawing/2014/main" id="{2C1900FC-1AAF-80B7-9455-734120F5D1BC}"/>
              </a:ext>
            </a:extLst>
          </p:cNvPr>
          <p:cNvSpPr/>
          <p:nvPr/>
        </p:nvSpPr>
        <p:spPr>
          <a:xfrm>
            <a:off x="487605" y="4247427"/>
            <a:ext cx="457201" cy="457200"/>
          </a:xfrm>
          <a:prstGeom prst="rect">
            <a:avLst/>
          </a:prstGeom>
          <a:noFill/>
          <a:ln/>
        </p:spPr>
        <p:txBody>
          <a:bodyPr wrap="square" lIns="0" tIns="0" rIns="0" bIns="0" rtlCol="0" anchor="ctr"/>
          <a:lstStyle/>
          <a:p>
            <a:pPr algn="ctr">
              <a:lnSpc>
                <a:spcPct val="120000"/>
              </a:lnSpc>
            </a:pPr>
            <a:r>
              <a:rPr lang="en-US" sz="1500" b="1" dirty="0">
                <a:solidFill>
                  <a:srgbClr val="FFFFFF"/>
                </a:solidFill>
                <a:latin typeface="Quattrocento Sans" pitchFamily="34" charset="0"/>
                <a:ea typeface="Quattrocento Sans" pitchFamily="34" charset="-122"/>
                <a:cs typeface="Quattrocento Sans" pitchFamily="34" charset="-120"/>
              </a:rPr>
              <a:t>03</a:t>
            </a:r>
            <a:endParaRPr lang="en-US" sz="1600" dirty="0"/>
          </a:p>
        </p:txBody>
      </p:sp>
      <p:sp>
        <p:nvSpPr>
          <p:cNvPr id="87" name="Shape 2">
            <a:extLst>
              <a:ext uri="{FF2B5EF4-FFF2-40B4-BE49-F238E27FC236}">
                <a16:creationId xmlns:a16="http://schemas.microsoft.com/office/drawing/2014/main" id="{E4A07638-3951-DFC2-05BE-4B21A47CC7B5}"/>
              </a:ext>
            </a:extLst>
          </p:cNvPr>
          <p:cNvSpPr/>
          <p:nvPr/>
        </p:nvSpPr>
        <p:spPr>
          <a:xfrm>
            <a:off x="3434545" y="1219200"/>
            <a:ext cx="8584991" cy="5257800"/>
          </a:xfrm>
          <a:custGeom>
            <a:avLst/>
            <a:gdLst/>
            <a:ahLst/>
            <a:cxnLst/>
            <a:rect l="l" t="t" r="r" b="b"/>
            <a:pathLst>
              <a:path w="8172450" h="1447800">
                <a:moveTo>
                  <a:pt x="0" y="0"/>
                </a:moveTo>
                <a:lnTo>
                  <a:pt x="8134344" y="0"/>
                </a:lnTo>
                <a:cubicBezTo>
                  <a:pt x="8155389" y="0"/>
                  <a:pt x="8172450" y="17061"/>
                  <a:pt x="8172450" y="38106"/>
                </a:cubicBezTo>
                <a:lnTo>
                  <a:pt x="8172450" y="1409694"/>
                </a:lnTo>
                <a:cubicBezTo>
                  <a:pt x="8172450" y="1430739"/>
                  <a:pt x="8155389" y="1447800"/>
                  <a:pt x="8134344" y="1447800"/>
                </a:cubicBezTo>
                <a:lnTo>
                  <a:pt x="0" y="1447800"/>
                </a:lnTo>
                <a:lnTo>
                  <a:pt x="0" y="0"/>
                </a:lnTo>
                <a:close/>
              </a:path>
            </a:pathLst>
          </a:custGeom>
          <a:solidFill>
            <a:srgbClr val="1E2024"/>
          </a:solidFill>
          <a:ln/>
        </p:spPr>
        <p:txBody>
          <a:bodyPr/>
          <a:lstStyle/>
          <a:p>
            <a:endParaRPr lang="en-US" dirty="0"/>
          </a:p>
        </p:txBody>
      </p:sp>
      <p:sp>
        <p:nvSpPr>
          <p:cNvPr id="88" name="Shape 3">
            <a:extLst>
              <a:ext uri="{FF2B5EF4-FFF2-40B4-BE49-F238E27FC236}">
                <a16:creationId xmlns:a16="http://schemas.microsoft.com/office/drawing/2014/main" id="{12AF6FA9-7FC6-29E3-6C9A-62AA256EE7A7}"/>
              </a:ext>
            </a:extLst>
          </p:cNvPr>
          <p:cNvSpPr/>
          <p:nvPr/>
        </p:nvSpPr>
        <p:spPr>
          <a:xfrm flipH="1">
            <a:off x="3388824" y="1219200"/>
            <a:ext cx="45719" cy="5257800"/>
          </a:xfrm>
          <a:custGeom>
            <a:avLst/>
            <a:gdLst/>
            <a:ahLst/>
            <a:cxnLst/>
            <a:rect l="l" t="t" r="r" b="b"/>
            <a:pathLst>
              <a:path w="38100" h="1447800">
                <a:moveTo>
                  <a:pt x="0" y="0"/>
                </a:moveTo>
                <a:lnTo>
                  <a:pt x="38100" y="0"/>
                </a:lnTo>
                <a:lnTo>
                  <a:pt x="38100" y="1447800"/>
                </a:lnTo>
                <a:lnTo>
                  <a:pt x="0" y="1447800"/>
                </a:lnTo>
                <a:lnTo>
                  <a:pt x="0" y="0"/>
                </a:lnTo>
                <a:close/>
              </a:path>
            </a:pathLst>
          </a:custGeom>
          <a:solidFill>
            <a:srgbClr val="D8A03D"/>
          </a:solidFill>
          <a:ln/>
        </p:spPr>
        <p:txBody>
          <a:bodyPr/>
          <a:lstStyle/>
          <a:p>
            <a:endParaRPr lang="en-US">
              <a:solidFill>
                <a:srgbClr val="D8A03D"/>
              </a:solidFill>
            </a:endParaRPr>
          </a:p>
        </p:txBody>
      </p:sp>
      <p:sp>
        <p:nvSpPr>
          <p:cNvPr id="89" name="Text 6">
            <a:extLst>
              <a:ext uri="{FF2B5EF4-FFF2-40B4-BE49-F238E27FC236}">
                <a16:creationId xmlns:a16="http://schemas.microsoft.com/office/drawing/2014/main" id="{BB0E2CA1-A3DA-822D-128C-B53D9E29D659}"/>
              </a:ext>
            </a:extLst>
          </p:cNvPr>
          <p:cNvSpPr/>
          <p:nvPr/>
        </p:nvSpPr>
        <p:spPr>
          <a:xfrm>
            <a:off x="3545253" y="1257300"/>
            <a:ext cx="4661198" cy="266700"/>
          </a:xfrm>
          <a:prstGeom prst="rect">
            <a:avLst/>
          </a:prstGeom>
          <a:noFill/>
          <a:ln/>
        </p:spPr>
        <p:txBody>
          <a:bodyPr wrap="square" lIns="0" tIns="0" rIns="0" bIns="0" rtlCol="0" anchor="ctr"/>
          <a:lstStyle/>
          <a:p>
            <a:pPr>
              <a:lnSpc>
                <a:spcPct val="120000"/>
              </a:lnSpc>
            </a:pPr>
            <a:r>
              <a:rPr lang="en-US" sz="1500" b="1" dirty="0">
                <a:solidFill>
                  <a:srgbClr val="D8A03D"/>
                </a:solidFill>
                <a:latin typeface="Liter" pitchFamily="34" charset="0"/>
                <a:ea typeface="Liter" pitchFamily="34" charset="-122"/>
                <a:cs typeface="Liter" pitchFamily="34" charset="-120"/>
              </a:rPr>
              <a:t>The Solution: An automated, reproducible workflow</a:t>
            </a:r>
            <a:endParaRPr lang="en-US" sz="1600" dirty="0">
              <a:solidFill>
                <a:srgbClr val="D8A03D"/>
              </a:solidFill>
            </a:endParaRPr>
          </a:p>
        </p:txBody>
      </p:sp>
      <p:sp>
        <p:nvSpPr>
          <p:cNvPr id="91" name="Rounded Rectangle 90">
            <a:extLst>
              <a:ext uri="{FF2B5EF4-FFF2-40B4-BE49-F238E27FC236}">
                <a16:creationId xmlns:a16="http://schemas.microsoft.com/office/drawing/2014/main" id="{D2006E00-9894-C6F2-0B83-9A592EDEA8BC}"/>
              </a:ext>
            </a:extLst>
          </p:cNvPr>
          <p:cNvSpPr/>
          <p:nvPr/>
        </p:nvSpPr>
        <p:spPr>
          <a:xfrm>
            <a:off x="3524581" y="1699067"/>
            <a:ext cx="1848159" cy="4511233"/>
          </a:xfrm>
          <a:prstGeom prst="roundRect">
            <a:avLst/>
          </a:prstGeom>
          <a:solidFill>
            <a:srgbClr val="1D2024"/>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rgbClr val="D8A03D"/>
                </a:solidFill>
              </a:rPr>
              <a:t>Input: Raw Tracking Data</a:t>
            </a:r>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r>
              <a:rPr lang="en-US" sz="1200" dirty="0"/>
              <a:t>Scan to collect drill session start and end timestamps, OL and DL jersey numbers, and the LOS (manual)</a:t>
            </a:r>
          </a:p>
        </p:txBody>
      </p:sp>
      <p:cxnSp>
        <p:nvCxnSpPr>
          <p:cNvPr id="92" name="Straight Connector 91">
            <a:extLst>
              <a:ext uri="{FF2B5EF4-FFF2-40B4-BE49-F238E27FC236}">
                <a16:creationId xmlns:a16="http://schemas.microsoft.com/office/drawing/2014/main" id="{4CCA3DF1-9B1B-332E-1174-69738119644B}"/>
              </a:ext>
            </a:extLst>
          </p:cNvPr>
          <p:cNvCxnSpPr/>
          <p:nvPr/>
        </p:nvCxnSpPr>
        <p:spPr>
          <a:xfrm>
            <a:off x="4455773" y="2885673"/>
            <a:ext cx="0" cy="1222872"/>
          </a:xfrm>
          <a:prstGeom prst="line">
            <a:avLst/>
          </a:prstGeom>
          <a:ln>
            <a:solidFill>
              <a:srgbClr val="D8A03D"/>
            </a:solidFill>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964AE318-8C31-BBB2-1DF3-F3B7D1F7A93E}"/>
              </a:ext>
            </a:extLst>
          </p:cNvPr>
          <p:cNvSpPr/>
          <p:nvPr/>
        </p:nvSpPr>
        <p:spPr>
          <a:xfrm>
            <a:off x="4497984" y="2932485"/>
            <a:ext cx="127008" cy="127008"/>
          </a:xfrm>
          <a:prstGeom prst="ellipse">
            <a:avLst/>
          </a:prstGeom>
          <a:solidFill>
            <a:srgbClr val="0096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96" name="Oval 95">
            <a:extLst>
              <a:ext uri="{FF2B5EF4-FFF2-40B4-BE49-F238E27FC236}">
                <a16:creationId xmlns:a16="http://schemas.microsoft.com/office/drawing/2014/main" id="{95BA1BE6-EE24-9A79-D35E-1F83ACECF187}"/>
              </a:ext>
            </a:extLst>
          </p:cNvPr>
          <p:cNvSpPr/>
          <p:nvPr/>
        </p:nvSpPr>
        <p:spPr>
          <a:xfrm>
            <a:off x="4515474" y="3197310"/>
            <a:ext cx="127008" cy="127008"/>
          </a:xfrm>
          <a:prstGeom prst="ellipse">
            <a:avLst/>
          </a:prstGeom>
          <a:solidFill>
            <a:srgbClr val="0096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97" name="Oval 96">
            <a:extLst>
              <a:ext uri="{FF2B5EF4-FFF2-40B4-BE49-F238E27FC236}">
                <a16:creationId xmlns:a16="http://schemas.microsoft.com/office/drawing/2014/main" id="{6F6151CF-5890-AAE1-1A8D-9752B54FE63F}"/>
              </a:ext>
            </a:extLst>
          </p:cNvPr>
          <p:cNvSpPr/>
          <p:nvPr/>
        </p:nvSpPr>
        <p:spPr>
          <a:xfrm>
            <a:off x="4470504" y="3444645"/>
            <a:ext cx="127008" cy="127008"/>
          </a:xfrm>
          <a:prstGeom prst="ellipse">
            <a:avLst/>
          </a:prstGeom>
          <a:solidFill>
            <a:srgbClr val="0096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98" name="Oval 97">
            <a:extLst>
              <a:ext uri="{FF2B5EF4-FFF2-40B4-BE49-F238E27FC236}">
                <a16:creationId xmlns:a16="http://schemas.microsoft.com/office/drawing/2014/main" id="{DC9B2922-4B6D-FA23-41C2-5267EC587E41}"/>
              </a:ext>
            </a:extLst>
          </p:cNvPr>
          <p:cNvSpPr/>
          <p:nvPr/>
        </p:nvSpPr>
        <p:spPr>
          <a:xfrm>
            <a:off x="4517974" y="3686985"/>
            <a:ext cx="127008" cy="127008"/>
          </a:xfrm>
          <a:prstGeom prst="ellipse">
            <a:avLst/>
          </a:prstGeom>
          <a:solidFill>
            <a:srgbClr val="0096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99" name="Oval 98">
            <a:extLst>
              <a:ext uri="{FF2B5EF4-FFF2-40B4-BE49-F238E27FC236}">
                <a16:creationId xmlns:a16="http://schemas.microsoft.com/office/drawing/2014/main" id="{6AF7041E-6C8F-542D-26A2-555FA2DD84EA}"/>
              </a:ext>
            </a:extLst>
          </p:cNvPr>
          <p:cNvSpPr/>
          <p:nvPr/>
        </p:nvSpPr>
        <p:spPr>
          <a:xfrm>
            <a:off x="4505484" y="3899345"/>
            <a:ext cx="127008" cy="127008"/>
          </a:xfrm>
          <a:prstGeom prst="ellipse">
            <a:avLst/>
          </a:prstGeom>
          <a:solidFill>
            <a:srgbClr val="0096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05" name="Oval 104">
            <a:extLst>
              <a:ext uri="{FF2B5EF4-FFF2-40B4-BE49-F238E27FC236}">
                <a16:creationId xmlns:a16="http://schemas.microsoft.com/office/drawing/2014/main" id="{5B046C6D-391C-EEE3-1F5D-EF6AFF0B3A85}"/>
              </a:ext>
            </a:extLst>
          </p:cNvPr>
          <p:cNvSpPr/>
          <p:nvPr/>
        </p:nvSpPr>
        <p:spPr>
          <a:xfrm>
            <a:off x="3571099" y="3497109"/>
            <a:ext cx="127008" cy="127008"/>
          </a:xfrm>
          <a:prstGeom prst="ellipse">
            <a:avLst/>
          </a:prstGeom>
          <a:solidFill>
            <a:srgbClr val="F7593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06" name="Oval 105">
            <a:extLst>
              <a:ext uri="{FF2B5EF4-FFF2-40B4-BE49-F238E27FC236}">
                <a16:creationId xmlns:a16="http://schemas.microsoft.com/office/drawing/2014/main" id="{B46E5DFA-A051-AED4-40A2-5BEC7CE82C5D}"/>
              </a:ext>
            </a:extLst>
          </p:cNvPr>
          <p:cNvSpPr/>
          <p:nvPr/>
        </p:nvSpPr>
        <p:spPr>
          <a:xfrm>
            <a:off x="3738490" y="3469629"/>
            <a:ext cx="127008" cy="127008"/>
          </a:xfrm>
          <a:prstGeom prst="ellipse">
            <a:avLst/>
          </a:prstGeom>
          <a:solidFill>
            <a:srgbClr val="F7593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07" name="Oval 106">
            <a:extLst>
              <a:ext uri="{FF2B5EF4-FFF2-40B4-BE49-F238E27FC236}">
                <a16:creationId xmlns:a16="http://schemas.microsoft.com/office/drawing/2014/main" id="{B09BBEF6-29C4-F8B6-EEAC-90B0DF9161EF}"/>
              </a:ext>
            </a:extLst>
          </p:cNvPr>
          <p:cNvSpPr/>
          <p:nvPr/>
        </p:nvSpPr>
        <p:spPr>
          <a:xfrm>
            <a:off x="4279055" y="3133806"/>
            <a:ext cx="127008" cy="127008"/>
          </a:xfrm>
          <a:prstGeom prst="ellipse">
            <a:avLst/>
          </a:prstGeom>
          <a:solidFill>
            <a:srgbClr val="F7593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08" name="Oval 107">
            <a:extLst>
              <a:ext uri="{FF2B5EF4-FFF2-40B4-BE49-F238E27FC236}">
                <a16:creationId xmlns:a16="http://schemas.microsoft.com/office/drawing/2014/main" id="{9BBF602B-F74B-D059-4B2D-77FCFCEBB24D}"/>
              </a:ext>
            </a:extLst>
          </p:cNvPr>
          <p:cNvSpPr/>
          <p:nvPr/>
        </p:nvSpPr>
        <p:spPr>
          <a:xfrm>
            <a:off x="3658545" y="3666999"/>
            <a:ext cx="127008" cy="127008"/>
          </a:xfrm>
          <a:prstGeom prst="ellipse">
            <a:avLst/>
          </a:prstGeom>
          <a:solidFill>
            <a:srgbClr val="F7593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09" name="Oval 108">
            <a:extLst>
              <a:ext uri="{FF2B5EF4-FFF2-40B4-BE49-F238E27FC236}">
                <a16:creationId xmlns:a16="http://schemas.microsoft.com/office/drawing/2014/main" id="{6CB5DE0F-2205-240E-1012-239DF3A2E667}"/>
              </a:ext>
            </a:extLst>
          </p:cNvPr>
          <p:cNvSpPr/>
          <p:nvPr/>
        </p:nvSpPr>
        <p:spPr>
          <a:xfrm>
            <a:off x="3646055" y="3879359"/>
            <a:ext cx="127008" cy="127008"/>
          </a:xfrm>
          <a:prstGeom prst="ellipse">
            <a:avLst/>
          </a:prstGeom>
          <a:solidFill>
            <a:srgbClr val="F7593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10" name="Oval 109">
            <a:extLst>
              <a:ext uri="{FF2B5EF4-FFF2-40B4-BE49-F238E27FC236}">
                <a16:creationId xmlns:a16="http://schemas.microsoft.com/office/drawing/2014/main" id="{D18DB2B8-22F0-F2F0-A040-46456934DCBB}"/>
              </a:ext>
            </a:extLst>
          </p:cNvPr>
          <p:cNvSpPr/>
          <p:nvPr/>
        </p:nvSpPr>
        <p:spPr>
          <a:xfrm>
            <a:off x="5115079" y="3999280"/>
            <a:ext cx="127008" cy="127008"/>
          </a:xfrm>
          <a:prstGeom prst="ellipse">
            <a:avLst/>
          </a:prstGeom>
          <a:solidFill>
            <a:srgbClr val="0096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11" name="Oval 110">
            <a:extLst>
              <a:ext uri="{FF2B5EF4-FFF2-40B4-BE49-F238E27FC236}">
                <a16:creationId xmlns:a16="http://schemas.microsoft.com/office/drawing/2014/main" id="{A1C6152C-2E06-A599-E67B-BBF7059681DF}"/>
              </a:ext>
            </a:extLst>
          </p:cNvPr>
          <p:cNvSpPr/>
          <p:nvPr/>
        </p:nvSpPr>
        <p:spPr>
          <a:xfrm>
            <a:off x="5155054" y="3806910"/>
            <a:ext cx="127008" cy="127008"/>
          </a:xfrm>
          <a:prstGeom prst="ellipse">
            <a:avLst/>
          </a:prstGeom>
          <a:solidFill>
            <a:srgbClr val="0096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12" name="Oval 111">
            <a:extLst>
              <a:ext uri="{FF2B5EF4-FFF2-40B4-BE49-F238E27FC236}">
                <a16:creationId xmlns:a16="http://schemas.microsoft.com/office/drawing/2014/main" id="{B5AF5B93-13C7-10A7-D91C-D64DA22178F3}"/>
              </a:ext>
            </a:extLst>
          </p:cNvPr>
          <p:cNvSpPr/>
          <p:nvPr/>
        </p:nvSpPr>
        <p:spPr>
          <a:xfrm>
            <a:off x="4977674" y="3884360"/>
            <a:ext cx="127008" cy="127008"/>
          </a:xfrm>
          <a:prstGeom prst="ellipse">
            <a:avLst/>
          </a:prstGeom>
          <a:solidFill>
            <a:srgbClr val="0096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113" name="Right Arrow 112">
            <a:extLst>
              <a:ext uri="{FF2B5EF4-FFF2-40B4-BE49-F238E27FC236}">
                <a16:creationId xmlns:a16="http://schemas.microsoft.com/office/drawing/2014/main" id="{0B85784F-5F63-5C01-C00F-EFCF3C4C7A01}"/>
              </a:ext>
            </a:extLst>
          </p:cNvPr>
          <p:cNvSpPr/>
          <p:nvPr/>
        </p:nvSpPr>
        <p:spPr>
          <a:xfrm>
            <a:off x="5373736" y="3032165"/>
            <a:ext cx="311094" cy="339368"/>
          </a:xfrm>
          <a:prstGeom prst="rightArrow">
            <a:avLst/>
          </a:prstGeom>
          <a:solidFill>
            <a:srgbClr val="E7E7E7"/>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ounded Rectangle 113">
            <a:extLst>
              <a:ext uri="{FF2B5EF4-FFF2-40B4-BE49-F238E27FC236}">
                <a16:creationId xmlns:a16="http://schemas.microsoft.com/office/drawing/2014/main" id="{F66D202B-4E4E-0A05-17B3-04E5F17E232F}"/>
              </a:ext>
            </a:extLst>
          </p:cNvPr>
          <p:cNvSpPr/>
          <p:nvPr/>
        </p:nvSpPr>
        <p:spPr>
          <a:xfrm>
            <a:off x="5680401" y="1713167"/>
            <a:ext cx="1848159" cy="4497133"/>
          </a:xfrm>
          <a:prstGeom prst="roundRect">
            <a:avLst/>
          </a:prstGeom>
          <a:solidFill>
            <a:srgbClr val="1D2024"/>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rgbClr val="D8A03D"/>
                </a:solidFill>
              </a:rPr>
              <a:t>Step 1: Automated Rep Detection</a:t>
            </a:r>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r>
              <a:rPr lang="en-US" sz="1200" dirty="0"/>
              <a:t>Run an algorithm over the </a:t>
            </a:r>
            <a:r>
              <a:rPr lang="en-US" sz="1200" dirty="0">
                <a:solidFill>
                  <a:srgbClr val="D8A03D"/>
                </a:solidFill>
              </a:rPr>
              <a:t>entire</a:t>
            </a:r>
            <a:r>
              <a:rPr lang="en-US" sz="1200" dirty="0"/>
              <a:t> drill period to detect 12-second windows where an individual rep may have taken place, and then run a second, local algorithm that extracts rep start and rep end frames</a:t>
            </a:r>
          </a:p>
        </p:txBody>
      </p:sp>
      <p:sp>
        <p:nvSpPr>
          <p:cNvPr id="115" name="Left Bracket 114">
            <a:extLst>
              <a:ext uri="{FF2B5EF4-FFF2-40B4-BE49-F238E27FC236}">
                <a16:creationId xmlns:a16="http://schemas.microsoft.com/office/drawing/2014/main" id="{7F528618-EFB1-6B90-377B-3FA4115A038A}"/>
              </a:ext>
            </a:extLst>
          </p:cNvPr>
          <p:cNvSpPr/>
          <p:nvPr/>
        </p:nvSpPr>
        <p:spPr>
          <a:xfrm>
            <a:off x="5794158" y="2371602"/>
            <a:ext cx="81280" cy="442718"/>
          </a:xfrm>
          <a:prstGeom prst="leftBracket">
            <a:avLst/>
          </a:prstGeom>
          <a:noFill/>
          <a:ln>
            <a:solidFill>
              <a:srgbClr val="D8A03D"/>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6" name="Left Bracket 115">
            <a:extLst>
              <a:ext uri="{FF2B5EF4-FFF2-40B4-BE49-F238E27FC236}">
                <a16:creationId xmlns:a16="http://schemas.microsoft.com/office/drawing/2014/main" id="{4AAE47A6-C924-F0B8-C829-8BD95AF90B73}"/>
              </a:ext>
            </a:extLst>
          </p:cNvPr>
          <p:cNvSpPr/>
          <p:nvPr/>
        </p:nvSpPr>
        <p:spPr>
          <a:xfrm rot="10800000">
            <a:off x="7266015" y="3519015"/>
            <a:ext cx="81280" cy="442718"/>
          </a:xfrm>
          <a:prstGeom prst="leftBracket">
            <a:avLst/>
          </a:prstGeom>
          <a:noFill/>
          <a:ln>
            <a:solidFill>
              <a:srgbClr val="D8A03D"/>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25" name="Graphic 124">
            <a:extLst>
              <a:ext uri="{FF2B5EF4-FFF2-40B4-BE49-F238E27FC236}">
                <a16:creationId xmlns:a16="http://schemas.microsoft.com/office/drawing/2014/main" id="{DD5B80FF-B00D-C9DF-0416-D946DA4068D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20743849">
            <a:off x="6239925" y="2487358"/>
            <a:ext cx="226380" cy="226380"/>
          </a:xfrm>
          <a:prstGeom prst="rect">
            <a:avLst/>
          </a:prstGeom>
        </p:spPr>
      </p:pic>
      <p:pic>
        <p:nvPicPr>
          <p:cNvPr id="126" name="Graphic 125">
            <a:extLst>
              <a:ext uri="{FF2B5EF4-FFF2-40B4-BE49-F238E27FC236}">
                <a16:creationId xmlns:a16="http://schemas.microsoft.com/office/drawing/2014/main" id="{AFC97224-1182-E2BF-ED49-808C1A37E15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856151" flipH="1">
            <a:off x="6047293" y="2494128"/>
            <a:ext cx="226380" cy="226380"/>
          </a:xfrm>
          <a:prstGeom prst="rect">
            <a:avLst/>
          </a:prstGeom>
        </p:spPr>
      </p:pic>
      <p:sp>
        <p:nvSpPr>
          <p:cNvPr id="127" name="Double Bracket 126">
            <a:extLst>
              <a:ext uri="{FF2B5EF4-FFF2-40B4-BE49-F238E27FC236}">
                <a16:creationId xmlns:a16="http://schemas.microsoft.com/office/drawing/2014/main" id="{661E8342-6778-6530-9549-CA892C9B573F}"/>
              </a:ext>
            </a:extLst>
          </p:cNvPr>
          <p:cNvSpPr/>
          <p:nvPr/>
        </p:nvSpPr>
        <p:spPr>
          <a:xfrm>
            <a:off x="5958878" y="2462951"/>
            <a:ext cx="589152" cy="275194"/>
          </a:xfrm>
          <a:prstGeom prst="bracketPair">
            <a:avLst/>
          </a:prstGeom>
          <a:ln>
            <a:solidFill>
              <a:srgbClr val="E7E7E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1" name="Graphic 130">
            <a:extLst>
              <a:ext uri="{FF2B5EF4-FFF2-40B4-BE49-F238E27FC236}">
                <a16:creationId xmlns:a16="http://schemas.microsoft.com/office/drawing/2014/main" id="{006EA925-7B4E-7CFF-99BE-5EDC67DD7CD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20743849">
            <a:off x="6510040" y="3065958"/>
            <a:ext cx="226380" cy="226380"/>
          </a:xfrm>
          <a:prstGeom prst="rect">
            <a:avLst/>
          </a:prstGeom>
        </p:spPr>
      </p:pic>
      <p:pic>
        <p:nvPicPr>
          <p:cNvPr id="132" name="Graphic 131">
            <a:extLst>
              <a:ext uri="{FF2B5EF4-FFF2-40B4-BE49-F238E27FC236}">
                <a16:creationId xmlns:a16="http://schemas.microsoft.com/office/drawing/2014/main" id="{4B6A3498-BBE9-FBC6-571E-97C55711787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856151" flipH="1">
            <a:off x="6317408" y="3072728"/>
            <a:ext cx="226380" cy="226380"/>
          </a:xfrm>
          <a:prstGeom prst="rect">
            <a:avLst/>
          </a:prstGeom>
        </p:spPr>
      </p:pic>
      <p:sp>
        <p:nvSpPr>
          <p:cNvPr id="133" name="Double Bracket 132">
            <a:extLst>
              <a:ext uri="{FF2B5EF4-FFF2-40B4-BE49-F238E27FC236}">
                <a16:creationId xmlns:a16="http://schemas.microsoft.com/office/drawing/2014/main" id="{EC9487F7-9022-648C-CCE5-054B1BCF33D0}"/>
              </a:ext>
            </a:extLst>
          </p:cNvPr>
          <p:cNvSpPr/>
          <p:nvPr/>
        </p:nvSpPr>
        <p:spPr>
          <a:xfrm>
            <a:off x="6228993" y="3041551"/>
            <a:ext cx="589152" cy="275194"/>
          </a:xfrm>
          <a:prstGeom prst="bracketPair">
            <a:avLst/>
          </a:prstGeom>
          <a:ln>
            <a:solidFill>
              <a:srgbClr val="E7E7E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4" name="Graphic 133">
            <a:extLst>
              <a:ext uri="{FF2B5EF4-FFF2-40B4-BE49-F238E27FC236}">
                <a16:creationId xmlns:a16="http://schemas.microsoft.com/office/drawing/2014/main" id="{FB94C487-7458-C7CF-8DB5-CAC6DF8741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20743849">
            <a:off x="6891040" y="3611550"/>
            <a:ext cx="226380" cy="226380"/>
          </a:xfrm>
          <a:prstGeom prst="rect">
            <a:avLst/>
          </a:prstGeom>
        </p:spPr>
      </p:pic>
      <p:pic>
        <p:nvPicPr>
          <p:cNvPr id="135" name="Graphic 134">
            <a:extLst>
              <a:ext uri="{FF2B5EF4-FFF2-40B4-BE49-F238E27FC236}">
                <a16:creationId xmlns:a16="http://schemas.microsoft.com/office/drawing/2014/main" id="{A6B8986C-1848-A205-2E9B-D8D653FD6A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856151" flipH="1">
            <a:off x="6698408" y="3618320"/>
            <a:ext cx="226380" cy="226380"/>
          </a:xfrm>
          <a:prstGeom prst="rect">
            <a:avLst/>
          </a:prstGeom>
        </p:spPr>
      </p:pic>
      <p:sp>
        <p:nvSpPr>
          <p:cNvPr id="136" name="Double Bracket 135">
            <a:extLst>
              <a:ext uri="{FF2B5EF4-FFF2-40B4-BE49-F238E27FC236}">
                <a16:creationId xmlns:a16="http://schemas.microsoft.com/office/drawing/2014/main" id="{C63CDCAD-8151-F944-1226-2F5F76D6898B}"/>
              </a:ext>
            </a:extLst>
          </p:cNvPr>
          <p:cNvSpPr/>
          <p:nvPr/>
        </p:nvSpPr>
        <p:spPr>
          <a:xfrm>
            <a:off x="6609993" y="3587143"/>
            <a:ext cx="589152" cy="275194"/>
          </a:xfrm>
          <a:prstGeom prst="bracketPair">
            <a:avLst/>
          </a:prstGeom>
          <a:ln>
            <a:solidFill>
              <a:srgbClr val="E7E7E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8" name="Oval 137">
            <a:extLst>
              <a:ext uri="{FF2B5EF4-FFF2-40B4-BE49-F238E27FC236}">
                <a16:creationId xmlns:a16="http://schemas.microsoft.com/office/drawing/2014/main" id="{0CB2D862-E094-7C64-8545-37D6401901E1}"/>
              </a:ext>
            </a:extLst>
          </p:cNvPr>
          <p:cNvSpPr/>
          <p:nvPr/>
        </p:nvSpPr>
        <p:spPr>
          <a:xfrm>
            <a:off x="6651243" y="2571320"/>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Oval 138">
            <a:extLst>
              <a:ext uri="{FF2B5EF4-FFF2-40B4-BE49-F238E27FC236}">
                <a16:creationId xmlns:a16="http://schemas.microsoft.com/office/drawing/2014/main" id="{12304191-5C4D-A238-512F-7910312A731A}"/>
              </a:ext>
            </a:extLst>
          </p:cNvPr>
          <p:cNvSpPr/>
          <p:nvPr/>
        </p:nvSpPr>
        <p:spPr>
          <a:xfrm>
            <a:off x="6795759" y="2572784"/>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Oval 139">
            <a:extLst>
              <a:ext uri="{FF2B5EF4-FFF2-40B4-BE49-F238E27FC236}">
                <a16:creationId xmlns:a16="http://schemas.microsoft.com/office/drawing/2014/main" id="{CF48F336-5F84-6356-360B-A43B3DD7D763}"/>
              </a:ext>
            </a:extLst>
          </p:cNvPr>
          <p:cNvSpPr/>
          <p:nvPr/>
        </p:nvSpPr>
        <p:spPr>
          <a:xfrm>
            <a:off x="6949195" y="2571320"/>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41D79C0D-E49B-A18C-BBBD-B18B79DFB79C}"/>
              </a:ext>
            </a:extLst>
          </p:cNvPr>
          <p:cNvSpPr/>
          <p:nvPr/>
        </p:nvSpPr>
        <p:spPr>
          <a:xfrm>
            <a:off x="7107981" y="2573204"/>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5" name="Oval 144">
            <a:extLst>
              <a:ext uri="{FF2B5EF4-FFF2-40B4-BE49-F238E27FC236}">
                <a16:creationId xmlns:a16="http://schemas.microsoft.com/office/drawing/2014/main" id="{D2DBCDDF-7756-F8F5-911E-BCBB2ABA0069}"/>
              </a:ext>
            </a:extLst>
          </p:cNvPr>
          <p:cNvSpPr/>
          <p:nvPr/>
        </p:nvSpPr>
        <p:spPr>
          <a:xfrm rot="10800000">
            <a:off x="5791824" y="3704795"/>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CFBC36C8-BB7A-A4F3-FB41-EF72FA3DD8A0}"/>
              </a:ext>
            </a:extLst>
          </p:cNvPr>
          <p:cNvSpPr/>
          <p:nvPr/>
        </p:nvSpPr>
        <p:spPr>
          <a:xfrm rot="10800000">
            <a:off x="5789284" y="3156984"/>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Oval 146">
            <a:extLst>
              <a:ext uri="{FF2B5EF4-FFF2-40B4-BE49-F238E27FC236}">
                <a16:creationId xmlns:a16="http://schemas.microsoft.com/office/drawing/2014/main" id="{521BC584-8DA9-CF4E-15BA-6431EF759E1B}"/>
              </a:ext>
            </a:extLst>
          </p:cNvPr>
          <p:cNvSpPr/>
          <p:nvPr/>
        </p:nvSpPr>
        <p:spPr>
          <a:xfrm rot="10800000">
            <a:off x="5942720" y="3155520"/>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Oval 147">
            <a:extLst>
              <a:ext uri="{FF2B5EF4-FFF2-40B4-BE49-F238E27FC236}">
                <a16:creationId xmlns:a16="http://schemas.microsoft.com/office/drawing/2014/main" id="{F80A4ED1-B531-3DF2-DA29-7972F7908A7B}"/>
              </a:ext>
            </a:extLst>
          </p:cNvPr>
          <p:cNvSpPr/>
          <p:nvPr/>
        </p:nvSpPr>
        <p:spPr>
          <a:xfrm rot="10800000">
            <a:off x="6101506" y="3157404"/>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9" name="Oval 148">
            <a:extLst>
              <a:ext uri="{FF2B5EF4-FFF2-40B4-BE49-F238E27FC236}">
                <a16:creationId xmlns:a16="http://schemas.microsoft.com/office/drawing/2014/main" id="{DB6817AE-CC6D-0B90-1FE1-4C8B7234A876}"/>
              </a:ext>
            </a:extLst>
          </p:cNvPr>
          <p:cNvSpPr/>
          <p:nvPr/>
        </p:nvSpPr>
        <p:spPr>
          <a:xfrm rot="10800000">
            <a:off x="5977956" y="3704795"/>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940C6C56-9ED8-97BB-039B-CA7B24C5D3AF}"/>
              </a:ext>
            </a:extLst>
          </p:cNvPr>
          <p:cNvSpPr/>
          <p:nvPr/>
        </p:nvSpPr>
        <p:spPr>
          <a:xfrm rot="10800000">
            <a:off x="6170284" y="3706259"/>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59759556-918F-76BF-E026-3991903BCF07}"/>
              </a:ext>
            </a:extLst>
          </p:cNvPr>
          <p:cNvSpPr/>
          <p:nvPr/>
        </p:nvSpPr>
        <p:spPr>
          <a:xfrm rot="10800000">
            <a:off x="6323720" y="3704795"/>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EB4CF52A-5CFD-BDDF-DE35-784C8555F83C}"/>
              </a:ext>
            </a:extLst>
          </p:cNvPr>
          <p:cNvSpPr/>
          <p:nvPr/>
        </p:nvSpPr>
        <p:spPr>
          <a:xfrm rot="10800000">
            <a:off x="6482506" y="3706679"/>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Oval 152">
            <a:extLst>
              <a:ext uri="{FF2B5EF4-FFF2-40B4-BE49-F238E27FC236}">
                <a16:creationId xmlns:a16="http://schemas.microsoft.com/office/drawing/2014/main" id="{9A4AC7EB-ECD0-8829-FED1-93021FEAFAD4}"/>
              </a:ext>
            </a:extLst>
          </p:cNvPr>
          <p:cNvSpPr/>
          <p:nvPr/>
        </p:nvSpPr>
        <p:spPr>
          <a:xfrm rot="10800000">
            <a:off x="5788649" y="3528618"/>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05443190-04D5-782A-4E6A-70141C8190D0}"/>
              </a:ext>
            </a:extLst>
          </p:cNvPr>
          <p:cNvSpPr/>
          <p:nvPr/>
        </p:nvSpPr>
        <p:spPr>
          <a:xfrm rot="10800000">
            <a:off x="5789284" y="3343441"/>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6418984A-65F3-7C25-FCEF-094DAFA7124F}"/>
              </a:ext>
            </a:extLst>
          </p:cNvPr>
          <p:cNvSpPr/>
          <p:nvPr/>
        </p:nvSpPr>
        <p:spPr>
          <a:xfrm rot="10800000">
            <a:off x="7110521" y="3154663"/>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10808F0C-1938-E3C0-09C8-AD1FB8DDD350}"/>
              </a:ext>
            </a:extLst>
          </p:cNvPr>
          <p:cNvSpPr/>
          <p:nvPr/>
        </p:nvSpPr>
        <p:spPr>
          <a:xfrm rot="10800000">
            <a:off x="7107346" y="2978486"/>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34E45ABB-EFCD-14AC-537B-1F9F8972964D}"/>
              </a:ext>
            </a:extLst>
          </p:cNvPr>
          <p:cNvSpPr/>
          <p:nvPr/>
        </p:nvSpPr>
        <p:spPr>
          <a:xfrm rot="10800000">
            <a:off x="7107981" y="2764734"/>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1FB33E25-A397-A9D1-17B6-B6111E2CF6E8}"/>
              </a:ext>
            </a:extLst>
          </p:cNvPr>
          <p:cNvSpPr/>
          <p:nvPr/>
        </p:nvSpPr>
        <p:spPr>
          <a:xfrm rot="10800000">
            <a:off x="6946769" y="3154663"/>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C6DEABE5-EC53-E82F-3D13-6AFB73C46D67}"/>
              </a:ext>
            </a:extLst>
          </p:cNvPr>
          <p:cNvSpPr/>
          <p:nvPr/>
        </p:nvSpPr>
        <p:spPr>
          <a:xfrm rot="10800000">
            <a:off x="5836369" y="2569609"/>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Oval 160">
            <a:extLst>
              <a:ext uri="{FF2B5EF4-FFF2-40B4-BE49-F238E27FC236}">
                <a16:creationId xmlns:a16="http://schemas.microsoft.com/office/drawing/2014/main" id="{52561088-8860-0B03-3204-139023E3ED66}"/>
              </a:ext>
            </a:extLst>
          </p:cNvPr>
          <p:cNvSpPr/>
          <p:nvPr/>
        </p:nvSpPr>
        <p:spPr>
          <a:xfrm rot="10800000">
            <a:off x="7244415" y="3704795"/>
            <a:ext cx="64008" cy="61877"/>
          </a:xfrm>
          <a:prstGeom prst="ellipse">
            <a:avLst/>
          </a:prstGeom>
          <a:solidFill>
            <a:srgbClr val="E7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ight Arrow 169">
            <a:extLst>
              <a:ext uri="{FF2B5EF4-FFF2-40B4-BE49-F238E27FC236}">
                <a16:creationId xmlns:a16="http://schemas.microsoft.com/office/drawing/2014/main" id="{AE7EF628-2F82-51AB-7BCE-6CC603967600}"/>
              </a:ext>
            </a:extLst>
          </p:cNvPr>
          <p:cNvSpPr/>
          <p:nvPr/>
        </p:nvSpPr>
        <p:spPr>
          <a:xfrm>
            <a:off x="7540605" y="3018065"/>
            <a:ext cx="311094" cy="339368"/>
          </a:xfrm>
          <a:prstGeom prst="rightArrow">
            <a:avLst/>
          </a:prstGeom>
          <a:solidFill>
            <a:srgbClr val="E7E7E7"/>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ounded Rectangle 170">
            <a:extLst>
              <a:ext uri="{FF2B5EF4-FFF2-40B4-BE49-F238E27FC236}">
                <a16:creationId xmlns:a16="http://schemas.microsoft.com/office/drawing/2014/main" id="{EBA5FF3F-9DF5-E671-5F16-56E56BBC014D}"/>
              </a:ext>
            </a:extLst>
          </p:cNvPr>
          <p:cNvSpPr/>
          <p:nvPr/>
        </p:nvSpPr>
        <p:spPr>
          <a:xfrm>
            <a:off x="7847270" y="1699067"/>
            <a:ext cx="1848159" cy="4497133"/>
          </a:xfrm>
          <a:prstGeom prst="roundRect">
            <a:avLst/>
          </a:prstGeom>
          <a:solidFill>
            <a:srgbClr val="1D2024"/>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rgbClr val="D8A03D"/>
                </a:solidFill>
              </a:rPr>
              <a:t>Step 2: Feature Engineering</a:t>
            </a:r>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r>
              <a:rPr lang="en-US" sz="1200" dirty="0"/>
              <a:t>Define engagement windows, approximate </a:t>
            </a:r>
            <a:r>
              <a:rPr lang="en-US" sz="1200" dirty="0">
                <a:solidFill>
                  <a:srgbClr val="D8A03D"/>
                </a:solidFill>
              </a:rPr>
              <a:t>contact onset</a:t>
            </a:r>
            <a:r>
              <a:rPr lang="en-US" sz="1200" dirty="0"/>
              <a:t>, pair player names and positions with individual tracking IDs, and label edge vs. interior matchups</a:t>
            </a:r>
          </a:p>
        </p:txBody>
      </p:sp>
      <p:sp>
        <p:nvSpPr>
          <p:cNvPr id="172" name="Right Arrow 171">
            <a:extLst>
              <a:ext uri="{FF2B5EF4-FFF2-40B4-BE49-F238E27FC236}">
                <a16:creationId xmlns:a16="http://schemas.microsoft.com/office/drawing/2014/main" id="{572FCE5A-624F-3F5B-5436-5F54AB6A80D6}"/>
              </a:ext>
            </a:extLst>
          </p:cNvPr>
          <p:cNvSpPr/>
          <p:nvPr/>
        </p:nvSpPr>
        <p:spPr>
          <a:xfrm>
            <a:off x="9695429" y="3032164"/>
            <a:ext cx="311094" cy="339368"/>
          </a:xfrm>
          <a:prstGeom prst="rightArrow">
            <a:avLst/>
          </a:prstGeom>
          <a:solidFill>
            <a:srgbClr val="E7E7E7"/>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Rounded Rectangle 172">
            <a:extLst>
              <a:ext uri="{FF2B5EF4-FFF2-40B4-BE49-F238E27FC236}">
                <a16:creationId xmlns:a16="http://schemas.microsoft.com/office/drawing/2014/main" id="{3C707D2B-7348-A9C7-ECB5-76F922D3703A}"/>
              </a:ext>
            </a:extLst>
          </p:cNvPr>
          <p:cNvSpPr/>
          <p:nvPr/>
        </p:nvSpPr>
        <p:spPr>
          <a:xfrm>
            <a:off x="10002094" y="1713166"/>
            <a:ext cx="1848159" cy="4497133"/>
          </a:xfrm>
          <a:prstGeom prst="roundRect">
            <a:avLst/>
          </a:prstGeom>
          <a:solidFill>
            <a:srgbClr val="1D2024"/>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rgbClr val="D8A03D"/>
                </a:solidFill>
              </a:rPr>
              <a:t>Output: Performance Metrics</a:t>
            </a:r>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endParaRPr lang="en-US" sz="1200" dirty="0"/>
          </a:p>
          <a:p>
            <a:pPr algn="ctr"/>
            <a:r>
              <a:rPr lang="en-US" sz="1200" dirty="0"/>
              <a:t>Compute how much depth a defensive lineman gained or an offensive lineman allowed, and measure </a:t>
            </a:r>
            <a:r>
              <a:rPr lang="en-US" sz="1200" dirty="0">
                <a:solidFill>
                  <a:srgbClr val="D8A03D"/>
                </a:solidFill>
              </a:rPr>
              <a:t>power</a:t>
            </a:r>
            <a:r>
              <a:rPr lang="en-US" sz="1200" dirty="0"/>
              <a:t> (bull rushes, DL walking the OL back) and </a:t>
            </a:r>
            <a:r>
              <a:rPr lang="en-US" sz="1200" dirty="0">
                <a:solidFill>
                  <a:srgbClr val="D8A03D"/>
                </a:solidFill>
              </a:rPr>
              <a:t>stalls</a:t>
            </a:r>
            <a:r>
              <a:rPr lang="en-US" sz="1200" dirty="0"/>
              <a:t> (anchor, OL neutralizes DL) proxies</a:t>
            </a:r>
          </a:p>
        </p:txBody>
      </p:sp>
      <p:pic>
        <p:nvPicPr>
          <p:cNvPr id="175" name="Graphic 174">
            <a:extLst>
              <a:ext uri="{FF2B5EF4-FFF2-40B4-BE49-F238E27FC236}">
                <a16:creationId xmlns:a16="http://schemas.microsoft.com/office/drawing/2014/main" id="{252605D6-CEC0-2236-B89E-57FD079C8F4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68205" y="2395456"/>
            <a:ext cx="773832" cy="773832"/>
          </a:xfrm>
          <a:prstGeom prst="rect">
            <a:avLst/>
          </a:prstGeom>
        </p:spPr>
      </p:pic>
      <p:pic>
        <p:nvPicPr>
          <p:cNvPr id="181" name="Graphic 180">
            <a:extLst>
              <a:ext uri="{FF2B5EF4-FFF2-40B4-BE49-F238E27FC236}">
                <a16:creationId xmlns:a16="http://schemas.microsoft.com/office/drawing/2014/main" id="{C7C1D556-D32E-E7F3-CF05-8DFA14220E1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315633" y="3404727"/>
            <a:ext cx="1110575" cy="1110575"/>
          </a:xfrm>
          <a:prstGeom prst="rect">
            <a:avLst/>
          </a:prstGeom>
        </p:spPr>
      </p:pic>
      <p:pic>
        <p:nvPicPr>
          <p:cNvPr id="185" name="Graphic 184" descr="Marker with solid fill">
            <a:extLst>
              <a:ext uri="{FF2B5EF4-FFF2-40B4-BE49-F238E27FC236}">
                <a16:creationId xmlns:a16="http://schemas.microsoft.com/office/drawing/2014/main" id="{E6ADD580-0408-1C4D-5DE8-F421F6349DC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555184" y="3403179"/>
            <a:ext cx="367928" cy="367928"/>
          </a:xfrm>
          <a:prstGeom prst="rect">
            <a:avLst/>
          </a:prstGeom>
        </p:spPr>
      </p:pic>
      <p:pic>
        <p:nvPicPr>
          <p:cNvPr id="187" name="Graphic 186">
            <a:extLst>
              <a:ext uri="{FF2B5EF4-FFF2-40B4-BE49-F238E27FC236}">
                <a16:creationId xmlns:a16="http://schemas.microsoft.com/office/drawing/2014/main" id="{03C268D3-25D2-4257-EECE-240254334057}"/>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317122" y="2550804"/>
            <a:ext cx="1274484" cy="1274484"/>
          </a:xfrm>
          <a:prstGeom prst="rect">
            <a:avLst/>
          </a:prstGeom>
        </p:spPr>
      </p:pic>
    </p:spTree>
    <p:extLst>
      <p:ext uri="{BB962C8B-B14F-4D97-AF65-F5344CB8AC3E}">
        <p14:creationId xmlns:p14="http://schemas.microsoft.com/office/powerpoint/2010/main" val="4246927779"/>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317"/>
        </a:solidFill>
        <a:effectLst/>
      </p:bgPr>
    </p:bg>
    <p:spTree>
      <p:nvGrpSpPr>
        <p:cNvPr id="1" name=""/>
        <p:cNvGrpSpPr/>
        <p:nvPr/>
      </p:nvGrpSpPr>
      <p:grpSpPr>
        <a:xfrm>
          <a:off x="0" y="0"/>
          <a:ext cx="0" cy="0"/>
          <a:chOff x="0" y="0"/>
          <a:chExt cx="0" cy="0"/>
        </a:xfrm>
      </p:grpSpPr>
      <p:sp>
        <p:nvSpPr>
          <p:cNvPr id="2" name="Text 0"/>
          <p:cNvSpPr/>
          <p:nvPr/>
        </p:nvSpPr>
        <p:spPr>
          <a:xfrm>
            <a:off x="381000" y="381000"/>
            <a:ext cx="11496675" cy="190500"/>
          </a:xfrm>
          <a:prstGeom prst="rect">
            <a:avLst/>
          </a:prstGeom>
          <a:noFill/>
          <a:ln/>
        </p:spPr>
        <p:txBody>
          <a:bodyPr wrap="square" lIns="0" tIns="0" rIns="0" bIns="0" rtlCol="0" anchor="ctr"/>
          <a:lstStyle/>
          <a:p>
            <a:pPr>
              <a:lnSpc>
                <a:spcPct val="120000"/>
              </a:lnSpc>
            </a:pPr>
            <a:r>
              <a:rPr lang="en-US" sz="1050" b="1" kern="0" spc="263" dirty="0">
                <a:solidFill>
                  <a:srgbClr val="D8A03D"/>
                </a:solidFill>
                <a:latin typeface="Quattrocento Sans" pitchFamily="34" charset="0"/>
                <a:ea typeface="Quattrocento Sans" pitchFamily="34" charset="-122"/>
                <a:cs typeface="Quattrocento Sans" pitchFamily="34" charset="-120"/>
              </a:rPr>
              <a:t>AUTOMATED DETECTION</a:t>
            </a:r>
            <a:endParaRPr lang="en-US" sz="1600" dirty="0"/>
          </a:p>
        </p:txBody>
      </p:sp>
      <p:sp>
        <p:nvSpPr>
          <p:cNvPr id="3" name="Text 1"/>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700" b="1" dirty="0">
                <a:solidFill>
                  <a:srgbClr val="E1E3E6"/>
                </a:solidFill>
                <a:latin typeface="Liter" pitchFamily="34" charset="0"/>
                <a:ea typeface="Liter" pitchFamily="34" charset="-122"/>
                <a:cs typeface="Liter" pitchFamily="34" charset="-120"/>
              </a:rPr>
              <a:t>Data Pipeline Framework</a:t>
            </a:r>
            <a:endParaRPr lang="en-US" sz="1600" dirty="0"/>
          </a:p>
        </p:txBody>
      </p:sp>
      <p:sp>
        <p:nvSpPr>
          <p:cNvPr id="37" name="Rounded Rectangle 36">
            <a:extLst>
              <a:ext uri="{FF2B5EF4-FFF2-40B4-BE49-F238E27FC236}">
                <a16:creationId xmlns:a16="http://schemas.microsoft.com/office/drawing/2014/main" id="{CE81C26A-D9A0-34C5-4880-231AB7B0053B}"/>
              </a:ext>
            </a:extLst>
          </p:cNvPr>
          <p:cNvSpPr/>
          <p:nvPr/>
        </p:nvSpPr>
        <p:spPr>
          <a:xfrm>
            <a:off x="494739" y="2644588"/>
            <a:ext cx="11202521" cy="381000"/>
          </a:xfrm>
          <a:prstGeom prst="roundRect">
            <a:avLst/>
          </a:prstGeom>
          <a:solidFill>
            <a:srgbClr val="1D2024"/>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ounded Rectangle 37">
            <a:extLst>
              <a:ext uri="{FF2B5EF4-FFF2-40B4-BE49-F238E27FC236}">
                <a16:creationId xmlns:a16="http://schemas.microsoft.com/office/drawing/2014/main" id="{5DD896FC-4882-8B9C-1989-E7B097E59DF4}"/>
              </a:ext>
            </a:extLst>
          </p:cNvPr>
          <p:cNvSpPr/>
          <p:nvPr/>
        </p:nvSpPr>
        <p:spPr>
          <a:xfrm>
            <a:off x="860614" y="2474259"/>
            <a:ext cx="1613646" cy="726141"/>
          </a:xfrm>
          <a:prstGeom prst="roundRect">
            <a:avLst/>
          </a:prstGeom>
          <a:solidFill>
            <a:srgbClr val="1D2024"/>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Rep 1</a:t>
            </a:r>
          </a:p>
        </p:txBody>
      </p:sp>
      <p:cxnSp>
        <p:nvCxnSpPr>
          <p:cNvPr id="40" name="Straight Connector 39">
            <a:extLst>
              <a:ext uri="{FF2B5EF4-FFF2-40B4-BE49-F238E27FC236}">
                <a16:creationId xmlns:a16="http://schemas.microsoft.com/office/drawing/2014/main" id="{C2D80A4B-1AEC-A7B8-40FE-32E9A352C53B}"/>
              </a:ext>
            </a:extLst>
          </p:cNvPr>
          <p:cNvCxnSpPr>
            <a:cxnSpLocks/>
          </p:cNvCxnSpPr>
          <p:nvPr/>
        </p:nvCxnSpPr>
        <p:spPr>
          <a:xfrm>
            <a:off x="1089212" y="2151529"/>
            <a:ext cx="0" cy="1048871"/>
          </a:xfrm>
          <a:prstGeom prst="line">
            <a:avLst/>
          </a:prstGeom>
          <a:ln>
            <a:solidFill>
              <a:srgbClr val="F75930"/>
            </a:solidFill>
          </a:ln>
        </p:spPr>
        <p:style>
          <a:lnRef idx="1">
            <a:schemeClr val="accent1"/>
          </a:lnRef>
          <a:fillRef idx="0">
            <a:schemeClr val="accent1"/>
          </a:fillRef>
          <a:effectRef idx="0">
            <a:schemeClr val="accent1"/>
          </a:effectRef>
          <a:fontRef idx="minor">
            <a:schemeClr val="tx1"/>
          </a:fontRef>
        </p:style>
      </p:cxnSp>
      <p:sp>
        <p:nvSpPr>
          <p:cNvPr id="43" name="Left Bracket 42">
            <a:extLst>
              <a:ext uri="{FF2B5EF4-FFF2-40B4-BE49-F238E27FC236}">
                <a16:creationId xmlns:a16="http://schemas.microsoft.com/office/drawing/2014/main" id="{A771B383-8D8A-05A4-9AB8-D563A3B048FF}"/>
              </a:ext>
            </a:extLst>
          </p:cNvPr>
          <p:cNvSpPr/>
          <p:nvPr/>
        </p:nvSpPr>
        <p:spPr>
          <a:xfrm rot="5400000">
            <a:off x="5618629" y="-3604369"/>
            <a:ext cx="954741" cy="11202522"/>
          </a:xfrm>
          <a:prstGeom prst="leftBracket">
            <a:avLst/>
          </a:prstGeom>
          <a:ln>
            <a:solidFill>
              <a:srgbClr val="F7593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4" name="TextBox 43">
            <a:extLst>
              <a:ext uri="{FF2B5EF4-FFF2-40B4-BE49-F238E27FC236}">
                <a16:creationId xmlns:a16="http://schemas.microsoft.com/office/drawing/2014/main" id="{25762ED2-04F0-7926-A86E-9AB67D2F62A1}"/>
              </a:ext>
            </a:extLst>
          </p:cNvPr>
          <p:cNvSpPr txBox="1"/>
          <p:nvPr/>
        </p:nvSpPr>
        <p:spPr>
          <a:xfrm>
            <a:off x="494738" y="1082488"/>
            <a:ext cx="11202522" cy="369332"/>
          </a:xfrm>
          <a:prstGeom prst="rect">
            <a:avLst/>
          </a:prstGeom>
          <a:noFill/>
        </p:spPr>
        <p:txBody>
          <a:bodyPr wrap="square" rtlCol="0">
            <a:spAutoFit/>
          </a:bodyPr>
          <a:lstStyle/>
          <a:p>
            <a:pPr algn="ctr"/>
            <a:r>
              <a:rPr lang="en-US" dirty="0">
                <a:solidFill>
                  <a:srgbClr val="F75930"/>
                </a:solidFill>
              </a:rPr>
              <a:t>Outer Algorithm: Search for candidate reps, provide window to inner algorithm, proceed until end of session</a:t>
            </a:r>
          </a:p>
        </p:txBody>
      </p:sp>
      <p:sp>
        <p:nvSpPr>
          <p:cNvPr id="45" name="TextBox 44">
            <a:extLst>
              <a:ext uri="{FF2B5EF4-FFF2-40B4-BE49-F238E27FC236}">
                <a16:creationId xmlns:a16="http://schemas.microsoft.com/office/drawing/2014/main" id="{FF311BB8-E81D-4EB2-CBA3-B04AE8F4FB58}"/>
              </a:ext>
            </a:extLst>
          </p:cNvPr>
          <p:cNvSpPr txBox="1"/>
          <p:nvPr/>
        </p:nvSpPr>
        <p:spPr>
          <a:xfrm>
            <a:off x="995081" y="1725336"/>
            <a:ext cx="7488331" cy="461665"/>
          </a:xfrm>
          <a:prstGeom prst="rect">
            <a:avLst/>
          </a:prstGeom>
          <a:noFill/>
        </p:spPr>
        <p:txBody>
          <a:bodyPr wrap="square" rtlCol="0">
            <a:spAutoFit/>
          </a:bodyPr>
          <a:lstStyle/>
          <a:p>
            <a:r>
              <a:rPr lang="en-US" sz="1200" dirty="0">
                <a:solidFill>
                  <a:srgbClr val="F75930"/>
                </a:solidFill>
              </a:rPr>
              <a:t>The trigger: DL crosses normalized Line of Scrimmage threshold (x = 0.5). </a:t>
            </a:r>
          </a:p>
          <a:p>
            <a:r>
              <a:rPr lang="en-US" sz="1200" dirty="0">
                <a:solidFill>
                  <a:srgbClr val="F75930"/>
                </a:solidFill>
              </a:rPr>
              <a:t>Pass time slice [-4.0 seconds, +8.0 seconds] from frame to local algorithm</a:t>
            </a:r>
          </a:p>
        </p:txBody>
      </p:sp>
      <p:sp>
        <p:nvSpPr>
          <p:cNvPr id="46" name="Left Bracket 45">
            <a:extLst>
              <a:ext uri="{FF2B5EF4-FFF2-40B4-BE49-F238E27FC236}">
                <a16:creationId xmlns:a16="http://schemas.microsoft.com/office/drawing/2014/main" id="{8F475EDE-9341-B53C-92EE-D869710187B5}"/>
              </a:ext>
            </a:extLst>
          </p:cNvPr>
          <p:cNvSpPr/>
          <p:nvPr/>
        </p:nvSpPr>
        <p:spPr>
          <a:xfrm rot="16200000">
            <a:off x="1509434" y="2692776"/>
            <a:ext cx="316008" cy="1613644"/>
          </a:xfrm>
          <a:prstGeom prst="leftBracket">
            <a:avLst/>
          </a:prstGeom>
          <a:ln>
            <a:solidFill>
              <a:srgbClr val="0096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96FF"/>
              </a:solidFill>
            </a:endParaRPr>
          </a:p>
        </p:txBody>
      </p:sp>
      <p:sp>
        <p:nvSpPr>
          <p:cNvPr id="48" name="TextBox 47">
            <a:extLst>
              <a:ext uri="{FF2B5EF4-FFF2-40B4-BE49-F238E27FC236}">
                <a16:creationId xmlns:a16="http://schemas.microsoft.com/office/drawing/2014/main" id="{8C69578E-49F5-B0E3-A071-87EAB509A695}"/>
              </a:ext>
            </a:extLst>
          </p:cNvPr>
          <p:cNvSpPr txBox="1"/>
          <p:nvPr/>
        </p:nvSpPr>
        <p:spPr>
          <a:xfrm>
            <a:off x="284631" y="3657601"/>
            <a:ext cx="2765612" cy="369332"/>
          </a:xfrm>
          <a:prstGeom prst="rect">
            <a:avLst/>
          </a:prstGeom>
          <a:noFill/>
        </p:spPr>
        <p:txBody>
          <a:bodyPr wrap="square" rtlCol="0">
            <a:spAutoFit/>
          </a:bodyPr>
          <a:lstStyle/>
          <a:p>
            <a:pPr algn="ctr"/>
            <a:r>
              <a:rPr lang="en-US" dirty="0">
                <a:solidFill>
                  <a:srgbClr val="0096FF"/>
                </a:solidFill>
              </a:rPr>
              <a:t>Inner Algorithm</a:t>
            </a:r>
          </a:p>
        </p:txBody>
      </p:sp>
      <p:sp>
        <p:nvSpPr>
          <p:cNvPr id="53" name="Rounded Rectangle 52">
            <a:extLst>
              <a:ext uri="{FF2B5EF4-FFF2-40B4-BE49-F238E27FC236}">
                <a16:creationId xmlns:a16="http://schemas.microsoft.com/office/drawing/2014/main" id="{19727FCF-0C2B-56D6-E26B-900DA020D12E}"/>
              </a:ext>
            </a:extLst>
          </p:cNvPr>
          <p:cNvSpPr/>
          <p:nvPr/>
        </p:nvSpPr>
        <p:spPr>
          <a:xfrm>
            <a:off x="3877237" y="2472018"/>
            <a:ext cx="1613646" cy="726141"/>
          </a:xfrm>
          <a:prstGeom prst="roundRect">
            <a:avLst/>
          </a:prstGeom>
          <a:solidFill>
            <a:srgbClr val="1D2024"/>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Rep 2</a:t>
            </a:r>
          </a:p>
        </p:txBody>
      </p:sp>
      <p:cxnSp>
        <p:nvCxnSpPr>
          <p:cNvPr id="54" name="Straight Connector 53">
            <a:extLst>
              <a:ext uri="{FF2B5EF4-FFF2-40B4-BE49-F238E27FC236}">
                <a16:creationId xmlns:a16="http://schemas.microsoft.com/office/drawing/2014/main" id="{33BB4EF7-8C1D-0FE5-A063-5274F9DFD21F}"/>
              </a:ext>
            </a:extLst>
          </p:cNvPr>
          <p:cNvCxnSpPr>
            <a:cxnSpLocks/>
          </p:cNvCxnSpPr>
          <p:nvPr/>
        </p:nvCxnSpPr>
        <p:spPr>
          <a:xfrm>
            <a:off x="4105835" y="2149288"/>
            <a:ext cx="0" cy="1048871"/>
          </a:xfrm>
          <a:prstGeom prst="line">
            <a:avLst/>
          </a:prstGeom>
          <a:ln>
            <a:solidFill>
              <a:srgbClr val="F75930"/>
            </a:solidFill>
          </a:ln>
        </p:spPr>
        <p:style>
          <a:lnRef idx="1">
            <a:schemeClr val="accent1"/>
          </a:lnRef>
          <a:fillRef idx="0">
            <a:schemeClr val="accent1"/>
          </a:fillRef>
          <a:effectRef idx="0">
            <a:schemeClr val="accent1"/>
          </a:effectRef>
          <a:fontRef idx="minor">
            <a:schemeClr val="tx1"/>
          </a:fontRef>
        </p:style>
      </p:cxnSp>
      <p:sp>
        <p:nvSpPr>
          <p:cNvPr id="55" name="Rounded Rectangle 54">
            <a:extLst>
              <a:ext uri="{FF2B5EF4-FFF2-40B4-BE49-F238E27FC236}">
                <a16:creationId xmlns:a16="http://schemas.microsoft.com/office/drawing/2014/main" id="{3D988538-12EB-1F85-5B0C-6151032087AE}"/>
              </a:ext>
            </a:extLst>
          </p:cNvPr>
          <p:cNvSpPr/>
          <p:nvPr/>
        </p:nvSpPr>
        <p:spPr>
          <a:xfrm>
            <a:off x="6866126" y="2472018"/>
            <a:ext cx="1613646" cy="726141"/>
          </a:xfrm>
          <a:prstGeom prst="roundRect">
            <a:avLst/>
          </a:prstGeom>
          <a:solidFill>
            <a:srgbClr val="1D2024"/>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Rep 3</a:t>
            </a:r>
          </a:p>
        </p:txBody>
      </p:sp>
      <p:cxnSp>
        <p:nvCxnSpPr>
          <p:cNvPr id="56" name="Straight Connector 55">
            <a:extLst>
              <a:ext uri="{FF2B5EF4-FFF2-40B4-BE49-F238E27FC236}">
                <a16:creationId xmlns:a16="http://schemas.microsoft.com/office/drawing/2014/main" id="{22B1CC12-7A1E-6EA2-78EE-A7BA55A796EE}"/>
              </a:ext>
            </a:extLst>
          </p:cNvPr>
          <p:cNvCxnSpPr>
            <a:cxnSpLocks/>
          </p:cNvCxnSpPr>
          <p:nvPr/>
        </p:nvCxnSpPr>
        <p:spPr>
          <a:xfrm>
            <a:off x="7094724" y="2149288"/>
            <a:ext cx="0" cy="1048871"/>
          </a:xfrm>
          <a:prstGeom prst="line">
            <a:avLst/>
          </a:prstGeom>
          <a:ln>
            <a:solidFill>
              <a:srgbClr val="F75930"/>
            </a:solidFill>
          </a:ln>
        </p:spPr>
        <p:style>
          <a:lnRef idx="1">
            <a:schemeClr val="accent1"/>
          </a:lnRef>
          <a:fillRef idx="0">
            <a:schemeClr val="accent1"/>
          </a:fillRef>
          <a:effectRef idx="0">
            <a:schemeClr val="accent1"/>
          </a:effectRef>
          <a:fontRef idx="minor">
            <a:schemeClr val="tx1"/>
          </a:fontRef>
        </p:style>
      </p:cxnSp>
      <p:sp>
        <p:nvSpPr>
          <p:cNvPr id="59" name="Left Bracket 58">
            <a:extLst>
              <a:ext uri="{FF2B5EF4-FFF2-40B4-BE49-F238E27FC236}">
                <a16:creationId xmlns:a16="http://schemas.microsoft.com/office/drawing/2014/main" id="{279D5D0E-F729-2A0A-75B5-F0EA2FB0A0CC}"/>
              </a:ext>
            </a:extLst>
          </p:cNvPr>
          <p:cNvSpPr/>
          <p:nvPr/>
        </p:nvSpPr>
        <p:spPr>
          <a:xfrm rot="16200000">
            <a:off x="4539503" y="2697259"/>
            <a:ext cx="316008" cy="1613644"/>
          </a:xfrm>
          <a:prstGeom prst="leftBracket">
            <a:avLst/>
          </a:prstGeom>
          <a:ln>
            <a:solidFill>
              <a:srgbClr val="0096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96FF"/>
              </a:solidFill>
            </a:endParaRPr>
          </a:p>
        </p:txBody>
      </p:sp>
      <p:sp>
        <p:nvSpPr>
          <p:cNvPr id="60" name="Left Bracket 59">
            <a:extLst>
              <a:ext uri="{FF2B5EF4-FFF2-40B4-BE49-F238E27FC236}">
                <a16:creationId xmlns:a16="http://schemas.microsoft.com/office/drawing/2014/main" id="{E7147D50-3922-F1DC-9EF2-163D4E199C90}"/>
              </a:ext>
            </a:extLst>
          </p:cNvPr>
          <p:cNvSpPr/>
          <p:nvPr/>
        </p:nvSpPr>
        <p:spPr>
          <a:xfrm rot="16200000">
            <a:off x="7529231" y="2674848"/>
            <a:ext cx="316008" cy="1613644"/>
          </a:xfrm>
          <a:prstGeom prst="leftBracket">
            <a:avLst/>
          </a:prstGeom>
          <a:ln>
            <a:solidFill>
              <a:srgbClr val="0096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96FF"/>
              </a:solidFill>
            </a:endParaRPr>
          </a:p>
        </p:txBody>
      </p:sp>
      <p:pic>
        <p:nvPicPr>
          <p:cNvPr id="62" name="Graphic 61" descr="Arrow: Clockwise curve outline">
            <a:extLst>
              <a:ext uri="{FF2B5EF4-FFF2-40B4-BE49-F238E27FC236}">
                <a16:creationId xmlns:a16="http://schemas.microsoft.com/office/drawing/2014/main" id="{ED7000FF-E99E-CEB0-9610-9460B9E1217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0033619" flipH="1">
            <a:off x="462173" y="3506273"/>
            <a:ext cx="597491" cy="1137571"/>
          </a:xfrm>
          <a:prstGeom prst="rect">
            <a:avLst/>
          </a:prstGeom>
        </p:spPr>
      </p:pic>
      <p:sp>
        <p:nvSpPr>
          <p:cNvPr id="63" name="Rounded Rectangle 62">
            <a:extLst>
              <a:ext uri="{FF2B5EF4-FFF2-40B4-BE49-F238E27FC236}">
                <a16:creationId xmlns:a16="http://schemas.microsoft.com/office/drawing/2014/main" id="{7F574F09-77A8-B3C2-9380-5B736B15AA73}"/>
              </a:ext>
            </a:extLst>
          </p:cNvPr>
          <p:cNvSpPr/>
          <p:nvPr/>
        </p:nvSpPr>
        <p:spPr>
          <a:xfrm>
            <a:off x="572919" y="4555569"/>
            <a:ext cx="2742601" cy="1234171"/>
          </a:xfrm>
          <a:prstGeom prst="roundRect">
            <a:avLst/>
          </a:prstGeom>
          <a:solidFill>
            <a:srgbClr val="1D2024"/>
          </a:solidFill>
          <a:ln>
            <a:solidFill>
              <a:srgbClr val="E7E7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Left Bracket 63">
            <a:extLst>
              <a:ext uri="{FF2B5EF4-FFF2-40B4-BE49-F238E27FC236}">
                <a16:creationId xmlns:a16="http://schemas.microsoft.com/office/drawing/2014/main" id="{D4B1B702-904C-1083-B129-38A87AC005B7}"/>
              </a:ext>
            </a:extLst>
          </p:cNvPr>
          <p:cNvSpPr/>
          <p:nvPr/>
        </p:nvSpPr>
        <p:spPr>
          <a:xfrm rot="16200000">
            <a:off x="1809748" y="4704976"/>
            <a:ext cx="316008" cy="2695536"/>
          </a:xfrm>
          <a:prstGeom prst="leftBracket">
            <a:avLst/>
          </a:prstGeom>
          <a:ln>
            <a:solidFill>
              <a:srgbClr val="0096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96FF"/>
              </a:solidFill>
            </a:endParaRPr>
          </a:p>
        </p:txBody>
      </p:sp>
      <p:cxnSp>
        <p:nvCxnSpPr>
          <p:cNvPr id="65" name="Straight Connector 64">
            <a:extLst>
              <a:ext uri="{FF2B5EF4-FFF2-40B4-BE49-F238E27FC236}">
                <a16:creationId xmlns:a16="http://schemas.microsoft.com/office/drawing/2014/main" id="{5C2D5111-798E-FA61-9EB3-AFF61F5F23DC}"/>
              </a:ext>
            </a:extLst>
          </p:cNvPr>
          <p:cNvCxnSpPr/>
          <p:nvPr/>
        </p:nvCxnSpPr>
        <p:spPr>
          <a:xfrm>
            <a:off x="1937315" y="4554940"/>
            <a:ext cx="0" cy="1222872"/>
          </a:xfrm>
          <a:prstGeom prst="line">
            <a:avLst/>
          </a:prstGeom>
          <a:ln>
            <a:solidFill>
              <a:srgbClr val="D8A03D"/>
            </a:solidFill>
          </a:ln>
        </p:spPr>
        <p:style>
          <a:lnRef idx="1">
            <a:schemeClr val="accent1"/>
          </a:lnRef>
          <a:fillRef idx="0">
            <a:schemeClr val="accent1"/>
          </a:fillRef>
          <a:effectRef idx="0">
            <a:schemeClr val="accent1"/>
          </a:effectRef>
          <a:fontRef idx="minor">
            <a:schemeClr val="tx1"/>
          </a:fontRef>
        </p:style>
      </p:cxnSp>
      <p:sp>
        <p:nvSpPr>
          <p:cNvPr id="66" name="Oval 65">
            <a:extLst>
              <a:ext uri="{FF2B5EF4-FFF2-40B4-BE49-F238E27FC236}">
                <a16:creationId xmlns:a16="http://schemas.microsoft.com/office/drawing/2014/main" id="{C4BFF4F0-E8A8-39D1-F3B5-20C0B133E706}"/>
              </a:ext>
            </a:extLst>
          </p:cNvPr>
          <p:cNvSpPr/>
          <p:nvPr/>
        </p:nvSpPr>
        <p:spPr>
          <a:xfrm>
            <a:off x="1979526" y="4601752"/>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67" name="Oval 66">
            <a:extLst>
              <a:ext uri="{FF2B5EF4-FFF2-40B4-BE49-F238E27FC236}">
                <a16:creationId xmlns:a16="http://schemas.microsoft.com/office/drawing/2014/main" id="{5A73C7E9-A748-BB59-2E44-F08E17697BA9}"/>
              </a:ext>
            </a:extLst>
          </p:cNvPr>
          <p:cNvSpPr/>
          <p:nvPr/>
        </p:nvSpPr>
        <p:spPr>
          <a:xfrm>
            <a:off x="1997016" y="4866577"/>
            <a:ext cx="127008" cy="127008"/>
          </a:xfrm>
          <a:prstGeom prst="ellipse">
            <a:avLst/>
          </a:prstGeom>
          <a:solidFill>
            <a:srgbClr val="0096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68" name="Oval 67">
            <a:extLst>
              <a:ext uri="{FF2B5EF4-FFF2-40B4-BE49-F238E27FC236}">
                <a16:creationId xmlns:a16="http://schemas.microsoft.com/office/drawing/2014/main" id="{EDB9E0C4-3CB5-4E7B-3051-B467AAB41473}"/>
              </a:ext>
            </a:extLst>
          </p:cNvPr>
          <p:cNvSpPr/>
          <p:nvPr/>
        </p:nvSpPr>
        <p:spPr>
          <a:xfrm>
            <a:off x="1952046" y="5113912"/>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69" name="Oval 68">
            <a:extLst>
              <a:ext uri="{FF2B5EF4-FFF2-40B4-BE49-F238E27FC236}">
                <a16:creationId xmlns:a16="http://schemas.microsoft.com/office/drawing/2014/main" id="{918820F5-67A1-5688-6D22-7534F4AE0DEE}"/>
              </a:ext>
            </a:extLst>
          </p:cNvPr>
          <p:cNvSpPr/>
          <p:nvPr/>
        </p:nvSpPr>
        <p:spPr>
          <a:xfrm>
            <a:off x="1999516" y="5356252"/>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70" name="Oval 69">
            <a:extLst>
              <a:ext uri="{FF2B5EF4-FFF2-40B4-BE49-F238E27FC236}">
                <a16:creationId xmlns:a16="http://schemas.microsoft.com/office/drawing/2014/main" id="{E1E5C91E-8F61-DD72-E702-C4D99DCD09EF}"/>
              </a:ext>
            </a:extLst>
          </p:cNvPr>
          <p:cNvSpPr/>
          <p:nvPr/>
        </p:nvSpPr>
        <p:spPr>
          <a:xfrm>
            <a:off x="1987026" y="5568612"/>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71" name="Oval 70">
            <a:extLst>
              <a:ext uri="{FF2B5EF4-FFF2-40B4-BE49-F238E27FC236}">
                <a16:creationId xmlns:a16="http://schemas.microsoft.com/office/drawing/2014/main" id="{F4C8C811-D5D9-BD78-BFFB-F0B527E440AA}"/>
              </a:ext>
            </a:extLst>
          </p:cNvPr>
          <p:cNvSpPr/>
          <p:nvPr/>
        </p:nvSpPr>
        <p:spPr>
          <a:xfrm>
            <a:off x="1052641" y="5166376"/>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72" name="Oval 71">
            <a:extLst>
              <a:ext uri="{FF2B5EF4-FFF2-40B4-BE49-F238E27FC236}">
                <a16:creationId xmlns:a16="http://schemas.microsoft.com/office/drawing/2014/main" id="{D3AB7609-FE0C-093B-9950-B585AABDDB93}"/>
              </a:ext>
            </a:extLst>
          </p:cNvPr>
          <p:cNvSpPr/>
          <p:nvPr/>
        </p:nvSpPr>
        <p:spPr>
          <a:xfrm>
            <a:off x="1220032" y="5138896"/>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73" name="Oval 72">
            <a:extLst>
              <a:ext uri="{FF2B5EF4-FFF2-40B4-BE49-F238E27FC236}">
                <a16:creationId xmlns:a16="http://schemas.microsoft.com/office/drawing/2014/main" id="{93F5D2A9-EC2E-5050-2700-77B5FE7C65F5}"/>
              </a:ext>
            </a:extLst>
          </p:cNvPr>
          <p:cNvSpPr/>
          <p:nvPr/>
        </p:nvSpPr>
        <p:spPr>
          <a:xfrm>
            <a:off x="1760597" y="4803073"/>
            <a:ext cx="127008" cy="127008"/>
          </a:xfrm>
          <a:prstGeom prst="ellipse">
            <a:avLst/>
          </a:prstGeom>
          <a:solidFill>
            <a:srgbClr val="F7593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p>
        </p:txBody>
      </p:sp>
      <p:sp>
        <p:nvSpPr>
          <p:cNvPr id="74" name="Oval 73">
            <a:extLst>
              <a:ext uri="{FF2B5EF4-FFF2-40B4-BE49-F238E27FC236}">
                <a16:creationId xmlns:a16="http://schemas.microsoft.com/office/drawing/2014/main" id="{AD014C44-05C0-9159-2D9E-FE984A8C564F}"/>
              </a:ext>
            </a:extLst>
          </p:cNvPr>
          <p:cNvSpPr/>
          <p:nvPr/>
        </p:nvSpPr>
        <p:spPr>
          <a:xfrm>
            <a:off x="1140087" y="5336266"/>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75" name="Oval 74">
            <a:extLst>
              <a:ext uri="{FF2B5EF4-FFF2-40B4-BE49-F238E27FC236}">
                <a16:creationId xmlns:a16="http://schemas.microsoft.com/office/drawing/2014/main" id="{55D8DBE4-1BB9-BA0D-6761-A896472614FF}"/>
              </a:ext>
            </a:extLst>
          </p:cNvPr>
          <p:cNvSpPr/>
          <p:nvPr/>
        </p:nvSpPr>
        <p:spPr>
          <a:xfrm>
            <a:off x="1127597" y="5548626"/>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76" name="Oval 75">
            <a:extLst>
              <a:ext uri="{FF2B5EF4-FFF2-40B4-BE49-F238E27FC236}">
                <a16:creationId xmlns:a16="http://schemas.microsoft.com/office/drawing/2014/main" id="{FCD4B1AD-812D-767C-E746-0C2C4FB3ECEC}"/>
              </a:ext>
            </a:extLst>
          </p:cNvPr>
          <p:cNvSpPr/>
          <p:nvPr/>
        </p:nvSpPr>
        <p:spPr>
          <a:xfrm>
            <a:off x="2653764" y="5604748"/>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77" name="Oval 76">
            <a:extLst>
              <a:ext uri="{FF2B5EF4-FFF2-40B4-BE49-F238E27FC236}">
                <a16:creationId xmlns:a16="http://schemas.microsoft.com/office/drawing/2014/main" id="{2FB64C0C-2873-F35B-76F3-0E33716971A3}"/>
              </a:ext>
            </a:extLst>
          </p:cNvPr>
          <p:cNvSpPr/>
          <p:nvPr/>
        </p:nvSpPr>
        <p:spPr>
          <a:xfrm>
            <a:off x="2826337" y="5487749"/>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78" name="Oval 77">
            <a:extLst>
              <a:ext uri="{FF2B5EF4-FFF2-40B4-BE49-F238E27FC236}">
                <a16:creationId xmlns:a16="http://schemas.microsoft.com/office/drawing/2014/main" id="{BFA743C4-90C7-14FD-33F3-5BE9AF64F725}"/>
              </a:ext>
            </a:extLst>
          </p:cNvPr>
          <p:cNvSpPr/>
          <p:nvPr/>
        </p:nvSpPr>
        <p:spPr>
          <a:xfrm>
            <a:off x="2586115" y="5419756"/>
            <a:ext cx="127008" cy="127008"/>
          </a:xfrm>
          <a:prstGeom prst="ellipse">
            <a:avLst/>
          </a:prstGeom>
          <a:solidFill>
            <a:schemeClr val="tx2">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dirty="0">
              <a:solidFill>
                <a:schemeClr val="tx2">
                  <a:lumMod val="40000"/>
                  <a:lumOff val="60000"/>
                </a:schemeClr>
              </a:solidFill>
            </a:endParaRPr>
          </a:p>
        </p:txBody>
      </p:sp>
      <p:sp>
        <p:nvSpPr>
          <p:cNvPr id="79" name="TextBox 78">
            <a:extLst>
              <a:ext uri="{FF2B5EF4-FFF2-40B4-BE49-F238E27FC236}">
                <a16:creationId xmlns:a16="http://schemas.microsoft.com/office/drawing/2014/main" id="{F47DD8E6-7296-1357-54FF-821C318B8227}"/>
              </a:ext>
            </a:extLst>
          </p:cNvPr>
          <p:cNvSpPr txBox="1"/>
          <p:nvPr/>
        </p:nvSpPr>
        <p:spPr>
          <a:xfrm>
            <a:off x="3566550" y="4444461"/>
            <a:ext cx="4742891" cy="1815882"/>
          </a:xfrm>
          <a:prstGeom prst="rect">
            <a:avLst/>
          </a:prstGeom>
          <a:noFill/>
        </p:spPr>
        <p:txBody>
          <a:bodyPr wrap="square" rtlCol="0">
            <a:spAutoFit/>
          </a:bodyPr>
          <a:lstStyle/>
          <a:p>
            <a:r>
              <a:rPr lang="en-US" sz="1400" b="1" dirty="0">
                <a:solidFill>
                  <a:srgbClr val="0096FF"/>
                </a:solidFill>
              </a:rPr>
              <a:t>Pair Identification</a:t>
            </a:r>
            <a:r>
              <a:rPr lang="en-US" sz="1400" dirty="0">
                <a:solidFill>
                  <a:srgbClr val="0096FF"/>
                </a:solidFill>
              </a:rPr>
              <a:t>: Score each OL-DL pair by active close frames (distance &lt; 2.0 yards while both players’ speeds &gt; 1.0). Pick highest scoring pair.</a:t>
            </a:r>
          </a:p>
          <a:p>
            <a:r>
              <a:rPr lang="en-US" sz="1400" b="1" dirty="0">
                <a:solidFill>
                  <a:srgbClr val="0096FF"/>
                </a:solidFill>
              </a:rPr>
              <a:t>Rep Start: </a:t>
            </a:r>
            <a:r>
              <a:rPr lang="en-US" sz="1400" dirty="0">
                <a:solidFill>
                  <a:srgbClr val="0096FF"/>
                </a:solidFill>
              </a:rPr>
              <a:t>Pick earliest frame where pair’s combined speed or acceleration crosses given threshold</a:t>
            </a:r>
          </a:p>
          <a:p>
            <a:r>
              <a:rPr lang="en-US" sz="1400" b="1" dirty="0">
                <a:solidFill>
                  <a:srgbClr val="0096FF"/>
                </a:solidFill>
              </a:rPr>
              <a:t>Rep End: </a:t>
            </a:r>
            <a:r>
              <a:rPr lang="en-US" sz="1400" dirty="0">
                <a:solidFill>
                  <a:srgbClr val="0096FF"/>
                </a:solidFill>
              </a:rPr>
              <a:t>Pick first frame where a) either player is moving back toward LOS over sustained frames or b) rep stagnates over a given duration</a:t>
            </a:r>
            <a:endParaRPr lang="en-US" sz="1400" b="1" dirty="0">
              <a:solidFill>
                <a:srgbClr val="0096FF"/>
              </a:solidFill>
            </a:endParaRPr>
          </a:p>
        </p:txBody>
      </p:sp>
      <p:sp>
        <p:nvSpPr>
          <p:cNvPr id="81" name="TextBox 80">
            <a:extLst>
              <a:ext uri="{FF2B5EF4-FFF2-40B4-BE49-F238E27FC236}">
                <a16:creationId xmlns:a16="http://schemas.microsoft.com/office/drawing/2014/main" id="{11A8D2B9-8D35-B7C4-0B97-45F558300E2E}"/>
              </a:ext>
            </a:extLst>
          </p:cNvPr>
          <p:cNvSpPr txBox="1"/>
          <p:nvPr/>
        </p:nvSpPr>
        <p:spPr>
          <a:xfrm>
            <a:off x="8515540" y="4436441"/>
            <a:ext cx="3290355" cy="1600438"/>
          </a:xfrm>
          <a:prstGeom prst="rect">
            <a:avLst/>
          </a:prstGeom>
          <a:noFill/>
        </p:spPr>
        <p:txBody>
          <a:bodyPr wrap="square" rtlCol="0">
            <a:spAutoFit/>
          </a:bodyPr>
          <a:lstStyle/>
          <a:p>
            <a:r>
              <a:rPr lang="en-US" sz="1400" b="1" dirty="0">
                <a:solidFill>
                  <a:srgbClr val="E7E7E7"/>
                </a:solidFill>
              </a:rPr>
              <a:t>The algorithm returns a </a:t>
            </a:r>
            <a:r>
              <a:rPr lang="en-US" sz="1400" b="1" dirty="0" err="1">
                <a:solidFill>
                  <a:srgbClr val="E7E7E7"/>
                </a:solidFill>
              </a:rPr>
              <a:t>dataframe</a:t>
            </a:r>
            <a:r>
              <a:rPr lang="en-US" sz="1400" b="1" dirty="0">
                <a:solidFill>
                  <a:srgbClr val="E7E7E7"/>
                </a:solidFill>
              </a:rPr>
              <a:t> with all of the identified frames between the OL-DL pair for each rep across a given practice session. Required manual inputs are OL and DL jersey numbers, the timestamps for the drill period, and the line of scrimmage.</a:t>
            </a:r>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11317"/>
        </a:solidFill>
        <a:effectLst/>
      </p:bgPr>
    </p:bg>
    <p:spTree>
      <p:nvGrpSpPr>
        <p:cNvPr id="1" name="">
          <a:extLst>
            <a:ext uri="{FF2B5EF4-FFF2-40B4-BE49-F238E27FC236}">
              <a16:creationId xmlns:a16="http://schemas.microsoft.com/office/drawing/2014/main" id="{CC27C17C-29DB-0963-261B-71976059DE5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12750FE-D3B1-A4BF-D750-5978D9002C0C}"/>
              </a:ext>
            </a:extLst>
          </p:cNvPr>
          <p:cNvSpPr/>
          <p:nvPr/>
        </p:nvSpPr>
        <p:spPr>
          <a:xfrm>
            <a:off x="381000" y="381000"/>
            <a:ext cx="11496675" cy="190500"/>
          </a:xfrm>
          <a:prstGeom prst="rect">
            <a:avLst/>
          </a:prstGeom>
          <a:noFill/>
          <a:ln/>
        </p:spPr>
        <p:txBody>
          <a:bodyPr wrap="square" lIns="0" tIns="0" rIns="0" bIns="0" rtlCol="0" anchor="ctr"/>
          <a:lstStyle/>
          <a:p>
            <a:pPr>
              <a:lnSpc>
                <a:spcPct val="120000"/>
              </a:lnSpc>
            </a:pPr>
            <a:r>
              <a:rPr lang="en-US" sz="1050" b="1" kern="0" spc="263" dirty="0">
                <a:solidFill>
                  <a:srgbClr val="D8A03D"/>
                </a:solidFill>
                <a:latin typeface="Quattrocento Sans" pitchFamily="34" charset="0"/>
                <a:ea typeface="Quattrocento Sans" pitchFamily="34" charset="-122"/>
                <a:cs typeface="Quattrocento Sans" pitchFamily="34" charset="-120"/>
              </a:rPr>
              <a:t>AUTOMATED DETECTION</a:t>
            </a:r>
            <a:endParaRPr lang="en-US" sz="1600" dirty="0"/>
          </a:p>
        </p:txBody>
      </p:sp>
      <p:sp>
        <p:nvSpPr>
          <p:cNvPr id="3" name="Text 1">
            <a:extLst>
              <a:ext uri="{FF2B5EF4-FFF2-40B4-BE49-F238E27FC236}">
                <a16:creationId xmlns:a16="http://schemas.microsoft.com/office/drawing/2014/main" id="{BC3A31B3-B286-223C-017E-633327B3A4CB}"/>
              </a:ext>
            </a:extLst>
          </p:cNvPr>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700" b="1" dirty="0">
                <a:solidFill>
                  <a:srgbClr val="E1E3E6"/>
                </a:solidFill>
                <a:latin typeface="Liter" pitchFamily="34" charset="0"/>
                <a:ea typeface="Liter" pitchFamily="34" charset="-122"/>
                <a:cs typeface="Liter" pitchFamily="34" charset="-120"/>
              </a:rPr>
              <a:t>Data Pipeline Framework Validation</a:t>
            </a:r>
          </a:p>
        </p:txBody>
      </p:sp>
      <p:sp>
        <p:nvSpPr>
          <p:cNvPr id="4" name="Shape 2">
            <a:extLst>
              <a:ext uri="{FF2B5EF4-FFF2-40B4-BE49-F238E27FC236}">
                <a16:creationId xmlns:a16="http://schemas.microsoft.com/office/drawing/2014/main" id="{C7D2FA09-B758-79FD-26A5-EC17D9369560}"/>
              </a:ext>
            </a:extLst>
          </p:cNvPr>
          <p:cNvSpPr/>
          <p:nvPr/>
        </p:nvSpPr>
        <p:spPr>
          <a:xfrm>
            <a:off x="385763" y="1185863"/>
            <a:ext cx="5610225" cy="2638425"/>
          </a:xfrm>
          <a:custGeom>
            <a:avLst/>
            <a:gdLst/>
            <a:ahLst/>
            <a:cxnLst/>
            <a:rect l="l" t="t" r="r" b="b"/>
            <a:pathLst>
              <a:path w="5610225" h="2638425">
                <a:moveTo>
                  <a:pt x="38099" y="0"/>
                </a:moveTo>
                <a:lnTo>
                  <a:pt x="5572126" y="0"/>
                </a:lnTo>
                <a:cubicBezTo>
                  <a:pt x="5593153" y="0"/>
                  <a:pt x="5610225" y="17072"/>
                  <a:pt x="5610225" y="38099"/>
                </a:cubicBezTo>
                <a:lnTo>
                  <a:pt x="5610225" y="2600326"/>
                </a:lnTo>
                <a:cubicBezTo>
                  <a:pt x="5610225" y="2621353"/>
                  <a:pt x="5593153" y="2638425"/>
                  <a:pt x="5572126" y="2638425"/>
                </a:cubicBezTo>
                <a:lnTo>
                  <a:pt x="38099" y="2638425"/>
                </a:lnTo>
                <a:cubicBezTo>
                  <a:pt x="17072" y="2638425"/>
                  <a:pt x="0" y="2621353"/>
                  <a:pt x="0" y="2600326"/>
                </a:cubicBezTo>
                <a:lnTo>
                  <a:pt x="0" y="38099"/>
                </a:lnTo>
                <a:cubicBezTo>
                  <a:pt x="0" y="17072"/>
                  <a:pt x="17072" y="0"/>
                  <a:pt x="38099" y="0"/>
                </a:cubicBezTo>
                <a:close/>
              </a:path>
            </a:pathLst>
          </a:custGeom>
          <a:solidFill>
            <a:srgbClr val="1E2024"/>
          </a:solidFill>
          <a:ln w="12700">
            <a:solidFill>
              <a:srgbClr val="4C7E9A">
                <a:alpha val="30196"/>
              </a:srgbClr>
            </a:solidFill>
            <a:prstDash val="solid"/>
          </a:ln>
        </p:spPr>
        <p:txBody>
          <a:bodyPr/>
          <a:lstStyle/>
          <a:p>
            <a:endParaRPr lang="en-US" dirty="0"/>
          </a:p>
        </p:txBody>
      </p:sp>
      <p:sp>
        <p:nvSpPr>
          <p:cNvPr id="5" name="Shape 3">
            <a:extLst>
              <a:ext uri="{FF2B5EF4-FFF2-40B4-BE49-F238E27FC236}">
                <a16:creationId xmlns:a16="http://schemas.microsoft.com/office/drawing/2014/main" id="{2F7EBD28-1F49-B5F4-D9CA-A32C5D966690}"/>
              </a:ext>
            </a:extLst>
          </p:cNvPr>
          <p:cNvSpPr/>
          <p:nvPr/>
        </p:nvSpPr>
        <p:spPr>
          <a:xfrm>
            <a:off x="545306" y="1390650"/>
            <a:ext cx="214313" cy="171450"/>
          </a:xfrm>
          <a:custGeom>
            <a:avLst/>
            <a:gdLst/>
            <a:ahLst/>
            <a:cxnLst/>
            <a:rect l="l" t="t" r="r" b="b"/>
            <a:pathLst>
              <a:path w="214313" h="171450">
                <a:moveTo>
                  <a:pt x="139270" y="70489"/>
                </a:moveTo>
                <a:cubicBezTo>
                  <a:pt x="143355" y="69384"/>
                  <a:pt x="147641" y="71326"/>
                  <a:pt x="149483" y="75110"/>
                </a:cubicBezTo>
                <a:lnTo>
                  <a:pt x="155711" y="87701"/>
                </a:lnTo>
                <a:cubicBezTo>
                  <a:pt x="159161" y="88170"/>
                  <a:pt x="162543" y="89107"/>
                  <a:pt x="165724" y="90413"/>
                </a:cubicBezTo>
                <a:lnTo>
                  <a:pt x="177444" y="82611"/>
                </a:lnTo>
                <a:cubicBezTo>
                  <a:pt x="180960" y="80267"/>
                  <a:pt x="185615" y="80736"/>
                  <a:pt x="188595" y="83716"/>
                </a:cubicBezTo>
                <a:lnTo>
                  <a:pt x="195024" y="90145"/>
                </a:lnTo>
                <a:cubicBezTo>
                  <a:pt x="198005" y="93125"/>
                  <a:pt x="198473" y="97814"/>
                  <a:pt x="196129" y="101296"/>
                </a:cubicBezTo>
                <a:lnTo>
                  <a:pt x="188327" y="112983"/>
                </a:lnTo>
                <a:cubicBezTo>
                  <a:pt x="188963" y="114557"/>
                  <a:pt x="189533" y="116198"/>
                  <a:pt x="190001" y="117905"/>
                </a:cubicBezTo>
                <a:cubicBezTo>
                  <a:pt x="190470" y="119613"/>
                  <a:pt x="190772" y="121287"/>
                  <a:pt x="191006" y="122995"/>
                </a:cubicBezTo>
                <a:lnTo>
                  <a:pt x="203630" y="129224"/>
                </a:lnTo>
                <a:cubicBezTo>
                  <a:pt x="207414" y="131099"/>
                  <a:pt x="209357" y="135385"/>
                  <a:pt x="208251" y="139437"/>
                </a:cubicBezTo>
                <a:lnTo>
                  <a:pt x="205907" y="148210"/>
                </a:lnTo>
                <a:cubicBezTo>
                  <a:pt x="204802" y="152262"/>
                  <a:pt x="201018" y="155008"/>
                  <a:pt x="196799" y="154740"/>
                </a:cubicBezTo>
                <a:lnTo>
                  <a:pt x="182735" y="153836"/>
                </a:lnTo>
                <a:cubicBezTo>
                  <a:pt x="180625" y="156549"/>
                  <a:pt x="178181" y="159060"/>
                  <a:pt x="175401" y="161203"/>
                </a:cubicBezTo>
                <a:lnTo>
                  <a:pt x="176306" y="175234"/>
                </a:lnTo>
                <a:cubicBezTo>
                  <a:pt x="176573" y="179453"/>
                  <a:pt x="173828" y="183271"/>
                  <a:pt x="169776" y="184342"/>
                </a:cubicBezTo>
                <a:lnTo>
                  <a:pt x="161002" y="186686"/>
                </a:lnTo>
                <a:cubicBezTo>
                  <a:pt x="156917" y="187791"/>
                  <a:pt x="152664" y="185849"/>
                  <a:pt x="150789" y="182065"/>
                </a:cubicBezTo>
                <a:lnTo>
                  <a:pt x="144560" y="169474"/>
                </a:lnTo>
                <a:cubicBezTo>
                  <a:pt x="141111" y="169005"/>
                  <a:pt x="137729" y="168068"/>
                  <a:pt x="134548" y="166762"/>
                </a:cubicBezTo>
                <a:lnTo>
                  <a:pt x="122828" y="174564"/>
                </a:lnTo>
                <a:cubicBezTo>
                  <a:pt x="119312" y="176908"/>
                  <a:pt x="114657" y="176439"/>
                  <a:pt x="111677" y="173459"/>
                </a:cubicBezTo>
                <a:lnTo>
                  <a:pt x="105248" y="167030"/>
                </a:lnTo>
                <a:cubicBezTo>
                  <a:pt x="102267" y="164050"/>
                  <a:pt x="101798" y="159395"/>
                  <a:pt x="104142" y="155879"/>
                </a:cubicBezTo>
                <a:lnTo>
                  <a:pt x="111945" y="144159"/>
                </a:lnTo>
                <a:cubicBezTo>
                  <a:pt x="111309" y="142585"/>
                  <a:pt x="110739" y="140944"/>
                  <a:pt x="110270" y="139236"/>
                </a:cubicBezTo>
                <a:cubicBezTo>
                  <a:pt x="109802" y="137528"/>
                  <a:pt x="109500" y="135821"/>
                  <a:pt x="109266" y="134146"/>
                </a:cubicBezTo>
                <a:lnTo>
                  <a:pt x="96642" y="127918"/>
                </a:lnTo>
                <a:cubicBezTo>
                  <a:pt x="92858" y="126043"/>
                  <a:pt x="90949" y="121756"/>
                  <a:pt x="92020" y="117704"/>
                </a:cubicBezTo>
                <a:lnTo>
                  <a:pt x="94364" y="108931"/>
                </a:lnTo>
                <a:cubicBezTo>
                  <a:pt x="95470" y="104879"/>
                  <a:pt x="99253" y="102133"/>
                  <a:pt x="103473" y="102401"/>
                </a:cubicBezTo>
                <a:lnTo>
                  <a:pt x="117504" y="103305"/>
                </a:lnTo>
                <a:cubicBezTo>
                  <a:pt x="119613" y="100593"/>
                  <a:pt x="122058" y="98081"/>
                  <a:pt x="124837" y="95938"/>
                </a:cubicBezTo>
                <a:lnTo>
                  <a:pt x="123933" y="81941"/>
                </a:lnTo>
                <a:cubicBezTo>
                  <a:pt x="123665" y="77722"/>
                  <a:pt x="126411" y="73904"/>
                  <a:pt x="130463" y="72833"/>
                </a:cubicBezTo>
                <a:lnTo>
                  <a:pt x="139236" y="70489"/>
                </a:lnTo>
                <a:close/>
                <a:moveTo>
                  <a:pt x="150153" y="113854"/>
                </a:moveTo>
                <a:cubicBezTo>
                  <a:pt x="142021" y="113863"/>
                  <a:pt x="135426" y="120472"/>
                  <a:pt x="135435" y="128604"/>
                </a:cubicBezTo>
                <a:cubicBezTo>
                  <a:pt x="135445" y="136736"/>
                  <a:pt x="142054" y="143331"/>
                  <a:pt x="150186" y="143321"/>
                </a:cubicBezTo>
                <a:cubicBezTo>
                  <a:pt x="158318" y="143312"/>
                  <a:pt x="164913" y="136703"/>
                  <a:pt x="164903" y="128571"/>
                </a:cubicBezTo>
                <a:cubicBezTo>
                  <a:pt x="164894" y="120439"/>
                  <a:pt x="158285" y="113844"/>
                  <a:pt x="150153" y="113854"/>
                </a:cubicBezTo>
                <a:close/>
                <a:moveTo>
                  <a:pt x="75311" y="-15236"/>
                </a:moveTo>
                <a:lnTo>
                  <a:pt x="84084" y="-12892"/>
                </a:lnTo>
                <a:cubicBezTo>
                  <a:pt x="88136" y="-11787"/>
                  <a:pt x="90882" y="-7970"/>
                  <a:pt x="90614" y="-3784"/>
                </a:cubicBezTo>
                <a:lnTo>
                  <a:pt x="89710" y="10213"/>
                </a:lnTo>
                <a:cubicBezTo>
                  <a:pt x="92489" y="12356"/>
                  <a:pt x="94934" y="14834"/>
                  <a:pt x="97043" y="17580"/>
                </a:cubicBezTo>
                <a:lnTo>
                  <a:pt x="111108" y="16676"/>
                </a:lnTo>
                <a:cubicBezTo>
                  <a:pt x="115293" y="16408"/>
                  <a:pt x="119111" y="19154"/>
                  <a:pt x="120216" y="23206"/>
                </a:cubicBezTo>
                <a:lnTo>
                  <a:pt x="122560" y="31979"/>
                </a:lnTo>
                <a:cubicBezTo>
                  <a:pt x="123632" y="36031"/>
                  <a:pt x="121723" y="40318"/>
                  <a:pt x="117939" y="42193"/>
                </a:cubicBezTo>
                <a:lnTo>
                  <a:pt x="105315" y="48421"/>
                </a:lnTo>
                <a:cubicBezTo>
                  <a:pt x="105080" y="50129"/>
                  <a:pt x="104745" y="51837"/>
                  <a:pt x="104310" y="53511"/>
                </a:cubicBezTo>
                <a:cubicBezTo>
                  <a:pt x="103875" y="55185"/>
                  <a:pt x="103272" y="56860"/>
                  <a:pt x="102636" y="58434"/>
                </a:cubicBezTo>
                <a:lnTo>
                  <a:pt x="110438" y="70154"/>
                </a:lnTo>
                <a:cubicBezTo>
                  <a:pt x="112782" y="73670"/>
                  <a:pt x="112313" y="78325"/>
                  <a:pt x="109333" y="81305"/>
                </a:cubicBezTo>
                <a:lnTo>
                  <a:pt x="102903" y="87734"/>
                </a:lnTo>
                <a:cubicBezTo>
                  <a:pt x="99923" y="90714"/>
                  <a:pt x="95269" y="91183"/>
                  <a:pt x="91753" y="88839"/>
                </a:cubicBezTo>
                <a:lnTo>
                  <a:pt x="80032" y="81037"/>
                </a:lnTo>
                <a:cubicBezTo>
                  <a:pt x="76851" y="82343"/>
                  <a:pt x="73469" y="83280"/>
                  <a:pt x="70020" y="83749"/>
                </a:cubicBezTo>
                <a:lnTo>
                  <a:pt x="63791" y="96340"/>
                </a:lnTo>
                <a:cubicBezTo>
                  <a:pt x="61916" y="100124"/>
                  <a:pt x="57630" y="102033"/>
                  <a:pt x="53578" y="100961"/>
                </a:cubicBezTo>
                <a:lnTo>
                  <a:pt x="44805" y="98617"/>
                </a:lnTo>
                <a:cubicBezTo>
                  <a:pt x="40719" y="97512"/>
                  <a:pt x="38007" y="93695"/>
                  <a:pt x="38275" y="89509"/>
                </a:cubicBezTo>
                <a:lnTo>
                  <a:pt x="39179" y="75478"/>
                </a:lnTo>
                <a:cubicBezTo>
                  <a:pt x="36400" y="73335"/>
                  <a:pt x="33955" y="70857"/>
                  <a:pt x="31845" y="68111"/>
                </a:cubicBezTo>
                <a:lnTo>
                  <a:pt x="17781" y="69015"/>
                </a:lnTo>
                <a:cubicBezTo>
                  <a:pt x="13595" y="69283"/>
                  <a:pt x="9778" y="66537"/>
                  <a:pt x="8673" y="62485"/>
                </a:cubicBezTo>
                <a:lnTo>
                  <a:pt x="6329" y="53712"/>
                </a:lnTo>
                <a:cubicBezTo>
                  <a:pt x="5257" y="49660"/>
                  <a:pt x="7166" y="45374"/>
                  <a:pt x="10950" y="43499"/>
                </a:cubicBezTo>
                <a:lnTo>
                  <a:pt x="23574" y="37270"/>
                </a:lnTo>
                <a:cubicBezTo>
                  <a:pt x="23809" y="35562"/>
                  <a:pt x="24144" y="33888"/>
                  <a:pt x="24579" y="32180"/>
                </a:cubicBezTo>
                <a:cubicBezTo>
                  <a:pt x="25048" y="30473"/>
                  <a:pt x="25584" y="28832"/>
                  <a:pt x="26253" y="27258"/>
                </a:cubicBezTo>
                <a:lnTo>
                  <a:pt x="18451" y="15571"/>
                </a:lnTo>
                <a:cubicBezTo>
                  <a:pt x="16107" y="12055"/>
                  <a:pt x="16576" y="7400"/>
                  <a:pt x="19556" y="4420"/>
                </a:cubicBezTo>
                <a:lnTo>
                  <a:pt x="25985" y="-2009"/>
                </a:lnTo>
                <a:cubicBezTo>
                  <a:pt x="28966" y="-4989"/>
                  <a:pt x="33620" y="-5458"/>
                  <a:pt x="37136" y="-3114"/>
                </a:cubicBezTo>
                <a:lnTo>
                  <a:pt x="48857" y="4688"/>
                </a:lnTo>
                <a:cubicBezTo>
                  <a:pt x="52038" y="3382"/>
                  <a:pt x="55420" y="2445"/>
                  <a:pt x="58869" y="1976"/>
                </a:cubicBezTo>
                <a:lnTo>
                  <a:pt x="65097" y="-10615"/>
                </a:lnTo>
                <a:cubicBezTo>
                  <a:pt x="66973" y="-14399"/>
                  <a:pt x="71225" y="-16308"/>
                  <a:pt x="75311" y="-15236"/>
                </a:cubicBezTo>
                <a:close/>
                <a:moveTo>
                  <a:pt x="64428" y="28129"/>
                </a:moveTo>
                <a:cubicBezTo>
                  <a:pt x="56296" y="28129"/>
                  <a:pt x="49694" y="34731"/>
                  <a:pt x="49694" y="42863"/>
                </a:cubicBezTo>
                <a:cubicBezTo>
                  <a:pt x="49694" y="50994"/>
                  <a:pt x="56296" y="57596"/>
                  <a:pt x="64428" y="57596"/>
                </a:cubicBezTo>
                <a:cubicBezTo>
                  <a:pt x="72560" y="57596"/>
                  <a:pt x="79162" y="50994"/>
                  <a:pt x="79162" y="42863"/>
                </a:cubicBezTo>
                <a:cubicBezTo>
                  <a:pt x="79162" y="34731"/>
                  <a:pt x="72560" y="28129"/>
                  <a:pt x="64428" y="28129"/>
                </a:cubicBezTo>
                <a:close/>
              </a:path>
            </a:pathLst>
          </a:custGeom>
          <a:solidFill>
            <a:srgbClr val="4C7E9A"/>
          </a:solidFill>
          <a:ln/>
        </p:spPr>
        <p:txBody>
          <a:bodyPr/>
          <a:lstStyle/>
          <a:p>
            <a:endParaRPr lang="en-US"/>
          </a:p>
        </p:txBody>
      </p:sp>
      <p:sp>
        <p:nvSpPr>
          <p:cNvPr id="6" name="Text 4">
            <a:extLst>
              <a:ext uri="{FF2B5EF4-FFF2-40B4-BE49-F238E27FC236}">
                <a16:creationId xmlns:a16="http://schemas.microsoft.com/office/drawing/2014/main" id="{805E9035-9CDC-5334-EDC2-DBE8917CF016}"/>
              </a:ext>
            </a:extLst>
          </p:cNvPr>
          <p:cNvSpPr/>
          <p:nvPr/>
        </p:nvSpPr>
        <p:spPr>
          <a:xfrm>
            <a:off x="762000" y="1343025"/>
            <a:ext cx="5162550" cy="266700"/>
          </a:xfrm>
          <a:prstGeom prst="rect">
            <a:avLst/>
          </a:prstGeom>
          <a:noFill/>
          <a:ln/>
        </p:spPr>
        <p:txBody>
          <a:bodyPr wrap="square" lIns="0" tIns="0" rIns="0" bIns="0" rtlCol="0" anchor="ctr"/>
          <a:lstStyle/>
          <a:p>
            <a:pPr>
              <a:lnSpc>
                <a:spcPct val="130000"/>
              </a:lnSpc>
            </a:pPr>
            <a:r>
              <a:rPr lang="en-US" sz="1200" b="1" dirty="0">
                <a:solidFill>
                  <a:srgbClr val="4C7E9A"/>
                </a:solidFill>
                <a:latin typeface="Liter" pitchFamily="34" charset="0"/>
                <a:ea typeface="Liter" pitchFamily="34" charset="-122"/>
                <a:cs typeface="Liter" pitchFamily="34" charset="-120"/>
              </a:rPr>
              <a:t> Performance Against Manually Charted Frames for 2024 West Practice 2</a:t>
            </a:r>
            <a:endParaRPr lang="en-US" sz="1200" dirty="0"/>
          </a:p>
        </p:txBody>
      </p:sp>
      <p:sp>
        <p:nvSpPr>
          <p:cNvPr id="7" name="Shape 5">
            <a:extLst>
              <a:ext uri="{FF2B5EF4-FFF2-40B4-BE49-F238E27FC236}">
                <a16:creationId xmlns:a16="http://schemas.microsoft.com/office/drawing/2014/main" id="{AE759AE1-13E9-0CC7-CE10-E92EF8A7A228}"/>
              </a:ext>
            </a:extLst>
          </p:cNvPr>
          <p:cNvSpPr/>
          <p:nvPr/>
        </p:nvSpPr>
        <p:spPr>
          <a:xfrm>
            <a:off x="542925" y="1724025"/>
            <a:ext cx="2590800" cy="914400"/>
          </a:xfrm>
          <a:custGeom>
            <a:avLst/>
            <a:gdLst/>
            <a:ahLst/>
            <a:cxnLst/>
            <a:rect l="l" t="t" r="r" b="b"/>
            <a:pathLst>
              <a:path w="2590800" h="914400">
                <a:moveTo>
                  <a:pt x="38103" y="0"/>
                </a:moveTo>
                <a:lnTo>
                  <a:pt x="2552697" y="0"/>
                </a:lnTo>
                <a:cubicBezTo>
                  <a:pt x="2573741" y="0"/>
                  <a:pt x="2590800" y="17059"/>
                  <a:pt x="2590800" y="38103"/>
                </a:cubicBezTo>
                <a:lnTo>
                  <a:pt x="2590800" y="876297"/>
                </a:lnTo>
                <a:cubicBezTo>
                  <a:pt x="2590800" y="897341"/>
                  <a:pt x="2573741" y="914400"/>
                  <a:pt x="2552697" y="914400"/>
                </a:cubicBezTo>
                <a:lnTo>
                  <a:pt x="38103" y="914400"/>
                </a:lnTo>
                <a:cubicBezTo>
                  <a:pt x="17059" y="914400"/>
                  <a:pt x="0" y="897341"/>
                  <a:pt x="0" y="876297"/>
                </a:cubicBezTo>
                <a:lnTo>
                  <a:pt x="0" y="38103"/>
                </a:lnTo>
                <a:cubicBezTo>
                  <a:pt x="0" y="17073"/>
                  <a:pt x="17073" y="0"/>
                  <a:pt x="38103" y="0"/>
                </a:cubicBezTo>
                <a:close/>
              </a:path>
            </a:pathLst>
          </a:custGeom>
          <a:solidFill>
            <a:srgbClr val="111317"/>
          </a:solidFill>
          <a:ln/>
        </p:spPr>
        <p:txBody>
          <a:bodyPr/>
          <a:lstStyle/>
          <a:p>
            <a:endParaRPr lang="en-US"/>
          </a:p>
        </p:txBody>
      </p:sp>
      <p:sp>
        <p:nvSpPr>
          <p:cNvPr id="8" name="Text 6">
            <a:extLst>
              <a:ext uri="{FF2B5EF4-FFF2-40B4-BE49-F238E27FC236}">
                <a16:creationId xmlns:a16="http://schemas.microsoft.com/office/drawing/2014/main" id="{F4B1D98A-9ADA-26AD-8F86-DEE1CBCC1107}"/>
              </a:ext>
            </a:extLst>
          </p:cNvPr>
          <p:cNvSpPr/>
          <p:nvPr/>
        </p:nvSpPr>
        <p:spPr>
          <a:xfrm>
            <a:off x="657225" y="1838325"/>
            <a:ext cx="2428875" cy="190500"/>
          </a:xfrm>
          <a:prstGeom prst="rect">
            <a:avLst/>
          </a:prstGeom>
          <a:noFill/>
          <a:ln/>
        </p:spPr>
        <p:txBody>
          <a:bodyPr wrap="square" lIns="0" tIns="0" rIns="0" bIns="0" rtlCol="0" anchor="ctr"/>
          <a:lstStyle/>
          <a:p>
            <a:pPr>
              <a:lnSpc>
                <a:spcPct val="120000"/>
              </a:lnSpc>
            </a:pPr>
            <a:r>
              <a:rPr lang="en-US" sz="1050" dirty="0">
                <a:solidFill>
                  <a:srgbClr val="D8A03D"/>
                </a:solidFill>
                <a:latin typeface="Quattrocento Sans" pitchFamily="34" charset="0"/>
                <a:ea typeface="Quattrocento Sans" pitchFamily="34" charset="-122"/>
                <a:cs typeface="Quattrocento Sans" pitchFamily="34" charset="-120"/>
              </a:rPr>
              <a:t>Manually Charted Reps | Detected Reps</a:t>
            </a:r>
            <a:endParaRPr lang="en-US" sz="1600" dirty="0"/>
          </a:p>
        </p:txBody>
      </p:sp>
      <p:sp>
        <p:nvSpPr>
          <p:cNvPr id="9" name="Text 7">
            <a:extLst>
              <a:ext uri="{FF2B5EF4-FFF2-40B4-BE49-F238E27FC236}">
                <a16:creationId xmlns:a16="http://schemas.microsoft.com/office/drawing/2014/main" id="{A004388A-19AA-21E7-0B9E-F27D37FAB048}"/>
              </a:ext>
            </a:extLst>
          </p:cNvPr>
          <p:cNvSpPr/>
          <p:nvPr/>
        </p:nvSpPr>
        <p:spPr>
          <a:xfrm>
            <a:off x="657225" y="2066925"/>
            <a:ext cx="2476500" cy="304800"/>
          </a:xfrm>
          <a:prstGeom prst="rect">
            <a:avLst/>
          </a:prstGeom>
          <a:noFill/>
          <a:ln/>
        </p:spPr>
        <p:txBody>
          <a:bodyPr wrap="square" lIns="0" tIns="0" rIns="0" bIns="0" rtlCol="0" anchor="ctr"/>
          <a:lstStyle/>
          <a:p>
            <a:pPr algn="ctr">
              <a:lnSpc>
                <a:spcPct val="110000"/>
              </a:lnSpc>
            </a:pPr>
            <a:r>
              <a:rPr lang="en-US" sz="1800" b="1" dirty="0">
                <a:solidFill>
                  <a:srgbClr val="E1E3E6"/>
                </a:solidFill>
                <a:latin typeface="Quattrocento Sans" pitchFamily="34" charset="0"/>
                <a:ea typeface="Quattrocento Sans" pitchFamily="34" charset="-122"/>
                <a:cs typeface="Quattrocento Sans" pitchFamily="34" charset="-120"/>
              </a:rPr>
              <a:t>23                 24</a:t>
            </a:r>
            <a:endParaRPr lang="en-US" sz="1600" dirty="0"/>
          </a:p>
        </p:txBody>
      </p:sp>
      <p:sp>
        <p:nvSpPr>
          <p:cNvPr id="10" name="Text 8">
            <a:extLst>
              <a:ext uri="{FF2B5EF4-FFF2-40B4-BE49-F238E27FC236}">
                <a16:creationId xmlns:a16="http://schemas.microsoft.com/office/drawing/2014/main" id="{1329A33F-DD39-0536-D477-380468288943}"/>
              </a:ext>
            </a:extLst>
          </p:cNvPr>
          <p:cNvSpPr/>
          <p:nvPr/>
        </p:nvSpPr>
        <p:spPr>
          <a:xfrm>
            <a:off x="2056257" y="2371724"/>
            <a:ext cx="915543" cy="204787"/>
          </a:xfrm>
          <a:prstGeom prst="rect">
            <a:avLst/>
          </a:prstGeom>
          <a:noFill/>
          <a:ln/>
        </p:spPr>
        <p:txBody>
          <a:bodyPr wrap="square" lIns="0" tIns="0" rIns="0" bIns="0" rtlCol="0" anchor="ctr"/>
          <a:lstStyle/>
          <a:p>
            <a:pPr>
              <a:lnSpc>
                <a:spcPct val="110000"/>
              </a:lnSpc>
            </a:pPr>
            <a:r>
              <a:rPr lang="en-US" sz="900" dirty="0">
                <a:solidFill>
                  <a:srgbClr val="E1E3E6">
                    <a:alpha val="60000"/>
                  </a:srgbClr>
                </a:solidFill>
                <a:latin typeface="Quattrocento Sans" pitchFamily="34" charset="0"/>
                <a:ea typeface="Quattrocento Sans" pitchFamily="34" charset="-122"/>
                <a:cs typeface="Quattrocento Sans" pitchFamily="34" charset="-120"/>
              </a:rPr>
              <a:t>One false positive</a:t>
            </a:r>
            <a:endParaRPr lang="en-US" sz="1600" dirty="0"/>
          </a:p>
        </p:txBody>
      </p:sp>
      <p:sp>
        <p:nvSpPr>
          <p:cNvPr id="11" name="Shape 9">
            <a:extLst>
              <a:ext uri="{FF2B5EF4-FFF2-40B4-BE49-F238E27FC236}">
                <a16:creationId xmlns:a16="http://schemas.microsoft.com/office/drawing/2014/main" id="{2E632F25-4B3E-C3A9-0738-FA937294AE9F}"/>
              </a:ext>
            </a:extLst>
          </p:cNvPr>
          <p:cNvSpPr/>
          <p:nvPr/>
        </p:nvSpPr>
        <p:spPr>
          <a:xfrm>
            <a:off x="3248025" y="1724025"/>
            <a:ext cx="2590800" cy="914400"/>
          </a:xfrm>
          <a:custGeom>
            <a:avLst/>
            <a:gdLst/>
            <a:ahLst/>
            <a:cxnLst/>
            <a:rect l="l" t="t" r="r" b="b"/>
            <a:pathLst>
              <a:path w="2590800" h="914400">
                <a:moveTo>
                  <a:pt x="38103" y="0"/>
                </a:moveTo>
                <a:lnTo>
                  <a:pt x="2552697" y="0"/>
                </a:lnTo>
                <a:cubicBezTo>
                  <a:pt x="2573741" y="0"/>
                  <a:pt x="2590800" y="17059"/>
                  <a:pt x="2590800" y="38103"/>
                </a:cubicBezTo>
                <a:lnTo>
                  <a:pt x="2590800" y="876297"/>
                </a:lnTo>
                <a:cubicBezTo>
                  <a:pt x="2590800" y="897341"/>
                  <a:pt x="2573741" y="914400"/>
                  <a:pt x="2552697" y="914400"/>
                </a:cubicBezTo>
                <a:lnTo>
                  <a:pt x="38103" y="914400"/>
                </a:lnTo>
                <a:cubicBezTo>
                  <a:pt x="17059" y="914400"/>
                  <a:pt x="0" y="897341"/>
                  <a:pt x="0" y="876297"/>
                </a:cubicBezTo>
                <a:lnTo>
                  <a:pt x="0" y="38103"/>
                </a:lnTo>
                <a:cubicBezTo>
                  <a:pt x="0" y="17073"/>
                  <a:pt x="17073" y="0"/>
                  <a:pt x="38103" y="0"/>
                </a:cubicBezTo>
                <a:close/>
              </a:path>
            </a:pathLst>
          </a:custGeom>
          <a:solidFill>
            <a:srgbClr val="111317"/>
          </a:solidFill>
          <a:ln/>
        </p:spPr>
        <p:txBody>
          <a:bodyPr/>
          <a:lstStyle/>
          <a:p>
            <a:endParaRPr lang="en-US"/>
          </a:p>
        </p:txBody>
      </p:sp>
      <p:sp>
        <p:nvSpPr>
          <p:cNvPr id="12" name="Text 10">
            <a:extLst>
              <a:ext uri="{FF2B5EF4-FFF2-40B4-BE49-F238E27FC236}">
                <a16:creationId xmlns:a16="http://schemas.microsoft.com/office/drawing/2014/main" id="{DFEEA33F-AC14-C56D-F15C-E4A495E5859E}"/>
              </a:ext>
            </a:extLst>
          </p:cNvPr>
          <p:cNvSpPr/>
          <p:nvPr/>
        </p:nvSpPr>
        <p:spPr>
          <a:xfrm>
            <a:off x="3362325" y="1838325"/>
            <a:ext cx="2428875" cy="190500"/>
          </a:xfrm>
          <a:prstGeom prst="rect">
            <a:avLst/>
          </a:prstGeom>
          <a:noFill/>
          <a:ln/>
        </p:spPr>
        <p:txBody>
          <a:bodyPr wrap="square" lIns="0" tIns="0" rIns="0" bIns="0" rtlCol="0" anchor="ctr"/>
          <a:lstStyle/>
          <a:p>
            <a:pPr>
              <a:lnSpc>
                <a:spcPct val="120000"/>
              </a:lnSpc>
            </a:pPr>
            <a:r>
              <a:rPr lang="en-US" sz="1050" dirty="0">
                <a:solidFill>
                  <a:srgbClr val="D8A03D"/>
                </a:solidFill>
                <a:latin typeface="Quattrocento Sans" pitchFamily="34" charset="0"/>
                <a:ea typeface="Quattrocento Sans" pitchFamily="34" charset="-122"/>
                <a:cs typeface="Quattrocento Sans" pitchFamily="34" charset="-120"/>
              </a:rPr>
              <a:t>*Start Frame Error (M)</a:t>
            </a:r>
            <a:endParaRPr lang="en-US" sz="1600" dirty="0"/>
          </a:p>
        </p:txBody>
      </p:sp>
      <p:sp>
        <p:nvSpPr>
          <p:cNvPr id="13" name="Text 11">
            <a:extLst>
              <a:ext uri="{FF2B5EF4-FFF2-40B4-BE49-F238E27FC236}">
                <a16:creationId xmlns:a16="http://schemas.microsoft.com/office/drawing/2014/main" id="{C3826ED7-C82E-39E8-EBCB-E17CD490008D}"/>
              </a:ext>
            </a:extLst>
          </p:cNvPr>
          <p:cNvSpPr/>
          <p:nvPr/>
        </p:nvSpPr>
        <p:spPr>
          <a:xfrm>
            <a:off x="3362325" y="2066925"/>
            <a:ext cx="2476500" cy="304800"/>
          </a:xfrm>
          <a:prstGeom prst="rect">
            <a:avLst/>
          </a:prstGeom>
          <a:noFill/>
          <a:ln/>
        </p:spPr>
        <p:txBody>
          <a:bodyPr wrap="square" lIns="0" tIns="0" rIns="0" bIns="0" rtlCol="0" anchor="ctr"/>
          <a:lstStyle/>
          <a:p>
            <a:pPr>
              <a:lnSpc>
                <a:spcPct val="110000"/>
              </a:lnSpc>
            </a:pPr>
            <a:r>
              <a:rPr lang="en-US" sz="1800" b="1" dirty="0">
                <a:solidFill>
                  <a:srgbClr val="E1E3E6"/>
                </a:solidFill>
                <a:latin typeface="Quattrocento Sans" pitchFamily="34" charset="0"/>
                <a:ea typeface="Quattrocento Sans" pitchFamily="34" charset="-122"/>
                <a:cs typeface="Quattrocento Sans" pitchFamily="34" charset="-120"/>
              </a:rPr>
              <a:t>~2.39 frames</a:t>
            </a:r>
            <a:endParaRPr lang="en-US" sz="1600" dirty="0"/>
          </a:p>
        </p:txBody>
      </p:sp>
      <p:sp>
        <p:nvSpPr>
          <p:cNvPr id="14" name="Text 12">
            <a:extLst>
              <a:ext uri="{FF2B5EF4-FFF2-40B4-BE49-F238E27FC236}">
                <a16:creationId xmlns:a16="http://schemas.microsoft.com/office/drawing/2014/main" id="{EE18AFEC-2B4B-89A7-5B29-39828ECCD285}"/>
              </a:ext>
            </a:extLst>
          </p:cNvPr>
          <p:cNvSpPr/>
          <p:nvPr/>
        </p:nvSpPr>
        <p:spPr>
          <a:xfrm>
            <a:off x="3362325" y="2371725"/>
            <a:ext cx="2419350" cy="152400"/>
          </a:xfrm>
          <a:prstGeom prst="rect">
            <a:avLst/>
          </a:prstGeom>
          <a:noFill/>
          <a:ln/>
        </p:spPr>
        <p:txBody>
          <a:bodyPr wrap="square" lIns="0" tIns="0" rIns="0" bIns="0" rtlCol="0" anchor="ctr"/>
          <a:lstStyle/>
          <a:p>
            <a:pPr>
              <a:lnSpc>
                <a:spcPct val="110000"/>
              </a:lnSpc>
            </a:pPr>
            <a:r>
              <a:rPr lang="en-US" sz="900" dirty="0">
                <a:solidFill>
                  <a:srgbClr val="E1E3E6">
                    <a:alpha val="60000"/>
                  </a:srgbClr>
                </a:solidFill>
                <a:latin typeface="Quattrocento Sans" pitchFamily="34" charset="0"/>
                <a:ea typeface="Quattrocento Sans" pitchFamily="34" charset="-122"/>
                <a:cs typeface="Quattrocento Sans" pitchFamily="34" charset="-120"/>
              </a:rPr>
              <a:t>(1.6s)</a:t>
            </a:r>
            <a:endParaRPr lang="en-US" sz="1600" dirty="0"/>
          </a:p>
        </p:txBody>
      </p:sp>
      <p:sp>
        <p:nvSpPr>
          <p:cNvPr id="15" name="Shape 13">
            <a:extLst>
              <a:ext uri="{FF2B5EF4-FFF2-40B4-BE49-F238E27FC236}">
                <a16:creationId xmlns:a16="http://schemas.microsoft.com/office/drawing/2014/main" id="{E3A278E0-DF57-C3AE-02D6-9E8796538ECA}"/>
              </a:ext>
            </a:extLst>
          </p:cNvPr>
          <p:cNvSpPr/>
          <p:nvPr/>
        </p:nvSpPr>
        <p:spPr>
          <a:xfrm>
            <a:off x="542925" y="2752725"/>
            <a:ext cx="2590800" cy="914400"/>
          </a:xfrm>
          <a:custGeom>
            <a:avLst/>
            <a:gdLst/>
            <a:ahLst/>
            <a:cxnLst/>
            <a:rect l="l" t="t" r="r" b="b"/>
            <a:pathLst>
              <a:path w="2590800" h="914400">
                <a:moveTo>
                  <a:pt x="38103" y="0"/>
                </a:moveTo>
                <a:lnTo>
                  <a:pt x="2552697" y="0"/>
                </a:lnTo>
                <a:cubicBezTo>
                  <a:pt x="2573741" y="0"/>
                  <a:pt x="2590800" y="17059"/>
                  <a:pt x="2590800" y="38103"/>
                </a:cubicBezTo>
                <a:lnTo>
                  <a:pt x="2590800" y="876297"/>
                </a:lnTo>
                <a:cubicBezTo>
                  <a:pt x="2590800" y="897341"/>
                  <a:pt x="2573741" y="914400"/>
                  <a:pt x="2552697" y="914400"/>
                </a:cubicBezTo>
                <a:lnTo>
                  <a:pt x="38103" y="914400"/>
                </a:lnTo>
                <a:cubicBezTo>
                  <a:pt x="17059" y="914400"/>
                  <a:pt x="0" y="897341"/>
                  <a:pt x="0" y="876297"/>
                </a:cubicBezTo>
                <a:lnTo>
                  <a:pt x="0" y="38103"/>
                </a:lnTo>
                <a:cubicBezTo>
                  <a:pt x="0" y="17073"/>
                  <a:pt x="17073" y="0"/>
                  <a:pt x="38103" y="0"/>
                </a:cubicBezTo>
                <a:close/>
              </a:path>
            </a:pathLst>
          </a:custGeom>
          <a:solidFill>
            <a:srgbClr val="111317"/>
          </a:solidFill>
          <a:ln/>
        </p:spPr>
        <p:txBody>
          <a:bodyPr/>
          <a:lstStyle/>
          <a:p>
            <a:endParaRPr lang="en-US"/>
          </a:p>
        </p:txBody>
      </p:sp>
      <p:sp>
        <p:nvSpPr>
          <p:cNvPr id="16" name="Text 14">
            <a:extLst>
              <a:ext uri="{FF2B5EF4-FFF2-40B4-BE49-F238E27FC236}">
                <a16:creationId xmlns:a16="http://schemas.microsoft.com/office/drawing/2014/main" id="{3C142133-0193-E5D1-571F-9B182F6A8D4D}"/>
              </a:ext>
            </a:extLst>
          </p:cNvPr>
          <p:cNvSpPr/>
          <p:nvPr/>
        </p:nvSpPr>
        <p:spPr>
          <a:xfrm>
            <a:off x="657225" y="2867025"/>
            <a:ext cx="2428875" cy="190500"/>
          </a:xfrm>
          <a:prstGeom prst="rect">
            <a:avLst/>
          </a:prstGeom>
          <a:noFill/>
          <a:ln/>
        </p:spPr>
        <p:txBody>
          <a:bodyPr wrap="square" lIns="0" tIns="0" rIns="0" bIns="0" rtlCol="0" anchor="ctr"/>
          <a:lstStyle/>
          <a:p>
            <a:pPr>
              <a:lnSpc>
                <a:spcPct val="120000"/>
              </a:lnSpc>
            </a:pPr>
            <a:r>
              <a:rPr lang="en-US" sz="1050" dirty="0">
                <a:solidFill>
                  <a:srgbClr val="D8A03D"/>
                </a:solidFill>
                <a:latin typeface="Quattrocento Sans" pitchFamily="34" charset="0"/>
                <a:ea typeface="Quattrocento Sans" pitchFamily="34" charset="-122"/>
                <a:cs typeface="Quattrocento Sans" pitchFamily="34" charset="-120"/>
              </a:rPr>
              <a:t>End Frame Error (MAE)</a:t>
            </a:r>
            <a:endParaRPr lang="en-US" sz="1600" dirty="0"/>
          </a:p>
        </p:txBody>
      </p:sp>
      <p:sp>
        <p:nvSpPr>
          <p:cNvPr id="17" name="Text 15">
            <a:extLst>
              <a:ext uri="{FF2B5EF4-FFF2-40B4-BE49-F238E27FC236}">
                <a16:creationId xmlns:a16="http://schemas.microsoft.com/office/drawing/2014/main" id="{6B533A72-C2DA-0C9B-3F65-A768CE123B04}"/>
              </a:ext>
            </a:extLst>
          </p:cNvPr>
          <p:cNvSpPr/>
          <p:nvPr/>
        </p:nvSpPr>
        <p:spPr>
          <a:xfrm>
            <a:off x="657225" y="3095625"/>
            <a:ext cx="2476500" cy="304800"/>
          </a:xfrm>
          <a:prstGeom prst="rect">
            <a:avLst/>
          </a:prstGeom>
          <a:noFill/>
          <a:ln/>
        </p:spPr>
        <p:txBody>
          <a:bodyPr wrap="square" lIns="0" tIns="0" rIns="0" bIns="0" rtlCol="0" anchor="ctr"/>
          <a:lstStyle/>
          <a:p>
            <a:pPr>
              <a:lnSpc>
                <a:spcPct val="110000"/>
              </a:lnSpc>
            </a:pPr>
            <a:r>
              <a:rPr lang="en-US" sz="1800" b="1" dirty="0">
                <a:solidFill>
                  <a:srgbClr val="E1E3E6"/>
                </a:solidFill>
                <a:latin typeface="Quattrocento Sans" pitchFamily="34" charset="0"/>
                <a:ea typeface="Quattrocento Sans" pitchFamily="34" charset="-122"/>
                <a:cs typeface="Quattrocento Sans" pitchFamily="34" charset="-120"/>
              </a:rPr>
              <a:t>~3.96 frames</a:t>
            </a:r>
            <a:endParaRPr lang="en-US" sz="1600" dirty="0"/>
          </a:p>
        </p:txBody>
      </p:sp>
      <p:sp>
        <p:nvSpPr>
          <p:cNvPr id="18" name="Text 16">
            <a:extLst>
              <a:ext uri="{FF2B5EF4-FFF2-40B4-BE49-F238E27FC236}">
                <a16:creationId xmlns:a16="http://schemas.microsoft.com/office/drawing/2014/main" id="{916A4928-6457-F8FB-4FAD-483146CF6568}"/>
              </a:ext>
            </a:extLst>
          </p:cNvPr>
          <p:cNvSpPr/>
          <p:nvPr/>
        </p:nvSpPr>
        <p:spPr>
          <a:xfrm>
            <a:off x="657225" y="3400425"/>
            <a:ext cx="2419350" cy="152400"/>
          </a:xfrm>
          <a:prstGeom prst="rect">
            <a:avLst/>
          </a:prstGeom>
          <a:noFill/>
          <a:ln/>
        </p:spPr>
        <p:txBody>
          <a:bodyPr wrap="square" lIns="0" tIns="0" rIns="0" bIns="0" rtlCol="0" anchor="ctr"/>
          <a:lstStyle/>
          <a:p>
            <a:pPr>
              <a:lnSpc>
                <a:spcPct val="110000"/>
              </a:lnSpc>
            </a:pPr>
            <a:r>
              <a:rPr lang="en-US" sz="900" dirty="0">
                <a:solidFill>
                  <a:srgbClr val="E1E3E6">
                    <a:alpha val="60000"/>
                  </a:srgbClr>
                </a:solidFill>
                <a:latin typeface="Quattrocento Sans" pitchFamily="34" charset="0"/>
                <a:ea typeface="Quattrocento Sans" pitchFamily="34" charset="-122"/>
                <a:cs typeface="Quattrocento Sans" pitchFamily="34" charset="-120"/>
              </a:rPr>
              <a:t>(1.9s)</a:t>
            </a:r>
            <a:endParaRPr lang="en-US" sz="1600" dirty="0"/>
          </a:p>
        </p:txBody>
      </p:sp>
      <p:sp>
        <p:nvSpPr>
          <p:cNvPr id="19" name="Shape 17">
            <a:extLst>
              <a:ext uri="{FF2B5EF4-FFF2-40B4-BE49-F238E27FC236}">
                <a16:creationId xmlns:a16="http://schemas.microsoft.com/office/drawing/2014/main" id="{F20F7A52-7DD1-9F1D-9836-3FC322FE738A}"/>
              </a:ext>
            </a:extLst>
          </p:cNvPr>
          <p:cNvSpPr/>
          <p:nvPr/>
        </p:nvSpPr>
        <p:spPr>
          <a:xfrm>
            <a:off x="3248025" y="2752725"/>
            <a:ext cx="2590800" cy="914400"/>
          </a:xfrm>
          <a:custGeom>
            <a:avLst/>
            <a:gdLst/>
            <a:ahLst/>
            <a:cxnLst/>
            <a:rect l="l" t="t" r="r" b="b"/>
            <a:pathLst>
              <a:path w="2590800" h="914400">
                <a:moveTo>
                  <a:pt x="38103" y="0"/>
                </a:moveTo>
                <a:lnTo>
                  <a:pt x="2552697" y="0"/>
                </a:lnTo>
                <a:cubicBezTo>
                  <a:pt x="2573741" y="0"/>
                  <a:pt x="2590800" y="17059"/>
                  <a:pt x="2590800" y="38103"/>
                </a:cubicBezTo>
                <a:lnTo>
                  <a:pt x="2590800" y="876297"/>
                </a:lnTo>
                <a:cubicBezTo>
                  <a:pt x="2590800" y="897341"/>
                  <a:pt x="2573741" y="914400"/>
                  <a:pt x="2552697" y="914400"/>
                </a:cubicBezTo>
                <a:lnTo>
                  <a:pt x="38103" y="914400"/>
                </a:lnTo>
                <a:cubicBezTo>
                  <a:pt x="17059" y="914400"/>
                  <a:pt x="0" y="897341"/>
                  <a:pt x="0" y="876297"/>
                </a:cubicBezTo>
                <a:lnTo>
                  <a:pt x="0" y="38103"/>
                </a:lnTo>
                <a:cubicBezTo>
                  <a:pt x="0" y="17073"/>
                  <a:pt x="17073" y="0"/>
                  <a:pt x="38103" y="0"/>
                </a:cubicBezTo>
                <a:close/>
              </a:path>
            </a:pathLst>
          </a:custGeom>
          <a:solidFill>
            <a:srgbClr val="111317"/>
          </a:solidFill>
          <a:ln/>
        </p:spPr>
        <p:txBody>
          <a:bodyPr/>
          <a:lstStyle/>
          <a:p>
            <a:endParaRPr lang="en-US"/>
          </a:p>
        </p:txBody>
      </p:sp>
      <p:sp>
        <p:nvSpPr>
          <p:cNvPr id="20" name="Text 18">
            <a:extLst>
              <a:ext uri="{FF2B5EF4-FFF2-40B4-BE49-F238E27FC236}">
                <a16:creationId xmlns:a16="http://schemas.microsoft.com/office/drawing/2014/main" id="{0D8F9B00-342F-F3FE-EE33-35568DF5BBE4}"/>
              </a:ext>
            </a:extLst>
          </p:cNvPr>
          <p:cNvSpPr/>
          <p:nvPr/>
        </p:nvSpPr>
        <p:spPr>
          <a:xfrm>
            <a:off x="3362325" y="2867025"/>
            <a:ext cx="2428875" cy="190500"/>
          </a:xfrm>
          <a:prstGeom prst="rect">
            <a:avLst/>
          </a:prstGeom>
          <a:noFill/>
          <a:ln/>
        </p:spPr>
        <p:txBody>
          <a:bodyPr wrap="square" lIns="0" tIns="0" rIns="0" bIns="0" rtlCol="0" anchor="ctr"/>
          <a:lstStyle/>
          <a:p>
            <a:pPr>
              <a:lnSpc>
                <a:spcPct val="120000"/>
              </a:lnSpc>
            </a:pPr>
            <a:r>
              <a:rPr lang="en-US" sz="1050" dirty="0">
                <a:solidFill>
                  <a:srgbClr val="D8A03D"/>
                </a:solidFill>
                <a:latin typeface="Quattrocento Sans" pitchFamily="34" charset="0"/>
                <a:ea typeface="Quattrocento Sans" pitchFamily="34" charset="-122"/>
                <a:cs typeface="Quattrocento Sans" pitchFamily="34" charset="-120"/>
              </a:rPr>
              <a:t>Matchup Identification</a:t>
            </a:r>
            <a:endParaRPr lang="en-US" sz="1600" dirty="0"/>
          </a:p>
        </p:txBody>
      </p:sp>
      <p:sp>
        <p:nvSpPr>
          <p:cNvPr id="21" name="Text 19">
            <a:extLst>
              <a:ext uri="{FF2B5EF4-FFF2-40B4-BE49-F238E27FC236}">
                <a16:creationId xmlns:a16="http://schemas.microsoft.com/office/drawing/2014/main" id="{E2FE1C72-3B39-C303-C716-FD036A5CC587}"/>
              </a:ext>
            </a:extLst>
          </p:cNvPr>
          <p:cNvSpPr/>
          <p:nvPr/>
        </p:nvSpPr>
        <p:spPr>
          <a:xfrm>
            <a:off x="3362325" y="3095625"/>
            <a:ext cx="2476500" cy="304800"/>
          </a:xfrm>
          <a:prstGeom prst="rect">
            <a:avLst/>
          </a:prstGeom>
          <a:noFill/>
          <a:ln/>
        </p:spPr>
        <p:txBody>
          <a:bodyPr wrap="square" lIns="0" tIns="0" rIns="0" bIns="0" rtlCol="0" anchor="ctr"/>
          <a:lstStyle/>
          <a:p>
            <a:pPr>
              <a:lnSpc>
                <a:spcPct val="110000"/>
              </a:lnSpc>
            </a:pPr>
            <a:r>
              <a:rPr lang="en-US" sz="1800" b="1" dirty="0">
                <a:solidFill>
                  <a:srgbClr val="E1E3E6"/>
                </a:solidFill>
                <a:latin typeface="Quattrocento Sans" pitchFamily="34" charset="0"/>
                <a:ea typeface="Quattrocento Sans" pitchFamily="34" charset="-122"/>
                <a:cs typeface="Quattrocento Sans" pitchFamily="34" charset="-120"/>
              </a:rPr>
              <a:t>23/23 correct pairs</a:t>
            </a:r>
            <a:endParaRPr lang="en-US" sz="1600" dirty="0"/>
          </a:p>
        </p:txBody>
      </p:sp>
      <p:sp>
        <p:nvSpPr>
          <p:cNvPr id="22" name="Text 20">
            <a:extLst>
              <a:ext uri="{FF2B5EF4-FFF2-40B4-BE49-F238E27FC236}">
                <a16:creationId xmlns:a16="http://schemas.microsoft.com/office/drawing/2014/main" id="{0F2D82E5-41C1-BEDE-0E36-0BB83557827C}"/>
              </a:ext>
            </a:extLst>
          </p:cNvPr>
          <p:cNvSpPr/>
          <p:nvPr/>
        </p:nvSpPr>
        <p:spPr>
          <a:xfrm>
            <a:off x="3362325" y="3400425"/>
            <a:ext cx="2419350" cy="152400"/>
          </a:xfrm>
          <a:prstGeom prst="rect">
            <a:avLst/>
          </a:prstGeom>
          <a:noFill/>
          <a:ln/>
        </p:spPr>
        <p:txBody>
          <a:bodyPr wrap="square" lIns="0" tIns="0" rIns="0" bIns="0" rtlCol="0" anchor="ctr"/>
          <a:lstStyle/>
          <a:p>
            <a:pPr>
              <a:lnSpc>
                <a:spcPct val="110000"/>
              </a:lnSpc>
            </a:pPr>
            <a:r>
              <a:rPr lang="en-US" sz="900" dirty="0">
                <a:solidFill>
                  <a:srgbClr val="E1E3E6">
                    <a:alpha val="60000"/>
                  </a:srgbClr>
                </a:solidFill>
                <a:latin typeface="Quattrocento Sans" pitchFamily="34" charset="0"/>
                <a:ea typeface="Quattrocento Sans" pitchFamily="34" charset="-122"/>
                <a:cs typeface="Quattrocento Sans" pitchFamily="34" charset="-120"/>
              </a:rPr>
              <a:t>*When removing one false positive</a:t>
            </a:r>
            <a:endParaRPr lang="en-US" sz="1600" dirty="0"/>
          </a:p>
        </p:txBody>
      </p:sp>
      <p:sp>
        <p:nvSpPr>
          <p:cNvPr id="23" name="Shape 21">
            <a:extLst>
              <a:ext uri="{FF2B5EF4-FFF2-40B4-BE49-F238E27FC236}">
                <a16:creationId xmlns:a16="http://schemas.microsoft.com/office/drawing/2014/main" id="{7D524707-5469-EB1B-AAA2-2F1CEA338672}"/>
              </a:ext>
            </a:extLst>
          </p:cNvPr>
          <p:cNvSpPr/>
          <p:nvPr/>
        </p:nvSpPr>
        <p:spPr>
          <a:xfrm>
            <a:off x="385763" y="3986213"/>
            <a:ext cx="5610225" cy="1838325"/>
          </a:xfrm>
          <a:custGeom>
            <a:avLst/>
            <a:gdLst/>
            <a:ahLst/>
            <a:cxnLst/>
            <a:rect l="l" t="t" r="r" b="b"/>
            <a:pathLst>
              <a:path w="5610225" h="1838325">
                <a:moveTo>
                  <a:pt x="38108" y="0"/>
                </a:moveTo>
                <a:lnTo>
                  <a:pt x="5572117" y="0"/>
                </a:lnTo>
                <a:cubicBezTo>
                  <a:pt x="5593163" y="0"/>
                  <a:pt x="5610225" y="17062"/>
                  <a:pt x="5610225" y="38108"/>
                </a:cubicBezTo>
                <a:lnTo>
                  <a:pt x="5610225" y="1800217"/>
                </a:lnTo>
                <a:cubicBezTo>
                  <a:pt x="5610225" y="1821263"/>
                  <a:pt x="5593163" y="1838325"/>
                  <a:pt x="5572117" y="1838325"/>
                </a:cubicBezTo>
                <a:lnTo>
                  <a:pt x="38108" y="1838325"/>
                </a:lnTo>
                <a:cubicBezTo>
                  <a:pt x="17062" y="1838325"/>
                  <a:pt x="0" y="1821263"/>
                  <a:pt x="0" y="1800217"/>
                </a:cubicBezTo>
                <a:lnTo>
                  <a:pt x="0" y="38108"/>
                </a:lnTo>
                <a:cubicBezTo>
                  <a:pt x="0" y="17076"/>
                  <a:pt x="17076" y="0"/>
                  <a:pt x="38108" y="0"/>
                </a:cubicBezTo>
                <a:close/>
              </a:path>
            </a:pathLst>
          </a:custGeom>
          <a:solidFill>
            <a:srgbClr val="1E2024"/>
          </a:solidFill>
          <a:ln w="12700">
            <a:solidFill>
              <a:srgbClr val="4C7E9A">
                <a:alpha val="30196"/>
              </a:srgbClr>
            </a:solidFill>
            <a:prstDash val="solid"/>
          </a:ln>
        </p:spPr>
        <p:txBody>
          <a:bodyPr/>
          <a:lstStyle/>
          <a:p>
            <a:endParaRPr lang="en-US"/>
          </a:p>
        </p:txBody>
      </p:sp>
      <p:sp>
        <p:nvSpPr>
          <p:cNvPr id="24" name="Shape 22">
            <a:extLst>
              <a:ext uri="{FF2B5EF4-FFF2-40B4-BE49-F238E27FC236}">
                <a16:creationId xmlns:a16="http://schemas.microsoft.com/office/drawing/2014/main" id="{5633F0D8-7BDA-BB10-126F-FA3EA7706C8D}"/>
              </a:ext>
            </a:extLst>
          </p:cNvPr>
          <p:cNvSpPr/>
          <p:nvPr/>
        </p:nvSpPr>
        <p:spPr>
          <a:xfrm>
            <a:off x="532015" y="4191000"/>
            <a:ext cx="171450" cy="171450"/>
          </a:xfrm>
          <a:custGeom>
            <a:avLst/>
            <a:gdLst/>
            <a:ahLst/>
            <a:cxnLst/>
            <a:rect l="l" t="t" r="r" b="b"/>
            <a:pathLst>
              <a:path w="171450" h="171450">
                <a:moveTo>
                  <a:pt x="10716" y="21431"/>
                </a:moveTo>
                <a:cubicBezTo>
                  <a:pt x="6396" y="21431"/>
                  <a:pt x="2478" y="24043"/>
                  <a:pt x="804" y="28062"/>
                </a:cubicBezTo>
                <a:cubicBezTo>
                  <a:pt x="-871" y="32080"/>
                  <a:pt x="67" y="36668"/>
                  <a:pt x="3148" y="39715"/>
                </a:cubicBezTo>
                <a:lnTo>
                  <a:pt x="64294" y="100894"/>
                </a:lnTo>
                <a:lnTo>
                  <a:pt x="64294" y="139303"/>
                </a:lnTo>
                <a:cubicBezTo>
                  <a:pt x="64294" y="142149"/>
                  <a:pt x="65432" y="144862"/>
                  <a:pt x="67441" y="146871"/>
                </a:cubicBezTo>
                <a:lnTo>
                  <a:pt x="88873" y="168302"/>
                </a:lnTo>
                <a:cubicBezTo>
                  <a:pt x="91953" y="171383"/>
                  <a:pt x="96541" y="172287"/>
                  <a:pt x="100559" y="170613"/>
                </a:cubicBezTo>
                <a:cubicBezTo>
                  <a:pt x="104578" y="168939"/>
                  <a:pt x="107156" y="165054"/>
                  <a:pt x="107156" y="160734"/>
                </a:cubicBezTo>
                <a:lnTo>
                  <a:pt x="107156" y="100894"/>
                </a:lnTo>
                <a:lnTo>
                  <a:pt x="168302" y="39748"/>
                </a:lnTo>
                <a:cubicBezTo>
                  <a:pt x="171383" y="36668"/>
                  <a:pt x="172287" y="32080"/>
                  <a:pt x="170613" y="28062"/>
                </a:cubicBezTo>
                <a:cubicBezTo>
                  <a:pt x="168939" y="24043"/>
                  <a:pt x="165054" y="21431"/>
                  <a:pt x="160734" y="21431"/>
                </a:cubicBezTo>
                <a:lnTo>
                  <a:pt x="10716" y="21431"/>
                </a:lnTo>
                <a:close/>
              </a:path>
            </a:pathLst>
          </a:custGeom>
          <a:solidFill>
            <a:srgbClr val="4C7E9A"/>
          </a:solidFill>
          <a:ln/>
        </p:spPr>
        <p:txBody>
          <a:bodyPr/>
          <a:lstStyle/>
          <a:p>
            <a:endParaRPr lang="en-US"/>
          </a:p>
        </p:txBody>
      </p:sp>
      <p:sp>
        <p:nvSpPr>
          <p:cNvPr id="25" name="Text 23">
            <a:extLst>
              <a:ext uri="{FF2B5EF4-FFF2-40B4-BE49-F238E27FC236}">
                <a16:creationId xmlns:a16="http://schemas.microsoft.com/office/drawing/2014/main" id="{07C5D440-C4D3-C1FA-39D7-9FB94D80A8D9}"/>
              </a:ext>
            </a:extLst>
          </p:cNvPr>
          <p:cNvSpPr/>
          <p:nvPr/>
        </p:nvSpPr>
        <p:spPr>
          <a:xfrm>
            <a:off x="762000" y="4143375"/>
            <a:ext cx="5162550" cy="266700"/>
          </a:xfrm>
          <a:prstGeom prst="rect">
            <a:avLst/>
          </a:prstGeom>
          <a:noFill/>
          <a:ln/>
        </p:spPr>
        <p:txBody>
          <a:bodyPr wrap="square" lIns="0" tIns="0" rIns="0" bIns="0" rtlCol="0" anchor="ctr"/>
          <a:lstStyle/>
          <a:p>
            <a:pPr>
              <a:lnSpc>
                <a:spcPct val="130000"/>
              </a:lnSpc>
            </a:pPr>
            <a:r>
              <a:rPr lang="en-US" sz="1350" b="1" dirty="0">
                <a:solidFill>
                  <a:srgbClr val="4C7E9A"/>
                </a:solidFill>
                <a:latin typeface="Liter" pitchFamily="34" charset="0"/>
                <a:ea typeface="Liter" pitchFamily="34" charset="-122"/>
                <a:cs typeface="Liter" pitchFamily="34" charset="-120"/>
              </a:rPr>
              <a:t>Notes</a:t>
            </a:r>
            <a:endParaRPr lang="en-US" sz="1600" dirty="0"/>
          </a:p>
        </p:txBody>
      </p:sp>
      <p:sp>
        <p:nvSpPr>
          <p:cNvPr id="27" name="Text 25">
            <a:extLst>
              <a:ext uri="{FF2B5EF4-FFF2-40B4-BE49-F238E27FC236}">
                <a16:creationId xmlns:a16="http://schemas.microsoft.com/office/drawing/2014/main" id="{6828082C-50F5-A3B3-D42F-083E893E454A}"/>
              </a:ext>
            </a:extLst>
          </p:cNvPr>
          <p:cNvSpPr/>
          <p:nvPr/>
        </p:nvSpPr>
        <p:spPr>
          <a:xfrm>
            <a:off x="740092" y="4524375"/>
            <a:ext cx="5162550" cy="1143000"/>
          </a:xfrm>
          <a:prstGeom prst="rect">
            <a:avLst/>
          </a:prstGeom>
          <a:noFill/>
          <a:ln/>
        </p:spPr>
        <p:txBody>
          <a:bodyPr wrap="square" lIns="0" tIns="0" rIns="0" bIns="0" rtlCol="0" anchor="t"/>
          <a:lstStyle/>
          <a:p>
            <a:pPr>
              <a:lnSpc>
                <a:spcPct val="130000"/>
              </a:lnSpc>
            </a:pPr>
            <a:r>
              <a:rPr lang="en-US" sz="1100" dirty="0">
                <a:solidFill>
                  <a:srgbClr val="E1E3E6"/>
                </a:solidFill>
                <a:latin typeface="Quattrocento Sans" pitchFamily="34" charset="0"/>
                <a:ea typeface="Quattrocento Sans" pitchFamily="34" charset="-122"/>
                <a:cs typeface="Quattrocento Sans" pitchFamily="34" charset="-120"/>
              </a:rPr>
              <a:t>*Manual labeling on West Practice 1 (used to tune algorithm) surfaced combined speed/accel thresholds later used in algorithm; start frame error not wholly independent.</a:t>
            </a:r>
          </a:p>
          <a:p>
            <a:pPr>
              <a:lnSpc>
                <a:spcPct val="130000"/>
              </a:lnSpc>
            </a:pPr>
            <a:r>
              <a:rPr lang="en-US" sz="1100" dirty="0">
                <a:solidFill>
                  <a:srgbClr val="E1E3E6"/>
                </a:solidFill>
                <a:latin typeface="Quattrocento Sans" pitchFamily="34" charset="0"/>
              </a:rPr>
              <a:t>133 reps and 5,345 frames identified across six 2024 practice sessions</a:t>
            </a:r>
          </a:p>
          <a:p>
            <a:pPr>
              <a:lnSpc>
                <a:spcPct val="130000"/>
              </a:lnSpc>
            </a:pPr>
            <a:r>
              <a:rPr lang="en-US" sz="1100" dirty="0">
                <a:solidFill>
                  <a:srgbClr val="E1E3E6"/>
                </a:solidFill>
                <a:latin typeface="Quattrocento Sans" pitchFamily="34" charset="0"/>
              </a:rPr>
              <a:t>9 false positives and 9 other reps with data quality issues filtered out (18/133; ~13.5%)</a:t>
            </a:r>
          </a:p>
          <a:p>
            <a:pPr>
              <a:lnSpc>
                <a:spcPct val="130000"/>
              </a:lnSpc>
            </a:pPr>
            <a:endParaRPr lang="en-US" sz="1100" dirty="0"/>
          </a:p>
        </p:txBody>
      </p:sp>
      <p:sp>
        <p:nvSpPr>
          <p:cNvPr id="34" name="Shape 32">
            <a:extLst>
              <a:ext uri="{FF2B5EF4-FFF2-40B4-BE49-F238E27FC236}">
                <a16:creationId xmlns:a16="http://schemas.microsoft.com/office/drawing/2014/main" id="{35841C17-DFA3-D71D-6925-E10C395F4F27}"/>
              </a:ext>
            </a:extLst>
          </p:cNvPr>
          <p:cNvSpPr/>
          <p:nvPr/>
        </p:nvSpPr>
        <p:spPr>
          <a:xfrm>
            <a:off x="6196013" y="1185863"/>
            <a:ext cx="5610225" cy="4638675"/>
          </a:xfrm>
          <a:custGeom>
            <a:avLst/>
            <a:gdLst/>
            <a:ahLst/>
            <a:cxnLst/>
            <a:rect l="l" t="t" r="r" b="b"/>
            <a:pathLst>
              <a:path w="5610225" h="4638675">
                <a:moveTo>
                  <a:pt x="38084" y="0"/>
                </a:moveTo>
                <a:lnTo>
                  <a:pt x="5572141" y="0"/>
                </a:lnTo>
                <a:cubicBezTo>
                  <a:pt x="5593174" y="0"/>
                  <a:pt x="5610225" y="17051"/>
                  <a:pt x="5610225" y="38084"/>
                </a:cubicBezTo>
                <a:lnTo>
                  <a:pt x="5610225" y="4600591"/>
                </a:lnTo>
                <a:cubicBezTo>
                  <a:pt x="5610225" y="4621624"/>
                  <a:pt x="5593174" y="4638675"/>
                  <a:pt x="5572141" y="4638675"/>
                </a:cubicBezTo>
                <a:lnTo>
                  <a:pt x="38084" y="4638675"/>
                </a:lnTo>
                <a:cubicBezTo>
                  <a:pt x="17051" y="4638675"/>
                  <a:pt x="0" y="4621624"/>
                  <a:pt x="0" y="4600591"/>
                </a:cubicBezTo>
                <a:lnTo>
                  <a:pt x="0" y="38084"/>
                </a:lnTo>
                <a:cubicBezTo>
                  <a:pt x="0" y="17065"/>
                  <a:pt x="17065" y="0"/>
                  <a:pt x="38084" y="0"/>
                </a:cubicBezTo>
                <a:close/>
              </a:path>
            </a:pathLst>
          </a:custGeom>
          <a:solidFill>
            <a:srgbClr val="1E2024"/>
          </a:solidFill>
          <a:ln w="12700">
            <a:solidFill>
              <a:srgbClr val="4C7E9A">
                <a:alpha val="30196"/>
              </a:srgbClr>
            </a:solidFill>
            <a:prstDash val="solid"/>
          </a:ln>
        </p:spPr>
        <p:txBody>
          <a:bodyPr/>
          <a:lstStyle/>
          <a:p>
            <a:endParaRPr lang="en-US"/>
          </a:p>
        </p:txBody>
      </p:sp>
      <p:sp>
        <p:nvSpPr>
          <p:cNvPr id="35" name="Text 33">
            <a:extLst>
              <a:ext uri="{FF2B5EF4-FFF2-40B4-BE49-F238E27FC236}">
                <a16:creationId xmlns:a16="http://schemas.microsoft.com/office/drawing/2014/main" id="{6D0D9C49-9EFC-6FCE-395C-1171971F6E21}"/>
              </a:ext>
            </a:extLst>
          </p:cNvPr>
          <p:cNvSpPr/>
          <p:nvPr/>
        </p:nvSpPr>
        <p:spPr>
          <a:xfrm>
            <a:off x="6353175" y="1269873"/>
            <a:ext cx="5381625" cy="266700"/>
          </a:xfrm>
          <a:prstGeom prst="rect">
            <a:avLst/>
          </a:prstGeom>
          <a:noFill/>
          <a:ln/>
        </p:spPr>
        <p:txBody>
          <a:bodyPr wrap="square" lIns="0" tIns="0" rIns="0" bIns="0" rtlCol="0" anchor="ctr"/>
          <a:lstStyle/>
          <a:p>
            <a:pPr>
              <a:lnSpc>
                <a:spcPct val="130000"/>
              </a:lnSpc>
            </a:pPr>
            <a:r>
              <a:rPr lang="en-US" sz="1350" b="1" dirty="0">
                <a:solidFill>
                  <a:srgbClr val="4C7E9A"/>
                </a:solidFill>
                <a:latin typeface="Liter" pitchFamily="34" charset="0"/>
                <a:ea typeface="Liter" pitchFamily="34" charset="-122"/>
                <a:cs typeface="Liter" pitchFamily="34" charset="-120"/>
              </a:rPr>
              <a:t>Processing Results Across Sessions After Filtering</a:t>
            </a:r>
            <a:endParaRPr lang="en-US" sz="1600" dirty="0"/>
          </a:p>
        </p:txBody>
      </p:sp>
      <p:pic>
        <p:nvPicPr>
          <p:cNvPr id="38" name="Graphic 37" descr="Flag with solid fill">
            <a:extLst>
              <a:ext uri="{FF2B5EF4-FFF2-40B4-BE49-F238E27FC236}">
                <a16:creationId xmlns:a16="http://schemas.microsoft.com/office/drawing/2014/main" id="{AE3FA9AA-4545-452F-2AE0-D1603F2FA8D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4988" y="5428457"/>
            <a:ext cx="171450" cy="171450"/>
          </a:xfrm>
          <a:prstGeom prst="rect">
            <a:avLst/>
          </a:prstGeom>
        </p:spPr>
      </p:pic>
      <p:pic>
        <p:nvPicPr>
          <p:cNvPr id="40" name="Graphic 39" descr="Pin with solid fill">
            <a:extLst>
              <a:ext uri="{FF2B5EF4-FFF2-40B4-BE49-F238E27FC236}">
                <a16:creationId xmlns:a16="http://schemas.microsoft.com/office/drawing/2014/main" id="{7ECED55E-31A8-281F-9707-5765FBC3FF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17525" y="5198078"/>
            <a:ext cx="171450" cy="171450"/>
          </a:xfrm>
          <a:prstGeom prst="rect">
            <a:avLst/>
          </a:prstGeom>
        </p:spPr>
      </p:pic>
      <p:pic>
        <p:nvPicPr>
          <p:cNvPr id="43" name="Graphic 42" descr="Information with solid fill">
            <a:extLst>
              <a:ext uri="{FF2B5EF4-FFF2-40B4-BE49-F238E27FC236}">
                <a16:creationId xmlns:a16="http://schemas.microsoft.com/office/drawing/2014/main" id="{337753D7-F171-81BB-C820-C05484CC4FB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4988" y="4561681"/>
            <a:ext cx="171451" cy="171451"/>
          </a:xfrm>
          <a:prstGeom prst="rect">
            <a:avLst/>
          </a:prstGeom>
        </p:spPr>
      </p:pic>
      <p:pic>
        <p:nvPicPr>
          <p:cNvPr id="49" name="Graphic 48">
            <a:extLst>
              <a:ext uri="{FF2B5EF4-FFF2-40B4-BE49-F238E27FC236}">
                <a16:creationId xmlns:a16="http://schemas.microsoft.com/office/drawing/2014/main" id="{3851372C-A981-8784-0FFA-5B9B5583941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195732" y="1655336"/>
            <a:ext cx="5610225" cy="4207669"/>
          </a:xfrm>
          <a:prstGeom prst="rect">
            <a:avLst/>
          </a:prstGeom>
        </p:spPr>
      </p:pic>
    </p:spTree>
    <p:extLst>
      <p:ext uri="{BB962C8B-B14F-4D97-AF65-F5344CB8AC3E}">
        <p14:creationId xmlns:p14="http://schemas.microsoft.com/office/powerpoint/2010/main" val="367610946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11317"/>
        </a:solidFill>
        <a:effectLst/>
      </p:bgPr>
    </p:bg>
    <p:spTree>
      <p:nvGrpSpPr>
        <p:cNvPr id="1" name="">
          <a:extLst>
            <a:ext uri="{FF2B5EF4-FFF2-40B4-BE49-F238E27FC236}">
              <a16:creationId xmlns:a16="http://schemas.microsoft.com/office/drawing/2014/main" id="{C8D74F99-865A-0EB4-9314-F07F648FAF8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1EF4875-746A-0306-4818-F50DC491D2FB}"/>
              </a:ext>
            </a:extLst>
          </p:cNvPr>
          <p:cNvSpPr/>
          <p:nvPr/>
        </p:nvSpPr>
        <p:spPr>
          <a:xfrm>
            <a:off x="370578" y="370578"/>
            <a:ext cx="11515696" cy="185289"/>
          </a:xfrm>
          <a:prstGeom prst="rect">
            <a:avLst/>
          </a:prstGeom>
          <a:noFill/>
          <a:ln/>
        </p:spPr>
        <p:txBody>
          <a:bodyPr wrap="square" lIns="0" tIns="0" rIns="0" bIns="0" rtlCol="0" anchor="ctr"/>
          <a:lstStyle/>
          <a:p>
            <a:pPr>
              <a:lnSpc>
                <a:spcPct val="120000"/>
              </a:lnSpc>
            </a:pPr>
            <a:r>
              <a:rPr lang="en-US" sz="1021" b="1" kern="0" spc="255" dirty="0">
                <a:solidFill>
                  <a:srgbClr val="D8A03D"/>
                </a:solidFill>
                <a:latin typeface="Quattrocento Sans" pitchFamily="34" charset="0"/>
                <a:ea typeface="Quattrocento Sans" pitchFamily="34" charset="-122"/>
                <a:cs typeface="Quattrocento Sans" pitchFamily="34" charset="-120"/>
              </a:rPr>
              <a:t>FEATURE ENGINEERING</a:t>
            </a:r>
            <a:endParaRPr lang="en-US" sz="1600" dirty="0"/>
          </a:p>
        </p:txBody>
      </p:sp>
      <p:sp>
        <p:nvSpPr>
          <p:cNvPr id="3" name="Text 1">
            <a:extLst>
              <a:ext uri="{FF2B5EF4-FFF2-40B4-BE49-F238E27FC236}">
                <a16:creationId xmlns:a16="http://schemas.microsoft.com/office/drawing/2014/main" id="{3BC4AD5E-D3BD-3244-41EF-19D3637B6C42}"/>
              </a:ext>
            </a:extLst>
          </p:cNvPr>
          <p:cNvSpPr/>
          <p:nvPr/>
        </p:nvSpPr>
        <p:spPr>
          <a:xfrm>
            <a:off x="370578" y="629982"/>
            <a:ext cx="11617605" cy="370578"/>
          </a:xfrm>
          <a:prstGeom prst="rect">
            <a:avLst/>
          </a:prstGeom>
          <a:noFill/>
          <a:ln/>
        </p:spPr>
        <p:txBody>
          <a:bodyPr wrap="square" lIns="0" tIns="0" rIns="0" bIns="0" rtlCol="0" anchor="ctr"/>
          <a:lstStyle/>
          <a:p>
            <a:pPr>
              <a:lnSpc>
                <a:spcPct val="90000"/>
              </a:lnSpc>
            </a:pPr>
            <a:r>
              <a:rPr lang="en-US" sz="2626" b="1" dirty="0">
                <a:solidFill>
                  <a:srgbClr val="E1E3E6"/>
                </a:solidFill>
                <a:latin typeface="Liter" pitchFamily="34" charset="0"/>
                <a:ea typeface="Liter" pitchFamily="34" charset="-122"/>
                <a:cs typeface="Liter" pitchFamily="34" charset="-120"/>
              </a:rPr>
              <a:t>Contact Onset Detection &amp; Other Features</a:t>
            </a:r>
            <a:endParaRPr lang="en-US" sz="1600" dirty="0"/>
          </a:p>
        </p:txBody>
      </p:sp>
      <p:sp>
        <p:nvSpPr>
          <p:cNvPr id="4" name="Shape 2">
            <a:extLst>
              <a:ext uri="{FF2B5EF4-FFF2-40B4-BE49-F238E27FC236}">
                <a16:creationId xmlns:a16="http://schemas.microsoft.com/office/drawing/2014/main" id="{24CAA1CE-C6D8-FABB-A8E3-4FE7DACDB17C}"/>
              </a:ext>
            </a:extLst>
          </p:cNvPr>
          <p:cNvSpPr/>
          <p:nvPr/>
        </p:nvSpPr>
        <p:spPr>
          <a:xfrm>
            <a:off x="379842" y="1158055"/>
            <a:ext cx="3696511" cy="2584778"/>
          </a:xfrm>
          <a:custGeom>
            <a:avLst/>
            <a:gdLst/>
            <a:ahLst/>
            <a:cxnLst/>
            <a:rect l="l" t="t" r="r" b="b"/>
            <a:pathLst>
              <a:path w="3696511" h="2584778">
                <a:moveTo>
                  <a:pt x="37066" y="0"/>
                </a:moveTo>
                <a:lnTo>
                  <a:pt x="3659445" y="0"/>
                </a:lnTo>
                <a:cubicBezTo>
                  <a:pt x="3679916" y="0"/>
                  <a:pt x="3696511" y="16595"/>
                  <a:pt x="3696511" y="37066"/>
                </a:cubicBezTo>
                <a:lnTo>
                  <a:pt x="3696511" y="2547712"/>
                </a:lnTo>
                <a:cubicBezTo>
                  <a:pt x="3696511" y="2568183"/>
                  <a:pt x="3679916" y="2584778"/>
                  <a:pt x="3659445" y="2584778"/>
                </a:cubicBezTo>
                <a:lnTo>
                  <a:pt x="37066" y="2584778"/>
                </a:lnTo>
                <a:cubicBezTo>
                  <a:pt x="16595" y="2584778"/>
                  <a:pt x="0" y="2568183"/>
                  <a:pt x="0" y="2547712"/>
                </a:cubicBezTo>
                <a:lnTo>
                  <a:pt x="0" y="37066"/>
                </a:lnTo>
                <a:cubicBezTo>
                  <a:pt x="0" y="16609"/>
                  <a:pt x="16609" y="0"/>
                  <a:pt x="37066" y="0"/>
                </a:cubicBezTo>
                <a:close/>
              </a:path>
            </a:pathLst>
          </a:custGeom>
          <a:solidFill>
            <a:srgbClr val="1E2024"/>
          </a:solidFill>
          <a:ln w="25400">
            <a:solidFill>
              <a:srgbClr val="D8A03D"/>
            </a:solidFill>
            <a:prstDash val="solid"/>
          </a:ln>
        </p:spPr>
        <p:txBody>
          <a:bodyPr/>
          <a:lstStyle/>
          <a:p>
            <a:endParaRPr lang="en-US"/>
          </a:p>
        </p:txBody>
      </p:sp>
      <p:sp>
        <p:nvSpPr>
          <p:cNvPr id="5" name="Shape 3">
            <a:extLst>
              <a:ext uri="{FF2B5EF4-FFF2-40B4-BE49-F238E27FC236}">
                <a16:creationId xmlns:a16="http://schemas.microsoft.com/office/drawing/2014/main" id="{8BB1FACE-A254-ED1C-6371-CF34D2E71AD4}"/>
              </a:ext>
            </a:extLst>
          </p:cNvPr>
          <p:cNvSpPr/>
          <p:nvPr/>
        </p:nvSpPr>
        <p:spPr>
          <a:xfrm>
            <a:off x="581343" y="1361872"/>
            <a:ext cx="125070" cy="166760"/>
          </a:xfrm>
          <a:custGeom>
            <a:avLst/>
            <a:gdLst/>
            <a:ahLst/>
            <a:cxnLst/>
            <a:rect l="l" t="t" r="r" b="b"/>
            <a:pathLst>
              <a:path w="125070" h="166760">
                <a:moveTo>
                  <a:pt x="95398" y="125070"/>
                </a:moveTo>
                <a:cubicBezTo>
                  <a:pt x="97776" y="117807"/>
                  <a:pt x="102531" y="111228"/>
                  <a:pt x="107905" y="105560"/>
                </a:cubicBezTo>
                <a:cubicBezTo>
                  <a:pt x="118556" y="94356"/>
                  <a:pt x="125070" y="79211"/>
                  <a:pt x="125070" y="62535"/>
                </a:cubicBezTo>
                <a:cubicBezTo>
                  <a:pt x="125070" y="28010"/>
                  <a:pt x="97059" y="0"/>
                  <a:pt x="62535" y="0"/>
                </a:cubicBezTo>
                <a:cubicBezTo>
                  <a:pt x="28010" y="0"/>
                  <a:pt x="0" y="28010"/>
                  <a:pt x="0" y="62535"/>
                </a:cubicBezTo>
                <a:cubicBezTo>
                  <a:pt x="0" y="79211"/>
                  <a:pt x="6514" y="94356"/>
                  <a:pt x="17165" y="105560"/>
                </a:cubicBezTo>
                <a:cubicBezTo>
                  <a:pt x="22539" y="111228"/>
                  <a:pt x="27326" y="117807"/>
                  <a:pt x="29672" y="125070"/>
                </a:cubicBezTo>
                <a:lnTo>
                  <a:pt x="95366" y="125070"/>
                </a:lnTo>
                <a:close/>
                <a:moveTo>
                  <a:pt x="93802" y="140704"/>
                </a:moveTo>
                <a:lnTo>
                  <a:pt x="31267" y="140704"/>
                </a:lnTo>
                <a:lnTo>
                  <a:pt x="31267" y="145915"/>
                </a:lnTo>
                <a:cubicBezTo>
                  <a:pt x="31267" y="160311"/>
                  <a:pt x="42928" y="171971"/>
                  <a:pt x="57324" y="171971"/>
                </a:cubicBezTo>
                <a:lnTo>
                  <a:pt x="67746" y="171971"/>
                </a:lnTo>
                <a:cubicBezTo>
                  <a:pt x="82142" y="171971"/>
                  <a:pt x="93802" y="160311"/>
                  <a:pt x="93802" y="145915"/>
                </a:cubicBezTo>
                <a:lnTo>
                  <a:pt x="93802" y="140704"/>
                </a:lnTo>
                <a:close/>
                <a:moveTo>
                  <a:pt x="59929" y="36479"/>
                </a:moveTo>
                <a:cubicBezTo>
                  <a:pt x="46966" y="36479"/>
                  <a:pt x="36479" y="46966"/>
                  <a:pt x="36479" y="59929"/>
                </a:cubicBezTo>
                <a:cubicBezTo>
                  <a:pt x="36479" y="64261"/>
                  <a:pt x="32994" y="67746"/>
                  <a:pt x="28662" y="67746"/>
                </a:cubicBezTo>
                <a:cubicBezTo>
                  <a:pt x="24330" y="67746"/>
                  <a:pt x="20845" y="64261"/>
                  <a:pt x="20845" y="59929"/>
                </a:cubicBezTo>
                <a:cubicBezTo>
                  <a:pt x="20845" y="38335"/>
                  <a:pt x="38335" y="20845"/>
                  <a:pt x="59929" y="20845"/>
                </a:cubicBezTo>
                <a:cubicBezTo>
                  <a:pt x="64261" y="20845"/>
                  <a:pt x="67746" y="24330"/>
                  <a:pt x="67746" y="28662"/>
                </a:cubicBezTo>
                <a:cubicBezTo>
                  <a:pt x="67746" y="32994"/>
                  <a:pt x="64261" y="36479"/>
                  <a:pt x="59929" y="36479"/>
                </a:cubicBezTo>
                <a:close/>
              </a:path>
            </a:pathLst>
          </a:custGeom>
          <a:solidFill>
            <a:srgbClr val="D8A03D"/>
          </a:solidFill>
          <a:ln/>
        </p:spPr>
        <p:txBody>
          <a:bodyPr/>
          <a:lstStyle/>
          <a:p>
            <a:endParaRPr lang="en-US"/>
          </a:p>
        </p:txBody>
      </p:sp>
      <p:sp>
        <p:nvSpPr>
          <p:cNvPr id="6" name="Text 4">
            <a:extLst>
              <a:ext uri="{FF2B5EF4-FFF2-40B4-BE49-F238E27FC236}">
                <a16:creationId xmlns:a16="http://schemas.microsoft.com/office/drawing/2014/main" id="{5E27314B-43F7-F2C1-BB88-00CE87C5B675}"/>
              </a:ext>
            </a:extLst>
          </p:cNvPr>
          <p:cNvSpPr/>
          <p:nvPr/>
        </p:nvSpPr>
        <p:spPr>
          <a:xfrm>
            <a:off x="750419" y="1315550"/>
            <a:ext cx="3251818" cy="259404"/>
          </a:xfrm>
          <a:prstGeom prst="rect">
            <a:avLst/>
          </a:prstGeom>
          <a:noFill/>
          <a:ln/>
        </p:spPr>
        <p:txBody>
          <a:bodyPr wrap="square" lIns="0" tIns="0" rIns="0" bIns="0" rtlCol="0" anchor="ctr"/>
          <a:lstStyle/>
          <a:p>
            <a:pPr>
              <a:lnSpc>
                <a:spcPct val="130000"/>
              </a:lnSpc>
            </a:pPr>
            <a:r>
              <a:rPr lang="en-US" sz="1313" b="1" dirty="0">
                <a:solidFill>
                  <a:srgbClr val="D8A03D"/>
                </a:solidFill>
                <a:latin typeface="Liter" pitchFamily="34" charset="0"/>
                <a:ea typeface="Liter" pitchFamily="34" charset="-122"/>
                <a:cs typeface="Liter" pitchFamily="34" charset="-120"/>
              </a:rPr>
              <a:t>Challenge</a:t>
            </a:r>
            <a:endParaRPr lang="en-US" sz="1600" dirty="0"/>
          </a:p>
        </p:txBody>
      </p:sp>
      <p:sp>
        <p:nvSpPr>
          <p:cNvPr id="7" name="Shape 5">
            <a:extLst>
              <a:ext uri="{FF2B5EF4-FFF2-40B4-BE49-F238E27FC236}">
                <a16:creationId xmlns:a16="http://schemas.microsoft.com/office/drawing/2014/main" id="{0729710C-F612-A908-1B3D-CC45D98F2E58}"/>
              </a:ext>
            </a:extLst>
          </p:cNvPr>
          <p:cNvSpPr/>
          <p:nvPr/>
        </p:nvSpPr>
        <p:spPr>
          <a:xfrm>
            <a:off x="537337" y="1649070"/>
            <a:ext cx="3381520" cy="1960404"/>
          </a:xfrm>
          <a:custGeom>
            <a:avLst/>
            <a:gdLst/>
            <a:ahLst/>
            <a:cxnLst/>
            <a:rect l="l" t="t" r="r" b="b"/>
            <a:pathLst>
              <a:path w="3381520" h="889386">
                <a:moveTo>
                  <a:pt x="37061" y="0"/>
                </a:moveTo>
                <a:lnTo>
                  <a:pt x="3344459" y="0"/>
                </a:lnTo>
                <a:cubicBezTo>
                  <a:pt x="3364927" y="0"/>
                  <a:pt x="3381520" y="16593"/>
                  <a:pt x="3381520" y="37061"/>
                </a:cubicBezTo>
                <a:lnTo>
                  <a:pt x="3381520" y="852325"/>
                </a:lnTo>
                <a:cubicBezTo>
                  <a:pt x="3381520" y="872793"/>
                  <a:pt x="3364927" y="889386"/>
                  <a:pt x="3344459" y="889386"/>
                </a:cubicBezTo>
                <a:lnTo>
                  <a:pt x="37061" y="889386"/>
                </a:lnTo>
                <a:cubicBezTo>
                  <a:pt x="16593" y="889386"/>
                  <a:pt x="0" y="872793"/>
                  <a:pt x="0" y="852325"/>
                </a:cubicBezTo>
                <a:lnTo>
                  <a:pt x="0" y="37061"/>
                </a:lnTo>
                <a:cubicBezTo>
                  <a:pt x="0" y="16593"/>
                  <a:pt x="16593" y="0"/>
                  <a:pt x="37061" y="0"/>
                </a:cubicBezTo>
                <a:close/>
              </a:path>
            </a:pathLst>
          </a:custGeom>
          <a:solidFill>
            <a:srgbClr val="111317"/>
          </a:solidFill>
          <a:ln/>
        </p:spPr>
        <p:txBody>
          <a:bodyPr/>
          <a:lstStyle/>
          <a:p>
            <a:endParaRPr lang="en-US"/>
          </a:p>
        </p:txBody>
      </p:sp>
      <p:sp>
        <p:nvSpPr>
          <p:cNvPr id="8" name="Text 6">
            <a:extLst>
              <a:ext uri="{FF2B5EF4-FFF2-40B4-BE49-F238E27FC236}">
                <a16:creationId xmlns:a16="http://schemas.microsoft.com/office/drawing/2014/main" id="{6DE1CF11-385D-E47C-54AC-3A1309BD2C16}"/>
              </a:ext>
            </a:extLst>
          </p:cNvPr>
          <p:cNvSpPr/>
          <p:nvPr/>
        </p:nvSpPr>
        <p:spPr>
          <a:xfrm>
            <a:off x="648511" y="1760243"/>
            <a:ext cx="3224024" cy="185289"/>
          </a:xfrm>
          <a:prstGeom prst="rect">
            <a:avLst/>
          </a:prstGeom>
          <a:noFill/>
          <a:ln/>
        </p:spPr>
        <p:txBody>
          <a:bodyPr wrap="square" lIns="0" tIns="0" rIns="0" bIns="0" rtlCol="0" anchor="ctr"/>
          <a:lstStyle/>
          <a:p>
            <a:pPr>
              <a:lnSpc>
                <a:spcPct val="120000"/>
              </a:lnSpc>
            </a:pPr>
            <a:r>
              <a:rPr lang="en-US" sz="1021" b="1" dirty="0">
                <a:solidFill>
                  <a:srgbClr val="D8A03D"/>
                </a:solidFill>
                <a:latin typeface="Quattrocento Sans" pitchFamily="34" charset="0"/>
                <a:ea typeface="Quattrocento Sans" pitchFamily="34" charset="-122"/>
                <a:cs typeface="Quattrocento Sans" pitchFamily="34" charset="-120"/>
              </a:rPr>
              <a:t>Looking For an Engagement Window</a:t>
            </a:r>
            <a:endParaRPr lang="en-US" sz="1600" dirty="0"/>
          </a:p>
        </p:txBody>
      </p:sp>
      <p:sp>
        <p:nvSpPr>
          <p:cNvPr id="9" name="Text 7">
            <a:extLst>
              <a:ext uri="{FF2B5EF4-FFF2-40B4-BE49-F238E27FC236}">
                <a16:creationId xmlns:a16="http://schemas.microsoft.com/office/drawing/2014/main" id="{3821C3E1-E407-1256-B8B0-B3DC7E779DCE}"/>
              </a:ext>
            </a:extLst>
          </p:cNvPr>
          <p:cNvSpPr/>
          <p:nvPr/>
        </p:nvSpPr>
        <p:spPr>
          <a:xfrm>
            <a:off x="648511" y="1982590"/>
            <a:ext cx="3233289" cy="1554110"/>
          </a:xfrm>
          <a:prstGeom prst="rect">
            <a:avLst/>
          </a:prstGeom>
          <a:noFill/>
          <a:ln/>
        </p:spPr>
        <p:txBody>
          <a:bodyPr wrap="square" lIns="0" tIns="0" rIns="0" bIns="0" rtlCol="0" anchor="ctr"/>
          <a:lstStyle/>
          <a:p>
            <a:pPr>
              <a:lnSpc>
                <a:spcPct val="130000"/>
              </a:lnSpc>
            </a:pPr>
            <a:r>
              <a:rPr lang="en-US" sz="1100" dirty="0">
                <a:solidFill>
                  <a:srgbClr val="E1E3E6">
                    <a:alpha val="80000"/>
                  </a:srgbClr>
                </a:solidFill>
                <a:latin typeface="Quattrocento Sans" pitchFamily="34" charset="0"/>
                <a:ea typeface="Quattrocento Sans" pitchFamily="34" charset="-122"/>
                <a:cs typeface="Quattrocento Sans" pitchFamily="34" charset="-120"/>
              </a:rPr>
              <a:t>An individual 1-on-1 rep has confounding factors (how much of a DL’s depth gained is earned vs. how much is due to the OL’s natural retreat?) that can make quantifying performance difficult. Without film to rely on and validate against, finding a consistent reference point is tricky.</a:t>
            </a:r>
            <a:endParaRPr lang="en-US" sz="1100" dirty="0"/>
          </a:p>
        </p:txBody>
      </p:sp>
      <p:sp>
        <p:nvSpPr>
          <p:cNvPr id="14" name="Shape 12">
            <a:extLst>
              <a:ext uri="{FF2B5EF4-FFF2-40B4-BE49-F238E27FC236}">
                <a16:creationId xmlns:a16="http://schemas.microsoft.com/office/drawing/2014/main" id="{617B9F26-12E4-6020-0AC1-61ADB4BFBCFE}"/>
              </a:ext>
            </a:extLst>
          </p:cNvPr>
          <p:cNvSpPr/>
          <p:nvPr/>
        </p:nvSpPr>
        <p:spPr>
          <a:xfrm>
            <a:off x="4240179" y="1153422"/>
            <a:ext cx="3705775" cy="2594043"/>
          </a:xfrm>
          <a:custGeom>
            <a:avLst/>
            <a:gdLst/>
            <a:ahLst/>
            <a:cxnLst/>
            <a:rect l="l" t="t" r="r" b="b"/>
            <a:pathLst>
              <a:path w="3705775" h="2594043">
                <a:moveTo>
                  <a:pt x="37069" y="0"/>
                </a:moveTo>
                <a:lnTo>
                  <a:pt x="3668706" y="0"/>
                </a:lnTo>
                <a:cubicBezTo>
                  <a:pt x="3689179" y="0"/>
                  <a:pt x="3705775" y="16596"/>
                  <a:pt x="3705775" y="37069"/>
                </a:cubicBezTo>
                <a:lnTo>
                  <a:pt x="3705775" y="2556974"/>
                </a:lnTo>
                <a:cubicBezTo>
                  <a:pt x="3705775" y="2577446"/>
                  <a:pt x="3689179" y="2594043"/>
                  <a:pt x="3668706" y="2594043"/>
                </a:cubicBezTo>
                <a:lnTo>
                  <a:pt x="37069" y="2594043"/>
                </a:lnTo>
                <a:cubicBezTo>
                  <a:pt x="16596" y="2594043"/>
                  <a:pt x="0" y="2577446"/>
                  <a:pt x="0" y="2556974"/>
                </a:cubicBezTo>
                <a:lnTo>
                  <a:pt x="0" y="37069"/>
                </a:lnTo>
                <a:cubicBezTo>
                  <a:pt x="0" y="16610"/>
                  <a:pt x="16610" y="0"/>
                  <a:pt x="37069" y="0"/>
                </a:cubicBezTo>
                <a:close/>
              </a:path>
            </a:pathLst>
          </a:custGeom>
          <a:solidFill>
            <a:srgbClr val="1E2024"/>
          </a:solidFill>
          <a:ln w="12700">
            <a:solidFill>
              <a:srgbClr val="3A506B">
                <a:alpha val="30196"/>
              </a:srgbClr>
            </a:solidFill>
            <a:prstDash val="solid"/>
          </a:ln>
        </p:spPr>
        <p:txBody>
          <a:bodyPr/>
          <a:lstStyle/>
          <a:p>
            <a:endParaRPr lang="en-US"/>
          </a:p>
        </p:txBody>
      </p:sp>
      <p:sp>
        <p:nvSpPr>
          <p:cNvPr id="15" name="Text 13">
            <a:extLst>
              <a:ext uri="{FF2B5EF4-FFF2-40B4-BE49-F238E27FC236}">
                <a16:creationId xmlns:a16="http://schemas.microsoft.com/office/drawing/2014/main" id="{DA5846EF-C9B1-4FB2-01A9-27C594D0BBC2}"/>
              </a:ext>
            </a:extLst>
          </p:cNvPr>
          <p:cNvSpPr/>
          <p:nvPr/>
        </p:nvSpPr>
        <p:spPr>
          <a:xfrm>
            <a:off x="4393042" y="1306286"/>
            <a:ext cx="3483429" cy="259404"/>
          </a:xfrm>
          <a:prstGeom prst="rect">
            <a:avLst/>
          </a:prstGeom>
          <a:noFill/>
          <a:ln/>
        </p:spPr>
        <p:txBody>
          <a:bodyPr wrap="square" lIns="0" tIns="0" rIns="0" bIns="0" rtlCol="0" anchor="ctr"/>
          <a:lstStyle/>
          <a:p>
            <a:pPr>
              <a:lnSpc>
                <a:spcPct val="130000"/>
              </a:lnSpc>
            </a:pPr>
            <a:r>
              <a:rPr lang="en-US" sz="1313" b="1" dirty="0">
                <a:solidFill>
                  <a:srgbClr val="3A506B"/>
                </a:solidFill>
                <a:latin typeface="Liter" pitchFamily="34" charset="0"/>
                <a:ea typeface="Liter" pitchFamily="34" charset="-122"/>
                <a:cs typeface="Liter" pitchFamily="34" charset="-120"/>
              </a:rPr>
              <a:t>Solution: Two-Step Detection Process</a:t>
            </a:r>
            <a:endParaRPr lang="en-US" sz="1600" dirty="0"/>
          </a:p>
        </p:txBody>
      </p:sp>
      <p:sp>
        <p:nvSpPr>
          <p:cNvPr id="16" name="Shape 14">
            <a:extLst>
              <a:ext uri="{FF2B5EF4-FFF2-40B4-BE49-F238E27FC236}">
                <a16:creationId xmlns:a16="http://schemas.microsoft.com/office/drawing/2014/main" id="{7186B3F5-E858-56ED-F58F-CC1E2177BD70}"/>
              </a:ext>
            </a:extLst>
          </p:cNvPr>
          <p:cNvSpPr/>
          <p:nvPr/>
        </p:nvSpPr>
        <p:spPr>
          <a:xfrm>
            <a:off x="4393042" y="1676863"/>
            <a:ext cx="296462" cy="296462"/>
          </a:xfrm>
          <a:custGeom>
            <a:avLst/>
            <a:gdLst/>
            <a:ahLst/>
            <a:cxnLst/>
            <a:rect l="l" t="t" r="r" b="b"/>
            <a:pathLst>
              <a:path w="296462" h="296462">
                <a:moveTo>
                  <a:pt x="37058" y="0"/>
                </a:moveTo>
                <a:lnTo>
                  <a:pt x="259404" y="0"/>
                </a:lnTo>
                <a:cubicBezTo>
                  <a:pt x="279871" y="0"/>
                  <a:pt x="296462" y="16591"/>
                  <a:pt x="296462" y="37058"/>
                </a:cubicBezTo>
                <a:lnTo>
                  <a:pt x="296462" y="259404"/>
                </a:lnTo>
                <a:cubicBezTo>
                  <a:pt x="296462" y="279871"/>
                  <a:pt x="279871" y="296462"/>
                  <a:pt x="259404" y="296462"/>
                </a:cubicBezTo>
                <a:lnTo>
                  <a:pt x="37058" y="296462"/>
                </a:lnTo>
                <a:cubicBezTo>
                  <a:pt x="16591" y="296462"/>
                  <a:pt x="0" y="279871"/>
                  <a:pt x="0" y="259404"/>
                </a:cubicBezTo>
                <a:lnTo>
                  <a:pt x="0" y="37058"/>
                </a:lnTo>
                <a:cubicBezTo>
                  <a:pt x="0" y="16591"/>
                  <a:pt x="16591" y="0"/>
                  <a:pt x="37058" y="0"/>
                </a:cubicBezTo>
                <a:close/>
              </a:path>
            </a:pathLst>
          </a:custGeom>
          <a:solidFill>
            <a:srgbClr val="4C7E9A"/>
          </a:solidFill>
          <a:ln/>
        </p:spPr>
        <p:txBody>
          <a:bodyPr/>
          <a:lstStyle/>
          <a:p>
            <a:endParaRPr lang="en-US"/>
          </a:p>
        </p:txBody>
      </p:sp>
      <p:sp>
        <p:nvSpPr>
          <p:cNvPr id="17" name="Text 15">
            <a:extLst>
              <a:ext uri="{FF2B5EF4-FFF2-40B4-BE49-F238E27FC236}">
                <a16:creationId xmlns:a16="http://schemas.microsoft.com/office/drawing/2014/main" id="{6AE842EF-86EE-D919-A398-CB6E17EC40EF}"/>
              </a:ext>
            </a:extLst>
          </p:cNvPr>
          <p:cNvSpPr/>
          <p:nvPr/>
        </p:nvSpPr>
        <p:spPr>
          <a:xfrm>
            <a:off x="4355984" y="1676863"/>
            <a:ext cx="370578" cy="296462"/>
          </a:xfrm>
          <a:prstGeom prst="rect">
            <a:avLst/>
          </a:prstGeom>
          <a:noFill/>
          <a:ln/>
        </p:spPr>
        <p:txBody>
          <a:bodyPr wrap="square" lIns="0" tIns="0" rIns="0" bIns="0" rtlCol="0" anchor="ctr"/>
          <a:lstStyle/>
          <a:p>
            <a:pPr algn="ctr">
              <a:lnSpc>
                <a:spcPct val="130000"/>
              </a:lnSpc>
            </a:pPr>
            <a:r>
              <a:rPr lang="en-US" sz="1167" b="1" dirty="0">
                <a:solidFill>
                  <a:srgbClr val="FFFFFF"/>
                </a:solidFill>
                <a:latin typeface="Quattrocento Sans" pitchFamily="34" charset="0"/>
                <a:ea typeface="Quattrocento Sans" pitchFamily="34" charset="-122"/>
                <a:cs typeface="Quattrocento Sans" pitchFamily="34" charset="-120"/>
              </a:rPr>
              <a:t>1</a:t>
            </a:r>
            <a:endParaRPr lang="en-US" sz="1600" dirty="0"/>
          </a:p>
        </p:txBody>
      </p:sp>
      <p:sp>
        <p:nvSpPr>
          <p:cNvPr id="18" name="Text 16">
            <a:extLst>
              <a:ext uri="{FF2B5EF4-FFF2-40B4-BE49-F238E27FC236}">
                <a16:creationId xmlns:a16="http://schemas.microsoft.com/office/drawing/2014/main" id="{9931AFF8-8AD1-E459-9BCA-7D5F6627B81A}"/>
              </a:ext>
            </a:extLst>
          </p:cNvPr>
          <p:cNvSpPr/>
          <p:nvPr/>
        </p:nvSpPr>
        <p:spPr>
          <a:xfrm>
            <a:off x="4800677" y="1621863"/>
            <a:ext cx="2936827" cy="986322"/>
          </a:xfrm>
          <a:prstGeom prst="rect">
            <a:avLst/>
          </a:prstGeom>
          <a:noFill/>
          <a:ln/>
        </p:spPr>
        <p:txBody>
          <a:bodyPr wrap="square" lIns="0" tIns="0" rIns="0" bIns="0" rtlCol="0" anchor="ctr"/>
          <a:lstStyle/>
          <a:p>
            <a:r>
              <a:rPr lang="en-US" sz="1000" b="1" dirty="0">
                <a:solidFill>
                  <a:srgbClr val="E1E3E6"/>
                </a:solidFill>
                <a:latin typeface="Quattrocento Sans" panose="020B0502050000020003" pitchFamily="34" charset="0"/>
                <a:ea typeface="Quattrocento Sans" pitchFamily="34" charset="-122"/>
                <a:cs typeface="Quattrocento Sans" pitchFamily="34" charset="-120"/>
              </a:rPr>
              <a:t>Engagement Window: </a:t>
            </a:r>
            <a:r>
              <a:rPr lang="en-US" sz="1000" dirty="0">
                <a:solidFill>
                  <a:srgbClr val="E1E3E6">
                    <a:alpha val="70000"/>
                  </a:srgbClr>
                </a:solidFill>
                <a:latin typeface="Quattrocento Sans" panose="020B0502050000020003" pitchFamily="34" charset="0"/>
                <a:ea typeface="Quattrocento Sans" pitchFamily="34" charset="-122"/>
                <a:cs typeface="Quattrocento Sans" pitchFamily="34" charset="-120"/>
              </a:rPr>
              <a:t>Coarse filter. Engagement begins once OL and DL cross a pairwise distance threshold and are closing, ends when pairwise distance exceeds different distance threshold and OL-DL pair are separating.</a:t>
            </a:r>
            <a:endParaRPr lang="en-US" sz="1000" dirty="0">
              <a:latin typeface="Quattrocento Sans" panose="020B0502050000020003" pitchFamily="34" charset="0"/>
            </a:endParaRPr>
          </a:p>
          <a:p>
            <a:endParaRPr lang="en-US" sz="1000" dirty="0">
              <a:latin typeface="Quattrocento Sans" panose="020B0502050000020003" pitchFamily="34" charset="0"/>
            </a:endParaRPr>
          </a:p>
        </p:txBody>
      </p:sp>
      <p:sp>
        <p:nvSpPr>
          <p:cNvPr id="19" name="Text 17">
            <a:extLst>
              <a:ext uri="{FF2B5EF4-FFF2-40B4-BE49-F238E27FC236}">
                <a16:creationId xmlns:a16="http://schemas.microsoft.com/office/drawing/2014/main" id="{96A5E47B-176D-AC9F-55DB-69409CE29A30}"/>
              </a:ext>
            </a:extLst>
          </p:cNvPr>
          <p:cNvSpPr/>
          <p:nvPr/>
        </p:nvSpPr>
        <p:spPr>
          <a:xfrm>
            <a:off x="4800677" y="1888142"/>
            <a:ext cx="2927562" cy="932320"/>
          </a:xfrm>
          <a:prstGeom prst="rect">
            <a:avLst/>
          </a:prstGeom>
          <a:noFill/>
          <a:ln/>
        </p:spPr>
        <p:txBody>
          <a:bodyPr wrap="square" lIns="0" tIns="0" rIns="0" bIns="0" rtlCol="0" anchor="t"/>
          <a:lstStyle/>
          <a:p>
            <a:pPr>
              <a:lnSpc>
                <a:spcPct val="120000"/>
              </a:lnSpc>
            </a:pPr>
            <a:endParaRPr lang="en-US" sz="1600" dirty="0"/>
          </a:p>
        </p:txBody>
      </p:sp>
      <p:sp>
        <p:nvSpPr>
          <p:cNvPr id="20" name="Shape 18">
            <a:extLst>
              <a:ext uri="{FF2B5EF4-FFF2-40B4-BE49-F238E27FC236}">
                <a16:creationId xmlns:a16="http://schemas.microsoft.com/office/drawing/2014/main" id="{DA6B51EC-EF40-8975-E631-57E26708F1CA}"/>
              </a:ext>
            </a:extLst>
          </p:cNvPr>
          <p:cNvSpPr/>
          <p:nvPr/>
        </p:nvSpPr>
        <p:spPr>
          <a:xfrm>
            <a:off x="4393042" y="2650053"/>
            <a:ext cx="296462" cy="296462"/>
          </a:xfrm>
          <a:custGeom>
            <a:avLst/>
            <a:gdLst/>
            <a:ahLst/>
            <a:cxnLst/>
            <a:rect l="l" t="t" r="r" b="b"/>
            <a:pathLst>
              <a:path w="296462" h="296462">
                <a:moveTo>
                  <a:pt x="37058" y="0"/>
                </a:moveTo>
                <a:lnTo>
                  <a:pt x="259404" y="0"/>
                </a:lnTo>
                <a:cubicBezTo>
                  <a:pt x="279871" y="0"/>
                  <a:pt x="296462" y="16591"/>
                  <a:pt x="296462" y="37058"/>
                </a:cubicBezTo>
                <a:lnTo>
                  <a:pt x="296462" y="259404"/>
                </a:lnTo>
                <a:cubicBezTo>
                  <a:pt x="296462" y="279871"/>
                  <a:pt x="279871" y="296462"/>
                  <a:pt x="259404" y="296462"/>
                </a:cubicBezTo>
                <a:lnTo>
                  <a:pt x="37058" y="296462"/>
                </a:lnTo>
                <a:cubicBezTo>
                  <a:pt x="16591" y="296462"/>
                  <a:pt x="0" y="279871"/>
                  <a:pt x="0" y="259404"/>
                </a:cubicBezTo>
                <a:lnTo>
                  <a:pt x="0" y="37058"/>
                </a:lnTo>
                <a:cubicBezTo>
                  <a:pt x="0" y="16591"/>
                  <a:pt x="16591" y="0"/>
                  <a:pt x="37058" y="0"/>
                </a:cubicBezTo>
                <a:close/>
              </a:path>
            </a:pathLst>
          </a:custGeom>
          <a:solidFill>
            <a:srgbClr val="4C7E9A"/>
          </a:solidFill>
          <a:ln/>
        </p:spPr>
        <p:txBody>
          <a:bodyPr/>
          <a:lstStyle/>
          <a:p>
            <a:endParaRPr lang="en-US"/>
          </a:p>
        </p:txBody>
      </p:sp>
      <p:sp>
        <p:nvSpPr>
          <p:cNvPr id="21" name="Text 19">
            <a:extLst>
              <a:ext uri="{FF2B5EF4-FFF2-40B4-BE49-F238E27FC236}">
                <a16:creationId xmlns:a16="http://schemas.microsoft.com/office/drawing/2014/main" id="{321C28FC-4F0A-A699-2EBB-39B192D0AB6C}"/>
              </a:ext>
            </a:extLst>
          </p:cNvPr>
          <p:cNvSpPr/>
          <p:nvPr/>
        </p:nvSpPr>
        <p:spPr>
          <a:xfrm>
            <a:off x="4355984" y="2650053"/>
            <a:ext cx="370578" cy="296462"/>
          </a:xfrm>
          <a:prstGeom prst="rect">
            <a:avLst/>
          </a:prstGeom>
          <a:noFill/>
          <a:ln/>
        </p:spPr>
        <p:txBody>
          <a:bodyPr wrap="square" lIns="0" tIns="0" rIns="0" bIns="0" rtlCol="0" anchor="ctr"/>
          <a:lstStyle/>
          <a:p>
            <a:pPr algn="ctr">
              <a:lnSpc>
                <a:spcPct val="130000"/>
              </a:lnSpc>
            </a:pPr>
            <a:r>
              <a:rPr lang="en-US" sz="1167" b="1" dirty="0">
                <a:solidFill>
                  <a:srgbClr val="FFFFFF"/>
                </a:solidFill>
                <a:latin typeface="Quattrocento Sans" pitchFamily="34" charset="0"/>
                <a:ea typeface="Quattrocento Sans" pitchFamily="34" charset="-122"/>
                <a:cs typeface="Quattrocento Sans" pitchFamily="34" charset="-120"/>
              </a:rPr>
              <a:t>2</a:t>
            </a:r>
            <a:endParaRPr lang="en-US" sz="1600" dirty="0"/>
          </a:p>
        </p:txBody>
      </p:sp>
      <p:sp>
        <p:nvSpPr>
          <p:cNvPr id="23" name="Text 21">
            <a:extLst>
              <a:ext uri="{FF2B5EF4-FFF2-40B4-BE49-F238E27FC236}">
                <a16:creationId xmlns:a16="http://schemas.microsoft.com/office/drawing/2014/main" id="{548644BD-39E2-094B-AC32-0338CCBD951A}"/>
              </a:ext>
            </a:extLst>
          </p:cNvPr>
          <p:cNvSpPr/>
          <p:nvPr/>
        </p:nvSpPr>
        <p:spPr>
          <a:xfrm>
            <a:off x="4800677" y="2613824"/>
            <a:ext cx="2851407" cy="904210"/>
          </a:xfrm>
          <a:prstGeom prst="rect">
            <a:avLst/>
          </a:prstGeom>
          <a:noFill/>
          <a:ln/>
        </p:spPr>
        <p:txBody>
          <a:bodyPr wrap="square" lIns="0" tIns="0" rIns="0" bIns="0" rtlCol="0" anchor="t"/>
          <a:lstStyle/>
          <a:p>
            <a:r>
              <a:rPr lang="en-US" sz="1000" b="1" dirty="0">
                <a:solidFill>
                  <a:srgbClr val="DEE0E4"/>
                </a:solidFill>
                <a:latin typeface="Quattrocento Sans" pitchFamily="34" charset="0"/>
                <a:ea typeface="Quattrocento Sans" pitchFamily="34" charset="-122"/>
                <a:cs typeface="Quattrocento Sans" pitchFamily="34" charset="-120"/>
              </a:rPr>
              <a:t>Contact Onset Point: </a:t>
            </a:r>
            <a:r>
              <a:rPr lang="en-US" sz="1000" dirty="0">
                <a:solidFill>
                  <a:srgbClr val="E1E3E6">
                    <a:alpha val="70000"/>
                  </a:srgbClr>
                </a:solidFill>
                <a:latin typeface="Quattrocento Sans" pitchFamily="34" charset="0"/>
                <a:ea typeface="Quattrocento Sans" pitchFamily="34" charset="-122"/>
                <a:cs typeface="Quattrocento Sans" pitchFamily="34" charset="-120"/>
              </a:rPr>
              <a:t>Fine filter. Identify candidate frames where distance is under given threshold, most frames are closing and closing isn’t trivial. Find first frame where 2 of 3 confirmation signals (closing-speed collapse, coupling, impact spike) fire. Use engagement window start as fallback.</a:t>
            </a:r>
            <a:endParaRPr lang="en-US" sz="1000" dirty="0"/>
          </a:p>
        </p:txBody>
      </p:sp>
      <p:sp>
        <p:nvSpPr>
          <p:cNvPr id="24" name="Shape 22">
            <a:extLst>
              <a:ext uri="{FF2B5EF4-FFF2-40B4-BE49-F238E27FC236}">
                <a16:creationId xmlns:a16="http://schemas.microsoft.com/office/drawing/2014/main" id="{92972571-A826-8BF6-EF49-DA24EF141E54}"/>
              </a:ext>
            </a:extLst>
          </p:cNvPr>
          <p:cNvSpPr/>
          <p:nvPr/>
        </p:nvSpPr>
        <p:spPr>
          <a:xfrm>
            <a:off x="407445" y="3911908"/>
            <a:ext cx="3705775" cy="2594043"/>
          </a:xfrm>
          <a:custGeom>
            <a:avLst/>
            <a:gdLst/>
            <a:ahLst/>
            <a:cxnLst/>
            <a:rect l="l" t="t" r="r" b="b"/>
            <a:pathLst>
              <a:path w="3705775" h="2594043">
                <a:moveTo>
                  <a:pt x="37069" y="0"/>
                </a:moveTo>
                <a:lnTo>
                  <a:pt x="3668706" y="0"/>
                </a:lnTo>
                <a:cubicBezTo>
                  <a:pt x="3689179" y="0"/>
                  <a:pt x="3705775" y="16596"/>
                  <a:pt x="3705775" y="37069"/>
                </a:cubicBezTo>
                <a:lnTo>
                  <a:pt x="3705775" y="2556974"/>
                </a:lnTo>
                <a:cubicBezTo>
                  <a:pt x="3705775" y="2577446"/>
                  <a:pt x="3689179" y="2594043"/>
                  <a:pt x="3668706" y="2594043"/>
                </a:cubicBezTo>
                <a:lnTo>
                  <a:pt x="37069" y="2594043"/>
                </a:lnTo>
                <a:cubicBezTo>
                  <a:pt x="16596" y="2594043"/>
                  <a:pt x="0" y="2577446"/>
                  <a:pt x="0" y="2556974"/>
                </a:cubicBezTo>
                <a:lnTo>
                  <a:pt x="0" y="37069"/>
                </a:lnTo>
                <a:cubicBezTo>
                  <a:pt x="0" y="16610"/>
                  <a:pt x="16610" y="0"/>
                  <a:pt x="37069" y="0"/>
                </a:cubicBezTo>
                <a:close/>
              </a:path>
            </a:pathLst>
          </a:custGeom>
          <a:solidFill>
            <a:srgbClr val="1E2024"/>
          </a:solidFill>
          <a:ln w="12700">
            <a:solidFill>
              <a:srgbClr val="D8A03D">
                <a:alpha val="30196"/>
              </a:srgbClr>
            </a:solidFill>
            <a:prstDash val="solid"/>
          </a:ln>
        </p:spPr>
        <p:txBody>
          <a:bodyPr/>
          <a:lstStyle/>
          <a:p>
            <a:endParaRPr lang="en-US" dirty="0"/>
          </a:p>
        </p:txBody>
      </p:sp>
      <p:sp>
        <p:nvSpPr>
          <p:cNvPr id="41" name="Shape 39">
            <a:extLst>
              <a:ext uri="{FF2B5EF4-FFF2-40B4-BE49-F238E27FC236}">
                <a16:creationId xmlns:a16="http://schemas.microsoft.com/office/drawing/2014/main" id="{A104D1E9-03E4-B40B-369C-B766CA0231E4}"/>
              </a:ext>
            </a:extLst>
          </p:cNvPr>
          <p:cNvSpPr/>
          <p:nvPr/>
        </p:nvSpPr>
        <p:spPr>
          <a:xfrm>
            <a:off x="4306574" y="4430717"/>
            <a:ext cx="3430930" cy="1334079"/>
          </a:xfrm>
          <a:custGeom>
            <a:avLst/>
            <a:gdLst/>
            <a:ahLst/>
            <a:cxnLst/>
            <a:rect l="l" t="t" r="r" b="b"/>
            <a:pathLst>
              <a:path w="3594602" h="1334079">
                <a:moveTo>
                  <a:pt x="37058" y="0"/>
                </a:moveTo>
                <a:lnTo>
                  <a:pt x="3557541" y="0"/>
                </a:lnTo>
                <a:cubicBezTo>
                  <a:pt x="3578009" y="0"/>
                  <a:pt x="3594602" y="16593"/>
                  <a:pt x="3594602" y="37061"/>
                </a:cubicBezTo>
                <a:lnTo>
                  <a:pt x="3594602" y="1297018"/>
                </a:lnTo>
                <a:cubicBezTo>
                  <a:pt x="3594602" y="1317486"/>
                  <a:pt x="3578009" y="1334079"/>
                  <a:pt x="3557541" y="1334079"/>
                </a:cubicBezTo>
                <a:lnTo>
                  <a:pt x="37058" y="1334079"/>
                </a:lnTo>
                <a:cubicBezTo>
                  <a:pt x="16591" y="1334079"/>
                  <a:pt x="0" y="1317488"/>
                  <a:pt x="0" y="1297021"/>
                </a:cubicBezTo>
                <a:lnTo>
                  <a:pt x="0" y="37058"/>
                </a:lnTo>
                <a:cubicBezTo>
                  <a:pt x="0" y="16591"/>
                  <a:pt x="16591" y="0"/>
                  <a:pt x="37058" y="0"/>
                </a:cubicBezTo>
                <a:close/>
              </a:path>
            </a:pathLst>
          </a:custGeom>
          <a:solidFill>
            <a:srgbClr val="111317"/>
          </a:solidFill>
          <a:ln/>
        </p:spPr>
        <p:txBody>
          <a:bodyPr/>
          <a:lstStyle/>
          <a:p>
            <a:endParaRPr lang="en-US" dirty="0"/>
          </a:p>
        </p:txBody>
      </p:sp>
      <p:sp>
        <p:nvSpPr>
          <p:cNvPr id="47" name="Shape 45">
            <a:extLst>
              <a:ext uri="{FF2B5EF4-FFF2-40B4-BE49-F238E27FC236}">
                <a16:creationId xmlns:a16="http://schemas.microsoft.com/office/drawing/2014/main" id="{789BFB16-DCDC-3E9F-0821-F291748B0DDC}"/>
              </a:ext>
            </a:extLst>
          </p:cNvPr>
          <p:cNvSpPr/>
          <p:nvPr/>
        </p:nvSpPr>
        <p:spPr>
          <a:xfrm>
            <a:off x="4370091" y="4366380"/>
            <a:ext cx="3508226" cy="2071134"/>
          </a:xfrm>
          <a:custGeom>
            <a:avLst/>
            <a:gdLst/>
            <a:ahLst/>
            <a:cxnLst/>
            <a:rect l="l" t="t" r="r" b="b"/>
            <a:pathLst>
              <a:path w="3594602" h="1334079">
                <a:moveTo>
                  <a:pt x="37058" y="0"/>
                </a:moveTo>
                <a:lnTo>
                  <a:pt x="3557541" y="0"/>
                </a:lnTo>
                <a:cubicBezTo>
                  <a:pt x="3578009" y="0"/>
                  <a:pt x="3594602" y="16593"/>
                  <a:pt x="3594602" y="37061"/>
                </a:cubicBezTo>
                <a:lnTo>
                  <a:pt x="3594602" y="1297018"/>
                </a:lnTo>
                <a:cubicBezTo>
                  <a:pt x="3594602" y="1317486"/>
                  <a:pt x="3578009" y="1334079"/>
                  <a:pt x="3557541" y="1334079"/>
                </a:cubicBezTo>
                <a:lnTo>
                  <a:pt x="37058" y="1334079"/>
                </a:lnTo>
                <a:cubicBezTo>
                  <a:pt x="16591" y="1334079"/>
                  <a:pt x="0" y="1317488"/>
                  <a:pt x="0" y="1297021"/>
                </a:cubicBezTo>
                <a:lnTo>
                  <a:pt x="0" y="37058"/>
                </a:lnTo>
                <a:cubicBezTo>
                  <a:pt x="0" y="16591"/>
                  <a:pt x="16591" y="0"/>
                  <a:pt x="37058" y="0"/>
                </a:cubicBezTo>
                <a:close/>
              </a:path>
            </a:pathLst>
          </a:custGeom>
          <a:solidFill>
            <a:srgbClr val="111317"/>
          </a:solidFill>
          <a:ln/>
        </p:spPr>
        <p:txBody>
          <a:bodyPr/>
          <a:lstStyle/>
          <a:p>
            <a:r>
              <a:rPr lang="en-US" sz="1000" dirty="0">
                <a:solidFill>
                  <a:srgbClr val="E7E7E7"/>
                </a:solidFill>
                <a:latin typeface="Quattrocento Sans" panose="020B0502050000020003" pitchFamily="34" charset="0"/>
              </a:rPr>
              <a:t>There is no film to validate when contact began. Instead, manually labeled contact onset frames were identified through rough heuristics surrounding regime change. (Meaning, when does a rep look like it has exited the closing phase and entered a coupled engagement phase?) As such, the “contact onset frame” can only be viewed as a very rough approximation for when contact onset may have occurred, and should not be considered ground truth. However, if the contact-aligned closing velocity chart on the left is taken into account, the contact-onset frame can be seen as a reasonable proxy for a moment when closing velocity is about to collapse and players enter a sustained period of engagement.</a:t>
            </a:r>
          </a:p>
        </p:txBody>
      </p:sp>
      <p:sp>
        <p:nvSpPr>
          <p:cNvPr id="48" name="Shape 46">
            <a:extLst>
              <a:ext uri="{FF2B5EF4-FFF2-40B4-BE49-F238E27FC236}">
                <a16:creationId xmlns:a16="http://schemas.microsoft.com/office/drawing/2014/main" id="{6BAB29E8-B13B-9FCD-9F0E-6DA11F85598C}"/>
              </a:ext>
            </a:extLst>
          </p:cNvPr>
          <p:cNvSpPr/>
          <p:nvPr/>
        </p:nvSpPr>
        <p:spPr>
          <a:xfrm>
            <a:off x="4283714" y="4013743"/>
            <a:ext cx="45719" cy="2428489"/>
          </a:xfrm>
          <a:custGeom>
            <a:avLst/>
            <a:gdLst/>
            <a:ahLst/>
            <a:cxnLst/>
            <a:rect l="l" t="t" r="r" b="b"/>
            <a:pathLst>
              <a:path w="37058" h="1334079">
                <a:moveTo>
                  <a:pt x="37058" y="0"/>
                </a:moveTo>
                <a:lnTo>
                  <a:pt x="37058" y="0"/>
                </a:lnTo>
                <a:lnTo>
                  <a:pt x="37058" y="1334079"/>
                </a:lnTo>
                <a:lnTo>
                  <a:pt x="37058" y="1334079"/>
                </a:lnTo>
                <a:cubicBezTo>
                  <a:pt x="16591" y="1334079"/>
                  <a:pt x="0" y="1317488"/>
                  <a:pt x="0" y="1297021"/>
                </a:cubicBezTo>
                <a:lnTo>
                  <a:pt x="0" y="37058"/>
                </a:lnTo>
                <a:cubicBezTo>
                  <a:pt x="0" y="16591"/>
                  <a:pt x="16591" y="0"/>
                  <a:pt x="37058" y="0"/>
                </a:cubicBezTo>
                <a:close/>
              </a:path>
            </a:pathLst>
          </a:custGeom>
          <a:solidFill>
            <a:srgbClr val="D8A03D"/>
          </a:solidFill>
          <a:ln/>
        </p:spPr>
        <p:txBody>
          <a:bodyPr/>
          <a:lstStyle/>
          <a:p>
            <a:endParaRPr lang="en-US"/>
          </a:p>
        </p:txBody>
      </p:sp>
      <p:sp>
        <p:nvSpPr>
          <p:cNvPr id="50" name="Text 48">
            <a:extLst>
              <a:ext uri="{FF2B5EF4-FFF2-40B4-BE49-F238E27FC236}">
                <a16:creationId xmlns:a16="http://schemas.microsoft.com/office/drawing/2014/main" id="{FDC218A9-7146-D047-6BA7-FE930C5CC82F}"/>
              </a:ext>
            </a:extLst>
          </p:cNvPr>
          <p:cNvSpPr/>
          <p:nvPr/>
        </p:nvSpPr>
        <p:spPr>
          <a:xfrm>
            <a:off x="4723249" y="4012101"/>
            <a:ext cx="3038736" cy="259404"/>
          </a:xfrm>
          <a:prstGeom prst="rect">
            <a:avLst/>
          </a:prstGeom>
          <a:noFill/>
          <a:ln/>
        </p:spPr>
        <p:txBody>
          <a:bodyPr wrap="square" lIns="0" tIns="0" rIns="0" bIns="0" rtlCol="0" anchor="ctr"/>
          <a:lstStyle/>
          <a:p>
            <a:pPr>
              <a:lnSpc>
                <a:spcPct val="130000"/>
              </a:lnSpc>
            </a:pPr>
            <a:r>
              <a:rPr lang="en-US" sz="1313" b="1" dirty="0">
                <a:solidFill>
                  <a:srgbClr val="E1E3E6"/>
                </a:solidFill>
                <a:latin typeface="Liter" pitchFamily="34" charset="0"/>
                <a:ea typeface="Liter" pitchFamily="34" charset="-122"/>
                <a:cs typeface="Liter" pitchFamily="34" charset="-120"/>
              </a:rPr>
              <a:t>Why approximate? (An important caveat)</a:t>
            </a:r>
            <a:endParaRPr lang="en-US" sz="1600" dirty="0"/>
          </a:p>
        </p:txBody>
      </p:sp>
      <p:pic>
        <p:nvPicPr>
          <p:cNvPr id="76" name="Graphic 75" descr="Information with solid fill">
            <a:extLst>
              <a:ext uri="{FF2B5EF4-FFF2-40B4-BE49-F238E27FC236}">
                <a16:creationId xmlns:a16="http://schemas.microsoft.com/office/drawing/2014/main" id="{0C103623-35E4-EDE2-75E7-B8252351A7E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70091" y="3998684"/>
            <a:ext cx="309109" cy="309109"/>
          </a:xfrm>
          <a:prstGeom prst="rect">
            <a:avLst/>
          </a:prstGeom>
        </p:spPr>
      </p:pic>
      <p:sp>
        <p:nvSpPr>
          <p:cNvPr id="78" name="Text 16">
            <a:extLst>
              <a:ext uri="{FF2B5EF4-FFF2-40B4-BE49-F238E27FC236}">
                <a16:creationId xmlns:a16="http://schemas.microsoft.com/office/drawing/2014/main" id="{E3F81EDB-3742-C23C-F98F-C8D19825034F}"/>
              </a:ext>
            </a:extLst>
          </p:cNvPr>
          <p:cNvSpPr/>
          <p:nvPr/>
        </p:nvSpPr>
        <p:spPr>
          <a:xfrm>
            <a:off x="4486962" y="4356368"/>
            <a:ext cx="3483464" cy="852328"/>
          </a:xfrm>
          <a:prstGeom prst="rect">
            <a:avLst/>
          </a:prstGeom>
          <a:noFill/>
          <a:ln/>
        </p:spPr>
        <p:txBody>
          <a:bodyPr wrap="square" lIns="0" tIns="0" rIns="0" bIns="0" rtlCol="0" anchor="t"/>
          <a:lstStyle/>
          <a:p>
            <a:r>
              <a:rPr lang="en-US" sz="1000" dirty="0">
                <a:latin typeface="Quattrocento Sans" panose="020B0502050000020003" pitchFamily="34" charset="0"/>
              </a:rPr>
              <a:t>T</a:t>
            </a:r>
          </a:p>
        </p:txBody>
      </p:sp>
      <p:sp>
        <p:nvSpPr>
          <p:cNvPr id="79" name="Rounded Rectangle 78">
            <a:extLst>
              <a:ext uri="{FF2B5EF4-FFF2-40B4-BE49-F238E27FC236}">
                <a16:creationId xmlns:a16="http://schemas.microsoft.com/office/drawing/2014/main" id="{177D2470-9B52-BF11-8076-483407E16509}"/>
              </a:ext>
            </a:extLst>
          </p:cNvPr>
          <p:cNvSpPr/>
          <p:nvPr/>
        </p:nvSpPr>
        <p:spPr>
          <a:xfrm>
            <a:off x="8261684" y="3911908"/>
            <a:ext cx="3624590" cy="2377272"/>
          </a:xfrm>
          <a:prstGeom prst="roundRect">
            <a:avLst/>
          </a:prstGeom>
          <a:noFill/>
          <a:ln>
            <a:solidFill>
              <a:srgbClr val="4A7C9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4A7C98"/>
              </a:solidFill>
            </a:endParaRPr>
          </a:p>
        </p:txBody>
      </p:sp>
      <p:sp>
        <p:nvSpPr>
          <p:cNvPr id="96" name="Text 36">
            <a:extLst>
              <a:ext uri="{FF2B5EF4-FFF2-40B4-BE49-F238E27FC236}">
                <a16:creationId xmlns:a16="http://schemas.microsoft.com/office/drawing/2014/main" id="{13F5C095-E3AA-1BA0-A3A0-FD9713B8DF48}"/>
              </a:ext>
            </a:extLst>
          </p:cNvPr>
          <p:cNvSpPr/>
          <p:nvPr/>
        </p:nvSpPr>
        <p:spPr>
          <a:xfrm>
            <a:off x="8550637" y="4241423"/>
            <a:ext cx="3233918" cy="1137811"/>
          </a:xfrm>
          <a:prstGeom prst="rect">
            <a:avLst/>
          </a:prstGeom>
          <a:noFill/>
          <a:ln/>
        </p:spPr>
        <p:txBody>
          <a:bodyPr wrap="square" lIns="0" tIns="0" rIns="0" bIns="0" rtlCol="0" anchor="ctr"/>
          <a:lstStyle/>
          <a:p>
            <a:r>
              <a:rPr lang="en-US" sz="1000" b="1" dirty="0">
                <a:solidFill>
                  <a:srgbClr val="E1E3E6"/>
                </a:solidFill>
                <a:latin typeface="Quattrocento Sans" panose="020B0502050000020003" pitchFamily="34" charset="0"/>
                <a:ea typeface="Liter" pitchFamily="34" charset="-122"/>
                <a:cs typeface="Liter" pitchFamily="34" charset="-120"/>
              </a:rPr>
              <a:t>          Matchup Labeling:  </a:t>
            </a:r>
            <a:r>
              <a:rPr lang="en-US" sz="1000" dirty="0">
                <a:solidFill>
                  <a:srgbClr val="E1E3E6">
                    <a:alpha val="80000"/>
                  </a:srgbClr>
                </a:solidFill>
                <a:latin typeface="Quattrocento Sans" panose="020B0502050000020003" pitchFamily="34" charset="0"/>
                <a:ea typeface="Quattrocento Sans" pitchFamily="34" charset="-122"/>
                <a:cs typeface="Quattrocento Sans" pitchFamily="34" charset="-120"/>
              </a:rPr>
              <a:t>Quickly label reps as edge or interior by hand, second pass to clean with code where positions (DT vs. OG/OC, DE vs. OT) align. (Extra Trees classifier achieves high accuracy vs. manual labels.)</a:t>
            </a:r>
            <a:endParaRPr lang="en-US" sz="1000" dirty="0">
              <a:latin typeface="Quattrocento Sans" panose="020B0502050000020003" pitchFamily="34" charset="0"/>
            </a:endParaRPr>
          </a:p>
          <a:p>
            <a:endParaRPr lang="en-US" sz="1000" dirty="0">
              <a:latin typeface="Quattrocento Sans" panose="020B0502050000020003" pitchFamily="34" charset="0"/>
            </a:endParaRPr>
          </a:p>
        </p:txBody>
      </p:sp>
      <p:pic>
        <p:nvPicPr>
          <p:cNvPr id="98" name="Graphic 97">
            <a:extLst>
              <a:ext uri="{FF2B5EF4-FFF2-40B4-BE49-F238E27FC236}">
                <a16:creationId xmlns:a16="http://schemas.microsoft.com/office/drawing/2014/main" id="{AAB8034B-CB7C-3D49-3107-796368B5FAA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flipH="1">
            <a:off x="8514054" y="4341616"/>
            <a:ext cx="308875" cy="308875"/>
          </a:xfrm>
          <a:prstGeom prst="rect">
            <a:avLst/>
          </a:prstGeom>
        </p:spPr>
      </p:pic>
      <p:sp>
        <p:nvSpPr>
          <p:cNvPr id="99" name="Text 42">
            <a:extLst>
              <a:ext uri="{FF2B5EF4-FFF2-40B4-BE49-F238E27FC236}">
                <a16:creationId xmlns:a16="http://schemas.microsoft.com/office/drawing/2014/main" id="{3B868D2F-54F8-7D19-E4B8-82891AC43DC3}"/>
              </a:ext>
            </a:extLst>
          </p:cNvPr>
          <p:cNvSpPr/>
          <p:nvPr/>
        </p:nvSpPr>
        <p:spPr>
          <a:xfrm>
            <a:off x="8550637" y="4992128"/>
            <a:ext cx="3126484" cy="1210961"/>
          </a:xfrm>
          <a:prstGeom prst="rect">
            <a:avLst/>
          </a:prstGeom>
          <a:noFill/>
          <a:ln/>
        </p:spPr>
        <p:txBody>
          <a:bodyPr wrap="square" lIns="0" tIns="0" rIns="0" bIns="0" rtlCol="0" anchor="ctr"/>
          <a:lstStyle/>
          <a:p>
            <a:r>
              <a:rPr lang="en-US" sz="1000" b="1" dirty="0">
                <a:solidFill>
                  <a:srgbClr val="E1E3E6"/>
                </a:solidFill>
                <a:latin typeface="Quattrocento Sans" panose="020B0502050000020003" pitchFamily="34" charset="0"/>
                <a:ea typeface="Liter" pitchFamily="34" charset="-122"/>
                <a:cs typeface="Liter" pitchFamily="34" charset="-120"/>
              </a:rPr>
              <a:t>        Player Information: </a:t>
            </a:r>
            <a:r>
              <a:rPr lang="en-US" sz="1000" dirty="0">
                <a:solidFill>
                  <a:srgbClr val="E1E3E6">
                    <a:alpha val="70000"/>
                  </a:srgbClr>
                </a:solidFill>
                <a:latin typeface="Quattrocento Sans" panose="020B0502050000020003" pitchFamily="34" charset="0"/>
                <a:ea typeface="Quattrocento Sans" pitchFamily="34" charset="-122"/>
                <a:cs typeface="Quattrocento Sans" pitchFamily="34" charset="-120"/>
              </a:rPr>
              <a:t>Join player-level information (name, position, weight, draft outcomes) onto unique player IDs. Add information for missing players based on official East-West Shrine Bowl rosters where possible. </a:t>
            </a:r>
            <a:endParaRPr lang="en-US" sz="1000" dirty="0">
              <a:latin typeface="Quattrocento Sans" panose="020B0502050000020003" pitchFamily="34" charset="0"/>
            </a:endParaRPr>
          </a:p>
          <a:p>
            <a:endParaRPr lang="en-US" sz="1000" dirty="0">
              <a:latin typeface="Quattrocento Sans" panose="020B0502050000020003" pitchFamily="34" charset="0"/>
            </a:endParaRPr>
          </a:p>
        </p:txBody>
      </p:sp>
      <p:pic>
        <p:nvPicPr>
          <p:cNvPr id="101" name="Graphic 100" descr="User with solid fill">
            <a:extLst>
              <a:ext uri="{FF2B5EF4-FFF2-40B4-BE49-F238E27FC236}">
                <a16:creationId xmlns:a16="http://schemas.microsoft.com/office/drawing/2014/main" id="{89A1F63F-3AE1-2AC3-0A97-E199C40C430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511776" y="5129067"/>
            <a:ext cx="267224" cy="267224"/>
          </a:xfrm>
          <a:prstGeom prst="rect">
            <a:avLst/>
          </a:prstGeom>
        </p:spPr>
      </p:pic>
      <p:sp>
        <p:nvSpPr>
          <p:cNvPr id="102" name="Text 32">
            <a:extLst>
              <a:ext uri="{FF2B5EF4-FFF2-40B4-BE49-F238E27FC236}">
                <a16:creationId xmlns:a16="http://schemas.microsoft.com/office/drawing/2014/main" id="{4BA42830-8830-2C96-89CF-DCF105CD7017}"/>
              </a:ext>
            </a:extLst>
          </p:cNvPr>
          <p:cNvSpPr/>
          <p:nvPr/>
        </p:nvSpPr>
        <p:spPr>
          <a:xfrm>
            <a:off x="8261683" y="4076405"/>
            <a:ext cx="3624589" cy="245864"/>
          </a:xfrm>
          <a:prstGeom prst="rect">
            <a:avLst/>
          </a:prstGeom>
          <a:noFill/>
          <a:ln/>
        </p:spPr>
        <p:txBody>
          <a:bodyPr wrap="square" lIns="0" tIns="0" rIns="0" bIns="0" rtlCol="0" anchor="ctr"/>
          <a:lstStyle/>
          <a:p>
            <a:pPr algn="ctr">
              <a:lnSpc>
                <a:spcPct val="130000"/>
              </a:lnSpc>
            </a:pPr>
            <a:r>
              <a:rPr lang="en-US" sz="1313" b="1" dirty="0">
                <a:solidFill>
                  <a:srgbClr val="4C7E9A"/>
                </a:solidFill>
                <a:latin typeface="Liter" pitchFamily="34" charset="0"/>
                <a:ea typeface="Liter" pitchFamily="34" charset="-122"/>
                <a:cs typeface="Liter" pitchFamily="34" charset="-120"/>
              </a:rPr>
              <a:t>Other Features</a:t>
            </a:r>
            <a:endParaRPr lang="en-US" sz="1600" dirty="0"/>
          </a:p>
        </p:txBody>
      </p:sp>
      <p:sp>
        <p:nvSpPr>
          <p:cNvPr id="108" name="Shape 22">
            <a:extLst>
              <a:ext uri="{FF2B5EF4-FFF2-40B4-BE49-F238E27FC236}">
                <a16:creationId xmlns:a16="http://schemas.microsoft.com/office/drawing/2014/main" id="{6881029B-5EED-ED70-4E72-E82FCEDEE01C}"/>
              </a:ext>
            </a:extLst>
          </p:cNvPr>
          <p:cNvSpPr/>
          <p:nvPr/>
        </p:nvSpPr>
        <p:spPr>
          <a:xfrm>
            <a:off x="8226965" y="1157054"/>
            <a:ext cx="3705775" cy="2594043"/>
          </a:xfrm>
          <a:custGeom>
            <a:avLst/>
            <a:gdLst/>
            <a:ahLst/>
            <a:cxnLst/>
            <a:rect l="l" t="t" r="r" b="b"/>
            <a:pathLst>
              <a:path w="3705775" h="2594043">
                <a:moveTo>
                  <a:pt x="37069" y="0"/>
                </a:moveTo>
                <a:lnTo>
                  <a:pt x="3668706" y="0"/>
                </a:lnTo>
                <a:cubicBezTo>
                  <a:pt x="3689179" y="0"/>
                  <a:pt x="3705775" y="16596"/>
                  <a:pt x="3705775" y="37069"/>
                </a:cubicBezTo>
                <a:lnTo>
                  <a:pt x="3705775" y="2556974"/>
                </a:lnTo>
                <a:cubicBezTo>
                  <a:pt x="3705775" y="2577446"/>
                  <a:pt x="3689179" y="2594043"/>
                  <a:pt x="3668706" y="2594043"/>
                </a:cubicBezTo>
                <a:lnTo>
                  <a:pt x="37069" y="2594043"/>
                </a:lnTo>
                <a:cubicBezTo>
                  <a:pt x="16596" y="2594043"/>
                  <a:pt x="0" y="2577446"/>
                  <a:pt x="0" y="2556974"/>
                </a:cubicBezTo>
                <a:lnTo>
                  <a:pt x="0" y="37069"/>
                </a:lnTo>
                <a:cubicBezTo>
                  <a:pt x="0" y="16610"/>
                  <a:pt x="16610" y="0"/>
                  <a:pt x="37069" y="0"/>
                </a:cubicBezTo>
                <a:close/>
              </a:path>
            </a:pathLst>
          </a:custGeom>
          <a:solidFill>
            <a:srgbClr val="1E2024"/>
          </a:solidFill>
          <a:ln w="12700">
            <a:solidFill>
              <a:srgbClr val="D8A03D">
                <a:alpha val="30196"/>
              </a:srgbClr>
            </a:solidFill>
            <a:prstDash val="solid"/>
          </a:ln>
        </p:spPr>
        <p:txBody>
          <a:bodyPr/>
          <a:lstStyle/>
          <a:p>
            <a:endParaRPr lang="en-US" dirty="0"/>
          </a:p>
        </p:txBody>
      </p:sp>
      <p:sp>
        <p:nvSpPr>
          <p:cNvPr id="109" name="Text 23">
            <a:extLst>
              <a:ext uri="{FF2B5EF4-FFF2-40B4-BE49-F238E27FC236}">
                <a16:creationId xmlns:a16="http://schemas.microsoft.com/office/drawing/2014/main" id="{A44C6768-EEA4-A8FE-E1B0-8D71789342BB}"/>
              </a:ext>
            </a:extLst>
          </p:cNvPr>
          <p:cNvSpPr/>
          <p:nvPr/>
        </p:nvSpPr>
        <p:spPr>
          <a:xfrm>
            <a:off x="8379828" y="1309918"/>
            <a:ext cx="3483429" cy="259404"/>
          </a:xfrm>
          <a:prstGeom prst="rect">
            <a:avLst/>
          </a:prstGeom>
          <a:noFill/>
          <a:ln/>
        </p:spPr>
        <p:txBody>
          <a:bodyPr wrap="square" lIns="0" tIns="0" rIns="0" bIns="0" rtlCol="0" anchor="ctr"/>
          <a:lstStyle/>
          <a:p>
            <a:pPr>
              <a:lnSpc>
                <a:spcPct val="130000"/>
              </a:lnSpc>
            </a:pPr>
            <a:r>
              <a:rPr lang="en-US" sz="1313" b="1" dirty="0">
                <a:solidFill>
                  <a:srgbClr val="D8A03D"/>
                </a:solidFill>
                <a:latin typeface="Liter" pitchFamily="34" charset="0"/>
                <a:ea typeface="Liter" pitchFamily="34" charset="-122"/>
                <a:cs typeface="Liter" pitchFamily="34" charset="-120"/>
              </a:rPr>
              <a:t>(*Approximate) Interior Validation Results</a:t>
            </a:r>
            <a:endParaRPr lang="en-US" sz="1600" dirty="0"/>
          </a:p>
        </p:txBody>
      </p:sp>
      <p:pic>
        <p:nvPicPr>
          <p:cNvPr id="112" name="Graphic 111">
            <a:extLst>
              <a:ext uri="{FF2B5EF4-FFF2-40B4-BE49-F238E27FC236}">
                <a16:creationId xmlns:a16="http://schemas.microsoft.com/office/drawing/2014/main" id="{A8818568-6FE7-C31F-BD36-7B97C2BAC3A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61282" y="3920040"/>
            <a:ext cx="4203655" cy="2522193"/>
          </a:xfrm>
          <a:prstGeom prst="rect">
            <a:avLst/>
          </a:prstGeom>
        </p:spPr>
      </p:pic>
      <p:pic>
        <p:nvPicPr>
          <p:cNvPr id="11" name="Graphic 10">
            <a:extLst>
              <a:ext uri="{FF2B5EF4-FFF2-40B4-BE49-F238E27FC236}">
                <a16:creationId xmlns:a16="http://schemas.microsoft.com/office/drawing/2014/main" id="{D2A6C146-6C7B-FA68-45C9-67D5EB14F70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328729" y="1640389"/>
            <a:ext cx="3483429" cy="2090057"/>
          </a:xfrm>
          <a:prstGeom prst="rect">
            <a:avLst/>
          </a:prstGeom>
        </p:spPr>
      </p:pic>
    </p:spTree>
    <p:extLst>
      <p:ext uri="{BB962C8B-B14F-4D97-AF65-F5344CB8AC3E}">
        <p14:creationId xmlns:p14="http://schemas.microsoft.com/office/powerpoint/2010/main" val="4206297252"/>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317"/>
        </a:solidFill>
        <a:effectLst/>
      </p:bgPr>
    </p:bg>
    <p:spTree>
      <p:nvGrpSpPr>
        <p:cNvPr id="1" name=""/>
        <p:cNvGrpSpPr/>
        <p:nvPr/>
      </p:nvGrpSpPr>
      <p:grpSpPr>
        <a:xfrm>
          <a:off x="0" y="0"/>
          <a:ext cx="0" cy="0"/>
          <a:chOff x="0" y="0"/>
          <a:chExt cx="0" cy="0"/>
        </a:xfrm>
      </p:grpSpPr>
      <p:sp>
        <p:nvSpPr>
          <p:cNvPr id="2" name="Text 0"/>
          <p:cNvSpPr/>
          <p:nvPr/>
        </p:nvSpPr>
        <p:spPr>
          <a:xfrm>
            <a:off x="381000" y="381000"/>
            <a:ext cx="11496675" cy="190500"/>
          </a:xfrm>
          <a:prstGeom prst="rect">
            <a:avLst/>
          </a:prstGeom>
          <a:noFill/>
          <a:ln/>
        </p:spPr>
        <p:txBody>
          <a:bodyPr wrap="square" lIns="0" tIns="0" rIns="0" bIns="0" rtlCol="0" anchor="ctr"/>
          <a:lstStyle/>
          <a:p>
            <a:pPr>
              <a:lnSpc>
                <a:spcPct val="120000"/>
              </a:lnSpc>
            </a:pPr>
            <a:r>
              <a:rPr lang="en-US" sz="1050" b="1" kern="0" spc="263" dirty="0">
                <a:solidFill>
                  <a:srgbClr val="D8A03D"/>
                </a:solidFill>
                <a:latin typeface="Quattrocento Sans" pitchFamily="34" charset="0"/>
                <a:ea typeface="Quattrocento Sans" pitchFamily="34" charset="-122"/>
                <a:cs typeface="Quattrocento Sans" pitchFamily="34" charset="-120"/>
              </a:rPr>
              <a:t>PERFORMANCE METRICS AND RESULTS (OL)</a:t>
            </a:r>
            <a:endParaRPr lang="en-US" sz="1600" dirty="0"/>
          </a:p>
        </p:txBody>
      </p:sp>
      <p:sp>
        <p:nvSpPr>
          <p:cNvPr id="3" name="Text 1"/>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700" b="1" dirty="0">
                <a:solidFill>
                  <a:srgbClr val="E1E3E6"/>
                </a:solidFill>
                <a:latin typeface="Liter" pitchFamily="34" charset="0"/>
                <a:ea typeface="Liter" pitchFamily="34" charset="-122"/>
                <a:cs typeface="Liter" pitchFamily="34" charset="-120"/>
              </a:rPr>
              <a:t>Primary Metric: DL Depth Allowed (or Gained) at Frame 25</a:t>
            </a:r>
            <a:endParaRPr lang="en-US" sz="1600" dirty="0"/>
          </a:p>
        </p:txBody>
      </p:sp>
      <p:sp>
        <p:nvSpPr>
          <p:cNvPr id="4" name="Shape 2"/>
          <p:cNvSpPr/>
          <p:nvPr/>
        </p:nvSpPr>
        <p:spPr>
          <a:xfrm>
            <a:off x="385763" y="1064840"/>
            <a:ext cx="3327559" cy="5291137"/>
          </a:xfrm>
          <a:custGeom>
            <a:avLst/>
            <a:gdLst/>
            <a:ahLst/>
            <a:cxnLst/>
            <a:rect l="l" t="t" r="r" b="b"/>
            <a:pathLst>
              <a:path w="4467225" h="3514725">
                <a:moveTo>
                  <a:pt x="38100" y="0"/>
                </a:moveTo>
                <a:lnTo>
                  <a:pt x="4429125" y="0"/>
                </a:lnTo>
                <a:cubicBezTo>
                  <a:pt x="4450167" y="0"/>
                  <a:pt x="4467225" y="17058"/>
                  <a:pt x="4467225" y="38100"/>
                </a:cubicBezTo>
                <a:lnTo>
                  <a:pt x="4467225" y="3476625"/>
                </a:lnTo>
                <a:cubicBezTo>
                  <a:pt x="4467225" y="3497667"/>
                  <a:pt x="4450167" y="3514725"/>
                  <a:pt x="4429125" y="3514725"/>
                </a:cubicBezTo>
                <a:lnTo>
                  <a:pt x="38100" y="3514725"/>
                </a:lnTo>
                <a:cubicBezTo>
                  <a:pt x="17058" y="3514725"/>
                  <a:pt x="0" y="3497667"/>
                  <a:pt x="0" y="3476625"/>
                </a:cubicBezTo>
                <a:lnTo>
                  <a:pt x="0" y="38100"/>
                </a:lnTo>
                <a:cubicBezTo>
                  <a:pt x="0" y="17072"/>
                  <a:pt x="17072" y="0"/>
                  <a:pt x="38100" y="0"/>
                </a:cubicBezTo>
                <a:close/>
              </a:path>
            </a:pathLst>
          </a:custGeom>
          <a:solidFill>
            <a:srgbClr val="1E2024"/>
          </a:solidFill>
          <a:ln w="12700">
            <a:solidFill>
              <a:srgbClr val="4C7E9A">
                <a:alpha val="30196"/>
              </a:srgbClr>
            </a:solidFill>
            <a:prstDash val="solid"/>
          </a:ln>
        </p:spPr>
        <p:txBody>
          <a:bodyPr/>
          <a:lstStyle/>
          <a:p>
            <a:endParaRPr lang="en-US"/>
          </a:p>
        </p:txBody>
      </p:sp>
      <p:sp>
        <p:nvSpPr>
          <p:cNvPr id="5" name="Shape 3"/>
          <p:cNvSpPr/>
          <p:nvPr/>
        </p:nvSpPr>
        <p:spPr>
          <a:xfrm>
            <a:off x="566738" y="1269627"/>
            <a:ext cx="171450" cy="171450"/>
          </a:xfrm>
          <a:custGeom>
            <a:avLst/>
            <a:gdLst/>
            <a:ahLst/>
            <a:cxnLst/>
            <a:rect l="l" t="t" r="r" b="b"/>
            <a:pathLst>
              <a:path w="171450" h="171450">
                <a:moveTo>
                  <a:pt x="85725" y="0"/>
                </a:moveTo>
                <a:cubicBezTo>
                  <a:pt x="133038" y="0"/>
                  <a:pt x="171450" y="38412"/>
                  <a:pt x="171450" y="85725"/>
                </a:cubicBezTo>
                <a:cubicBezTo>
                  <a:pt x="171450" y="133038"/>
                  <a:pt x="133038" y="171450"/>
                  <a:pt x="85725" y="171450"/>
                </a:cubicBezTo>
                <a:cubicBezTo>
                  <a:pt x="38412" y="171450"/>
                  <a:pt x="0" y="133038"/>
                  <a:pt x="0" y="85725"/>
                </a:cubicBezTo>
                <a:cubicBezTo>
                  <a:pt x="0" y="38412"/>
                  <a:pt x="38412" y="0"/>
                  <a:pt x="85725" y="0"/>
                </a:cubicBezTo>
                <a:close/>
                <a:moveTo>
                  <a:pt x="77688" y="40184"/>
                </a:moveTo>
                <a:lnTo>
                  <a:pt x="77688" y="85725"/>
                </a:lnTo>
                <a:cubicBezTo>
                  <a:pt x="77688" y="88404"/>
                  <a:pt x="79028" y="90915"/>
                  <a:pt x="81271" y="92422"/>
                </a:cubicBezTo>
                <a:lnTo>
                  <a:pt x="113418" y="113854"/>
                </a:lnTo>
                <a:cubicBezTo>
                  <a:pt x="117102" y="116332"/>
                  <a:pt x="122091" y="115327"/>
                  <a:pt x="124569" y="111610"/>
                </a:cubicBezTo>
                <a:cubicBezTo>
                  <a:pt x="127047" y="107893"/>
                  <a:pt x="126043" y="102937"/>
                  <a:pt x="122326" y="100459"/>
                </a:cubicBezTo>
                <a:lnTo>
                  <a:pt x="93762" y="81439"/>
                </a:lnTo>
                <a:lnTo>
                  <a:pt x="93762" y="40184"/>
                </a:lnTo>
                <a:cubicBezTo>
                  <a:pt x="93762" y="35730"/>
                  <a:pt x="90179" y="32147"/>
                  <a:pt x="85725" y="32147"/>
                </a:cubicBezTo>
                <a:cubicBezTo>
                  <a:pt x="81271" y="32147"/>
                  <a:pt x="77688" y="35730"/>
                  <a:pt x="77688" y="40184"/>
                </a:cubicBezTo>
                <a:close/>
              </a:path>
            </a:pathLst>
          </a:custGeom>
          <a:solidFill>
            <a:srgbClr val="4C7E9A"/>
          </a:solidFill>
          <a:ln/>
        </p:spPr>
        <p:txBody>
          <a:bodyPr/>
          <a:lstStyle/>
          <a:p>
            <a:endParaRPr lang="en-US"/>
          </a:p>
        </p:txBody>
      </p:sp>
      <p:sp>
        <p:nvSpPr>
          <p:cNvPr id="6" name="Text 4"/>
          <p:cNvSpPr/>
          <p:nvPr/>
        </p:nvSpPr>
        <p:spPr>
          <a:xfrm>
            <a:off x="800100" y="1212858"/>
            <a:ext cx="3981450" cy="266700"/>
          </a:xfrm>
          <a:prstGeom prst="rect">
            <a:avLst/>
          </a:prstGeom>
          <a:noFill/>
          <a:ln/>
        </p:spPr>
        <p:txBody>
          <a:bodyPr wrap="square" lIns="0" tIns="0" rIns="0" bIns="0" rtlCol="0" anchor="ctr"/>
          <a:lstStyle/>
          <a:p>
            <a:pPr>
              <a:lnSpc>
                <a:spcPct val="130000"/>
              </a:lnSpc>
            </a:pPr>
            <a:r>
              <a:rPr lang="en-US" sz="1350" b="1" dirty="0">
                <a:solidFill>
                  <a:srgbClr val="4C7E9A"/>
                </a:solidFill>
                <a:latin typeface="Liter" pitchFamily="34" charset="0"/>
                <a:ea typeface="Liter" pitchFamily="34" charset="-122"/>
                <a:cs typeface="Liter" pitchFamily="34" charset="-120"/>
              </a:rPr>
              <a:t>Why frame 25?</a:t>
            </a:r>
            <a:endParaRPr lang="en-US" sz="1600" dirty="0"/>
          </a:p>
        </p:txBody>
      </p:sp>
      <p:sp>
        <p:nvSpPr>
          <p:cNvPr id="25" name="Shape 23"/>
          <p:cNvSpPr/>
          <p:nvPr/>
        </p:nvSpPr>
        <p:spPr>
          <a:xfrm>
            <a:off x="3999071" y="1064840"/>
            <a:ext cx="7810977" cy="5720008"/>
          </a:xfrm>
          <a:custGeom>
            <a:avLst/>
            <a:gdLst/>
            <a:ahLst/>
            <a:cxnLst/>
            <a:rect l="l" t="t" r="r" b="b"/>
            <a:pathLst>
              <a:path w="6791325" h="3514725">
                <a:moveTo>
                  <a:pt x="38100" y="0"/>
                </a:moveTo>
                <a:lnTo>
                  <a:pt x="6753225" y="0"/>
                </a:lnTo>
                <a:cubicBezTo>
                  <a:pt x="6774267" y="0"/>
                  <a:pt x="6791325" y="17058"/>
                  <a:pt x="6791325" y="38100"/>
                </a:cubicBezTo>
                <a:lnTo>
                  <a:pt x="6791325" y="3476625"/>
                </a:lnTo>
                <a:cubicBezTo>
                  <a:pt x="6791325" y="3497667"/>
                  <a:pt x="6774267" y="3514725"/>
                  <a:pt x="6753225" y="3514725"/>
                </a:cubicBezTo>
                <a:lnTo>
                  <a:pt x="38100" y="3514725"/>
                </a:lnTo>
                <a:cubicBezTo>
                  <a:pt x="17058" y="3514725"/>
                  <a:pt x="0" y="3497667"/>
                  <a:pt x="0" y="3476625"/>
                </a:cubicBezTo>
                <a:lnTo>
                  <a:pt x="0" y="38100"/>
                </a:lnTo>
                <a:cubicBezTo>
                  <a:pt x="0" y="17072"/>
                  <a:pt x="17072" y="0"/>
                  <a:pt x="38100" y="0"/>
                </a:cubicBezTo>
                <a:close/>
              </a:path>
            </a:pathLst>
          </a:custGeom>
          <a:solidFill>
            <a:srgbClr val="1E2024"/>
          </a:solidFill>
          <a:ln w="12700">
            <a:solidFill>
              <a:srgbClr val="D8A03D">
                <a:alpha val="30196"/>
              </a:srgbClr>
            </a:solidFill>
            <a:prstDash val="solid"/>
          </a:ln>
        </p:spPr>
        <p:txBody>
          <a:bodyPr/>
          <a:lstStyle/>
          <a:p>
            <a:endParaRPr lang="en-US"/>
          </a:p>
        </p:txBody>
      </p:sp>
      <p:sp>
        <p:nvSpPr>
          <p:cNvPr id="26" name="Shape 24"/>
          <p:cNvSpPr/>
          <p:nvPr/>
        </p:nvSpPr>
        <p:spPr>
          <a:xfrm>
            <a:off x="4097044" y="1127387"/>
            <a:ext cx="171450" cy="171450"/>
          </a:xfrm>
          <a:custGeom>
            <a:avLst/>
            <a:gdLst/>
            <a:ahLst/>
            <a:cxn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D8A03D"/>
          </a:solidFill>
          <a:ln/>
        </p:spPr>
        <p:txBody>
          <a:bodyPr/>
          <a:lstStyle/>
          <a:p>
            <a:endParaRPr lang="en-US"/>
          </a:p>
        </p:txBody>
      </p:sp>
      <p:sp>
        <p:nvSpPr>
          <p:cNvPr id="27" name="Text 25"/>
          <p:cNvSpPr/>
          <p:nvPr/>
        </p:nvSpPr>
        <p:spPr>
          <a:xfrm>
            <a:off x="4399882" y="1079762"/>
            <a:ext cx="6343650" cy="266700"/>
          </a:xfrm>
          <a:prstGeom prst="rect">
            <a:avLst/>
          </a:prstGeom>
          <a:noFill/>
          <a:ln/>
        </p:spPr>
        <p:txBody>
          <a:bodyPr wrap="square" lIns="0" tIns="0" rIns="0" bIns="0" rtlCol="0" anchor="ctr"/>
          <a:lstStyle/>
          <a:p>
            <a:pPr>
              <a:lnSpc>
                <a:spcPct val="130000"/>
              </a:lnSpc>
            </a:pPr>
            <a:r>
              <a:rPr lang="en-US" sz="1350" b="1" dirty="0">
                <a:solidFill>
                  <a:srgbClr val="D8A03D"/>
                </a:solidFill>
                <a:latin typeface="Liter" pitchFamily="34" charset="0"/>
                <a:ea typeface="Liter" pitchFamily="34" charset="-122"/>
                <a:cs typeface="Liter" pitchFamily="34" charset="-120"/>
              </a:rPr>
              <a:t>Interior OL Performance (Frame 25)</a:t>
            </a:r>
            <a:endParaRPr lang="en-US" sz="1600" dirty="0"/>
          </a:p>
        </p:txBody>
      </p:sp>
      <p:sp>
        <p:nvSpPr>
          <p:cNvPr id="28" name="Shape 26"/>
          <p:cNvSpPr/>
          <p:nvPr/>
        </p:nvSpPr>
        <p:spPr>
          <a:xfrm rot="10800000">
            <a:off x="6082362" y="1376942"/>
            <a:ext cx="114300" cy="152400"/>
          </a:xfrm>
          <a:custGeom>
            <a:avLst/>
            <a:gdLst/>
            <a:ahLst/>
            <a:cxnLst/>
            <a:rect l="l" t="t" r="r" b="b"/>
            <a:pathLst>
              <a:path w="114300" h="152400">
                <a:moveTo>
                  <a:pt x="63877" y="5179"/>
                </a:moveTo>
                <a:cubicBezTo>
                  <a:pt x="60156" y="1459"/>
                  <a:pt x="54114" y="1459"/>
                  <a:pt x="50393" y="5179"/>
                </a:cubicBezTo>
                <a:lnTo>
                  <a:pt x="2768" y="52804"/>
                </a:lnTo>
                <a:cubicBezTo>
                  <a:pt x="-952" y="56525"/>
                  <a:pt x="-952" y="62567"/>
                  <a:pt x="2768" y="66288"/>
                </a:cubicBezTo>
                <a:cubicBezTo>
                  <a:pt x="6489" y="70009"/>
                  <a:pt x="12531" y="70009"/>
                  <a:pt x="16252" y="66288"/>
                </a:cubicBezTo>
                <a:lnTo>
                  <a:pt x="47625" y="34915"/>
                </a:lnTo>
                <a:lnTo>
                  <a:pt x="47625" y="145256"/>
                </a:lnTo>
                <a:cubicBezTo>
                  <a:pt x="47625" y="150525"/>
                  <a:pt x="51881" y="154781"/>
                  <a:pt x="57150" y="154781"/>
                </a:cubicBezTo>
                <a:cubicBezTo>
                  <a:pt x="62419" y="154781"/>
                  <a:pt x="66675" y="150525"/>
                  <a:pt x="66675" y="145256"/>
                </a:cubicBezTo>
                <a:lnTo>
                  <a:pt x="66675" y="34915"/>
                </a:lnTo>
                <a:lnTo>
                  <a:pt x="98048" y="66288"/>
                </a:lnTo>
                <a:cubicBezTo>
                  <a:pt x="101769" y="70009"/>
                  <a:pt x="107811" y="70009"/>
                  <a:pt x="111532" y="66288"/>
                </a:cubicBezTo>
                <a:cubicBezTo>
                  <a:pt x="115253" y="62567"/>
                  <a:pt x="115253" y="56525"/>
                  <a:pt x="111532" y="52804"/>
                </a:cubicBezTo>
                <a:lnTo>
                  <a:pt x="63907" y="5179"/>
                </a:lnTo>
                <a:close/>
              </a:path>
            </a:pathLst>
          </a:custGeom>
          <a:solidFill>
            <a:srgbClr val="4C7E9A"/>
          </a:solidFill>
          <a:ln/>
        </p:spPr>
        <p:txBody>
          <a:bodyPr/>
          <a:lstStyle/>
          <a:p>
            <a:endParaRPr lang="en-US"/>
          </a:p>
        </p:txBody>
      </p:sp>
      <p:sp>
        <p:nvSpPr>
          <p:cNvPr id="29" name="Text 27"/>
          <p:cNvSpPr/>
          <p:nvPr/>
        </p:nvSpPr>
        <p:spPr>
          <a:xfrm>
            <a:off x="6244922" y="1349002"/>
            <a:ext cx="3048000" cy="228600"/>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Median Depth Allowed</a:t>
            </a:r>
            <a:endParaRPr lang="en-US" sz="1000" dirty="0"/>
          </a:p>
        </p:txBody>
      </p:sp>
      <p:sp>
        <p:nvSpPr>
          <p:cNvPr id="75" name="Text 4">
            <a:extLst>
              <a:ext uri="{FF2B5EF4-FFF2-40B4-BE49-F238E27FC236}">
                <a16:creationId xmlns:a16="http://schemas.microsoft.com/office/drawing/2014/main" id="{70E2F9CC-A8C7-D3DF-B071-D1E7084C291A}"/>
              </a:ext>
            </a:extLst>
          </p:cNvPr>
          <p:cNvSpPr/>
          <p:nvPr/>
        </p:nvSpPr>
        <p:spPr>
          <a:xfrm>
            <a:off x="590550" y="1520039"/>
            <a:ext cx="2951322" cy="1683164"/>
          </a:xfrm>
          <a:prstGeom prst="rect">
            <a:avLst/>
          </a:prstGeom>
          <a:noFill/>
          <a:ln/>
        </p:spPr>
        <p:txBody>
          <a:bodyPr wrap="square" lIns="0" tIns="0" rIns="0" bIns="0" rtlCol="0" anchor="t"/>
          <a:lstStyle/>
          <a:p>
            <a:r>
              <a:rPr lang="en-US" sz="1200" dirty="0">
                <a:solidFill>
                  <a:srgbClr val="DEE0E4"/>
                </a:solidFill>
                <a:latin typeface="Quattrocento Sans" panose="020B0502050000020003" pitchFamily="34" charset="0"/>
              </a:rPr>
              <a:t>In 2025, </a:t>
            </a:r>
            <a:r>
              <a:rPr lang="en-US" sz="1200" dirty="0">
                <a:solidFill>
                  <a:srgbClr val="DEE0E4"/>
                </a:solidFill>
                <a:latin typeface="Quattrocento Sans" panose="020B0502050000020003" pitchFamily="34" charset="0"/>
                <a:hlinkClick r:id="rId3">
                  <a:extLst>
                    <a:ext uri="{A12FA001-AC4F-418D-AE19-62706E023703}">
                      <ahyp:hlinkClr xmlns:ahyp="http://schemas.microsoft.com/office/drawing/2018/hyperlinkcolor" val="tx"/>
                    </a:ext>
                  </a:extLst>
                </a:hlinkClick>
              </a:rPr>
              <a:t>the median time to throw for NFL quarterbacks was about 2.68 seconds</a:t>
            </a:r>
            <a:r>
              <a:rPr lang="en-US" sz="1200" dirty="0">
                <a:solidFill>
                  <a:srgbClr val="DEE0E4"/>
                </a:solidFill>
                <a:latin typeface="Quattrocento Sans" panose="020B0502050000020003" pitchFamily="34" charset="0"/>
              </a:rPr>
              <a:t>. Next Gen Stats has previously defined a "quick pressure" as </a:t>
            </a:r>
            <a:r>
              <a:rPr lang="en-US" sz="1200" dirty="0">
                <a:solidFill>
                  <a:srgbClr val="DEE0E4"/>
                </a:solidFill>
                <a:latin typeface="Quattrocento Sans" panose="020B0502050000020003" pitchFamily="34" charset="0"/>
                <a:hlinkClick r:id="rId4">
                  <a:extLst>
                    <a:ext uri="{A12FA001-AC4F-418D-AE19-62706E023703}">
                      <ahyp:hlinkClr xmlns:ahyp="http://schemas.microsoft.com/office/drawing/2018/hyperlinkcolor" val="tx"/>
                    </a:ext>
                  </a:extLst>
                </a:hlinkClick>
              </a:rPr>
              <a:t>a pressure occurring within the first 2.5 seconds of a play</a:t>
            </a:r>
            <a:r>
              <a:rPr lang="en-US" sz="1200" dirty="0">
                <a:solidFill>
                  <a:srgbClr val="DEE0E4"/>
                </a:solidFill>
                <a:latin typeface="Quattrocento Sans" panose="020B0502050000020003" pitchFamily="34" charset="0"/>
              </a:rPr>
              <a:t> and has said the average pressure occurred within 2.9 seconds. Likewise, ESPN Analytics' pass rush win rate metric quantifies "</a:t>
            </a:r>
            <a:r>
              <a:rPr lang="en-US" sz="1200" dirty="0">
                <a:solidFill>
                  <a:srgbClr val="DEE0E4"/>
                </a:solidFill>
                <a:latin typeface="Quattrocento Sans" panose="020B0502050000020003" pitchFamily="34" charset="0"/>
                <a:hlinkClick r:id="rId5">
                  <a:extLst>
                    <a:ext uri="{A12FA001-AC4F-418D-AE19-62706E023703}">
                      <ahyp:hlinkClr xmlns:ahyp="http://schemas.microsoft.com/office/drawing/2018/hyperlinkcolor" val="tx"/>
                    </a:ext>
                  </a:extLst>
                </a:hlinkClick>
              </a:rPr>
              <a:t>how often a pass rusher is able to beat his block within 2.5 seconds</a:t>
            </a:r>
            <a:r>
              <a:rPr lang="en-US" sz="1200" dirty="0">
                <a:solidFill>
                  <a:srgbClr val="DEE0E4"/>
                </a:solidFill>
                <a:latin typeface="Quattrocento Sans" panose="020B0502050000020003" pitchFamily="34" charset="0"/>
              </a:rPr>
              <a:t>". As such, frame 25 is a reasonable time at which to evaluate the depth gained by the defensive lineman. </a:t>
            </a:r>
          </a:p>
        </p:txBody>
      </p:sp>
      <p:sp>
        <p:nvSpPr>
          <p:cNvPr id="77" name="Text 4">
            <a:extLst>
              <a:ext uri="{FF2B5EF4-FFF2-40B4-BE49-F238E27FC236}">
                <a16:creationId xmlns:a16="http://schemas.microsoft.com/office/drawing/2014/main" id="{CDA79DE4-9232-81D3-533A-BC70D60D6390}"/>
              </a:ext>
            </a:extLst>
          </p:cNvPr>
          <p:cNvSpPr/>
          <p:nvPr/>
        </p:nvSpPr>
        <p:spPr>
          <a:xfrm>
            <a:off x="783194" y="3838560"/>
            <a:ext cx="2758678" cy="505397"/>
          </a:xfrm>
          <a:prstGeom prst="rect">
            <a:avLst/>
          </a:prstGeom>
          <a:noFill/>
          <a:ln/>
        </p:spPr>
        <p:txBody>
          <a:bodyPr wrap="square" lIns="0" tIns="0" rIns="0" bIns="0" rtlCol="0" anchor="ctr"/>
          <a:lstStyle/>
          <a:p>
            <a:r>
              <a:rPr lang="en-US" sz="1350" b="1" dirty="0">
                <a:solidFill>
                  <a:srgbClr val="4C7E9A"/>
                </a:solidFill>
                <a:latin typeface="Liter" pitchFamily="34" charset="0"/>
                <a:ea typeface="Liter" pitchFamily="34" charset="-122"/>
                <a:cs typeface="Liter" pitchFamily="34" charset="-120"/>
              </a:rPr>
              <a:t>Why depth allowed (or gained) by the DL?</a:t>
            </a:r>
            <a:endParaRPr lang="en-US" sz="1600" dirty="0"/>
          </a:p>
        </p:txBody>
      </p:sp>
      <p:sp>
        <p:nvSpPr>
          <p:cNvPr id="78" name="Text 4">
            <a:extLst>
              <a:ext uri="{FF2B5EF4-FFF2-40B4-BE49-F238E27FC236}">
                <a16:creationId xmlns:a16="http://schemas.microsoft.com/office/drawing/2014/main" id="{DE4ED64C-6658-EFBB-4B81-1F7010E31D71}"/>
              </a:ext>
            </a:extLst>
          </p:cNvPr>
          <p:cNvSpPr/>
          <p:nvPr/>
        </p:nvSpPr>
        <p:spPr>
          <a:xfrm>
            <a:off x="573644" y="4382057"/>
            <a:ext cx="3011090" cy="1843932"/>
          </a:xfrm>
          <a:prstGeom prst="rect">
            <a:avLst/>
          </a:prstGeom>
          <a:noFill/>
          <a:ln/>
        </p:spPr>
        <p:txBody>
          <a:bodyPr wrap="square" lIns="0" tIns="0" rIns="0" bIns="0" rtlCol="0" anchor="t"/>
          <a:lstStyle/>
          <a:p>
            <a:r>
              <a:rPr lang="en-US" sz="1200" dirty="0">
                <a:solidFill>
                  <a:srgbClr val="DEE0E4"/>
                </a:solidFill>
                <a:latin typeface="Quattrocento Sans" panose="020B0502050000020003" pitchFamily="34" charset="0"/>
              </a:rPr>
              <a:t>The basic idea is that depth penetration (x-axis) at 2.5 seconds is a potential proxy for whether the interior DL beat his block, walked the OL back, gained a negligible amount of depth, or stalled out. In turn, interior OL can be evaluated by examining how much depth they allowed the DL to gain. Using one axis avoids over-crediting lateral movement.</a:t>
            </a:r>
          </a:p>
        </p:txBody>
      </p:sp>
      <p:pic>
        <p:nvPicPr>
          <p:cNvPr id="80" name="Graphic 79" descr="Badge Question Mark with solid fill">
            <a:extLst>
              <a:ext uri="{FF2B5EF4-FFF2-40B4-BE49-F238E27FC236}">
                <a16:creationId xmlns:a16="http://schemas.microsoft.com/office/drawing/2014/main" id="{57E7CA66-E8CC-785D-253F-B6BB627987D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31021" y="3873138"/>
            <a:ext cx="234599" cy="234599"/>
          </a:xfrm>
          <a:prstGeom prst="rect">
            <a:avLst/>
          </a:prstGeom>
        </p:spPr>
      </p:pic>
      <p:sp>
        <p:nvSpPr>
          <p:cNvPr id="81" name="Text 27">
            <a:extLst>
              <a:ext uri="{FF2B5EF4-FFF2-40B4-BE49-F238E27FC236}">
                <a16:creationId xmlns:a16="http://schemas.microsoft.com/office/drawing/2014/main" id="{A1DD5F71-7063-7C28-83BB-0DE71E2DA5AE}"/>
              </a:ext>
            </a:extLst>
          </p:cNvPr>
          <p:cNvSpPr/>
          <p:nvPr/>
        </p:nvSpPr>
        <p:spPr>
          <a:xfrm>
            <a:off x="4443019" y="1353485"/>
            <a:ext cx="3048000" cy="228600"/>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Player</a:t>
            </a:r>
            <a:endParaRPr lang="en-US" sz="1000" dirty="0"/>
          </a:p>
        </p:txBody>
      </p:sp>
      <p:sp>
        <p:nvSpPr>
          <p:cNvPr id="82" name="Text 27">
            <a:extLst>
              <a:ext uri="{FF2B5EF4-FFF2-40B4-BE49-F238E27FC236}">
                <a16:creationId xmlns:a16="http://schemas.microsoft.com/office/drawing/2014/main" id="{1F19DF3E-ADB5-F08F-111A-E737A5D3740C}"/>
              </a:ext>
            </a:extLst>
          </p:cNvPr>
          <p:cNvSpPr/>
          <p:nvPr/>
        </p:nvSpPr>
        <p:spPr>
          <a:xfrm>
            <a:off x="8051305" y="1387100"/>
            <a:ext cx="1401977" cy="181537"/>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Draft Outcome</a:t>
            </a:r>
            <a:endParaRPr lang="en-US" sz="1000" dirty="0"/>
          </a:p>
        </p:txBody>
      </p:sp>
      <p:sp>
        <p:nvSpPr>
          <p:cNvPr id="83" name="Text 27">
            <a:extLst>
              <a:ext uri="{FF2B5EF4-FFF2-40B4-BE49-F238E27FC236}">
                <a16:creationId xmlns:a16="http://schemas.microsoft.com/office/drawing/2014/main" id="{974F31E5-B6CC-3D71-5425-848EDB0D4D84}"/>
              </a:ext>
            </a:extLst>
          </p:cNvPr>
          <p:cNvSpPr/>
          <p:nvPr/>
        </p:nvSpPr>
        <p:spPr>
          <a:xfrm>
            <a:off x="9578665" y="1385173"/>
            <a:ext cx="1714769" cy="324884"/>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NFL Outcome (2 years)</a:t>
            </a:r>
          </a:p>
          <a:p>
            <a:pPr>
              <a:lnSpc>
                <a:spcPct val="130000"/>
              </a:lnSpc>
            </a:pPr>
            <a:endParaRPr lang="en-US" sz="1000" dirty="0"/>
          </a:p>
        </p:txBody>
      </p:sp>
      <p:sp>
        <p:nvSpPr>
          <p:cNvPr id="187" name="Rectangle 186">
            <a:extLst>
              <a:ext uri="{FF2B5EF4-FFF2-40B4-BE49-F238E27FC236}">
                <a16:creationId xmlns:a16="http://schemas.microsoft.com/office/drawing/2014/main" id="{295878D4-06C0-41CF-F760-0729CF746E42}"/>
              </a:ext>
            </a:extLst>
          </p:cNvPr>
          <p:cNvSpPr/>
          <p:nvPr/>
        </p:nvSpPr>
        <p:spPr>
          <a:xfrm>
            <a:off x="4443019" y="1629375"/>
            <a:ext cx="7255922" cy="5039148"/>
          </a:xfrm>
          <a:prstGeom prst="rect">
            <a:avLst/>
          </a:prstGeom>
          <a:solidFill>
            <a:srgbClr val="11131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Text 29">
            <a:extLst>
              <a:ext uri="{FF2B5EF4-FFF2-40B4-BE49-F238E27FC236}">
                <a16:creationId xmlns:a16="http://schemas.microsoft.com/office/drawing/2014/main" id="{9D28C679-AECF-14DF-51CB-3292E32C3340}"/>
              </a:ext>
            </a:extLst>
          </p:cNvPr>
          <p:cNvSpPr/>
          <p:nvPr/>
        </p:nvSpPr>
        <p:spPr>
          <a:xfrm>
            <a:off x="4518712" y="1592729"/>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Mason McCormick</a:t>
            </a:r>
            <a:endParaRPr lang="en-US" sz="1000" dirty="0"/>
          </a:p>
        </p:txBody>
      </p:sp>
      <p:sp>
        <p:nvSpPr>
          <p:cNvPr id="189" name="Text 30">
            <a:extLst>
              <a:ext uri="{FF2B5EF4-FFF2-40B4-BE49-F238E27FC236}">
                <a16:creationId xmlns:a16="http://schemas.microsoft.com/office/drawing/2014/main" id="{39BC813D-5FDE-8845-961A-942D8050BF71}"/>
              </a:ext>
            </a:extLst>
          </p:cNvPr>
          <p:cNvSpPr/>
          <p:nvPr/>
        </p:nvSpPr>
        <p:spPr>
          <a:xfrm>
            <a:off x="4542382" y="1795320"/>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190" name="Text 31">
            <a:extLst>
              <a:ext uri="{FF2B5EF4-FFF2-40B4-BE49-F238E27FC236}">
                <a16:creationId xmlns:a16="http://schemas.microsoft.com/office/drawing/2014/main" id="{660DC349-EF59-F7AC-79FD-9E4B5E9B6206}"/>
              </a:ext>
            </a:extLst>
          </p:cNvPr>
          <p:cNvSpPr/>
          <p:nvPr/>
        </p:nvSpPr>
        <p:spPr>
          <a:xfrm>
            <a:off x="6133056" y="1599720"/>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2.38 yards</a:t>
            </a:r>
            <a:endParaRPr lang="en-US" sz="1000" dirty="0"/>
          </a:p>
        </p:txBody>
      </p:sp>
      <p:sp>
        <p:nvSpPr>
          <p:cNvPr id="191" name="Text 31">
            <a:extLst>
              <a:ext uri="{FF2B5EF4-FFF2-40B4-BE49-F238E27FC236}">
                <a16:creationId xmlns:a16="http://schemas.microsoft.com/office/drawing/2014/main" id="{24630B0D-4828-55F1-3ABF-CE14F3F7F3FA}"/>
              </a:ext>
            </a:extLst>
          </p:cNvPr>
          <p:cNvSpPr/>
          <p:nvPr/>
        </p:nvSpPr>
        <p:spPr>
          <a:xfrm>
            <a:off x="8084610" y="1585771"/>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4</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192" name="Text 31">
            <a:extLst>
              <a:ext uri="{FF2B5EF4-FFF2-40B4-BE49-F238E27FC236}">
                <a16:creationId xmlns:a16="http://schemas.microsoft.com/office/drawing/2014/main" id="{EA9D5A42-BB5E-685F-2CA6-58D771815781}"/>
              </a:ext>
            </a:extLst>
          </p:cNvPr>
          <p:cNvSpPr/>
          <p:nvPr/>
        </p:nvSpPr>
        <p:spPr>
          <a:xfrm>
            <a:off x="9595100" y="1686700"/>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31 games started, 34 games played</a:t>
            </a:r>
            <a:endParaRPr lang="en-US" sz="1000" dirty="0"/>
          </a:p>
        </p:txBody>
      </p:sp>
      <p:sp>
        <p:nvSpPr>
          <p:cNvPr id="193" name="Text 29">
            <a:extLst>
              <a:ext uri="{FF2B5EF4-FFF2-40B4-BE49-F238E27FC236}">
                <a16:creationId xmlns:a16="http://schemas.microsoft.com/office/drawing/2014/main" id="{8D19010A-DCA2-D82C-51DA-978B109885EF}"/>
              </a:ext>
            </a:extLst>
          </p:cNvPr>
          <p:cNvSpPr/>
          <p:nvPr/>
        </p:nvSpPr>
        <p:spPr>
          <a:xfrm>
            <a:off x="4506520" y="2026384"/>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Dylan McMahon</a:t>
            </a:r>
            <a:endParaRPr lang="en-US" sz="1000" dirty="0"/>
          </a:p>
        </p:txBody>
      </p:sp>
      <p:sp>
        <p:nvSpPr>
          <p:cNvPr id="194" name="Text 30">
            <a:extLst>
              <a:ext uri="{FF2B5EF4-FFF2-40B4-BE49-F238E27FC236}">
                <a16:creationId xmlns:a16="http://schemas.microsoft.com/office/drawing/2014/main" id="{CBDF277D-0753-501D-F3C6-2BAAC9D6543D}"/>
              </a:ext>
            </a:extLst>
          </p:cNvPr>
          <p:cNvSpPr/>
          <p:nvPr/>
        </p:nvSpPr>
        <p:spPr>
          <a:xfrm>
            <a:off x="4530190" y="2228975"/>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5 reps</a:t>
            </a:r>
            <a:endParaRPr lang="en-US" sz="1000" dirty="0"/>
          </a:p>
        </p:txBody>
      </p:sp>
      <p:sp>
        <p:nvSpPr>
          <p:cNvPr id="195" name="Text 31">
            <a:extLst>
              <a:ext uri="{FF2B5EF4-FFF2-40B4-BE49-F238E27FC236}">
                <a16:creationId xmlns:a16="http://schemas.microsoft.com/office/drawing/2014/main" id="{8ECBF3CE-0D41-09CE-6256-74F6559781E3}"/>
              </a:ext>
            </a:extLst>
          </p:cNvPr>
          <p:cNvSpPr/>
          <p:nvPr/>
        </p:nvSpPr>
        <p:spPr>
          <a:xfrm>
            <a:off x="6120864" y="2033375"/>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3.02 yards</a:t>
            </a:r>
            <a:endParaRPr lang="en-US" sz="1000" dirty="0"/>
          </a:p>
        </p:txBody>
      </p:sp>
      <p:sp>
        <p:nvSpPr>
          <p:cNvPr id="196" name="Text 31">
            <a:extLst>
              <a:ext uri="{FF2B5EF4-FFF2-40B4-BE49-F238E27FC236}">
                <a16:creationId xmlns:a16="http://schemas.microsoft.com/office/drawing/2014/main" id="{818ECDA8-0DE6-44A5-2C3D-F21FB101884F}"/>
              </a:ext>
            </a:extLst>
          </p:cNvPr>
          <p:cNvSpPr/>
          <p:nvPr/>
        </p:nvSpPr>
        <p:spPr>
          <a:xfrm>
            <a:off x="8072418" y="2019426"/>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6</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197" name="Text 31">
            <a:extLst>
              <a:ext uri="{FF2B5EF4-FFF2-40B4-BE49-F238E27FC236}">
                <a16:creationId xmlns:a16="http://schemas.microsoft.com/office/drawing/2014/main" id="{6F8D8656-402E-44F5-B03F-60750B6A54CD}"/>
              </a:ext>
            </a:extLst>
          </p:cNvPr>
          <p:cNvSpPr/>
          <p:nvPr/>
        </p:nvSpPr>
        <p:spPr>
          <a:xfrm>
            <a:off x="9582908" y="2021499"/>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1 game started, 1 game played</a:t>
            </a:r>
            <a:endParaRPr lang="en-US" sz="1000" dirty="0"/>
          </a:p>
        </p:txBody>
      </p:sp>
      <p:sp>
        <p:nvSpPr>
          <p:cNvPr id="198" name="Text 29">
            <a:extLst>
              <a:ext uri="{FF2B5EF4-FFF2-40B4-BE49-F238E27FC236}">
                <a16:creationId xmlns:a16="http://schemas.microsoft.com/office/drawing/2014/main" id="{1AD3EDAC-CE91-6C4A-E427-BAA1F2EC47B9}"/>
              </a:ext>
            </a:extLst>
          </p:cNvPr>
          <p:cNvSpPr/>
          <p:nvPr/>
        </p:nvSpPr>
        <p:spPr>
          <a:xfrm>
            <a:off x="4518243" y="2450535"/>
            <a:ext cx="1314450" cy="228600"/>
          </a:xfrm>
          <a:prstGeom prst="rect">
            <a:avLst/>
          </a:prstGeom>
          <a:noFill/>
          <a:ln/>
        </p:spPr>
        <p:txBody>
          <a:bodyPr wrap="square" lIns="0" tIns="0" rIns="0" bIns="0" rtlCol="0" anchor="ctr"/>
          <a:lstStyle/>
          <a:p>
            <a:pPr>
              <a:lnSpc>
                <a:spcPct val="130000"/>
              </a:lnSpc>
            </a:pPr>
            <a:r>
              <a:rPr lang="en-US" sz="1000" b="1" dirty="0" err="1">
                <a:solidFill>
                  <a:srgbClr val="E1E3E6"/>
                </a:solidFill>
                <a:latin typeface="Quattrocento Sans" pitchFamily="34" charset="0"/>
                <a:ea typeface="Quattrocento Sans" pitchFamily="34" charset="-122"/>
                <a:cs typeface="Quattrocento Sans" pitchFamily="34" charset="-120"/>
              </a:rPr>
              <a:t>Kaitori</a:t>
            </a:r>
            <a:r>
              <a:rPr lang="en-US" sz="1000" b="1" dirty="0">
                <a:solidFill>
                  <a:srgbClr val="E1E3E6"/>
                </a:solidFill>
                <a:latin typeface="Quattrocento Sans" pitchFamily="34" charset="0"/>
                <a:ea typeface="Quattrocento Sans" pitchFamily="34" charset="-122"/>
                <a:cs typeface="Quattrocento Sans" pitchFamily="34" charset="-120"/>
              </a:rPr>
              <a:t> Leveston</a:t>
            </a:r>
            <a:endParaRPr lang="en-US" sz="1000" dirty="0"/>
          </a:p>
        </p:txBody>
      </p:sp>
      <p:sp>
        <p:nvSpPr>
          <p:cNvPr id="199" name="Text 30">
            <a:extLst>
              <a:ext uri="{FF2B5EF4-FFF2-40B4-BE49-F238E27FC236}">
                <a16:creationId xmlns:a16="http://schemas.microsoft.com/office/drawing/2014/main" id="{679AF1DB-3C4D-C9C2-FE81-6096CF80AFC1}"/>
              </a:ext>
            </a:extLst>
          </p:cNvPr>
          <p:cNvSpPr/>
          <p:nvPr/>
        </p:nvSpPr>
        <p:spPr>
          <a:xfrm>
            <a:off x="4541913" y="2653126"/>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200" name="Text 31">
            <a:extLst>
              <a:ext uri="{FF2B5EF4-FFF2-40B4-BE49-F238E27FC236}">
                <a16:creationId xmlns:a16="http://schemas.microsoft.com/office/drawing/2014/main" id="{47C5845C-FFE5-EEC6-2DA1-EEB3B46C7C7F}"/>
              </a:ext>
            </a:extLst>
          </p:cNvPr>
          <p:cNvSpPr/>
          <p:nvPr/>
        </p:nvSpPr>
        <p:spPr>
          <a:xfrm>
            <a:off x="6132587" y="2457526"/>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3.09 yards</a:t>
            </a:r>
            <a:endParaRPr lang="en-US" sz="1000" dirty="0"/>
          </a:p>
        </p:txBody>
      </p:sp>
      <p:sp>
        <p:nvSpPr>
          <p:cNvPr id="201" name="Text 31">
            <a:extLst>
              <a:ext uri="{FF2B5EF4-FFF2-40B4-BE49-F238E27FC236}">
                <a16:creationId xmlns:a16="http://schemas.microsoft.com/office/drawing/2014/main" id="{873B018B-5C86-08B3-7DBE-1956B61B46D8}"/>
              </a:ext>
            </a:extLst>
          </p:cNvPr>
          <p:cNvSpPr/>
          <p:nvPr/>
        </p:nvSpPr>
        <p:spPr>
          <a:xfrm>
            <a:off x="8084141" y="2443577"/>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7</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202" name="Text 31">
            <a:extLst>
              <a:ext uri="{FF2B5EF4-FFF2-40B4-BE49-F238E27FC236}">
                <a16:creationId xmlns:a16="http://schemas.microsoft.com/office/drawing/2014/main" id="{76CFEE93-EACF-3612-2F37-8856F0B58145}"/>
              </a:ext>
            </a:extLst>
          </p:cNvPr>
          <p:cNvSpPr/>
          <p:nvPr/>
        </p:nvSpPr>
        <p:spPr>
          <a:xfrm>
            <a:off x="9594630" y="2445650"/>
            <a:ext cx="2006819"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7 games started, 16 games played (switched to tackle)</a:t>
            </a:r>
            <a:endParaRPr lang="en-US" sz="1000" dirty="0"/>
          </a:p>
        </p:txBody>
      </p:sp>
      <p:sp>
        <p:nvSpPr>
          <p:cNvPr id="203" name="Text 29">
            <a:extLst>
              <a:ext uri="{FF2B5EF4-FFF2-40B4-BE49-F238E27FC236}">
                <a16:creationId xmlns:a16="http://schemas.microsoft.com/office/drawing/2014/main" id="{A31EEF4E-E6ED-9ADD-C488-3EBE1E929F9B}"/>
              </a:ext>
            </a:extLst>
          </p:cNvPr>
          <p:cNvSpPr/>
          <p:nvPr/>
        </p:nvSpPr>
        <p:spPr>
          <a:xfrm>
            <a:off x="4519859" y="2865788"/>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Christian Mahogany</a:t>
            </a:r>
            <a:endParaRPr lang="en-US" sz="1000" dirty="0"/>
          </a:p>
        </p:txBody>
      </p:sp>
      <p:sp>
        <p:nvSpPr>
          <p:cNvPr id="204" name="Text 30">
            <a:extLst>
              <a:ext uri="{FF2B5EF4-FFF2-40B4-BE49-F238E27FC236}">
                <a16:creationId xmlns:a16="http://schemas.microsoft.com/office/drawing/2014/main" id="{81A6E533-024A-0895-1816-5F0728BD085F}"/>
              </a:ext>
            </a:extLst>
          </p:cNvPr>
          <p:cNvSpPr/>
          <p:nvPr/>
        </p:nvSpPr>
        <p:spPr>
          <a:xfrm>
            <a:off x="4543529" y="3068379"/>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205" name="Text 31">
            <a:extLst>
              <a:ext uri="{FF2B5EF4-FFF2-40B4-BE49-F238E27FC236}">
                <a16:creationId xmlns:a16="http://schemas.microsoft.com/office/drawing/2014/main" id="{BDDCCBFB-DD32-83FB-3AFD-8AAE86DE5B9D}"/>
              </a:ext>
            </a:extLst>
          </p:cNvPr>
          <p:cNvSpPr/>
          <p:nvPr/>
        </p:nvSpPr>
        <p:spPr>
          <a:xfrm>
            <a:off x="6134203" y="2872779"/>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3.22 yards</a:t>
            </a:r>
            <a:endParaRPr lang="en-US" sz="1000" dirty="0"/>
          </a:p>
        </p:txBody>
      </p:sp>
      <p:sp>
        <p:nvSpPr>
          <p:cNvPr id="206" name="Text 31">
            <a:extLst>
              <a:ext uri="{FF2B5EF4-FFF2-40B4-BE49-F238E27FC236}">
                <a16:creationId xmlns:a16="http://schemas.microsoft.com/office/drawing/2014/main" id="{FA4C840A-3499-D267-5A99-36EE82651AF7}"/>
              </a:ext>
            </a:extLst>
          </p:cNvPr>
          <p:cNvSpPr/>
          <p:nvPr/>
        </p:nvSpPr>
        <p:spPr>
          <a:xfrm>
            <a:off x="8085757" y="2858830"/>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6</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207" name="Text 31">
            <a:extLst>
              <a:ext uri="{FF2B5EF4-FFF2-40B4-BE49-F238E27FC236}">
                <a16:creationId xmlns:a16="http://schemas.microsoft.com/office/drawing/2014/main" id="{B0042492-C015-5A21-6A1F-468DFCED80F5}"/>
              </a:ext>
            </a:extLst>
          </p:cNvPr>
          <p:cNvSpPr/>
          <p:nvPr/>
        </p:nvSpPr>
        <p:spPr>
          <a:xfrm>
            <a:off x="9596247" y="2860903"/>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12 games started, 18 games played</a:t>
            </a:r>
            <a:endParaRPr lang="en-US" sz="1000" dirty="0"/>
          </a:p>
        </p:txBody>
      </p:sp>
      <p:sp>
        <p:nvSpPr>
          <p:cNvPr id="208" name="Text 29">
            <a:extLst>
              <a:ext uri="{FF2B5EF4-FFF2-40B4-BE49-F238E27FC236}">
                <a16:creationId xmlns:a16="http://schemas.microsoft.com/office/drawing/2014/main" id="{EF884166-3B77-0408-3DA7-05CECB7CE3BE}"/>
              </a:ext>
            </a:extLst>
          </p:cNvPr>
          <p:cNvSpPr/>
          <p:nvPr/>
        </p:nvSpPr>
        <p:spPr>
          <a:xfrm>
            <a:off x="4507667" y="3299443"/>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Hunter </a:t>
            </a:r>
            <a:r>
              <a:rPr lang="en-US" sz="1000" b="1" dirty="0" err="1">
                <a:solidFill>
                  <a:srgbClr val="E1E3E6"/>
                </a:solidFill>
                <a:latin typeface="Quattrocento Sans" pitchFamily="34" charset="0"/>
                <a:ea typeface="Quattrocento Sans" pitchFamily="34" charset="-122"/>
                <a:cs typeface="Quattrocento Sans" pitchFamily="34" charset="-120"/>
              </a:rPr>
              <a:t>Nourzad</a:t>
            </a:r>
            <a:endParaRPr lang="en-US" sz="1000" dirty="0"/>
          </a:p>
        </p:txBody>
      </p:sp>
      <p:sp>
        <p:nvSpPr>
          <p:cNvPr id="209" name="Text 30">
            <a:extLst>
              <a:ext uri="{FF2B5EF4-FFF2-40B4-BE49-F238E27FC236}">
                <a16:creationId xmlns:a16="http://schemas.microsoft.com/office/drawing/2014/main" id="{24CD4106-C990-6038-3795-25A2F3C883C8}"/>
              </a:ext>
            </a:extLst>
          </p:cNvPr>
          <p:cNvSpPr/>
          <p:nvPr/>
        </p:nvSpPr>
        <p:spPr>
          <a:xfrm>
            <a:off x="4531337" y="3502034"/>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210" name="Text 31">
            <a:extLst>
              <a:ext uri="{FF2B5EF4-FFF2-40B4-BE49-F238E27FC236}">
                <a16:creationId xmlns:a16="http://schemas.microsoft.com/office/drawing/2014/main" id="{A9808630-7364-5431-3FF1-EC43859F414A}"/>
              </a:ext>
            </a:extLst>
          </p:cNvPr>
          <p:cNvSpPr/>
          <p:nvPr/>
        </p:nvSpPr>
        <p:spPr>
          <a:xfrm>
            <a:off x="6122011" y="3306434"/>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3.38 yards</a:t>
            </a:r>
            <a:endParaRPr lang="en-US" sz="1000" dirty="0"/>
          </a:p>
        </p:txBody>
      </p:sp>
      <p:sp>
        <p:nvSpPr>
          <p:cNvPr id="211" name="Text 31">
            <a:extLst>
              <a:ext uri="{FF2B5EF4-FFF2-40B4-BE49-F238E27FC236}">
                <a16:creationId xmlns:a16="http://schemas.microsoft.com/office/drawing/2014/main" id="{0FD96A2B-1D72-9128-E4D5-9285EA522417}"/>
              </a:ext>
            </a:extLst>
          </p:cNvPr>
          <p:cNvSpPr/>
          <p:nvPr/>
        </p:nvSpPr>
        <p:spPr>
          <a:xfrm>
            <a:off x="8073565" y="3292485"/>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5</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212" name="Text 31">
            <a:extLst>
              <a:ext uri="{FF2B5EF4-FFF2-40B4-BE49-F238E27FC236}">
                <a16:creationId xmlns:a16="http://schemas.microsoft.com/office/drawing/2014/main" id="{EC7F18B9-0C81-9E05-2C81-251F225F41B6}"/>
              </a:ext>
            </a:extLst>
          </p:cNvPr>
          <p:cNvSpPr/>
          <p:nvPr/>
        </p:nvSpPr>
        <p:spPr>
          <a:xfrm>
            <a:off x="9584055" y="3294558"/>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28 games played</a:t>
            </a:r>
            <a:endParaRPr lang="en-US" sz="1000" dirty="0"/>
          </a:p>
        </p:txBody>
      </p:sp>
      <p:sp>
        <p:nvSpPr>
          <p:cNvPr id="213" name="Text 29">
            <a:extLst>
              <a:ext uri="{FF2B5EF4-FFF2-40B4-BE49-F238E27FC236}">
                <a16:creationId xmlns:a16="http://schemas.microsoft.com/office/drawing/2014/main" id="{D9749EA2-0813-F8BE-1FC1-86EDA0C5167C}"/>
              </a:ext>
            </a:extLst>
          </p:cNvPr>
          <p:cNvSpPr/>
          <p:nvPr/>
        </p:nvSpPr>
        <p:spPr>
          <a:xfrm>
            <a:off x="4519390" y="3723594"/>
            <a:ext cx="1314450" cy="228600"/>
          </a:xfrm>
          <a:prstGeom prst="rect">
            <a:avLst/>
          </a:prstGeom>
          <a:noFill/>
          <a:ln/>
        </p:spPr>
        <p:txBody>
          <a:bodyPr wrap="square" lIns="0" tIns="0" rIns="0" bIns="0" rtlCol="0" anchor="ctr"/>
          <a:lstStyle/>
          <a:p>
            <a:pPr>
              <a:lnSpc>
                <a:spcPct val="130000"/>
              </a:lnSpc>
            </a:pPr>
            <a:r>
              <a:rPr lang="en-US" sz="1000" b="1" dirty="0" err="1">
                <a:solidFill>
                  <a:srgbClr val="E1E3E6"/>
                </a:solidFill>
                <a:latin typeface="Quattrocento Sans" pitchFamily="34" charset="0"/>
                <a:ea typeface="Quattrocento Sans" pitchFamily="34" charset="-122"/>
                <a:cs typeface="Quattrocento Sans" pitchFamily="34" charset="-120"/>
              </a:rPr>
              <a:t>X’Zauvea</a:t>
            </a:r>
            <a:r>
              <a:rPr lang="en-US" sz="1000" b="1" dirty="0">
                <a:solidFill>
                  <a:srgbClr val="E1E3E6"/>
                </a:solidFill>
                <a:latin typeface="Quattrocento Sans" pitchFamily="34" charset="0"/>
                <a:ea typeface="Quattrocento Sans" pitchFamily="34" charset="-122"/>
                <a:cs typeface="Quattrocento Sans" pitchFamily="34" charset="-120"/>
              </a:rPr>
              <a:t> Gadlin</a:t>
            </a:r>
            <a:endParaRPr lang="en-US" sz="1000" dirty="0"/>
          </a:p>
        </p:txBody>
      </p:sp>
      <p:sp>
        <p:nvSpPr>
          <p:cNvPr id="214" name="Text 30">
            <a:extLst>
              <a:ext uri="{FF2B5EF4-FFF2-40B4-BE49-F238E27FC236}">
                <a16:creationId xmlns:a16="http://schemas.microsoft.com/office/drawing/2014/main" id="{F101225E-31FD-C0C9-1F93-683D773AF49E}"/>
              </a:ext>
            </a:extLst>
          </p:cNvPr>
          <p:cNvSpPr/>
          <p:nvPr/>
        </p:nvSpPr>
        <p:spPr>
          <a:xfrm>
            <a:off x="4543060" y="3926185"/>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215" name="Text 31">
            <a:extLst>
              <a:ext uri="{FF2B5EF4-FFF2-40B4-BE49-F238E27FC236}">
                <a16:creationId xmlns:a16="http://schemas.microsoft.com/office/drawing/2014/main" id="{60D38348-C714-ED52-F066-9A642ACB7B9C}"/>
              </a:ext>
            </a:extLst>
          </p:cNvPr>
          <p:cNvSpPr/>
          <p:nvPr/>
        </p:nvSpPr>
        <p:spPr>
          <a:xfrm>
            <a:off x="6133734" y="3730585"/>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3.39 yards</a:t>
            </a:r>
            <a:endParaRPr lang="en-US" sz="1000" dirty="0"/>
          </a:p>
        </p:txBody>
      </p:sp>
      <p:sp>
        <p:nvSpPr>
          <p:cNvPr id="216" name="Text 31">
            <a:extLst>
              <a:ext uri="{FF2B5EF4-FFF2-40B4-BE49-F238E27FC236}">
                <a16:creationId xmlns:a16="http://schemas.microsoft.com/office/drawing/2014/main" id="{9DB38152-00BB-EBB9-8FA8-E84F780BD163}"/>
              </a:ext>
            </a:extLst>
          </p:cNvPr>
          <p:cNvSpPr/>
          <p:nvPr/>
        </p:nvSpPr>
        <p:spPr>
          <a:xfrm>
            <a:off x="8085288" y="3716636"/>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17" name="Text 31">
            <a:extLst>
              <a:ext uri="{FF2B5EF4-FFF2-40B4-BE49-F238E27FC236}">
                <a16:creationId xmlns:a16="http://schemas.microsoft.com/office/drawing/2014/main" id="{2FE10866-CDFF-15A9-1801-13BE59C952D7}"/>
              </a:ext>
            </a:extLst>
          </p:cNvPr>
          <p:cNvSpPr/>
          <p:nvPr/>
        </p:nvSpPr>
        <p:spPr>
          <a:xfrm>
            <a:off x="9595778" y="3718709"/>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didn’t make a roster</a:t>
            </a:r>
            <a:endParaRPr lang="en-US" sz="1000" dirty="0"/>
          </a:p>
        </p:txBody>
      </p:sp>
      <p:sp>
        <p:nvSpPr>
          <p:cNvPr id="218" name="Text 29">
            <a:extLst>
              <a:ext uri="{FF2B5EF4-FFF2-40B4-BE49-F238E27FC236}">
                <a16:creationId xmlns:a16="http://schemas.microsoft.com/office/drawing/2014/main" id="{629C6430-210D-8499-CE8E-60DF532AA50D}"/>
              </a:ext>
            </a:extLst>
          </p:cNvPr>
          <p:cNvSpPr/>
          <p:nvPr/>
        </p:nvSpPr>
        <p:spPr>
          <a:xfrm>
            <a:off x="4533608" y="4144567"/>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Karsen Barnhart</a:t>
            </a:r>
            <a:endParaRPr lang="en-US" sz="1000" dirty="0"/>
          </a:p>
        </p:txBody>
      </p:sp>
      <p:sp>
        <p:nvSpPr>
          <p:cNvPr id="219" name="Text 30">
            <a:extLst>
              <a:ext uri="{FF2B5EF4-FFF2-40B4-BE49-F238E27FC236}">
                <a16:creationId xmlns:a16="http://schemas.microsoft.com/office/drawing/2014/main" id="{4CE00B26-E139-915D-0246-6E1ADC5D764D}"/>
              </a:ext>
            </a:extLst>
          </p:cNvPr>
          <p:cNvSpPr/>
          <p:nvPr/>
        </p:nvSpPr>
        <p:spPr>
          <a:xfrm>
            <a:off x="4557278" y="4347158"/>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220" name="Text 31">
            <a:extLst>
              <a:ext uri="{FF2B5EF4-FFF2-40B4-BE49-F238E27FC236}">
                <a16:creationId xmlns:a16="http://schemas.microsoft.com/office/drawing/2014/main" id="{4966A5F5-6F0E-740F-633A-35330E714909}"/>
              </a:ext>
            </a:extLst>
          </p:cNvPr>
          <p:cNvSpPr/>
          <p:nvPr/>
        </p:nvSpPr>
        <p:spPr>
          <a:xfrm>
            <a:off x="6147952" y="4151558"/>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3.42 yards</a:t>
            </a:r>
            <a:endParaRPr lang="en-US" sz="1000" dirty="0"/>
          </a:p>
        </p:txBody>
      </p:sp>
      <p:sp>
        <p:nvSpPr>
          <p:cNvPr id="221" name="Text 31">
            <a:extLst>
              <a:ext uri="{FF2B5EF4-FFF2-40B4-BE49-F238E27FC236}">
                <a16:creationId xmlns:a16="http://schemas.microsoft.com/office/drawing/2014/main" id="{E8EF47EF-8A46-BECD-2E82-C9E1C1FE6863}"/>
              </a:ext>
            </a:extLst>
          </p:cNvPr>
          <p:cNvSpPr/>
          <p:nvPr/>
        </p:nvSpPr>
        <p:spPr>
          <a:xfrm>
            <a:off x="8099506" y="4137609"/>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22" name="Text 31">
            <a:extLst>
              <a:ext uri="{FF2B5EF4-FFF2-40B4-BE49-F238E27FC236}">
                <a16:creationId xmlns:a16="http://schemas.microsoft.com/office/drawing/2014/main" id="{251D551F-9436-BEB9-D4FC-BD6E571306E9}"/>
              </a:ext>
            </a:extLst>
          </p:cNvPr>
          <p:cNvSpPr/>
          <p:nvPr/>
        </p:nvSpPr>
        <p:spPr>
          <a:xfrm>
            <a:off x="9609996" y="4139682"/>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made practice squad</a:t>
            </a:r>
            <a:endParaRPr lang="en-US" sz="1000" dirty="0"/>
          </a:p>
        </p:txBody>
      </p:sp>
      <p:sp>
        <p:nvSpPr>
          <p:cNvPr id="223" name="Text 29">
            <a:extLst>
              <a:ext uri="{FF2B5EF4-FFF2-40B4-BE49-F238E27FC236}">
                <a16:creationId xmlns:a16="http://schemas.microsoft.com/office/drawing/2014/main" id="{5B1A510A-09DB-C9E2-285B-81091E62C234}"/>
              </a:ext>
            </a:extLst>
          </p:cNvPr>
          <p:cNvSpPr/>
          <p:nvPr/>
        </p:nvSpPr>
        <p:spPr>
          <a:xfrm>
            <a:off x="4521416" y="4578222"/>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C.J. Hanson</a:t>
            </a:r>
            <a:endParaRPr lang="en-US" sz="1000" dirty="0"/>
          </a:p>
        </p:txBody>
      </p:sp>
      <p:sp>
        <p:nvSpPr>
          <p:cNvPr id="224" name="Text 30">
            <a:extLst>
              <a:ext uri="{FF2B5EF4-FFF2-40B4-BE49-F238E27FC236}">
                <a16:creationId xmlns:a16="http://schemas.microsoft.com/office/drawing/2014/main" id="{D6A303EB-AC4D-B1F6-E9FB-65B4E2FB0589}"/>
              </a:ext>
            </a:extLst>
          </p:cNvPr>
          <p:cNvSpPr/>
          <p:nvPr/>
        </p:nvSpPr>
        <p:spPr>
          <a:xfrm>
            <a:off x="4545086" y="4780813"/>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10 reps</a:t>
            </a:r>
            <a:endParaRPr lang="en-US" sz="1000" dirty="0"/>
          </a:p>
        </p:txBody>
      </p:sp>
      <p:sp>
        <p:nvSpPr>
          <p:cNvPr id="225" name="Text 31">
            <a:extLst>
              <a:ext uri="{FF2B5EF4-FFF2-40B4-BE49-F238E27FC236}">
                <a16:creationId xmlns:a16="http://schemas.microsoft.com/office/drawing/2014/main" id="{FD4EEA49-4C35-186A-BB09-A4AE192B247B}"/>
              </a:ext>
            </a:extLst>
          </p:cNvPr>
          <p:cNvSpPr/>
          <p:nvPr/>
        </p:nvSpPr>
        <p:spPr>
          <a:xfrm>
            <a:off x="6135760" y="4585213"/>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3.45 yards</a:t>
            </a:r>
            <a:endParaRPr lang="en-US" sz="1000" dirty="0"/>
          </a:p>
        </p:txBody>
      </p:sp>
      <p:sp>
        <p:nvSpPr>
          <p:cNvPr id="226" name="Text 31">
            <a:extLst>
              <a:ext uri="{FF2B5EF4-FFF2-40B4-BE49-F238E27FC236}">
                <a16:creationId xmlns:a16="http://schemas.microsoft.com/office/drawing/2014/main" id="{31D93861-5074-3373-3069-D176D8B33B67}"/>
              </a:ext>
            </a:extLst>
          </p:cNvPr>
          <p:cNvSpPr/>
          <p:nvPr/>
        </p:nvSpPr>
        <p:spPr>
          <a:xfrm>
            <a:off x="8087314" y="4571264"/>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7</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227" name="Text 31">
            <a:extLst>
              <a:ext uri="{FF2B5EF4-FFF2-40B4-BE49-F238E27FC236}">
                <a16:creationId xmlns:a16="http://schemas.microsoft.com/office/drawing/2014/main" id="{AE7C430C-B2F0-250E-3D7B-88E7FD140EEC}"/>
              </a:ext>
            </a:extLst>
          </p:cNvPr>
          <p:cNvSpPr/>
          <p:nvPr/>
        </p:nvSpPr>
        <p:spPr>
          <a:xfrm>
            <a:off x="9597804" y="4573337"/>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4 games played (mainly special teams)</a:t>
            </a:r>
            <a:endParaRPr lang="en-US" sz="1000" dirty="0"/>
          </a:p>
        </p:txBody>
      </p:sp>
      <p:sp>
        <p:nvSpPr>
          <p:cNvPr id="228" name="Text 29">
            <a:extLst>
              <a:ext uri="{FF2B5EF4-FFF2-40B4-BE49-F238E27FC236}">
                <a16:creationId xmlns:a16="http://schemas.microsoft.com/office/drawing/2014/main" id="{E7303B2A-2D43-3D1B-37F3-3670E7253AA2}"/>
              </a:ext>
            </a:extLst>
          </p:cNvPr>
          <p:cNvSpPr/>
          <p:nvPr/>
        </p:nvSpPr>
        <p:spPr>
          <a:xfrm>
            <a:off x="4533139" y="5002373"/>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Matt Lee</a:t>
            </a:r>
            <a:endParaRPr lang="en-US" sz="1000" dirty="0"/>
          </a:p>
        </p:txBody>
      </p:sp>
      <p:sp>
        <p:nvSpPr>
          <p:cNvPr id="229" name="Text 30">
            <a:extLst>
              <a:ext uri="{FF2B5EF4-FFF2-40B4-BE49-F238E27FC236}">
                <a16:creationId xmlns:a16="http://schemas.microsoft.com/office/drawing/2014/main" id="{BECA48FC-3706-558F-A401-DD12B2807A19}"/>
              </a:ext>
            </a:extLst>
          </p:cNvPr>
          <p:cNvSpPr/>
          <p:nvPr/>
        </p:nvSpPr>
        <p:spPr>
          <a:xfrm>
            <a:off x="4556809" y="5204964"/>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5 reps</a:t>
            </a:r>
            <a:endParaRPr lang="en-US" sz="1000" dirty="0"/>
          </a:p>
        </p:txBody>
      </p:sp>
      <p:sp>
        <p:nvSpPr>
          <p:cNvPr id="230" name="Text 31">
            <a:extLst>
              <a:ext uri="{FF2B5EF4-FFF2-40B4-BE49-F238E27FC236}">
                <a16:creationId xmlns:a16="http://schemas.microsoft.com/office/drawing/2014/main" id="{02952EF7-1DC0-19F3-8C5A-EFC8182B4B9F}"/>
              </a:ext>
            </a:extLst>
          </p:cNvPr>
          <p:cNvSpPr/>
          <p:nvPr/>
        </p:nvSpPr>
        <p:spPr>
          <a:xfrm>
            <a:off x="6147483" y="5009364"/>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3.47 yards</a:t>
            </a:r>
            <a:endParaRPr lang="en-US" sz="1000" dirty="0"/>
          </a:p>
        </p:txBody>
      </p:sp>
      <p:sp>
        <p:nvSpPr>
          <p:cNvPr id="231" name="Text 31">
            <a:extLst>
              <a:ext uri="{FF2B5EF4-FFF2-40B4-BE49-F238E27FC236}">
                <a16:creationId xmlns:a16="http://schemas.microsoft.com/office/drawing/2014/main" id="{53734B13-68B1-E435-FC0E-7E383C75E2D9}"/>
              </a:ext>
            </a:extLst>
          </p:cNvPr>
          <p:cNvSpPr/>
          <p:nvPr/>
        </p:nvSpPr>
        <p:spPr>
          <a:xfrm>
            <a:off x="8099037" y="4995415"/>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7</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232" name="Text 31">
            <a:extLst>
              <a:ext uri="{FF2B5EF4-FFF2-40B4-BE49-F238E27FC236}">
                <a16:creationId xmlns:a16="http://schemas.microsoft.com/office/drawing/2014/main" id="{396ADC86-D461-1FEE-F90D-2689EB7DA4D3}"/>
              </a:ext>
            </a:extLst>
          </p:cNvPr>
          <p:cNvSpPr/>
          <p:nvPr/>
        </p:nvSpPr>
        <p:spPr>
          <a:xfrm>
            <a:off x="9609527" y="4997488"/>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1 game started, 22 games played (special teamer)</a:t>
            </a:r>
            <a:endParaRPr lang="en-US" sz="1000" dirty="0"/>
          </a:p>
        </p:txBody>
      </p:sp>
      <p:sp>
        <p:nvSpPr>
          <p:cNvPr id="233" name="Text 29">
            <a:extLst>
              <a:ext uri="{FF2B5EF4-FFF2-40B4-BE49-F238E27FC236}">
                <a16:creationId xmlns:a16="http://schemas.microsoft.com/office/drawing/2014/main" id="{CEE32BA4-8DA3-464A-840B-0F5ACD6DC688}"/>
              </a:ext>
            </a:extLst>
          </p:cNvPr>
          <p:cNvSpPr/>
          <p:nvPr/>
        </p:nvSpPr>
        <p:spPr>
          <a:xfrm>
            <a:off x="4534755" y="5417626"/>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Willis Patrick</a:t>
            </a:r>
            <a:endParaRPr lang="en-US" sz="1000" dirty="0"/>
          </a:p>
        </p:txBody>
      </p:sp>
      <p:sp>
        <p:nvSpPr>
          <p:cNvPr id="234" name="Text 30">
            <a:extLst>
              <a:ext uri="{FF2B5EF4-FFF2-40B4-BE49-F238E27FC236}">
                <a16:creationId xmlns:a16="http://schemas.microsoft.com/office/drawing/2014/main" id="{A7A4D542-87A5-0232-EE5E-FB68EDA0747F}"/>
              </a:ext>
            </a:extLst>
          </p:cNvPr>
          <p:cNvSpPr/>
          <p:nvPr/>
        </p:nvSpPr>
        <p:spPr>
          <a:xfrm>
            <a:off x="4558425" y="5620217"/>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5 reps</a:t>
            </a:r>
            <a:endParaRPr lang="en-US" sz="1000" dirty="0"/>
          </a:p>
        </p:txBody>
      </p:sp>
      <p:sp>
        <p:nvSpPr>
          <p:cNvPr id="235" name="Text 31">
            <a:extLst>
              <a:ext uri="{FF2B5EF4-FFF2-40B4-BE49-F238E27FC236}">
                <a16:creationId xmlns:a16="http://schemas.microsoft.com/office/drawing/2014/main" id="{F7495CC3-A825-EE7E-39FC-F2EC4C7CE604}"/>
              </a:ext>
            </a:extLst>
          </p:cNvPr>
          <p:cNvSpPr/>
          <p:nvPr/>
        </p:nvSpPr>
        <p:spPr>
          <a:xfrm>
            <a:off x="6149099" y="5424617"/>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3.54 yards</a:t>
            </a:r>
            <a:endParaRPr lang="en-US" sz="1000" dirty="0"/>
          </a:p>
        </p:txBody>
      </p:sp>
      <p:sp>
        <p:nvSpPr>
          <p:cNvPr id="236" name="Text 31">
            <a:extLst>
              <a:ext uri="{FF2B5EF4-FFF2-40B4-BE49-F238E27FC236}">
                <a16:creationId xmlns:a16="http://schemas.microsoft.com/office/drawing/2014/main" id="{1432657C-E283-5333-A6EA-2992C2812EA8}"/>
              </a:ext>
            </a:extLst>
          </p:cNvPr>
          <p:cNvSpPr/>
          <p:nvPr/>
        </p:nvSpPr>
        <p:spPr>
          <a:xfrm>
            <a:off x="8100653" y="5410668"/>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37" name="Text 31">
            <a:extLst>
              <a:ext uri="{FF2B5EF4-FFF2-40B4-BE49-F238E27FC236}">
                <a16:creationId xmlns:a16="http://schemas.microsoft.com/office/drawing/2014/main" id="{BD682E51-47EF-45BE-899E-26D1265961D7}"/>
              </a:ext>
            </a:extLst>
          </p:cNvPr>
          <p:cNvSpPr/>
          <p:nvPr/>
        </p:nvSpPr>
        <p:spPr>
          <a:xfrm>
            <a:off x="9611143" y="5412741"/>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didn’t make a roster</a:t>
            </a:r>
            <a:endParaRPr lang="en-US" sz="1000" dirty="0"/>
          </a:p>
        </p:txBody>
      </p:sp>
      <p:sp>
        <p:nvSpPr>
          <p:cNvPr id="238" name="Text 29">
            <a:extLst>
              <a:ext uri="{FF2B5EF4-FFF2-40B4-BE49-F238E27FC236}">
                <a16:creationId xmlns:a16="http://schemas.microsoft.com/office/drawing/2014/main" id="{CBA62EF2-E31B-3E68-2D26-715889A388A7}"/>
              </a:ext>
            </a:extLst>
          </p:cNvPr>
          <p:cNvSpPr/>
          <p:nvPr/>
        </p:nvSpPr>
        <p:spPr>
          <a:xfrm>
            <a:off x="4522563" y="5851281"/>
            <a:ext cx="1314450" cy="228600"/>
          </a:xfrm>
          <a:prstGeom prst="rect">
            <a:avLst/>
          </a:prstGeom>
          <a:noFill/>
          <a:ln/>
        </p:spPr>
        <p:txBody>
          <a:bodyPr wrap="square" lIns="0" tIns="0" rIns="0" bIns="0" rtlCol="0" anchor="ctr"/>
          <a:lstStyle/>
          <a:p>
            <a:pPr>
              <a:lnSpc>
                <a:spcPct val="130000"/>
              </a:lnSpc>
            </a:pPr>
            <a:r>
              <a:rPr lang="en-US" sz="1000" b="1" dirty="0" err="1">
                <a:solidFill>
                  <a:srgbClr val="E1E3E6"/>
                </a:solidFill>
                <a:latin typeface="Quattrocento Sans" pitchFamily="34" charset="0"/>
                <a:ea typeface="Quattrocento Sans" pitchFamily="34" charset="-122"/>
                <a:cs typeface="Quattrocento Sans" pitchFamily="34" charset="-120"/>
              </a:rPr>
              <a:t>Trente</a:t>
            </a:r>
            <a:r>
              <a:rPr lang="en-US" sz="1000" b="1" dirty="0">
                <a:solidFill>
                  <a:srgbClr val="E1E3E6"/>
                </a:solidFill>
                <a:latin typeface="Quattrocento Sans" pitchFamily="34" charset="0"/>
                <a:ea typeface="Quattrocento Sans" pitchFamily="34" charset="-122"/>
                <a:cs typeface="Quattrocento Sans" pitchFamily="34" charset="-120"/>
              </a:rPr>
              <a:t> Jones</a:t>
            </a:r>
            <a:endParaRPr lang="en-US" sz="1000" dirty="0"/>
          </a:p>
        </p:txBody>
      </p:sp>
      <p:sp>
        <p:nvSpPr>
          <p:cNvPr id="239" name="Text 30">
            <a:extLst>
              <a:ext uri="{FF2B5EF4-FFF2-40B4-BE49-F238E27FC236}">
                <a16:creationId xmlns:a16="http://schemas.microsoft.com/office/drawing/2014/main" id="{D4C5A249-9C79-6FF7-28B7-D28096F49C39}"/>
              </a:ext>
            </a:extLst>
          </p:cNvPr>
          <p:cNvSpPr/>
          <p:nvPr/>
        </p:nvSpPr>
        <p:spPr>
          <a:xfrm>
            <a:off x="4546233" y="6053872"/>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240" name="Text 31">
            <a:extLst>
              <a:ext uri="{FF2B5EF4-FFF2-40B4-BE49-F238E27FC236}">
                <a16:creationId xmlns:a16="http://schemas.microsoft.com/office/drawing/2014/main" id="{63FD66C4-9402-B11D-4F47-AD657F74934F}"/>
              </a:ext>
            </a:extLst>
          </p:cNvPr>
          <p:cNvSpPr/>
          <p:nvPr/>
        </p:nvSpPr>
        <p:spPr>
          <a:xfrm>
            <a:off x="6136907" y="5858272"/>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3.56 yards</a:t>
            </a:r>
            <a:endParaRPr lang="en-US" sz="1000" dirty="0"/>
          </a:p>
        </p:txBody>
      </p:sp>
      <p:sp>
        <p:nvSpPr>
          <p:cNvPr id="241" name="Text 31">
            <a:extLst>
              <a:ext uri="{FF2B5EF4-FFF2-40B4-BE49-F238E27FC236}">
                <a16:creationId xmlns:a16="http://schemas.microsoft.com/office/drawing/2014/main" id="{B1BC3E29-DB08-5FDD-C07B-F2B908A13A25}"/>
              </a:ext>
            </a:extLst>
          </p:cNvPr>
          <p:cNvSpPr/>
          <p:nvPr/>
        </p:nvSpPr>
        <p:spPr>
          <a:xfrm>
            <a:off x="8088461" y="5844323"/>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42" name="Text 31">
            <a:extLst>
              <a:ext uri="{FF2B5EF4-FFF2-40B4-BE49-F238E27FC236}">
                <a16:creationId xmlns:a16="http://schemas.microsoft.com/office/drawing/2014/main" id="{B13C7B4A-787F-06D9-C6DB-23EDFE2342E5}"/>
              </a:ext>
            </a:extLst>
          </p:cNvPr>
          <p:cNvSpPr/>
          <p:nvPr/>
        </p:nvSpPr>
        <p:spPr>
          <a:xfrm>
            <a:off x="9598951" y="5846396"/>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didn’t make a roster/retired (back injury)</a:t>
            </a:r>
            <a:endParaRPr lang="en-US" sz="1000" dirty="0"/>
          </a:p>
        </p:txBody>
      </p:sp>
      <p:sp>
        <p:nvSpPr>
          <p:cNvPr id="243" name="Text 29">
            <a:extLst>
              <a:ext uri="{FF2B5EF4-FFF2-40B4-BE49-F238E27FC236}">
                <a16:creationId xmlns:a16="http://schemas.microsoft.com/office/drawing/2014/main" id="{5171E1BC-4368-8290-5EC0-F7027BA28785}"/>
              </a:ext>
            </a:extLst>
          </p:cNvPr>
          <p:cNvSpPr/>
          <p:nvPr/>
        </p:nvSpPr>
        <p:spPr>
          <a:xfrm>
            <a:off x="4534286" y="6275432"/>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Donovan Jennings</a:t>
            </a:r>
            <a:endParaRPr lang="en-US" sz="1000" dirty="0"/>
          </a:p>
        </p:txBody>
      </p:sp>
      <p:sp>
        <p:nvSpPr>
          <p:cNvPr id="244" name="Text 30">
            <a:extLst>
              <a:ext uri="{FF2B5EF4-FFF2-40B4-BE49-F238E27FC236}">
                <a16:creationId xmlns:a16="http://schemas.microsoft.com/office/drawing/2014/main" id="{8A515CD2-A0A2-F2D9-62E6-ECCD2DD0C124}"/>
              </a:ext>
            </a:extLst>
          </p:cNvPr>
          <p:cNvSpPr/>
          <p:nvPr/>
        </p:nvSpPr>
        <p:spPr>
          <a:xfrm>
            <a:off x="4557956" y="6478023"/>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5 reps</a:t>
            </a:r>
            <a:endParaRPr lang="en-US" sz="1000" dirty="0"/>
          </a:p>
        </p:txBody>
      </p:sp>
      <p:sp>
        <p:nvSpPr>
          <p:cNvPr id="245" name="Text 31">
            <a:extLst>
              <a:ext uri="{FF2B5EF4-FFF2-40B4-BE49-F238E27FC236}">
                <a16:creationId xmlns:a16="http://schemas.microsoft.com/office/drawing/2014/main" id="{426B957E-0D82-2CA8-BD55-64C2C4E8E7F1}"/>
              </a:ext>
            </a:extLst>
          </p:cNvPr>
          <p:cNvSpPr/>
          <p:nvPr/>
        </p:nvSpPr>
        <p:spPr>
          <a:xfrm>
            <a:off x="6148630" y="6282423"/>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4.23 yards</a:t>
            </a:r>
            <a:endParaRPr lang="en-US" sz="1000" dirty="0"/>
          </a:p>
        </p:txBody>
      </p:sp>
      <p:sp>
        <p:nvSpPr>
          <p:cNvPr id="246" name="Text 31">
            <a:extLst>
              <a:ext uri="{FF2B5EF4-FFF2-40B4-BE49-F238E27FC236}">
                <a16:creationId xmlns:a16="http://schemas.microsoft.com/office/drawing/2014/main" id="{BFC75AB1-7DF7-205D-D085-9DA839302BA9}"/>
              </a:ext>
            </a:extLst>
          </p:cNvPr>
          <p:cNvSpPr/>
          <p:nvPr/>
        </p:nvSpPr>
        <p:spPr>
          <a:xfrm>
            <a:off x="8100184" y="6268474"/>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47" name="Text 31">
            <a:extLst>
              <a:ext uri="{FF2B5EF4-FFF2-40B4-BE49-F238E27FC236}">
                <a16:creationId xmlns:a16="http://schemas.microsoft.com/office/drawing/2014/main" id="{EC642E0B-69D3-5BB7-B292-4A2AB0C218F5}"/>
              </a:ext>
            </a:extLst>
          </p:cNvPr>
          <p:cNvSpPr/>
          <p:nvPr/>
        </p:nvSpPr>
        <p:spPr>
          <a:xfrm>
            <a:off x="9610674" y="6270547"/>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2 games played</a:t>
            </a:r>
            <a:endParaRPr lang="en-US" sz="1000" dirty="0"/>
          </a:p>
        </p:txBody>
      </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11317"/>
        </a:solidFill>
        <a:effectLst/>
      </p:bgPr>
    </p:bg>
    <p:spTree>
      <p:nvGrpSpPr>
        <p:cNvPr id="1" name="">
          <a:extLst>
            <a:ext uri="{FF2B5EF4-FFF2-40B4-BE49-F238E27FC236}">
              <a16:creationId xmlns:a16="http://schemas.microsoft.com/office/drawing/2014/main" id="{07119984-D2B5-2CF5-DD3D-F541EF0C291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CA6CD05-82EF-7B2D-9169-4C735C7CF548}"/>
              </a:ext>
            </a:extLst>
          </p:cNvPr>
          <p:cNvSpPr/>
          <p:nvPr/>
        </p:nvSpPr>
        <p:spPr>
          <a:xfrm>
            <a:off x="381000" y="381000"/>
            <a:ext cx="11496675" cy="190500"/>
          </a:xfrm>
          <a:prstGeom prst="rect">
            <a:avLst/>
          </a:prstGeom>
          <a:noFill/>
          <a:ln/>
        </p:spPr>
        <p:txBody>
          <a:bodyPr wrap="square" lIns="0" tIns="0" rIns="0" bIns="0" rtlCol="0" anchor="ctr"/>
          <a:lstStyle/>
          <a:p>
            <a:pPr>
              <a:lnSpc>
                <a:spcPct val="120000"/>
              </a:lnSpc>
            </a:pPr>
            <a:r>
              <a:rPr lang="en-US" sz="1050" b="1" kern="0" spc="263" dirty="0">
                <a:solidFill>
                  <a:srgbClr val="D8A03D"/>
                </a:solidFill>
                <a:latin typeface="Quattrocento Sans" pitchFamily="34" charset="0"/>
                <a:ea typeface="Quattrocento Sans" pitchFamily="34" charset="-122"/>
                <a:cs typeface="Quattrocento Sans" pitchFamily="34" charset="-120"/>
              </a:rPr>
              <a:t>PERFORMANCE METRICS AND RESULTS (DL)</a:t>
            </a:r>
            <a:endParaRPr lang="en-US" sz="1600" dirty="0"/>
          </a:p>
        </p:txBody>
      </p:sp>
      <p:sp>
        <p:nvSpPr>
          <p:cNvPr id="3" name="Text 1">
            <a:extLst>
              <a:ext uri="{FF2B5EF4-FFF2-40B4-BE49-F238E27FC236}">
                <a16:creationId xmlns:a16="http://schemas.microsoft.com/office/drawing/2014/main" id="{5F4F1E5E-9A47-8854-9267-38667E2B5041}"/>
              </a:ext>
            </a:extLst>
          </p:cNvPr>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700" b="1" dirty="0">
                <a:solidFill>
                  <a:srgbClr val="E1E3E6"/>
                </a:solidFill>
                <a:latin typeface="Liter" pitchFamily="34" charset="0"/>
                <a:ea typeface="Liter" pitchFamily="34" charset="-122"/>
                <a:cs typeface="Liter" pitchFamily="34" charset="-120"/>
              </a:rPr>
              <a:t>Primary Metric: DL Depth Allowed (or Gained) at Frame 25</a:t>
            </a:r>
            <a:endParaRPr lang="en-US" sz="1600" dirty="0"/>
          </a:p>
        </p:txBody>
      </p:sp>
      <p:sp>
        <p:nvSpPr>
          <p:cNvPr id="4" name="Shape 2">
            <a:extLst>
              <a:ext uri="{FF2B5EF4-FFF2-40B4-BE49-F238E27FC236}">
                <a16:creationId xmlns:a16="http://schemas.microsoft.com/office/drawing/2014/main" id="{7526F012-2054-F06B-0C52-43226EE269D4}"/>
              </a:ext>
            </a:extLst>
          </p:cNvPr>
          <p:cNvSpPr/>
          <p:nvPr/>
        </p:nvSpPr>
        <p:spPr>
          <a:xfrm>
            <a:off x="385763" y="1064840"/>
            <a:ext cx="3327559" cy="5291137"/>
          </a:xfrm>
          <a:custGeom>
            <a:avLst/>
            <a:gdLst/>
            <a:ahLst/>
            <a:cxnLst/>
            <a:rect l="l" t="t" r="r" b="b"/>
            <a:pathLst>
              <a:path w="4467225" h="3514725">
                <a:moveTo>
                  <a:pt x="38100" y="0"/>
                </a:moveTo>
                <a:lnTo>
                  <a:pt x="4429125" y="0"/>
                </a:lnTo>
                <a:cubicBezTo>
                  <a:pt x="4450167" y="0"/>
                  <a:pt x="4467225" y="17058"/>
                  <a:pt x="4467225" y="38100"/>
                </a:cubicBezTo>
                <a:lnTo>
                  <a:pt x="4467225" y="3476625"/>
                </a:lnTo>
                <a:cubicBezTo>
                  <a:pt x="4467225" y="3497667"/>
                  <a:pt x="4450167" y="3514725"/>
                  <a:pt x="4429125" y="3514725"/>
                </a:cubicBezTo>
                <a:lnTo>
                  <a:pt x="38100" y="3514725"/>
                </a:lnTo>
                <a:cubicBezTo>
                  <a:pt x="17058" y="3514725"/>
                  <a:pt x="0" y="3497667"/>
                  <a:pt x="0" y="3476625"/>
                </a:cubicBezTo>
                <a:lnTo>
                  <a:pt x="0" y="38100"/>
                </a:lnTo>
                <a:cubicBezTo>
                  <a:pt x="0" y="17072"/>
                  <a:pt x="17072" y="0"/>
                  <a:pt x="38100" y="0"/>
                </a:cubicBezTo>
                <a:close/>
              </a:path>
            </a:pathLst>
          </a:custGeom>
          <a:solidFill>
            <a:srgbClr val="1E2024"/>
          </a:solidFill>
          <a:ln w="12700">
            <a:solidFill>
              <a:srgbClr val="4C7E9A">
                <a:alpha val="30196"/>
              </a:srgbClr>
            </a:solidFill>
            <a:prstDash val="solid"/>
          </a:ln>
        </p:spPr>
        <p:txBody>
          <a:bodyPr/>
          <a:lstStyle/>
          <a:p>
            <a:endParaRPr lang="en-US"/>
          </a:p>
        </p:txBody>
      </p:sp>
      <p:sp>
        <p:nvSpPr>
          <p:cNvPr id="5" name="Shape 3">
            <a:extLst>
              <a:ext uri="{FF2B5EF4-FFF2-40B4-BE49-F238E27FC236}">
                <a16:creationId xmlns:a16="http://schemas.microsoft.com/office/drawing/2014/main" id="{85C4FD01-2E04-9A38-9587-B3F93D3C504B}"/>
              </a:ext>
            </a:extLst>
          </p:cNvPr>
          <p:cNvSpPr/>
          <p:nvPr/>
        </p:nvSpPr>
        <p:spPr>
          <a:xfrm>
            <a:off x="566738" y="1269627"/>
            <a:ext cx="171450" cy="171450"/>
          </a:xfrm>
          <a:custGeom>
            <a:avLst/>
            <a:gdLst/>
            <a:ahLst/>
            <a:cxnLst/>
            <a:rect l="l" t="t" r="r" b="b"/>
            <a:pathLst>
              <a:path w="171450" h="171450">
                <a:moveTo>
                  <a:pt x="85725" y="0"/>
                </a:moveTo>
                <a:cubicBezTo>
                  <a:pt x="133038" y="0"/>
                  <a:pt x="171450" y="38412"/>
                  <a:pt x="171450" y="85725"/>
                </a:cubicBezTo>
                <a:cubicBezTo>
                  <a:pt x="171450" y="133038"/>
                  <a:pt x="133038" y="171450"/>
                  <a:pt x="85725" y="171450"/>
                </a:cubicBezTo>
                <a:cubicBezTo>
                  <a:pt x="38412" y="171450"/>
                  <a:pt x="0" y="133038"/>
                  <a:pt x="0" y="85725"/>
                </a:cubicBezTo>
                <a:cubicBezTo>
                  <a:pt x="0" y="38412"/>
                  <a:pt x="38412" y="0"/>
                  <a:pt x="85725" y="0"/>
                </a:cubicBezTo>
                <a:close/>
                <a:moveTo>
                  <a:pt x="77688" y="40184"/>
                </a:moveTo>
                <a:lnTo>
                  <a:pt x="77688" y="85725"/>
                </a:lnTo>
                <a:cubicBezTo>
                  <a:pt x="77688" y="88404"/>
                  <a:pt x="79028" y="90915"/>
                  <a:pt x="81271" y="92422"/>
                </a:cubicBezTo>
                <a:lnTo>
                  <a:pt x="113418" y="113854"/>
                </a:lnTo>
                <a:cubicBezTo>
                  <a:pt x="117102" y="116332"/>
                  <a:pt x="122091" y="115327"/>
                  <a:pt x="124569" y="111610"/>
                </a:cubicBezTo>
                <a:cubicBezTo>
                  <a:pt x="127047" y="107893"/>
                  <a:pt x="126043" y="102937"/>
                  <a:pt x="122326" y="100459"/>
                </a:cubicBezTo>
                <a:lnTo>
                  <a:pt x="93762" y="81439"/>
                </a:lnTo>
                <a:lnTo>
                  <a:pt x="93762" y="40184"/>
                </a:lnTo>
                <a:cubicBezTo>
                  <a:pt x="93762" y="35730"/>
                  <a:pt x="90179" y="32147"/>
                  <a:pt x="85725" y="32147"/>
                </a:cubicBezTo>
                <a:cubicBezTo>
                  <a:pt x="81271" y="32147"/>
                  <a:pt x="77688" y="35730"/>
                  <a:pt x="77688" y="40184"/>
                </a:cubicBezTo>
                <a:close/>
              </a:path>
            </a:pathLst>
          </a:custGeom>
          <a:solidFill>
            <a:srgbClr val="4C7E9A"/>
          </a:solidFill>
          <a:ln/>
        </p:spPr>
        <p:txBody>
          <a:bodyPr/>
          <a:lstStyle/>
          <a:p>
            <a:endParaRPr lang="en-US"/>
          </a:p>
        </p:txBody>
      </p:sp>
      <p:sp>
        <p:nvSpPr>
          <p:cNvPr id="6" name="Text 4">
            <a:extLst>
              <a:ext uri="{FF2B5EF4-FFF2-40B4-BE49-F238E27FC236}">
                <a16:creationId xmlns:a16="http://schemas.microsoft.com/office/drawing/2014/main" id="{E793DC95-B991-AC88-C4AE-453198AA90BF}"/>
              </a:ext>
            </a:extLst>
          </p:cNvPr>
          <p:cNvSpPr/>
          <p:nvPr/>
        </p:nvSpPr>
        <p:spPr>
          <a:xfrm>
            <a:off x="800100" y="1212858"/>
            <a:ext cx="3981450" cy="266700"/>
          </a:xfrm>
          <a:prstGeom prst="rect">
            <a:avLst/>
          </a:prstGeom>
          <a:noFill/>
          <a:ln/>
        </p:spPr>
        <p:txBody>
          <a:bodyPr wrap="square" lIns="0" tIns="0" rIns="0" bIns="0" rtlCol="0" anchor="ctr"/>
          <a:lstStyle/>
          <a:p>
            <a:pPr>
              <a:lnSpc>
                <a:spcPct val="130000"/>
              </a:lnSpc>
            </a:pPr>
            <a:r>
              <a:rPr lang="en-US" sz="1350" b="1" dirty="0">
                <a:solidFill>
                  <a:srgbClr val="4C7E9A"/>
                </a:solidFill>
                <a:latin typeface="Liter" pitchFamily="34" charset="0"/>
                <a:ea typeface="Liter" pitchFamily="34" charset="-122"/>
                <a:cs typeface="Liter" pitchFamily="34" charset="-120"/>
              </a:rPr>
              <a:t>Why frame 25?</a:t>
            </a:r>
            <a:endParaRPr lang="en-US" sz="1600" dirty="0"/>
          </a:p>
        </p:txBody>
      </p:sp>
      <p:sp>
        <p:nvSpPr>
          <p:cNvPr id="25" name="Shape 23">
            <a:extLst>
              <a:ext uri="{FF2B5EF4-FFF2-40B4-BE49-F238E27FC236}">
                <a16:creationId xmlns:a16="http://schemas.microsoft.com/office/drawing/2014/main" id="{E8A6BF6A-C30B-E985-C10C-C39AD72E29BB}"/>
              </a:ext>
            </a:extLst>
          </p:cNvPr>
          <p:cNvSpPr/>
          <p:nvPr/>
        </p:nvSpPr>
        <p:spPr>
          <a:xfrm>
            <a:off x="3999071" y="1064840"/>
            <a:ext cx="7810977" cy="5720008"/>
          </a:xfrm>
          <a:custGeom>
            <a:avLst/>
            <a:gdLst/>
            <a:ahLst/>
            <a:cxnLst/>
            <a:rect l="l" t="t" r="r" b="b"/>
            <a:pathLst>
              <a:path w="6791325" h="3514725">
                <a:moveTo>
                  <a:pt x="38100" y="0"/>
                </a:moveTo>
                <a:lnTo>
                  <a:pt x="6753225" y="0"/>
                </a:lnTo>
                <a:cubicBezTo>
                  <a:pt x="6774267" y="0"/>
                  <a:pt x="6791325" y="17058"/>
                  <a:pt x="6791325" y="38100"/>
                </a:cubicBezTo>
                <a:lnTo>
                  <a:pt x="6791325" y="3476625"/>
                </a:lnTo>
                <a:cubicBezTo>
                  <a:pt x="6791325" y="3497667"/>
                  <a:pt x="6774267" y="3514725"/>
                  <a:pt x="6753225" y="3514725"/>
                </a:cubicBezTo>
                <a:lnTo>
                  <a:pt x="38100" y="3514725"/>
                </a:lnTo>
                <a:cubicBezTo>
                  <a:pt x="17058" y="3514725"/>
                  <a:pt x="0" y="3497667"/>
                  <a:pt x="0" y="3476625"/>
                </a:cubicBezTo>
                <a:lnTo>
                  <a:pt x="0" y="38100"/>
                </a:lnTo>
                <a:cubicBezTo>
                  <a:pt x="0" y="17072"/>
                  <a:pt x="17072" y="0"/>
                  <a:pt x="38100" y="0"/>
                </a:cubicBezTo>
                <a:close/>
              </a:path>
            </a:pathLst>
          </a:custGeom>
          <a:solidFill>
            <a:srgbClr val="1E2024"/>
          </a:solidFill>
          <a:ln w="12700">
            <a:solidFill>
              <a:srgbClr val="D8A03D">
                <a:alpha val="30196"/>
              </a:srgbClr>
            </a:solidFill>
            <a:prstDash val="solid"/>
          </a:ln>
        </p:spPr>
        <p:txBody>
          <a:bodyPr/>
          <a:lstStyle/>
          <a:p>
            <a:endParaRPr lang="en-US"/>
          </a:p>
        </p:txBody>
      </p:sp>
      <p:sp>
        <p:nvSpPr>
          <p:cNvPr id="26" name="Shape 24">
            <a:extLst>
              <a:ext uri="{FF2B5EF4-FFF2-40B4-BE49-F238E27FC236}">
                <a16:creationId xmlns:a16="http://schemas.microsoft.com/office/drawing/2014/main" id="{B8EADDB8-5A0E-6ABB-A75D-9CB720EA24CC}"/>
              </a:ext>
            </a:extLst>
          </p:cNvPr>
          <p:cNvSpPr/>
          <p:nvPr/>
        </p:nvSpPr>
        <p:spPr>
          <a:xfrm>
            <a:off x="4097044" y="1127387"/>
            <a:ext cx="171450" cy="171450"/>
          </a:xfrm>
          <a:custGeom>
            <a:avLst/>
            <a:gdLst/>
            <a:ahLst/>
            <a:cxn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D8A03D"/>
          </a:solidFill>
          <a:ln/>
        </p:spPr>
        <p:txBody>
          <a:bodyPr/>
          <a:lstStyle/>
          <a:p>
            <a:endParaRPr lang="en-US"/>
          </a:p>
        </p:txBody>
      </p:sp>
      <p:sp>
        <p:nvSpPr>
          <p:cNvPr id="27" name="Text 25">
            <a:extLst>
              <a:ext uri="{FF2B5EF4-FFF2-40B4-BE49-F238E27FC236}">
                <a16:creationId xmlns:a16="http://schemas.microsoft.com/office/drawing/2014/main" id="{78565300-488E-C7A8-C28F-2D83BB6FE0DA}"/>
              </a:ext>
            </a:extLst>
          </p:cNvPr>
          <p:cNvSpPr/>
          <p:nvPr/>
        </p:nvSpPr>
        <p:spPr>
          <a:xfrm>
            <a:off x="4399882" y="1079762"/>
            <a:ext cx="6343650" cy="266700"/>
          </a:xfrm>
          <a:prstGeom prst="rect">
            <a:avLst/>
          </a:prstGeom>
          <a:noFill/>
          <a:ln/>
        </p:spPr>
        <p:txBody>
          <a:bodyPr wrap="square" lIns="0" tIns="0" rIns="0" bIns="0" rtlCol="0" anchor="ctr"/>
          <a:lstStyle/>
          <a:p>
            <a:pPr>
              <a:lnSpc>
                <a:spcPct val="130000"/>
              </a:lnSpc>
            </a:pPr>
            <a:r>
              <a:rPr lang="en-US" sz="1350" b="1" dirty="0">
                <a:solidFill>
                  <a:srgbClr val="D8A03D"/>
                </a:solidFill>
                <a:latin typeface="Liter" pitchFamily="34" charset="0"/>
                <a:ea typeface="Liter" pitchFamily="34" charset="-122"/>
                <a:cs typeface="Liter" pitchFamily="34" charset="-120"/>
              </a:rPr>
              <a:t>Interior DL Performance (Frame 25)</a:t>
            </a:r>
            <a:endParaRPr lang="en-US" sz="1600" dirty="0"/>
          </a:p>
        </p:txBody>
      </p:sp>
      <p:sp>
        <p:nvSpPr>
          <p:cNvPr id="28" name="Shape 26">
            <a:extLst>
              <a:ext uri="{FF2B5EF4-FFF2-40B4-BE49-F238E27FC236}">
                <a16:creationId xmlns:a16="http://schemas.microsoft.com/office/drawing/2014/main" id="{174FCC0B-3FFF-1A1E-CE30-B40ECFF70005}"/>
              </a:ext>
            </a:extLst>
          </p:cNvPr>
          <p:cNvSpPr/>
          <p:nvPr/>
        </p:nvSpPr>
        <p:spPr>
          <a:xfrm>
            <a:off x="6082362" y="1376942"/>
            <a:ext cx="114300" cy="152400"/>
          </a:xfrm>
          <a:custGeom>
            <a:avLst/>
            <a:gdLst/>
            <a:ahLst/>
            <a:cxnLst/>
            <a:rect l="l" t="t" r="r" b="b"/>
            <a:pathLst>
              <a:path w="114300" h="152400">
                <a:moveTo>
                  <a:pt x="63877" y="5179"/>
                </a:moveTo>
                <a:cubicBezTo>
                  <a:pt x="60156" y="1459"/>
                  <a:pt x="54114" y="1459"/>
                  <a:pt x="50393" y="5179"/>
                </a:cubicBezTo>
                <a:lnTo>
                  <a:pt x="2768" y="52804"/>
                </a:lnTo>
                <a:cubicBezTo>
                  <a:pt x="-952" y="56525"/>
                  <a:pt x="-952" y="62567"/>
                  <a:pt x="2768" y="66288"/>
                </a:cubicBezTo>
                <a:cubicBezTo>
                  <a:pt x="6489" y="70009"/>
                  <a:pt x="12531" y="70009"/>
                  <a:pt x="16252" y="66288"/>
                </a:cubicBezTo>
                <a:lnTo>
                  <a:pt x="47625" y="34915"/>
                </a:lnTo>
                <a:lnTo>
                  <a:pt x="47625" y="145256"/>
                </a:lnTo>
                <a:cubicBezTo>
                  <a:pt x="47625" y="150525"/>
                  <a:pt x="51881" y="154781"/>
                  <a:pt x="57150" y="154781"/>
                </a:cubicBezTo>
                <a:cubicBezTo>
                  <a:pt x="62419" y="154781"/>
                  <a:pt x="66675" y="150525"/>
                  <a:pt x="66675" y="145256"/>
                </a:cubicBezTo>
                <a:lnTo>
                  <a:pt x="66675" y="34915"/>
                </a:lnTo>
                <a:lnTo>
                  <a:pt x="98048" y="66288"/>
                </a:lnTo>
                <a:cubicBezTo>
                  <a:pt x="101769" y="70009"/>
                  <a:pt x="107811" y="70009"/>
                  <a:pt x="111532" y="66288"/>
                </a:cubicBezTo>
                <a:cubicBezTo>
                  <a:pt x="115253" y="62567"/>
                  <a:pt x="115253" y="56525"/>
                  <a:pt x="111532" y="52804"/>
                </a:cubicBezTo>
                <a:lnTo>
                  <a:pt x="63907" y="5179"/>
                </a:lnTo>
                <a:close/>
              </a:path>
            </a:pathLst>
          </a:custGeom>
          <a:solidFill>
            <a:srgbClr val="4C7E9A"/>
          </a:solidFill>
          <a:ln/>
        </p:spPr>
        <p:txBody>
          <a:bodyPr/>
          <a:lstStyle/>
          <a:p>
            <a:endParaRPr lang="en-US"/>
          </a:p>
        </p:txBody>
      </p:sp>
      <p:sp>
        <p:nvSpPr>
          <p:cNvPr id="29" name="Text 27">
            <a:extLst>
              <a:ext uri="{FF2B5EF4-FFF2-40B4-BE49-F238E27FC236}">
                <a16:creationId xmlns:a16="http://schemas.microsoft.com/office/drawing/2014/main" id="{7B8878D8-C800-2565-E62E-70AF5654D071}"/>
              </a:ext>
            </a:extLst>
          </p:cNvPr>
          <p:cNvSpPr/>
          <p:nvPr/>
        </p:nvSpPr>
        <p:spPr>
          <a:xfrm>
            <a:off x="6244922" y="1349002"/>
            <a:ext cx="3048000" cy="228600"/>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Median Depth Gained</a:t>
            </a:r>
            <a:endParaRPr lang="en-US" sz="1000" dirty="0"/>
          </a:p>
        </p:txBody>
      </p:sp>
      <p:sp>
        <p:nvSpPr>
          <p:cNvPr id="75" name="Text 4">
            <a:extLst>
              <a:ext uri="{FF2B5EF4-FFF2-40B4-BE49-F238E27FC236}">
                <a16:creationId xmlns:a16="http://schemas.microsoft.com/office/drawing/2014/main" id="{83B3EAE4-9B23-7D6E-562D-5DEC4D9CD0AF}"/>
              </a:ext>
            </a:extLst>
          </p:cNvPr>
          <p:cNvSpPr/>
          <p:nvPr/>
        </p:nvSpPr>
        <p:spPr>
          <a:xfrm>
            <a:off x="590550" y="1520039"/>
            <a:ext cx="2951322" cy="1683164"/>
          </a:xfrm>
          <a:prstGeom prst="rect">
            <a:avLst/>
          </a:prstGeom>
          <a:noFill/>
          <a:ln/>
        </p:spPr>
        <p:txBody>
          <a:bodyPr wrap="square" lIns="0" tIns="0" rIns="0" bIns="0" rtlCol="0" anchor="t"/>
          <a:lstStyle/>
          <a:p>
            <a:r>
              <a:rPr lang="en-US" sz="1200" dirty="0">
                <a:solidFill>
                  <a:srgbClr val="DEE0E4"/>
                </a:solidFill>
                <a:latin typeface="Quattrocento Sans" panose="020B0502050000020003" pitchFamily="34" charset="0"/>
              </a:rPr>
              <a:t>In 2025, </a:t>
            </a:r>
            <a:r>
              <a:rPr lang="en-US" sz="1200" dirty="0">
                <a:solidFill>
                  <a:srgbClr val="DEE0E4"/>
                </a:solidFill>
                <a:latin typeface="Quattrocento Sans" panose="020B0502050000020003" pitchFamily="34" charset="0"/>
                <a:hlinkClick r:id="rId3">
                  <a:extLst>
                    <a:ext uri="{A12FA001-AC4F-418D-AE19-62706E023703}">
                      <ahyp:hlinkClr xmlns:ahyp="http://schemas.microsoft.com/office/drawing/2018/hyperlinkcolor" val="tx"/>
                    </a:ext>
                  </a:extLst>
                </a:hlinkClick>
              </a:rPr>
              <a:t>the median time to throw for NFL quarterbacks was about 2.68 seconds</a:t>
            </a:r>
            <a:r>
              <a:rPr lang="en-US" sz="1200" dirty="0">
                <a:solidFill>
                  <a:srgbClr val="DEE0E4"/>
                </a:solidFill>
                <a:latin typeface="Quattrocento Sans" panose="020B0502050000020003" pitchFamily="34" charset="0"/>
              </a:rPr>
              <a:t>. Next Gen Stats has previously defined a "quick pressure" as </a:t>
            </a:r>
            <a:r>
              <a:rPr lang="en-US" sz="1200" dirty="0">
                <a:solidFill>
                  <a:srgbClr val="DEE0E4"/>
                </a:solidFill>
                <a:latin typeface="Quattrocento Sans" panose="020B0502050000020003" pitchFamily="34" charset="0"/>
                <a:hlinkClick r:id="rId4">
                  <a:extLst>
                    <a:ext uri="{A12FA001-AC4F-418D-AE19-62706E023703}">
                      <ahyp:hlinkClr xmlns:ahyp="http://schemas.microsoft.com/office/drawing/2018/hyperlinkcolor" val="tx"/>
                    </a:ext>
                  </a:extLst>
                </a:hlinkClick>
              </a:rPr>
              <a:t>a pressure occurring within the first 2.5 seconds of a play</a:t>
            </a:r>
            <a:r>
              <a:rPr lang="en-US" sz="1200" dirty="0">
                <a:solidFill>
                  <a:srgbClr val="DEE0E4"/>
                </a:solidFill>
                <a:latin typeface="Quattrocento Sans" panose="020B0502050000020003" pitchFamily="34" charset="0"/>
              </a:rPr>
              <a:t> and has said the average pressure occurred within 2.9 seconds. Likewise, ESPN Analytics' pass rush win rate metric quantifies "</a:t>
            </a:r>
            <a:r>
              <a:rPr lang="en-US" sz="1200" dirty="0">
                <a:solidFill>
                  <a:srgbClr val="DEE0E4"/>
                </a:solidFill>
                <a:latin typeface="Quattrocento Sans" panose="020B0502050000020003" pitchFamily="34" charset="0"/>
                <a:hlinkClick r:id="rId5">
                  <a:extLst>
                    <a:ext uri="{A12FA001-AC4F-418D-AE19-62706E023703}">
                      <ahyp:hlinkClr xmlns:ahyp="http://schemas.microsoft.com/office/drawing/2018/hyperlinkcolor" val="tx"/>
                    </a:ext>
                  </a:extLst>
                </a:hlinkClick>
              </a:rPr>
              <a:t>how often a pass rusher is able to beat his block within 2.5 seconds</a:t>
            </a:r>
            <a:r>
              <a:rPr lang="en-US" sz="1200" dirty="0">
                <a:solidFill>
                  <a:srgbClr val="DEE0E4"/>
                </a:solidFill>
                <a:latin typeface="Quattrocento Sans" panose="020B0502050000020003" pitchFamily="34" charset="0"/>
              </a:rPr>
              <a:t>". As such, frame 25 is a reasonable time at which to evaluate the depth gained by the defensive lineman. </a:t>
            </a:r>
          </a:p>
        </p:txBody>
      </p:sp>
      <p:sp>
        <p:nvSpPr>
          <p:cNvPr id="77" name="Text 4">
            <a:extLst>
              <a:ext uri="{FF2B5EF4-FFF2-40B4-BE49-F238E27FC236}">
                <a16:creationId xmlns:a16="http://schemas.microsoft.com/office/drawing/2014/main" id="{11AB644E-4D76-602D-525A-40992E6A028E}"/>
              </a:ext>
            </a:extLst>
          </p:cNvPr>
          <p:cNvSpPr/>
          <p:nvPr/>
        </p:nvSpPr>
        <p:spPr>
          <a:xfrm>
            <a:off x="783194" y="3838560"/>
            <a:ext cx="2758678" cy="505397"/>
          </a:xfrm>
          <a:prstGeom prst="rect">
            <a:avLst/>
          </a:prstGeom>
          <a:noFill/>
          <a:ln/>
        </p:spPr>
        <p:txBody>
          <a:bodyPr wrap="square" lIns="0" tIns="0" rIns="0" bIns="0" rtlCol="0" anchor="ctr"/>
          <a:lstStyle/>
          <a:p>
            <a:r>
              <a:rPr lang="en-US" sz="1350" b="1" dirty="0">
                <a:solidFill>
                  <a:srgbClr val="4C7E9A"/>
                </a:solidFill>
                <a:latin typeface="Liter" pitchFamily="34" charset="0"/>
                <a:ea typeface="Liter" pitchFamily="34" charset="-122"/>
                <a:cs typeface="Liter" pitchFamily="34" charset="-120"/>
              </a:rPr>
              <a:t>Why depth allowed (or gained) by the DL?</a:t>
            </a:r>
            <a:endParaRPr lang="en-US" sz="1600" dirty="0"/>
          </a:p>
        </p:txBody>
      </p:sp>
      <p:sp>
        <p:nvSpPr>
          <p:cNvPr id="78" name="Text 4">
            <a:extLst>
              <a:ext uri="{FF2B5EF4-FFF2-40B4-BE49-F238E27FC236}">
                <a16:creationId xmlns:a16="http://schemas.microsoft.com/office/drawing/2014/main" id="{73F70EB4-D5C0-5A86-480D-8A6A265A2B75}"/>
              </a:ext>
            </a:extLst>
          </p:cNvPr>
          <p:cNvSpPr/>
          <p:nvPr/>
        </p:nvSpPr>
        <p:spPr>
          <a:xfrm>
            <a:off x="573644" y="4382057"/>
            <a:ext cx="3011090" cy="1843932"/>
          </a:xfrm>
          <a:prstGeom prst="rect">
            <a:avLst/>
          </a:prstGeom>
          <a:noFill/>
          <a:ln/>
        </p:spPr>
        <p:txBody>
          <a:bodyPr wrap="square" lIns="0" tIns="0" rIns="0" bIns="0" rtlCol="0" anchor="t"/>
          <a:lstStyle/>
          <a:p>
            <a:r>
              <a:rPr lang="en-US" sz="1200" dirty="0">
                <a:solidFill>
                  <a:srgbClr val="DEE0E4"/>
                </a:solidFill>
                <a:latin typeface="Quattrocento Sans" panose="020B0502050000020003" pitchFamily="34" charset="0"/>
              </a:rPr>
              <a:t>The basic idea is that depth penetration (x-axis) at 2.5 seconds is a potential proxy for whether the interior DL beat his block, walked the OL back, gained a negligible amount of depth, or stalled out. In turn, interior OL can be evaluated by examining how much depth they allowed the DL to gain. Using one axis avoids over-crediting lateral movement.</a:t>
            </a:r>
          </a:p>
        </p:txBody>
      </p:sp>
      <p:pic>
        <p:nvPicPr>
          <p:cNvPr id="80" name="Graphic 79" descr="Badge Question Mark with solid fill">
            <a:extLst>
              <a:ext uri="{FF2B5EF4-FFF2-40B4-BE49-F238E27FC236}">
                <a16:creationId xmlns:a16="http://schemas.microsoft.com/office/drawing/2014/main" id="{35E56C9B-9B4B-556B-9DBC-8A698CF6B3A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31021" y="3873138"/>
            <a:ext cx="234599" cy="234599"/>
          </a:xfrm>
          <a:prstGeom prst="rect">
            <a:avLst/>
          </a:prstGeom>
        </p:spPr>
      </p:pic>
      <p:sp>
        <p:nvSpPr>
          <p:cNvPr id="81" name="Text 27">
            <a:extLst>
              <a:ext uri="{FF2B5EF4-FFF2-40B4-BE49-F238E27FC236}">
                <a16:creationId xmlns:a16="http://schemas.microsoft.com/office/drawing/2014/main" id="{CCE01933-0BA4-4CB9-E9CC-959D736EC26B}"/>
              </a:ext>
            </a:extLst>
          </p:cNvPr>
          <p:cNvSpPr/>
          <p:nvPr/>
        </p:nvSpPr>
        <p:spPr>
          <a:xfrm>
            <a:off x="4443019" y="1353485"/>
            <a:ext cx="3048000" cy="228600"/>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Player</a:t>
            </a:r>
            <a:endParaRPr lang="en-US" sz="1000" dirty="0"/>
          </a:p>
        </p:txBody>
      </p:sp>
      <p:sp>
        <p:nvSpPr>
          <p:cNvPr id="82" name="Text 27">
            <a:extLst>
              <a:ext uri="{FF2B5EF4-FFF2-40B4-BE49-F238E27FC236}">
                <a16:creationId xmlns:a16="http://schemas.microsoft.com/office/drawing/2014/main" id="{38BABA34-CEEB-D76C-F608-C7BA891FEC6D}"/>
              </a:ext>
            </a:extLst>
          </p:cNvPr>
          <p:cNvSpPr/>
          <p:nvPr/>
        </p:nvSpPr>
        <p:spPr>
          <a:xfrm>
            <a:off x="8051305" y="1387100"/>
            <a:ext cx="1401977" cy="181537"/>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Draft Outcome</a:t>
            </a:r>
            <a:endParaRPr lang="en-US" sz="1000" dirty="0"/>
          </a:p>
        </p:txBody>
      </p:sp>
      <p:sp>
        <p:nvSpPr>
          <p:cNvPr id="83" name="Text 27">
            <a:extLst>
              <a:ext uri="{FF2B5EF4-FFF2-40B4-BE49-F238E27FC236}">
                <a16:creationId xmlns:a16="http://schemas.microsoft.com/office/drawing/2014/main" id="{389A1C99-CB07-324C-22E5-9CECEE768C5F}"/>
              </a:ext>
            </a:extLst>
          </p:cNvPr>
          <p:cNvSpPr/>
          <p:nvPr/>
        </p:nvSpPr>
        <p:spPr>
          <a:xfrm>
            <a:off x="9578665" y="1385173"/>
            <a:ext cx="1714769" cy="324884"/>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NFL Outcome (2 years)</a:t>
            </a:r>
          </a:p>
          <a:p>
            <a:pPr>
              <a:lnSpc>
                <a:spcPct val="130000"/>
              </a:lnSpc>
            </a:pPr>
            <a:endParaRPr lang="en-US" sz="1000" dirty="0"/>
          </a:p>
        </p:txBody>
      </p:sp>
      <p:sp>
        <p:nvSpPr>
          <p:cNvPr id="187" name="Rectangle 186">
            <a:extLst>
              <a:ext uri="{FF2B5EF4-FFF2-40B4-BE49-F238E27FC236}">
                <a16:creationId xmlns:a16="http://schemas.microsoft.com/office/drawing/2014/main" id="{96AC4507-2AE0-B37A-C366-759522604438}"/>
              </a:ext>
            </a:extLst>
          </p:cNvPr>
          <p:cNvSpPr/>
          <p:nvPr/>
        </p:nvSpPr>
        <p:spPr>
          <a:xfrm>
            <a:off x="4443019" y="1629375"/>
            <a:ext cx="7255922" cy="5039148"/>
          </a:xfrm>
          <a:prstGeom prst="rect">
            <a:avLst/>
          </a:prstGeom>
          <a:solidFill>
            <a:srgbClr val="11131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Text 29">
            <a:extLst>
              <a:ext uri="{FF2B5EF4-FFF2-40B4-BE49-F238E27FC236}">
                <a16:creationId xmlns:a16="http://schemas.microsoft.com/office/drawing/2014/main" id="{8745EDBB-1E88-E4B2-DDC2-311EAA4B11FF}"/>
              </a:ext>
            </a:extLst>
          </p:cNvPr>
          <p:cNvSpPr/>
          <p:nvPr/>
        </p:nvSpPr>
        <p:spPr>
          <a:xfrm>
            <a:off x="4518712" y="1592729"/>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Tuli </a:t>
            </a:r>
            <a:r>
              <a:rPr lang="en-US" sz="1000" b="1" dirty="0" err="1">
                <a:solidFill>
                  <a:srgbClr val="E1E3E6"/>
                </a:solidFill>
                <a:latin typeface="Quattrocento Sans" pitchFamily="34" charset="0"/>
                <a:ea typeface="Quattrocento Sans" pitchFamily="34" charset="-122"/>
                <a:cs typeface="Quattrocento Sans" pitchFamily="34" charset="-120"/>
              </a:rPr>
              <a:t>Letuligasenoa</a:t>
            </a:r>
            <a:endParaRPr lang="en-US" sz="1000" dirty="0"/>
          </a:p>
        </p:txBody>
      </p:sp>
      <p:sp>
        <p:nvSpPr>
          <p:cNvPr id="189" name="Text 30">
            <a:extLst>
              <a:ext uri="{FF2B5EF4-FFF2-40B4-BE49-F238E27FC236}">
                <a16:creationId xmlns:a16="http://schemas.microsoft.com/office/drawing/2014/main" id="{8EE76A7A-C5E8-AB37-723D-C3B7F27B0137}"/>
              </a:ext>
            </a:extLst>
          </p:cNvPr>
          <p:cNvSpPr/>
          <p:nvPr/>
        </p:nvSpPr>
        <p:spPr>
          <a:xfrm>
            <a:off x="4542382" y="1795320"/>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3 reps</a:t>
            </a:r>
            <a:endParaRPr lang="en-US" sz="1000" dirty="0"/>
          </a:p>
        </p:txBody>
      </p:sp>
      <p:sp>
        <p:nvSpPr>
          <p:cNvPr id="190" name="Text 31">
            <a:extLst>
              <a:ext uri="{FF2B5EF4-FFF2-40B4-BE49-F238E27FC236}">
                <a16:creationId xmlns:a16="http://schemas.microsoft.com/office/drawing/2014/main" id="{22C89B3C-9707-A79B-A34C-B0C4ADBF082E}"/>
              </a:ext>
            </a:extLst>
          </p:cNvPr>
          <p:cNvSpPr/>
          <p:nvPr/>
        </p:nvSpPr>
        <p:spPr>
          <a:xfrm>
            <a:off x="6133056" y="1599720"/>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4.54 yards</a:t>
            </a:r>
            <a:endParaRPr lang="en-US" sz="1000" dirty="0"/>
          </a:p>
        </p:txBody>
      </p:sp>
      <p:sp>
        <p:nvSpPr>
          <p:cNvPr id="191" name="Text 31">
            <a:extLst>
              <a:ext uri="{FF2B5EF4-FFF2-40B4-BE49-F238E27FC236}">
                <a16:creationId xmlns:a16="http://schemas.microsoft.com/office/drawing/2014/main" id="{57C39263-0E15-24EA-95E4-16E2971B043B}"/>
              </a:ext>
            </a:extLst>
          </p:cNvPr>
          <p:cNvSpPr/>
          <p:nvPr/>
        </p:nvSpPr>
        <p:spPr>
          <a:xfrm>
            <a:off x="8084610" y="1585771"/>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192" name="Text 31">
            <a:extLst>
              <a:ext uri="{FF2B5EF4-FFF2-40B4-BE49-F238E27FC236}">
                <a16:creationId xmlns:a16="http://schemas.microsoft.com/office/drawing/2014/main" id="{5F582A8E-18F0-1E0F-6A5A-F380E263735E}"/>
              </a:ext>
            </a:extLst>
          </p:cNvPr>
          <p:cNvSpPr/>
          <p:nvPr/>
        </p:nvSpPr>
        <p:spPr>
          <a:xfrm>
            <a:off x="9595100" y="1686700"/>
            <a:ext cx="1817656" cy="274032"/>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0 games played (practice squad briefly)</a:t>
            </a:r>
            <a:endParaRPr lang="en-US" sz="1000" dirty="0"/>
          </a:p>
        </p:txBody>
      </p:sp>
      <p:sp>
        <p:nvSpPr>
          <p:cNvPr id="193" name="Text 29">
            <a:extLst>
              <a:ext uri="{FF2B5EF4-FFF2-40B4-BE49-F238E27FC236}">
                <a16:creationId xmlns:a16="http://schemas.microsoft.com/office/drawing/2014/main" id="{50366928-97D2-5BF3-5A3D-28BFAA758D0D}"/>
              </a:ext>
            </a:extLst>
          </p:cNvPr>
          <p:cNvSpPr/>
          <p:nvPr/>
        </p:nvSpPr>
        <p:spPr>
          <a:xfrm>
            <a:off x="4506520" y="2026384"/>
            <a:ext cx="1314450" cy="228600"/>
          </a:xfrm>
          <a:prstGeom prst="rect">
            <a:avLst/>
          </a:prstGeom>
          <a:noFill/>
          <a:ln/>
        </p:spPr>
        <p:txBody>
          <a:bodyPr wrap="square" lIns="0" tIns="0" rIns="0" bIns="0" rtlCol="0" anchor="ctr"/>
          <a:lstStyle/>
          <a:p>
            <a:pPr>
              <a:lnSpc>
                <a:spcPct val="130000"/>
              </a:lnSpc>
            </a:pPr>
            <a:r>
              <a:rPr lang="en-US" sz="1000" b="1" dirty="0" err="1">
                <a:solidFill>
                  <a:srgbClr val="E1E3E6"/>
                </a:solidFill>
                <a:latin typeface="Quattrocento Sans" pitchFamily="34" charset="0"/>
                <a:ea typeface="Quattrocento Sans" pitchFamily="34" charset="-122"/>
                <a:cs typeface="Quattrocento Sans" pitchFamily="34" charset="-120"/>
              </a:rPr>
              <a:t>Jowon</a:t>
            </a:r>
            <a:r>
              <a:rPr lang="en-US" sz="1000" b="1" dirty="0">
                <a:solidFill>
                  <a:srgbClr val="E1E3E6"/>
                </a:solidFill>
                <a:latin typeface="Quattrocento Sans" pitchFamily="34" charset="0"/>
                <a:ea typeface="Quattrocento Sans" pitchFamily="34" charset="-122"/>
                <a:cs typeface="Quattrocento Sans" pitchFamily="34" charset="-120"/>
              </a:rPr>
              <a:t> Briggs</a:t>
            </a:r>
            <a:endParaRPr lang="en-US" sz="1000" dirty="0"/>
          </a:p>
        </p:txBody>
      </p:sp>
      <p:sp>
        <p:nvSpPr>
          <p:cNvPr id="194" name="Text 30">
            <a:extLst>
              <a:ext uri="{FF2B5EF4-FFF2-40B4-BE49-F238E27FC236}">
                <a16:creationId xmlns:a16="http://schemas.microsoft.com/office/drawing/2014/main" id="{989F3B2B-E3E4-C13C-CD1F-9BDDD7878465}"/>
              </a:ext>
            </a:extLst>
          </p:cNvPr>
          <p:cNvSpPr/>
          <p:nvPr/>
        </p:nvSpPr>
        <p:spPr>
          <a:xfrm>
            <a:off x="4530190" y="2228975"/>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195" name="Text 31">
            <a:extLst>
              <a:ext uri="{FF2B5EF4-FFF2-40B4-BE49-F238E27FC236}">
                <a16:creationId xmlns:a16="http://schemas.microsoft.com/office/drawing/2014/main" id="{01CC8C0F-F4E3-627C-8FF1-851289C5268E}"/>
              </a:ext>
            </a:extLst>
          </p:cNvPr>
          <p:cNvSpPr/>
          <p:nvPr/>
        </p:nvSpPr>
        <p:spPr>
          <a:xfrm>
            <a:off x="6120864" y="2033375"/>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4.17 yards</a:t>
            </a:r>
            <a:endParaRPr lang="en-US" sz="1000" dirty="0"/>
          </a:p>
        </p:txBody>
      </p:sp>
      <p:sp>
        <p:nvSpPr>
          <p:cNvPr id="196" name="Text 31">
            <a:extLst>
              <a:ext uri="{FF2B5EF4-FFF2-40B4-BE49-F238E27FC236}">
                <a16:creationId xmlns:a16="http://schemas.microsoft.com/office/drawing/2014/main" id="{98ADD2AD-DA92-6DFD-9254-07675E8E3F84}"/>
              </a:ext>
            </a:extLst>
          </p:cNvPr>
          <p:cNvSpPr/>
          <p:nvPr/>
        </p:nvSpPr>
        <p:spPr>
          <a:xfrm>
            <a:off x="8072418" y="2019426"/>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7</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197" name="Text 31">
            <a:extLst>
              <a:ext uri="{FF2B5EF4-FFF2-40B4-BE49-F238E27FC236}">
                <a16:creationId xmlns:a16="http://schemas.microsoft.com/office/drawing/2014/main" id="{D51BC5B3-D35C-3269-B1E4-42F592ABD2A5}"/>
              </a:ext>
            </a:extLst>
          </p:cNvPr>
          <p:cNvSpPr/>
          <p:nvPr/>
        </p:nvSpPr>
        <p:spPr>
          <a:xfrm>
            <a:off x="9582908" y="2021499"/>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8 games started, 23 games played</a:t>
            </a:r>
            <a:endParaRPr lang="en-US" sz="1000" dirty="0"/>
          </a:p>
        </p:txBody>
      </p:sp>
      <p:sp>
        <p:nvSpPr>
          <p:cNvPr id="198" name="Text 29">
            <a:extLst>
              <a:ext uri="{FF2B5EF4-FFF2-40B4-BE49-F238E27FC236}">
                <a16:creationId xmlns:a16="http://schemas.microsoft.com/office/drawing/2014/main" id="{D4EB0DBD-DB64-82D9-9C44-626ECEB44641}"/>
              </a:ext>
            </a:extLst>
          </p:cNvPr>
          <p:cNvSpPr/>
          <p:nvPr/>
        </p:nvSpPr>
        <p:spPr>
          <a:xfrm>
            <a:off x="4518243" y="2450535"/>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Logan Lee</a:t>
            </a:r>
            <a:endParaRPr lang="en-US" sz="1000" dirty="0"/>
          </a:p>
        </p:txBody>
      </p:sp>
      <p:sp>
        <p:nvSpPr>
          <p:cNvPr id="199" name="Text 30">
            <a:extLst>
              <a:ext uri="{FF2B5EF4-FFF2-40B4-BE49-F238E27FC236}">
                <a16:creationId xmlns:a16="http://schemas.microsoft.com/office/drawing/2014/main" id="{6744F7DE-60B1-6F3C-36BE-130BCAB64DDB}"/>
              </a:ext>
            </a:extLst>
          </p:cNvPr>
          <p:cNvSpPr/>
          <p:nvPr/>
        </p:nvSpPr>
        <p:spPr>
          <a:xfrm>
            <a:off x="4541913" y="2653126"/>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5 reps</a:t>
            </a:r>
            <a:endParaRPr lang="en-US" sz="1000" dirty="0"/>
          </a:p>
        </p:txBody>
      </p:sp>
      <p:sp>
        <p:nvSpPr>
          <p:cNvPr id="200" name="Text 31">
            <a:extLst>
              <a:ext uri="{FF2B5EF4-FFF2-40B4-BE49-F238E27FC236}">
                <a16:creationId xmlns:a16="http://schemas.microsoft.com/office/drawing/2014/main" id="{76A0A66C-AE63-B0DD-E741-9CFA29D50D8A}"/>
              </a:ext>
            </a:extLst>
          </p:cNvPr>
          <p:cNvSpPr/>
          <p:nvPr/>
        </p:nvSpPr>
        <p:spPr>
          <a:xfrm>
            <a:off x="6132587" y="2457526"/>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3.95 yards</a:t>
            </a:r>
            <a:endParaRPr lang="en-US" sz="1000" dirty="0"/>
          </a:p>
        </p:txBody>
      </p:sp>
      <p:sp>
        <p:nvSpPr>
          <p:cNvPr id="201" name="Text 31">
            <a:extLst>
              <a:ext uri="{FF2B5EF4-FFF2-40B4-BE49-F238E27FC236}">
                <a16:creationId xmlns:a16="http://schemas.microsoft.com/office/drawing/2014/main" id="{328C8E19-4E62-9521-9E80-984C155457F4}"/>
              </a:ext>
            </a:extLst>
          </p:cNvPr>
          <p:cNvSpPr/>
          <p:nvPr/>
        </p:nvSpPr>
        <p:spPr>
          <a:xfrm>
            <a:off x="8084141" y="2443577"/>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6</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202" name="Text 31">
            <a:extLst>
              <a:ext uri="{FF2B5EF4-FFF2-40B4-BE49-F238E27FC236}">
                <a16:creationId xmlns:a16="http://schemas.microsoft.com/office/drawing/2014/main" id="{2A042286-B653-9C1E-1685-3C711639B3EF}"/>
              </a:ext>
            </a:extLst>
          </p:cNvPr>
          <p:cNvSpPr/>
          <p:nvPr/>
        </p:nvSpPr>
        <p:spPr>
          <a:xfrm>
            <a:off x="9594630" y="2445650"/>
            <a:ext cx="2006819"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7 games played</a:t>
            </a:r>
            <a:endParaRPr lang="en-US" sz="1000" dirty="0"/>
          </a:p>
        </p:txBody>
      </p:sp>
      <p:sp>
        <p:nvSpPr>
          <p:cNvPr id="203" name="Text 29">
            <a:extLst>
              <a:ext uri="{FF2B5EF4-FFF2-40B4-BE49-F238E27FC236}">
                <a16:creationId xmlns:a16="http://schemas.microsoft.com/office/drawing/2014/main" id="{F15CF40E-A5FC-CC8A-71CA-E1E99073CB13}"/>
              </a:ext>
            </a:extLst>
          </p:cNvPr>
          <p:cNvSpPr/>
          <p:nvPr/>
        </p:nvSpPr>
        <p:spPr>
          <a:xfrm>
            <a:off x="4519859" y="2865788"/>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Khristian Boyd</a:t>
            </a:r>
            <a:endParaRPr lang="en-US" sz="1000" dirty="0"/>
          </a:p>
        </p:txBody>
      </p:sp>
      <p:sp>
        <p:nvSpPr>
          <p:cNvPr id="204" name="Text 30">
            <a:extLst>
              <a:ext uri="{FF2B5EF4-FFF2-40B4-BE49-F238E27FC236}">
                <a16:creationId xmlns:a16="http://schemas.microsoft.com/office/drawing/2014/main" id="{DB7585D3-FB8C-7EF8-1A94-B0A007BA3549}"/>
              </a:ext>
            </a:extLst>
          </p:cNvPr>
          <p:cNvSpPr/>
          <p:nvPr/>
        </p:nvSpPr>
        <p:spPr>
          <a:xfrm>
            <a:off x="4543529" y="3068379"/>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6 reps</a:t>
            </a:r>
            <a:endParaRPr lang="en-US" sz="1000" dirty="0"/>
          </a:p>
        </p:txBody>
      </p:sp>
      <p:sp>
        <p:nvSpPr>
          <p:cNvPr id="205" name="Text 31">
            <a:extLst>
              <a:ext uri="{FF2B5EF4-FFF2-40B4-BE49-F238E27FC236}">
                <a16:creationId xmlns:a16="http://schemas.microsoft.com/office/drawing/2014/main" id="{C7E08F40-2836-31C8-B891-C190D21A3246}"/>
              </a:ext>
            </a:extLst>
          </p:cNvPr>
          <p:cNvSpPr/>
          <p:nvPr/>
        </p:nvSpPr>
        <p:spPr>
          <a:xfrm>
            <a:off x="6134203" y="2872779"/>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3.60 yards</a:t>
            </a:r>
            <a:endParaRPr lang="en-US" sz="1000" dirty="0"/>
          </a:p>
        </p:txBody>
      </p:sp>
      <p:sp>
        <p:nvSpPr>
          <p:cNvPr id="206" name="Text 31">
            <a:extLst>
              <a:ext uri="{FF2B5EF4-FFF2-40B4-BE49-F238E27FC236}">
                <a16:creationId xmlns:a16="http://schemas.microsoft.com/office/drawing/2014/main" id="{4EB58134-27DA-FDF1-C0EF-EE479FF573F6}"/>
              </a:ext>
            </a:extLst>
          </p:cNvPr>
          <p:cNvSpPr/>
          <p:nvPr/>
        </p:nvSpPr>
        <p:spPr>
          <a:xfrm>
            <a:off x="8085757" y="2858830"/>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6</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207" name="Text 31">
            <a:extLst>
              <a:ext uri="{FF2B5EF4-FFF2-40B4-BE49-F238E27FC236}">
                <a16:creationId xmlns:a16="http://schemas.microsoft.com/office/drawing/2014/main" id="{B9F93C34-E083-492C-DC5B-F8056F8ECD2B}"/>
              </a:ext>
            </a:extLst>
          </p:cNvPr>
          <p:cNvSpPr/>
          <p:nvPr/>
        </p:nvSpPr>
        <p:spPr>
          <a:xfrm>
            <a:off x="9596247" y="2860903"/>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10 games played</a:t>
            </a:r>
            <a:endParaRPr lang="en-US" sz="1000" dirty="0"/>
          </a:p>
        </p:txBody>
      </p:sp>
      <p:sp>
        <p:nvSpPr>
          <p:cNvPr id="208" name="Text 29">
            <a:extLst>
              <a:ext uri="{FF2B5EF4-FFF2-40B4-BE49-F238E27FC236}">
                <a16:creationId xmlns:a16="http://schemas.microsoft.com/office/drawing/2014/main" id="{B6A19486-544A-AA48-D886-8B1FDCB81AE3}"/>
              </a:ext>
            </a:extLst>
          </p:cNvPr>
          <p:cNvSpPr/>
          <p:nvPr/>
        </p:nvSpPr>
        <p:spPr>
          <a:xfrm>
            <a:off x="4507667" y="3299443"/>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Jordan Miller</a:t>
            </a:r>
            <a:endParaRPr lang="en-US" sz="1000" dirty="0"/>
          </a:p>
        </p:txBody>
      </p:sp>
      <p:sp>
        <p:nvSpPr>
          <p:cNvPr id="209" name="Text 30">
            <a:extLst>
              <a:ext uri="{FF2B5EF4-FFF2-40B4-BE49-F238E27FC236}">
                <a16:creationId xmlns:a16="http://schemas.microsoft.com/office/drawing/2014/main" id="{7E106D74-0240-B838-EBA4-E9CC178E7881}"/>
              </a:ext>
            </a:extLst>
          </p:cNvPr>
          <p:cNvSpPr/>
          <p:nvPr/>
        </p:nvSpPr>
        <p:spPr>
          <a:xfrm>
            <a:off x="4531337" y="3502034"/>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3 reps</a:t>
            </a:r>
            <a:endParaRPr lang="en-US" sz="1000" dirty="0"/>
          </a:p>
        </p:txBody>
      </p:sp>
      <p:sp>
        <p:nvSpPr>
          <p:cNvPr id="210" name="Text 31">
            <a:extLst>
              <a:ext uri="{FF2B5EF4-FFF2-40B4-BE49-F238E27FC236}">
                <a16:creationId xmlns:a16="http://schemas.microsoft.com/office/drawing/2014/main" id="{2C5D5675-C218-4FFC-80B1-448BF0477886}"/>
              </a:ext>
            </a:extLst>
          </p:cNvPr>
          <p:cNvSpPr/>
          <p:nvPr/>
        </p:nvSpPr>
        <p:spPr>
          <a:xfrm>
            <a:off x="6122011" y="3306434"/>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3.60 yards</a:t>
            </a:r>
            <a:endParaRPr lang="en-US" sz="1000" dirty="0"/>
          </a:p>
        </p:txBody>
      </p:sp>
      <p:sp>
        <p:nvSpPr>
          <p:cNvPr id="211" name="Text 31">
            <a:extLst>
              <a:ext uri="{FF2B5EF4-FFF2-40B4-BE49-F238E27FC236}">
                <a16:creationId xmlns:a16="http://schemas.microsoft.com/office/drawing/2014/main" id="{6642903D-99A1-70D2-543C-3A18E66DA53E}"/>
              </a:ext>
            </a:extLst>
          </p:cNvPr>
          <p:cNvSpPr/>
          <p:nvPr/>
        </p:nvSpPr>
        <p:spPr>
          <a:xfrm>
            <a:off x="8073565" y="3292485"/>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12" name="Text 31">
            <a:extLst>
              <a:ext uri="{FF2B5EF4-FFF2-40B4-BE49-F238E27FC236}">
                <a16:creationId xmlns:a16="http://schemas.microsoft.com/office/drawing/2014/main" id="{AA18BFEE-6396-20FE-F6D7-4A9B2D67139D}"/>
              </a:ext>
            </a:extLst>
          </p:cNvPr>
          <p:cNvSpPr/>
          <p:nvPr/>
        </p:nvSpPr>
        <p:spPr>
          <a:xfrm>
            <a:off x="9584055" y="3294558"/>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0 games played (practice squad)</a:t>
            </a:r>
            <a:endParaRPr lang="en-US" sz="1000" dirty="0"/>
          </a:p>
        </p:txBody>
      </p:sp>
      <p:sp>
        <p:nvSpPr>
          <p:cNvPr id="213" name="Text 29">
            <a:extLst>
              <a:ext uri="{FF2B5EF4-FFF2-40B4-BE49-F238E27FC236}">
                <a16:creationId xmlns:a16="http://schemas.microsoft.com/office/drawing/2014/main" id="{537E7803-7FE5-0BF4-FAEA-212FA1903507}"/>
              </a:ext>
            </a:extLst>
          </p:cNvPr>
          <p:cNvSpPr/>
          <p:nvPr/>
        </p:nvSpPr>
        <p:spPr>
          <a:xfrm>
            <a:off x="4519390" y="3723594"/>
            <a:ext cx="1314450" cy="228600"/>
          </a:xfrm>
          <a:prstGeom prst="rect">
            <a:avLst/>
          </a:prstGeom>
          <a:noFill/>
          <a:ln/>
        </p:spPr>
        <p:txBody>
          <a:bodyPr wrap="square" lIns="0" tIns="0" rIns="0" bIns="0" rtlCol="0" anchor="ctr"/>
          <a:lstStyle/>
          <a:p>
            <a:pPr>
              <a:lnSpc>
                <a:spcPct val="130000"/>
              </a:lnSpc>
            </a:pPr>
            <a:r>
              <a:rPr lang="en-US" sz="1000" b="1" dirty="0" err="1">
                <a:solidFill>
                  <a:srgbClr val="E1E3E6"/>
                </a:solidFill>
                <a:latin typeface="Quattrocento Sans" pitchFamily="34" charset="0"/>
                <a:ea typeface="Quattrocento Sans" pitchFamily="34" charset="-122"/>
                <a:cs typeface="Quattrocento Sans" pitchFamily="34" charset="-120"/>
              </a:rPr>
              <a:t>Jamree</a:t>
            </a:r>
            <a:r>
              <a:rPr lang="en-US" sz="1000" b="1" dirty="0">
                <a:solidFill>
                  <a:srgbClr val="E1E3E6"/>
                </a:solidFill>
                <a:latin typeface="Quattrocento Sans" pitchFamily="34" charset="0"/>
                <a:ea typeface="Quattrocento Sans" pitchFamily="34" charset="-122"/>
                <a:cs typeface="Quattrocento Sans" pitchFamily="34" charset="-120"/>
              </a:rPr>
              <a:t> Kromah</a:t>
            </a:r>
            <a:endParaRPr lang="en-US" sz="1000" dirty="0"/>
          </a:p>
        </p:txBody>
      </p:sp>
      <p:sp>
        <p:nvSpPr>
          <p:cNvPr id="214" name="Text 30">
            <a:extLst>
              <a:ext uri="{FF2B5EF4-FFF2-40B4-BE49-F238E27FC236}">
                <a16:creationId xmlns:a16="http://schemas.microsoft.com/office/drawing/2014/main" id="{E0B756FB-317A-9200-F94B-D9B6071CA0F0}"/>
              </a:ext>
            </a:extLst>
          </p:cNvPr>
          <p:cNvSpPr/>
          <p:nvPr/>
        </p:nvSpPr>
        <p:spPr>
          <a:xfrm>
            <a:off x="4543060" y="3926185"/>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3 reps</a:t>
            </a:r>
            <a:endParaRPr lang="en-US" sz="1000" dirty="0"/>
          </a:p>
        </p:txBody>
      </p:sp>
      <p:sp>
        <p:nvSpPr>
          <p:cNvPr id="215" name="Text 31">
            <a:extLst>
              <a:ext uri="{FF2B5EF4-FFF2-40B4-BE49-F238E27FC236}">
                <a16:creationId xmlns:a16="http://schemas.microsoft.com/office/drawing/2014/main" id="{F56D2DAB-EB3F-22F4-1B25-1F7B4A98B3B4}"/>
              </a:ext>
            </a:extLst>
          </p:cNvPr>
          <p:cNvSpPr/>
          <p:nvPr/>
        </p:nvSpPr>
        <p:spPr>
          <a:xfrm>
            <a:off x="6133734" y="3730585"/>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3.53 yards</a:t>
            </a:r>
            <a:endParaRPr lang="en-US" sz="1000" dirty="0"/>
          </a:p>
        </p:txBody>
      </p:sp>
      <p:sp>
        <p:nvSpPr>
          <p:cNvPr id="216" name="Text 31">
            <a:extLst>
              <a:ext uri="{FF2B5EF4-FFF2-40B4-BE49-F238E27FC236}">
                <a16:creationId xmlns:a16="http://schemas.microsoft.com/office/drawing/2014/main" id="{992D3213-6D5F-8A8B-3E65-3989F7FC97CE}"/>
              </a:ext>
            </a:extLst>
          </p:cNvPr>
          <p:cNvSpPr/>
          <p:nvPr/>
        </p:nvSpPr>
        <p:spPr>
          <a:xfrm>
            <a:off x="8085288" y="3716636"/>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17" name="Text 31">
            <a:extLst>
              <a:ext uri="{FF2B5EF4-FFF2-40B4-BE49-F238E27FC236}">
                <a16:creationId xmlns:a16="http://schemas.microsoft.com/office/drawing/2014/main" id="{2BBA0D22-DDD0-7AE3-2291-D209E94FCE00}"/>
              </a:ext>
            </a:extLst>
          </p:cNvPr>
          <p:cNvSpPr/>
          <p:nvPr/>
        </p:nvSpPr>
        <p:spPr>
          <a:xfrm>
            <a:off x="9595778" y="3718709"/>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0 games played (practice squad)</a:t>
            </a:r>
            <a:endParaRPr lang="en-US" sz="1000" dirty="0"/>
          </a:p>
        </p:txBody>
      </p:sp>
      <p:sp>
        <p:nvSpPr>
          <p:cNvPr id="218" name="Text 29">
            <a:extLst>
              <a:ext uri="{FF2B5EF4-FFF2-40B4-BE49-F238E27FC236}">
                <a16:creationId xmlns:a16="http://schemas.microsoft.com/office/drawing/2014/main" id="{1AFAC98E-A13F-4DFA-6DFD-C892F0427176}"/>
              </a:ext>
            </a:extLst>
          </p:cNvPr>
          <p:cNvSpPr/>
          <p:nvPr/>
        </p:nvSpPr>
        <p:spPr>
          <a:xfrm>
            <a:off x="4533608" y="4144567"/>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Myles Murphy</a:t>
            </a:r>
            <a:endParaRPr lang="en-US" sz="1000" dirty="0"/>
          </a:p>
        </p:txBody>
      </p:sp>
      <p:sp>
        <p:nvSpPr>
          <p:cNvPr id="219" name="Text 30">
            <a:extLst>
              <a:ext uri="{FF2B5EF4-FFF2-40B4-BE49-F238E27FC236}">
                <a16:creationId xmlns:a16="http://schemas.microsoft.com/office/drawing/2014/main" id="{8DB82896-2B75-C4D5-39E0-B0974B9AF553}"/>
              </a:ext>
            </a:extLst>
          </p:cNvPr>
          <p:cNvSpPr/>
          <p:nvPr/>
        </p:nvSpPr>
        <p:spPr>
          <a:xfrm>
            <a:off x="4557278" y="4347158"/>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7 reps</a:t>
            </a:r>
            <a:endParaRPr lang="en-US" sz="1000" dirty="0"/>
          </a:p>
        </p:txBody>
      </p:sp>
      <p:sp>
        <p:nvSpPr>
          <p:cNvPr id="220" name="Text 31">
            <a:extLst>
              <a:ext uri="{FF2B5EF4-FFF2-40B4-BE49-F238E27FC236}">
                <a16:creationId xmlns:a16="http://schemas.microsoft.com/office/drawing/2014/main" id="{F5CF138D-BE86-FAE0-9214-3AA064090510}"/>
              </a:ext>
            </a:extLst>
          </p:cNvPr>
          <p:cNvSpPr/>
          <p:nvPr/>
        </p:nvSpPr>
        <p:spPr>
          <a:xfrm>
            <a:off x="6147952" y="4151558"/>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3.47 yards</a:t>
            </a:r>
            <a:endParaRPr lang="en-US" sz="1000" dirty="0"/>
          </a:p>
        </p:txBody>
      </p:sp>
      <p:sp>
        <p:nvSpPr>
          <p:cNvPr id="221" name="Text 31">
            <a:extLst>
              <a:ext uri="{FF2B5EF4-FFF2-40B4-BE49-F238E27FC236}">
                <a16:creationId xmlns:a16="http://schemas.microsoft.com/office/drawing/2014/main" id="{5B4A3D09-879B-6028-501B-8C2AD9CF1816}"/>
              </a:ext>
            </a:extLst>
          </p:cNvPr>
          <p:cNvSpPr/>
          <p:nvPr/>
        </p:nvSpPr>
        <p:spPr>
          <a:xfrm>
            <a:off x="8099506" y="4137609"/>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22" name="Text 31">
            <a:extLst>
              <a:ext uri="{FF2B5EF4-FFF2-40B4-BE49-F238E27FC236}">
                <a16:creationId xmlns:a16="http://schemas.microsoft.com/office/drawing/2014/main" id="{66587E2B-C22A-5863-423E-00B9D54E7DE1}"/>
              </a:ext>
            </a:extLst>
          </p:cNvPr>
          <p:cNvSpPr/>
          <p:nvPr/>
        </p:nvSpPr>
        <p:spPr>
          <a:xfrm>
            <a:off x="9609996" y="4139682"/>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0 games played (didn’t make team)</a:t>
            </a:r>
            <a:endParaRPr lang="en-US" sz="1000" dirty="0"/>
          </a:p>
        </p:txBody>
      </p:sp>
      <p:sp>
        <p:nvSpPr>
          <p:cNvPr id="223" name="Text 29">
            <a:extLst>
              <a:ext uri="{FF2B5EF4-FFF2-40B4-BE49-F238E27FC236}">
                <a16:creationId xmlns:a16="http://schemas.microsoft.com/office/drawing/2014/main" id="{B785D1EE-514E-49CD-7DDB-751C9F31D601}"/>
              </a:ext>
            </a:extLst>
          </p:cNvPr>
          <p:cNvSpPr/>
          <p:nvPr/>
        </p:nvSpPr>
        <p:spPr>
          <a:xfrm>
            <a:off x="4521416" y="4578222"/>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Evan Anderson</a:t>
            </a:r>
            <a:endParaRPr lang="en-US" sz="1000" dirty="0"/>
          </a:p>
        </p:txBody>
      </p:sp>
      <p:sp>
        <p:nvSpPr>
          <p:cNvPr id="224" name="Text 30">
            <a:extLst>
              <a:ext uri="{FF2B5EF4-FFF2-40B4-BE49-F238E27FC236}">
                <a16:creationId xmlns:a16="http://schemas.microsoft.com/office/drawing/2014/main" id="{117A5087-8ECB-8C7E-C2BE-CD7B977C4A68}"/>
              </a:ext>
            </a:extLst>
          </p:cNvPr>
          <p:cNvSpPr/>
          <p:nvPr/>
        </p:nvSpPr>
        <p:spPr>
          <a:xfrm>
            <a:off x="4545086" y="4780813"/>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225" name="Text 31">
            <a:extLst>
              <a:ext uri="{FF2B5EF4-FFF2-40B4-BE49-F238E27FC236}">
                <a16:creationId xmlns:a16="http://schemas.microsoft.com/office/drawing/2014/main" id="{B04CAD57-4912-65B1-CC8C-C17A6A073320}"/>
              </a:ext>
            </a:extLst>
          </p:cNvPr>
          <p:cNvSpPr/>
          <p:nvPr/>
        </p:nvSpPr>
        <p:spPr>
          <a:xfrm>
            <a:off x="6135760" y="4585213"/>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3.38 yards</a:t>
            </a:r>
            <a:endParaRPr lang="en-US" sz="1000" dirty="0"/>
          </a:p>
        </p:txBody>
      </p:sp>
      <p:sp>
        <p:nvSpPr>
          <p:cNvPr id="226" name="Text 31">
            <a:extLst>
              <a:ext uri="{FF2B5EF4-FFF2-40B4-BE49-F238E27FC236}">
                <a16:creationId xmlns:a16="http://schemas.microsoft.com/office/drawing/2014/main" id="{36EBEE26-8F4D-DD2B-CEA8-AD1D24CE9133}"/>
              </a:ext>
            </a:extLst>
          </p:cNvPr>
          <p:cNvSpPr/>
          <p:nvPr/>
        </p:nvSpPr>
        <p:spPr>
          <a:xfrm>
            <a:off x="8087314" y="4571264"/>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27" name="Text 31">
            <a:extLst>
              <a:ext uri="{FF2B5EF4-FFF2-40B4-BE49-F238E27FC236}">
                <a16:creationId xmlns:a16="http://schemas.microsoft.com/office/drawing/2014/main" id="{6A0333C3-4A41-E480-CCC6-81069B2D9B97}"/>
              </a:ext>
            </a:extLst>
          </p:cNvPr>
          <p:cNvSpPr/>
          <p:nvPr/>
        </p:nvSpPr>
        <p:spPr>
          <a:xfrm>
            <a:off x="9597804" y="4573337"/>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1 game started, 12 games played</a:t>
            </a:r>
            <a:endParaRPr lang="en-US" sz="1000" dirty="0"/>
          </a:p>
        </p:txBody>
      </p:sp>
      <p:sp>
        <p:nvSpPr>
          <p:cNvPr id="228" name="Text 29">
            <a:extLst>
              <a:ext uri="{FF2B5EF4-FFF2-40B4-BE49-F238E27FC236}">
                <a16:creationId xmlns:a16="http://schemas.microsoft.com/office/drawing/2014/main" id="{475651DE-8423-A640-9FE9-0CB6101BCED7}"/>
              </a:ext>
            </a:extLst>
          </p:cNvPr>
          <p:cNvSpPr/>
          <p:nvPr/>
        </p:nvSpPr>
        <p:spPr>
          <a:xfrm>
            <a:off x="4533139" y="5002373"/>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Fabien Lovett</a:t>
            </a:r>
            <a:endParaRPr lang="en-US" sz="1000" dirty="0"/>
          </a:p>
        </p:txBody>
      </p:sp>
      <p:sp>
        <p:nvSpPr>
          <p:cNvPr id="229" name="Text 30">
            <a:extLst>
              <a:ext uri="{FF2B5EF4-FFF2-40B4-BE49-F238E27FC236}">
                <a16:creationId xmlns:a16="http://schemas.microsoft.com/office/drawing/2014/main" id="{A1E01844-B35E-61ED-1A7A-28B72980CFF1}"/>
              </a:ext>
            </a:extLst>
          </p:cNvPr>
          <p:cNvSpPr/>
          <p:nvPr/>
        </p:nvSpPr>
        <p:spPr>
          <a:xfrm>
            <a:off x="4556809" y="5204964"/>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6 reps</a:t>
            </a:r>
            <a:endParaRPr lang="en-US" sz="1000" dirty="0"/>
          </a:p>
        </p:txBody>
      </p:sp>
      <p:sp>
        <p:nvSpPr>
          <p:cNvPr id="230" name="Text 31">
            <a:extLst>
              <a:ext uri="{FF2B5EF4-FFF2-40B4-BE49-F238E27FC236}">
                <a16:creationId xmlns:a16="http://schemas.microsoft.com/office/drawing/2014/main" id="{8167E37E-ABD9-C319-FE38-4B1596BF7D43}"/>
              </a:ext>
            </a:extLst>
          </p:cNvPr>
          <p:cNvSpPr/>
          <p:nvPr/>
        </p:nvSpPr>
        <p:spPr>
          <a:xfrm>
            <a:off x="6147483" y="5009364"/>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3.34 yards</a:t>
            </a:r>
            <a:endParaRPr lang="en-US" sz="1000" dirty="0"/>
          </a:p>
        </p:txBody>
      </p:sp>
      <p:sp>
        <p:nvSpPr>
          <p:cNvPr id="231" name="Text 31">
            <a:extLst>
              <a:ext uri="{FF2B5EF4-FFF2-40B4-BE49-F238E27FC236}">
                <a16:creationId xmlns:a16="http://schemas.microsoft.com/office/drawing/2014/main" id="{0163944F-E0E8-4C7D-4965-3E45DA28AC29}"/>
              </a:ext>
            </a:extLst>
          </p:cNvPr>
          <p:cNvSpPr/>
          <p:nvPr/>
        </p:nvSpPr>
        <p:spPr>
          <a:xfrm>
            <a:off x="8099037" y="4995415"/>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32" name="Text 31">
            <a:extLst>
              <a:ext uri="{FF2B5EF4-FFF2-40B4-BE49-F238E27FC236}">
                <a16:creationId xmlns:a16="http://schemas.microsoft.com/office/drawing/2014/main" id="{FD9342FC-9334-2F51-54DA-F5F5E7FD583D}"/>
              </a:ext>
            </a:extLst>
          </p:cNvPr>
          <p:cNvSpPr/>
          <p:nvPr/>
        </p:nvSpPr>
        <p:spPr>
          <a:xfrm>
            <a:off x="9609527" y="4997488"/>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0 games played (practice squad)</a:t>
            </a:r>
            <a:endParaRPr lang="en-US" sz="1000" dirty="0"/>
          </a:p>
        </p:txBody>
      </p:sp>
      <p:sp>
        <p:nvSpPr>
          <p:cNvPr id="233" name="Text 29">
            <a:extLst>
              <a:ext uri="{FF2B5EF4-FFF2-40B4-BE49-F238E27FC236}">
                <a16:creationId xmlns:a16="http://schemas.microsoft.com/office/drawing/2014/main" id="{37C556CE-2AA3-A28B-5140-0721484ECC60}"/>
              </a:ext>
            </a:extLst>
          </p:cNvPr>
          <p:cNvSpPr/>
          <p:nvPr/>
        </p:nvSpPr>
        <p:spPr>
          <a:xfrm>
            <a:off x="4534755" y="5417626"/>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rPr>
              <a:t>Zion Logue</a:t>
            </a:r>
            <a:endParaRPr lang="en-US" sz="1000" dirty="0"/>
          </a:p>
        </p:txBody>
      </p:sp>
      <p:sp>
        <p:nvSpPr>
          <p:cNvPr id="234" name="Text 30">
            <a:extLst>
              <a:ext uri="{FF2B5EF4-FFF2-40B4-BE49-F238E27FC236}">
                <a16:creationId xmlns:a16="http://schemas.microsoft.com/office/drawing/2014/main" id="{BE49AB5E-C22D-B34B-CBA8-BCF14D085F13}"/>
              </a:ext>
            </a:extLst>
          </p:cNvPr>
          <p:cNvSpPr/>
          <p:nvPr/>
        </p:nvSpPr>
        <p:spPr>
          <a:xfrm>
            <a:off x="4558425" y="5620217"/>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4 reps</a:t>
            </a:r>
            <a:endParaRPr lang="en-US" sz="1000" dirty="0"/>
          </a:p>
        </p:txBody>
      </p:sp>
      <p:sp>
        <p:nvSpPr>
          <p:cNvPr id="235" name="Text 31">
            <a:extLst>
              <a:ext uri="{FF2B5EF4-FFF2-40B4-BE49-F238E27FC236}">
                <a16:creationId xmlns:a16="http://schemas.microsoft.com/office/drawing/2014/main" id="{081695D5-D592-F5D8-392F-50168FFE15BC}"/>
              </a:ext>
            </a:extLst>
          </p:cNvPr>
          <p:cNvSpPr/>
          <p:nvPr/>
        </p:nvSpPr>
        <p:spPr>
          <a:xfrm>
            <a:off x="6149099" y="5424617"/>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3.08 yards</a:t>
            </a:r>
            <a:endParaRPr lang="en-US" sz="1000" dirty="0"/>
          </a:p>
        </p:txBody>
      </p:sp>
      <p:sp>
        <p:nvSpPr>
          <p:cNvPr id="236" name="Text 31">
            <a:extLst>
              <a:ext uri="{FF2B5EF4-FFF2-40B4-BE49-F238E27FC236}">
                <a16:creationId xmlns:a16="http://schemas.microsoft.com/office/drawing/2014/main" id="{5D565F1B-E6B1-6724-F043-B5B10C4AFDE4}"/>
              </a:ext>
            </a:extLst>
          </p:cNvPr>
          <p:cNvSpPr/>
          <p:nvPr/>
        </p:nvSpPr>
        <p:spPr>
          <a:xfrm>
            <a:off x="8100653" y="5410668"/>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6</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237" name="Text 31">
            <a:extLst>
              <a:ext uri="{FF2B5EF4-FFF2-40B4-BE49-F238E27FC236}">
                <a16:creationId xmlns:a16="http://schemas.microsoft.com/office/drawing/2014/main" id="{E56B114E-1C96-B170-8942-9636D1D1FEA5}"/>
              </a:ext>
            </a:extLst>
          </p:cNvPr>
          <p:cNvSpPr/>
          <p:nvPr/>
        </p:nvSpPr>
        <p:spPr>
          <a:xfrm>
            <a:off x="9611143" y="5412741"/>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5 games played</a:t>
            </a:r>
            <a:endParaRPr lang="en-US" sz="1000" dirty="0"/>
          </a:p>
        </p:txBody>
      </p:sp>
      <p:sp>
        <p:nvSpPr>
          <p:cNvPr id="238" name="Text 29">
            <a:extLst>
              <a:ext uri="{FF2B5EF4-FFF2-40B4-BE49-F238E27FC236}">
                <a16:creationId xmlns:a16="http://schemas.microsoft.com/office/drawing/2014/main" id="{85AF8217-A4ED-38DA-6E96-596FF29DA62C}"/>
              </a:ext>
            </a:extLst>
          </p:cNvPr>
          <p:cNvSpPr/>
          <p:nvPr/>
        </p:nvSpPr>
        <p:spPr>
          <a:xfrm>
            <a:off x="4522563" y="5851281"/>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Justin Rodgers</a:t>
            </a:r>
            <a:endParaRPr lang="en-US" sz="1000" dirty="0"/>
          </a:p>
        </p:txBody>
      </p:sp>
      <p:sp>
        <p:nvSpPr>
          <p:cNvPr id="239" name="Text 30">
            <a:extLst>
              <a:ext uri="{FF2B5EF4-FFF2-40B4-BE49-F238E27FC236}">
                <a16:creationId xmlns:a16="http://schemas.microsoft.com/office/drawing/2014/main" id="{8AFFE824-C9C2-3293-6C1F-E001B6A1C872}"/>
              </a:ext>
            </a:extLst>
          </p:cNvPr>
          <p:cNvSpPr/>
          <p:nvPr/>
        </p:nvSpPr>
        <p:spPr>
          <a:xfrm>
            <a:off x="4546233" y="6053872"/>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8 reps</a:t>
            </a:r>
            <a:endParaRPr lang="en-US" sz="1000" dirty="0"/>
          </a:p>
        </p:txBody>
      </p:sp>
      <p:sp>
        <p:nvSpPr>
          <p:cNvPr id="240" name="Text 31">
            <a:extLst>
              <a:ext uri="{FF2B5EF4-FFF2-40B4-BE49-F238E27FC236}">
                <a16:creationId xmlns:a16="http://schemas.microsoft.com/office/drawing/2014/main" id="{E59111F8-B302-853D-654A-F87D8B8568FD}"/>
              </a:ext>
            </a:extLst>
          </p:cNvPr>
          <p:cNvSpPr/>
          <p:nvPr/>
        </p:nvSpPr>
        <p:spPr>
          <a:xfrm>
            <a:off x="6136907" y="5858272"/>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3.06 yards</a:t>
            </a:r>
            <a:endParaRPr lang="en-US" sz="1000" dirty="0"/>
          </a:p>
        </p:txBody>
      </p:sp>
      <p:sp>
        <p:nvSpPr>
          <p:cNvPr id="241" name="Text 31">
            <a:extLst>
              <a:ext uri="{FF2B5EF4-FFF2-40B4-BE49-F238E27FC236}">
                <a16:creationId xmlns:a16="http://schemas.microsoft.com/office/drawing/2014/main" id="{B66ED37F-E315-CFD6-1CF9-163DD4B76B07}"/>
              </a:ext>
            </a:extLst>
          </p:cNvPr>
          <p:cNvSpPr/>
          <p:nvPr/>
        </p:nvSpPr>
        <p:spPr>
          <a:xfrm>
            <a:off x="8088461" y="5844323"/>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7</a:t>
            </a:r>
            <a:r>
              <a:rPr lang="en-US" sz="1000" b="1" baseline="30000" dirty="0">
                <a:solidFill>
                  <a:srgbClr val="D8A03D"/>
                </a:solidFill>
                <a:latin typeface="Quattrocento Sans" pitchFamily="34" charset="0"/>
                <a:ea typeface="Quattrocento Sans" pitchFamily="34" charset="-122"/>
                <a:cs typeface="Quattrocento Sans" pitchFamily="34" charset="-120"/>
              </a:rPr>
              <a:t>th</a:t>
            </a:r>
            <a:r>
              <a:rPr lang="en-US" sz="1000" b="1" dirty="0">
                <a:solidFill>
                  <a:srgbClr val="D8A03D"/>
                </a:solidFill>
                <a:latin typeface="Quattrocento Sans" pitchFamily="34" charset="0"/>
                <a:ea typeface="Quattrocento Sans" pitchFamily="34" charset="-122"/>
                <a:cs typeface="Quattrocento Sans" pitchFamily="34" charset="-120"/>
              </a:rPr>
              <a:t> round</a:t>
            </a:r>
            <a:endParaRPr lang="en-US" sz="1000" dirty="0"/>
          </a:p>
        </p:txBody>
      </p:sp>
      <p:sp>
        <p:nvSpPr>
          <p:cNvPr id="242" name="Text 31">
            <a:extLst>
              <a:ext uri="{FF2B5EF4-FFF2-40B4-BE49-F238E27FC236}">
                <a16:creationId xmlns:a16="http://schemas.microsoft.com/office/drawing/2014/main" id="{C0BBFC7E-5F04-5124-56BE-9E79D493EF22}"/>
              </a:ext>
            </a:extLst>
          </p:cNvPr>
          <p:cNvSpPr/>
          <p:nvPr/>
        </p:nvSpPr>
        <p:spPr>
          <a:xfrm>
            <a:off x="9598951" y="5846396"/>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0 games played (practice squad)</a:t>
            </a:r>
            <a:endParaRPr lang="en-US" sz="1000" dirty="0"/>
          </a:p>
        </p:txBody>
      </p:sp>
      <p:sp>
        <p:nvSpPr>
          <p:cNvPr id="243" name="Text 29">
            <a:extLst>
              <a:ext uri="{FF2B5EF4-FFF2-40B4-BE49-F238E27FC236}">
                <a16:creationId xmlns:a16="http://schemas.microsoft.com/office/drawing/2014/main" id="{E4B91539-BCB5-279C-48CC-DD5A27B3F236}"/>
              </a:ext>
            </a:extLst>
          </p:cNvPr>
          <p:cNvSpPr/>
          <p:nvPr/>
        </p:nvSpPr>
        <p:spPr>
          <a:xfrm>
            <a:off x="4534286" y="6275432"/>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Nathan Pickering</a:t>
            </a:r>
            <a:endParaRPr lang="en-US" sz="1000" dirty="0"/>
          </a:p>
        </p:txBody>
      </p:sp>
      <p:sp>
        <p:nvSpPr>
          <p:cNvPr id="244" name="Text 30">
            <a:extLst>
              <a:ext uri="{FF2B5EF4-FFF2-40B4-BE49-F238E27FC236}">
                <a16:creationId xmlns:a16="http://schemas.microsoft.com/office/drawing/2014/main" id="{A2D16E20-7CA7-2770-F2A4-15C476451950}"/>
              </a:ext>
            </a:extLst>
          </p:cNvPr>
          <p:cNvSpPr/>
          <p:nvPr/>
        </p:nvSpPr>
        <p:spPr>
          <a:xfrm>
            <a:off x="4557956" y="6478023"/>
            <a:ext cx="1304925" cy="190500"/>
          </a:xfrm>
          <a:prstGeom prst="rect">
            <a:avLst/>
          </a:prstGeom>
          <a:noFill/>
          <a:ln/>
        </p:spPr>
        <p:txBody>
          <a:bodyPr wrap="square" lIns="0" tIns="0" rIns="0" bIns="0" rtlCol="0" anchor="ctr"/>
          <a:lstStyle/>
          <a:p>
            <a:pPr>
              <a:lnSpc>
                <a:spcPct val="120000"/>
              </a:lnSpc>
            </a:pPr>
            <a:r>
              <a:rPr lang="en-US" sz="1000" dirty="0">
                <a:solidFill>
                  <a:srgbClr val="E1E3E6">
                    <a:alpha val="60000"/>
                  </a:srgbClr>
                </a:solidFill>
                <a:latin typeface="Quattrocento Sans" pitchFamily="34" charset="0"/>
                <a:ea typeface="Quattrocento Sans" pitchFamily="34" charset="-122"/>
                <a:cs typeface="Quattrocento Sans" pitchFamily="34" charset="-120"/>
              </a:rPr>
              <a:t>6 reps</a:t>
            </a:r>
            <a:endParaRPr lang="en-US" sz="1000" dirty="0"/>
          </a:p>
        </p:txBody>
      </p:sp>
      <p:sp>
        <p:nvSpPr>
          <p:cNvPr id="245" name="Text 31">
            <a:extLst>
              <a:ext uri="{FF2B5EF4-FFF2-40B4-BE49-F238E27FC236}">
                <a16:creationId xmlns:a16="http://schemas.microsoft.com/office/drawing/2014/main" id="{65C91B9C-2DDD-EDE8-0A80-2D0F63D4ED91}"/>
              </a:ext>
            </a:extLst>
          </p:cNvPr>
          <p:cNvSpPr/>
          <p:nvPr/>
        </p:nvSpPr>
        <p:spPr>
          <a:xfrm>
            <a:off x="6148630" y="6282423"/>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2.94 yards</a:t>
            </a:r>
            <a:endParaRPr lang="en-US" sz="1000" dirty="0"/>
          </a:p>
        </p:txBody>
      </p:sp>
      <p:sp>
        <p:nvSpPr>
          <p:cNvPr id="246" name="Text 31">
            <a:extLst>
              <a:ext uri="{FF2B5EF4-FFF2-40B4-BE49-F238E27FC236}">
                <a16:creationId xmlns:a16="http://schemas.microsoft.com/office/drawing/2014/main" id="{4E818869-3943-E599-F9C7-4997CE42A7A2}"/>
              </a:ext>
            </a:extLst>
          </p:cNvPr>
          <p:cNvSpPr/>
          <p:nvPr/>
        </p:nvSpPr>
        <p:spPr>
          <a:xfrm>
            <a:off x="8100184" y="6268474"/>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Undrafted</a:t>
            </a:r>
            <a:endParaRPr lang="en-US" sz="1000" dirty="0"/>
          </a:p>
        </p:txBody>
      </p:sp>
      <p:sp>
        <p:nvSpPr>
          <p:cNvPr id="247" name="Text 31">
            <a:extLst>
              <a:ext uri="{FF2B5EF4-FFF2-40B4-BE49-F238E27FC236}">
                <a16:creationId xmlns:a16="http://schemas.microsoft.com/office/drawing/2014/main" id="{C0D6B904-45C8-C706-A67A-3EFC475C47A7}"/>
              </a:ext>
            </a:extLst>
          </p:cNvPr>
          <p:cNvSpPr/>
          <p:nvPr/>
        </p:nvSpPr>
        <p:spPr>
          <a:xfrm>
            <a:off x="9610674" y="6270547"/>
            <a:ext cx="1651660" cy="304800"/>
          </a:xfrm>
          <a:prstGeom prst="rect">
            <a:avLst/>
          </a:prstGeom>
          <a:noFill/>
          <a:ln/>
        </p:spPr>
        <p:txBody>
          <a:bodyPr wrap="square" lIns="0" tIns="0" rIns="0" bIns="0" rtlCol="0" anchor="ctr"/>
          <a:lstStyle/>
          <a:p>
            <a:pPr>
              <a:lnSpc>
                <a:spcPct val="110000"/>
              </a:lnSpc>
            </a:pPr>
            <a:r>
              <a:rPr lang="en-US" sz="1000" b="1" dirty="0">
                <a:solidFill>
                  <a:srgbClr val="D8A03D"/>
                </a:solidFill>
                <a:latin typeface="Quattrocento Sans" pitchFamily="34" charset="0"/>
                <a:ea typeface="Quattrocento Sans" pitchFamily="34" charset="-122"/>
                <a:cs typeface="Quattrocento Sans" pitchFamily="34" charset="-120"/>
              </a:rPr>
              <a:t>0 games started, 0 games played (waived, injury)</a:t>
            </a:r>
            <a:endParaRPr lang="en-US" sz="1000" dirty="0"/>
          </a:p>
        </p:txBody>
      </p:sp>
    </p:spTree>
    <p:extLst>
      <p:ext uri="{BB962C8B-B14F-4D97-AF65-F5344CB8AC3E}">
        <p14:creationId xmlns:p14="http://schemas.microsoft.com/office/powerpoint/2010/main" val="3630993561"/>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11317"/>
        </a:solidFill>
        <a:effectLst/>
      </p:bgPr>
    </p:bg>
    <p:spTree>
      <p:nvGrpSpPr>
        <p:cNvPr id="1" name=""/>
        <p:cNvGrpSpPr/>
        <p:nvPr/>
      </p:nvGrpSpPr>
      <p:grpSpPr>
        <a:xfrm>
          <a:off x="0" y="0"/>
          <a:ext cx="0" cy="0"/>
          <a:chOff x="0" y="0"/>
          <a:chExt cx="0" cy="0"/>
        </a:xfrm>
      </p:grpSpPr>
      <p:sp>
        <p:nvSpPr>
          <p:cNvPr id="2" name="Text 0"/>
          <p:cNvSpPr/>
          <p:nvPr/>
        </p:nvSpPr>
        <p:spPr>
          <a:xfrm>
            <a:off x="359911" y="359911"/>
            <a:ext cx="11535162" cy="179956"/>
          </a:xfrm>
          <a:prstGeom prst="rect">
            <a:avLst/>
          </a:prstGeom>
          <a:noFill/>
          <a:ln/>
        </p:spPr>
        <p:txBody>
          <a:bodyPr wrap="square" lIns="0" tIns="0" rIns="0" bIns="0" rtlCol="0" anchor="ctr"/>
          <a:lstStyle/>
          <a:p>
            <a:pPr>
              <a:lnSpc>
                <a:spcPct val="120000"/>
              </a:lnSpc>
            </a:pPr>
            <a:r>
              <a:rPr lang="en-US" sz="992" b="1" kern="0" spc="248" dirty="0">
                <a:solidFill>
                  <a:srgbClr val="D8A03D"/>
                </a:solidFill>
                <a:latin typeface="Quattrocento Sans" pitchFamily="34" charset="0"/>
                <a:ea typeface="Quattrocento Sans" pitchFamily="34" charset="-122"/>
                <a:cs typeface="Quattrocento Sans" pitchFamily="34" charset="-120"/>
              </a:rPr>
              <a:t>PERFORMANCE METRICS AND RESULTS</a:t>
            </a:r>
            <a:endParaRPr lang="en-US" sz="1600" dirty="0"/>
          </a:p>
        </p:txBody>
      </p:sp>
      <p:sp>
        <p:nvSpPr>
          <p:cNvPr id="3" name="Text 1"/>
          <p:cNvSpPr/>
          <p:nvPr/>
        </p:nvSpPr>
        <p:spPr>
          <a:xfrm>
            <a:off x="359911" y="611849"/>
            <a:ext cx="11634137" cy="359911"/>
          </a:xfrm>
          <a:prstGeom prst="rect">
            <a:avLst/>
          </a:prstGeom>
          <a:noFill/>
          <a:ln/>
        </p:spPr>
        <p:txBody>
          <a:bodyPr wrap="square" lIns="0" tIns="0" rIns="0" bIns="0" rtlCol="0" anchor="ctr"/>
          <a:lstStyle/>
          <a:p>
            <a:pPr>
              <a:lnSpc>
                <a:spcPct val="90000"/>
              </a:lnSpc>
            </a:pPr>
            <a:r>
              <a:rPr lang="en-US" sz="2551" b="1" dirty="0">
                <a:solidFill>
                  <a:srgbClr val="E1E3E6"/>
                </a:solidFill>
                <a:latin typeface="Liter" pitchFamily="34" charset="0"/>
                <a:ea typeface="Liter" pitchFamily="34" charset="-122"/>
                <a:cs typeface="Liter" pitchFamily="34" charset="-120"/>
              </a:rPr>
              <a:t>Secondary Metrics: Stall and Bull Score</a:t>
            </a:r>
            <a:endParaRPr lang="en-US" sz="1600" dirty="0"/>
          </a:p>
        </p:txBody>
      </p:sp>
      <p:sp>
        <p:nvSpPr>
          <p:cNvPr id="4" name="Shape 2"/>
          <p:cNvSpPr/>
          <p:nvPr/>
        </p:nvSpPr>
        <p:spPr>
          <a:xfrm>
            <a:off x="368909" y="1002171"/>
            <a:ext cx="3288691" cy="5676465"/>
          </a:xfrm>
          <a:custGeom>
            <a:avLst/>
            <a:gdLst/>
            <a:ahLst/>
            <a:cxnLst/>
            <a:rect l="l" t="t" r="r" b="b"/>
            <a:pathLst>
              <a:path w="5623616" h="3833057">
                <a:moveTo>
                  <a:pt x="35992" y="0"/>
                </a:moveTo>
                <a:lnTo>
                  <a:pt x="5587624" y="0"/>
                </a:lnTo>
                <a:cubicBezTo>
                  <a:pt x="5607502" y="0"/>
                  <a:pt x="5623616" y="16114"/>
                  <a:pt x="5623616" y="35992"/>
                </a:cubicBezTo>
                <a:lnTo>
                  <a:pt x="5623616" y="3797064"/>
                </a:lnTo>
                <a:cubicBezTo>
                  <a:pt x="5623616" y="3816942"/>
                  <a:pt x="5607502" y="3833057"/>
                  <a:pt x="5587624" y="3833057"/>
                </a:cubicBezTo>
                <a:lnTo>
                  <a:pt x="35992" y="3833057"/>
                </a:lnTo>
                <a:cubicBezTo>
                  <a:pt x="16114" y="3833057"/>
                  <a:pt x="0" y="3816942"/>
                  <a:pt x="0" y="3797064"/>
                </a:cubicBezTo>
                <a:lnTo>
                  <a:pt x="0" y="35992"/>
                </a:lnTo>
                <a:cubicBezTo>
                  <a:pt x="0" y="16128"/>
                  <a:pt x="16128" y="0"/>
                  <a:pt x="35992" y="0"/>
                </a:cubicBezTo>
                <a:close/>
              </a:path>
            </a:pathLst>
          </a:custGeom>
          <a:solidFill>
            <a:srgbClr val="1E2024"/>
          </a:solidFill>
          <a:ln w="25400">
            <a:solidFill>
              <a:srgbClr val="4C7E9A"/>
            </a:solidFill>
            <a:prstDash val="solid"/>
          </a:ln>
        </p:spPr>
        <p:txBody>
          <a:bodyPr/>
          <a:lstStyle/>
          <a:p>
            <a:endParaRPr lang="en-US"/>
          </a:p>
        </p:txBody>
      </p:sp>
      <p:sp>
        <p:nvSpPr>
          <p:cNvPr id="21" name="Shape 19"/>
          <p:cNvSpPr/>
          <p:nvPr/>
        </p:nvSpPr>
        <p:spPr>
          <a:xfrm>
            <a:off x="4266398" y="1002171"/>
            <a:ext cx="3067626" cy="5676465"/>
          </a:xfrm>
          <a:custGeom>
            <a:avLst/>
            <a:gdLst/>
            <a:ahLst/>
            <a:cxnLst/>
            <a:rect l="l" t="t" r="r" b="b"/>
            <a:pathLst>
              <a:path w="5623616" h="3833057">
                <a:moveTo>
                  <a:pt x="35992" y="0"/>
                </a:moveTo>
                <a:lnTo>
                  <a:pt x="5587624" y="0"/>
                </a:lnTo>
                <a:cubicBezTo>
                  <a:pt x="5607502" y="0"/>
                  <a:pt x="5623616" y="16114"/>
                  <a:pt x="5623616" y="35992"/>
                </a:cubicBezTo>
                <a:lnTo>
                  <a:pt x="5623616" y="3797064"/>
                </a:lnTo>
                <a:cubicBezTo>
                  <a:pt x="5623616" y="3816942"/>
                  <a:pt x="5607502" y="3833057"/>
                  <a:pt x="5587624" y="3833057"/>
                </a:cubicBezTo>
                <a:lnTo>
                  <a:pt x="35992" y="3833057"/>
                </a:lnTo>
                <a:cubicBezTo>
                  <a:pt x="16114" y="3833057"/>
                  <a:pt x="0" y="3816942"/>
                  <a:pt x="0" y="3797064"/>
                </a:cubicBezTo>
                <a:lnTo>
                  <a:pt x="0" y="35992"/>
                </a:lnTo>
                <a:cubicBezTo>
                  <a:pt x="0" y="16128"/>
                  <a:pt x="16128" y="0"/>
                  <a:pt x="35992" y="0"/>
                </a:cubicBezTo>
                <a:close/>
              </a:path>
            </a:pathLst>
          </a:custGeom>
          <a:solidFill>
            <a:srgbClr val="1E2024"/>
          </a:solidFill>
          <a:ln w="25400">
            <a:solidFill>
              <a:srgbClr val="3A506B"/>
            </a:solidFill>
            <a:prstDash val="solid"/>
          </a:ln>
        </p:spPr>
        <p:txBody>
          <a:bodyPr/>
          <a:lstStyle/>
          <a:p>
            <a:endParaRPr lang="en-US"/>
          </a:p>
        </p:txBody>
      </p:sp>
      <p:sp>
        <p:nvSpPr>
          <p:cNvPr id="58" name="Text 4">
            <a:extLst>
              <a:ext uri="{FF2B5EF4-FFF2-40B4-BE49-F238E27FC236}">
                <a16:creationId xmlns:a16="http://schemas.microsoft.com/office/drawing/2014/main" id="{0C067F40-EEA7-35C1-FDCD-782EE3617F50}"/>
              </a:ext>
            </a:extLst>
          </p:cNvPr>
          <p:cNvSpPr/>
          <p:nvPr/>
        </p:nvSpPr>
        <p:spPr>
          <a:xfrm>
            <a:off x="749300" y="1019187"/>
            <a:ext cx="2842654" cy="219273"/>
          </a:xfrm>
          <a:prstGeom prst="rect">
            <a:avLst/>
          </a:prstGeom>
          <a:noFill/>
          <a:ln/>
        </p:spPr>
        <p:txBody>
          <a:bodyPr wrap="square" lIns="0" tIns="0" rIns="0" bIns="0" rtlCol="0" anchor="ctr"/>
          <a:lstStyle/>
          <a:p>
            <a:pPr>
              <a:lnSpc>
                <a:spcPct val="130000"/>
              </a:lnSpc>
            </a:pPr>
            <a:r>
              <a:rPr lang="en-US" sz="1350" b="1" dirty="0">
                <a:solidFill>
                  <a:srgbClr val="4C7E9A"/>
                </a:solidFill>
                <a:latin typeface="Liter" pitchFamily="34" charset="0"/>
                <a:ea typeface="Liter" pitchFamily="34" charset="-122"/>
                <a:cs typeface="Liter" pitchFamily="34" charset="-120"/>
              </a:rPr>
              <a:t>What’s the purpose?</a:t>
            </a:r>
            <a:endParaRPr lang="en-US" sz="1600" dirty="0"/>
          </a:p>
        </p:txBody>
      </p:sp>
      <p:pic>
        <p:nvPicPr>
          <p:cNvPr id="59" name="Graphic 58" descr="Badge Question Mark with solid fill">
            <a:extLst>
              <a:ext uri="{FF2B5EF4-FFF2-40B4-BE49-F238E27FC236}">
                <a16:creationId xmlns:a16="http://schemas.microsoft.com/office/drawing/2014/main" id="{EAFB91B9-AB79-B895-F1D7-77C73810A72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1049" y="1051288"/>
            <a:ext cx="234599" cy="234599"/>
          </a:xfrm>
          <a:prstGeom prst="rect">
            <a:avLst/>
          </a:prstGeom>
        </p:spPr>
      </p:pic>
      <p:sp>
        <p:nvSpPr>
          <p:cNvPr id="60" name="Text 4">
            <a:extLst>
              <a:ext uri="{FF2B5EF4-FFF2-40B4-BE49-F238E27FC236}">
                <a16:creationId xmlns:a16="http://schemas.microsoft.com/office/drawing/2014/main" id="{F13D07C4-85EA-92A0-9875-ABCA1AB3C562}"/>
              </a:ext>
            </a:extLst>
          </p:cNvPr>
          <p:cNvSpPr/>
          <p:nvPr/>
        </p:nvSpPr>
        <p:spPr>
          <a:xfrm>
            <a:off x="462074" y="1326887"/>
            <a:ext cx="3093926" cy="2251272"/>
          </a:xfrm>
          <a:prstGeom prst="rect">
            <a:avLst/>
          </a:prstGeom>
          <a:noFill/>
          <a:ln/>
        </p:spPr>
        <p:txBody>
          <a:bodyPr wrap="square" lIns="0" tIns="0" rIns="0" bIns="0" rtlCol="0" anchor="t"/>
          <a:lstStyle/>
          <a:p>
            <a:pPr marL="171450" indent="-171450">
              <a:buFontTx/>
              <a:buChar char="-"/>
            </a:pPr>
            <a:r>
              <a:rPr lang="en-US" sz="1200" dirty="0">
                <a:solidFill>
                  <a:srgbClr val="DEE0E4"/>
                </a:solidFill>
                <a:latin typeface="Quattrocento Sans" panose="020B0502050000020003" pitchFamily="34" charset="0"/>
              </a:rPr>
              <a:t>DL depth allowed (or gained) can be useful for evaluating interior lineman, but it doesn’t provide context for </a:t>
            </a:r>
            <a:r>
              <a:rPr lang="en-US" sz="1200" i="1" dirty="0">
                <a:solidFill>
                  <a:srgbClr val="DEE0E4"/>
                </a:solidFill>
                <a:latin typeface="Quattrocento Sans" panose="020B0502050000020003" pitchFamily="34" charset="0"/>
              </a:rPr>
              <a:t>how</a:t>
            </a:r>
            <a:r>
              <a:rPr lang="en-US" sz="1200" dirty="0">
                <a:solidFill>
                  <a:srgbClr val="DEE0E4"/>
                </a:solidFill>
                <a:latin typeface="Quattrocento Sans" panose="020B0502050000020003" pitchFamily="34" charset="0"/>
              </a:rPr>
              <a:t> a rep was won or lost. It also isn’t phase aware, meaning that the metric doesn’t take into account what is happening in the rep besides depth penetration.</a:t>
            </a:r>
          </a:p>
          <a:p>
            <a:pPr marL="171450" indent="-171450">
              <a:buFontTx/>
              <a:buChar char="-"/>
            </a:pPr>
            <a:r>
              <a:rPr lang="en-US" sz="1200" dirty="0">
                <a:solidFill>
                  <a:srgbClr val="DEE0E4"/>
                </a:solidFill>
                <a:latin typeface="Quattrocento Sans" panose="020B0502050000020003" pitchFamily="34" charset="0"/>
              </a:rPr>
              <a:t>Stall and bull score attempt to create proxies for evaluating anchor (stall) for offensive linemen and power (bull) for defensive linemen by evaluating what happens </a:t>
            </a:r>
            <a:r>
              <a:rPr lang="en-US" sz="1200" i="1" dirty="0">
                <a:solidFill>
                  <a:srgbClr val="DEE0E4"/>
                </a:solidFill>
                <a:latin typeface="Quattrocento Sans" panose="020B0502050000020003" pitchFamily="34" charset="0"/>
              </a:rPr>
              <a:t>after</a:t>
            </a:r>
            <a:r>
              <a:rPr lang="en-US" sz="1200" dirty="0">
                <a:solidFill>
                  <a:srgbClr val="DEE0E4"/>
                </a:solidFill>
                <a:latin typeface="Quattrocento Sans" panose="020B0502050000020003" pitchFamily="34" charset="0"/>
              </a:rPr>
              <a:t> the contact-onset point</a:t>
            </a:r>
          </a:p>
          <a:p>
            <a:pPr marL="171450" indent="-171450">
              <a:buFontTx/>
              <a:buChar char="-"/>
            </a:pPr>
            <a:endParaRPr lang="en-US" sz="1200" dirty="0">
              <a:solidFill>
                <a:srgbClr val="DEE0E4"/>
              </a:solidFill>
              <a:latin typeface="Quattrocento Sans" panose="020B0502050000020003" pitchFamily="34" charset="0"/>
            </a:endParaRPr>
          </a:p>
        </p:txBody>
      </p:sp>
      <p:sp>
        <p:nvSpPr>
          <p:cNvPr id="61" name="Text 4">
            <a:extLst>
              <a:ext uri="{FF2B5EF4-FFF2-40B4-BE49-F238E27FC236}">
                <a16:creationId xmlns:a16="http://schemas.microsoft.com/office/drawing/2014/main" id="{388A0BC3-5D22-43D0-FCD9-4A2CB8C5E0B3}"/>
              </a:ext>
            </a:extLst>
          </p:cNvPr>
          <p:cNvSpPr/>
          <p:nvPr/>
        </p:nvSpPr>
        <p:spPr>
          <a:xfrm>
            <a:off x="740156" y="3586952"/>
            <a:ext cx="3981450" cy="266700"/>
          </a:xfrm>
          <a:prstGeom prst="rect">
            <a:avLst/>
          </a:prstGeom>
          <a:noFill/>
          <a:ln/>
        </p:spPr>
        <p:txBody>
          <a:bodyPr wrap="square" lIns="0" tIns="0" rIns="0" bIns="0" rtlCol="0" anchor="ctr"/>
          <a:lstStyle/>
          <a:p>
            <a:pPr>
              <a:lnSpc>
                <a:spcPct val="130000"/>
              </a:lnSpc>
            </a:pPr>
            <a:r>
              <a:rPr lang="en-US" sz="1350" b="1" dirty="0">
                <a:solidFill>
                  <a:srgbClr val="4C7E9A"/>
                </a:solidFill>
                <a:latin typeface="Liter" pitchFamily="34" charset="0"/>
                <a:ea typeface="Liter" pitchFamily="34" charset="-122"/>
                <a:cs typeface="Liter" pitchFamily="34" charset="-120"/>
              </a:rPr>
              <a:t>Stall Score</a:t>
            </a:r>
            <a:endParaRPr lang="en-US" sz="1600" dirty="0"/>
          </a:p>
        </p:txBody>
      </p:sp>
      <p:sp>
        <p:nvSpPr>
          <p:cNvPr id="63" name="Shape 3">
            <a:extLst>
              <a:ext uri="{FF2B5EF4-FFF2-40B4-BE49-F238E27FC236}">
                <a16:creationId xmlns:a16="http://schemas.microsoft.com/office/drawing/2014/main" id="{41FB0FC9-37AD-ED72-348F-9D501F68D9C0}"/>
              </a:ext>
            </a:extLst>
          </p:cNvPr>
          <p:cNvSpPr/>
          <p:nvPr/>
        </p:nvSpPr>
        <p:spPr>
          <a:xfrm>
            <a:off x="439430" y="3630617"/>
            <a:ext cx="215947" cy="215947"/>
          </a:xfrm>
          <a:custGeom>
            <a:avLst/>
            <a:gdLst/>
            <a:ahLst/>
            <a:cxnLst/>
            <a:rect l="l" t="t" r="r" b="b"/>
            <a:pathLst>
              <a:path w="215947" h="215947">
                <a:moveTo>
                  <a:pt x="107973" y="0"/>
                </a:moveTo>
                <a:cubicBezTo>
                  <a:pt x="109914" y="0"/>
                  <a:pt x="111854" y="422"/>
                  <a:pt x="113625" y="1223"/>
                </a:cubicBezTo>
                <a:lnTo>
                  <a:pt x="193087" y="34923"/>
                </a:lnTo>
                <a:cubicBezTo>
                  <a:pt x="202366" y="38845"/>
                  <a:pt x="209283" y="47998"/>
                  <a:pt x="209241" y="59048"/>
                </a:cubicBezTo>
                <a:cubicBezTo>
                  <a:pt x="209030" y="100888"/>
                  <a:pt x="191822" y="177439"/>
                  <a:pt x="119150" y="212235"/>
                </a:cubicBezTo>
                <a:cubicBezTo>
                  <a:pt x="112107" y="215609"/>
                  <a:pt x="103924" y="215609"/>
                  <a:pt x="96881" y="212235"/>
                </a:cubicBezTo>
                <a:cubicBezTo>
                  <a:pt x="24167" y="177439"/>
                  <a:pt x="7001" y="100888"/>
                  <a:pt x="6791" y="59048"/>
                </a:cubicBezTo>
                <a:cubicBezTo>
                  <a:pt x="6748" y="47998"/>
                  <a:pt x="13665" y="38845"/>
                  <a:pt x="22944" y="34923"/>
                </a:cubicBezTo>
                <a:lnTo>
                  <a:pt x="102364" y="1223"/>
                </a:lnTo>
                <a:cubicBezTo>
                  <a:pt x="104135" y="422"/>
                  <a:pt x="106033" y="0"/>
                  <a:pt x="107973" y="0"/>
                </a:cubicBezTo>
                <a:close/>
                <a:moveTo>
                  <a:pt x="107973" y="28174"/>
                </a:moveTo>
                <a:lnTo>
                  <a:pt x="107973" y="187646"/>
                </a:lnTo>
                <a:cubicBezTo>
                  <a:pt x="166178" y="159472"/>
                  <a:pt x="181826" y="97050"/>
                  <a:pt x="182205" y="59681"/>
                </a:cubicBezTo>
                <a:lnTo>
                  <a:pt x="107973" y="28216"/>
                </a:lnTo>
                <a:lnTo>
                  <a:pt x="107973" y="28216"/>
                </a:lnTo>
                <a:close/>
              </a:path>
            </a:pathLst>
          </a:custGeom>
          <a:solidFill>
            <a:srgbClr val="4C7E9A"/>
          </a:solidFill>
          <a:ln/>
        </p:spPr>
        <p:txBody>
          <a:bodyPr/>
          <a:lstStyle/>
          <a:p>
            <a:endParaRPr lang="en-US"/>
          </a:p>
        </p:txBody>
      </p:sp>
      <p:sp>
        <p:nvSpPr>
          <p:cNvPr id="65" name="Text 4">
            <a:extLst>
              <a:ext uri="{FF2B5EF4-FFF2-40B4-BE49-F238E27FC236}">
                <a16:creationId xmlns:a16="http://schemas.microsoft.com/office/drawing/2014/main" id="{D3741BBE-328C-3957-DF79-F148003CD3D5}"/>
              </a:ext>
            </a:extLst>
          </p:cNvPr>
          <p:cNvSpPr/>
          <p:nvPr/>
        </p:nvSpPr>
        <p:spPr>
          <a:xfrm>
            <a:off x="547403" y="3853652"/>
            <a:ext cx="3008597" cy="2251272"/>
          </a:xfrm>
          <a:prstGeom prst="rect">
            <a:avLst/>
          </a:prstGeom>
          <a:noFill/>
          <a:ln/>
        </p:spPr>
        <p:txBody>
          <a:bodyPr wrap="square" lIns="0" tIns="0" rIns="0" bIns="0" rtlCol="0" anchor="t"/>
          <a:lstStyle/>
          <a:p>
            <a:pPr marL="171450" indent="-171450">
              <a:buFontTx/>
              <a:buChar char="-"/>
            </a:pPr>
            <a:r>
              <a:rPr lang="en-US" sz="1200" dirty="0">
                <a:solidFill>
                  <a:srgbClr val="DEE0E4"/>
                </a:solidFill>
                <a:latin typeface="Quattrocento Sans" panose="020B0502050000020003" pitchFamily="34" charset="0"/>
              </a:rPr>
              <a:t>Arrest Component: Negative AUC of positive closing velocity (how much closing rate slows after contact)</a:t>
            </a:r>
          </a:p>
          <a:p>
            <a:pPr marL="171450" indent="-171450">
              <a:buFontTx/>
              <a:buChar char="-"/>
            </a:pPr>
            <a:r>
              <a:rPr lang="en-US" sz="1200" dirty="0">
                <a:solidFill>
                  <a:srgbClr val="DEE0E4"/>
                </a:solidFill>
                <a:latin typeface="Quattrocento Sans" panose="020B0502050000020003" pitchFamily="34" charset="0"/>
              </a:rPr>
              <a:t>Displacement Component: Absolute change in axis-projected post-contact position (how much the OL moved)</a:t>
            </a:r>
          </a:p>
          <a:p>
            <a:pPr marL="171450" indent="-171450">
              <a:buFontTx/>
              <a:buChar char="-"/>
            </a:pPr>
            <a:r>
              <a:rPr lang="en-US" sz="1200" dirty="0">
                <a:solidFill>
                  <a:srgbClr val="DEE0E4"/>
                </a:solidFill>
                <a:latin typeface="Quattrocento Sans" panose="020B0502050000020003" pitchFamily="34" charset="0"/>
              </a:rPr>
              <a:t>Stall Score = </a:t>
            </a:r>
            <a:r>
              <a:rPr lang="en-US" sz="1200" dirty="0" err="1">
                <a:solidFill>
                  <a:srgbClr val="DEE0E4"/>
                </a:solidFill>
                <a:latin typeface="Quattrocento Sans" panose="020B0502050000020003" pitchFamily="34" charset="0"/>
              </a:rPr>
              <a:t>z</a:t>
            </a:r>
            <a:r>
              <a:rPr lang="en-US" sz="1200" baseline="-25000" dirty="0" err="1">
                <a:solidFill>
                  <a:srgbClr val="DEE0E4"/>
                </a:solidFill>
                <a:latin typeface="Quattrocento Sans" panose="020B0502050000020003" pitchFamily="34" charset="0"/>
              </a:rPr>
              <a:t>Arrest</a:t>
            </a:r>
            <a:r>
              <a:rPr lang="en-US" sz="1200" dirty="0">
                <a:solidFill>
                  <a:srgbClr val="DEE0E4"/>
                </a:solidFill>
                <a:latin typeface="Quattrocento Sans" panose="020B0502050000020003" pitchFamily="34" charset="0"/>
              </a:rPr>
              <a:t> - </a:t>
            </a:r>
            <a:r>
              <a:rPr lang="en-US" sz="1200" dirty="0" err="1">
                <a:solidFill>
                  <a:srgbClr val="DEE0E4"/>
                </a:solidFill>
                <a:latin typeface="Quattrocento Sans" panose="020B0502050000020003" pitchFamily="34" charset="0"/>
              </a:rPr>
              <a:t>z</a:t>
            </a:r>
            <a:r>
              <a:rPr lang="en-US" sz="1200" baseline="-25000" dirty="0" err="1">
                <a:solidFill>
                  <a:srgbClr val="DEE0E4"/>
                </a:solidFill>
                <a:latin typeface="Quattrocento Sans" panose="020B0502050000020003" pitchFamily="34" charset="0"/>
              </a:rPr>
              <a:t>Displacement</a:t>
            </a:r>
            <a:endParaRPr lang="en-US" sz="1200" baseline="-25000" dirty="0">
              <a:solidFill>
                <a:srgbClr val="DEE0E4"/>
              </a:solidFill>
              <a:latin typeface="Quattrocento Sans" panose="020B0502050000020003" pitchFamily="34" charset="0"/>
            </a:endParaRPr>
          </a:p>
        </p:txBody>
      </p:sp>
      <p:sp>
        <p:nvSpPr>
          <p:cNvPr id="66" name="Text 4">
            <a:extLst>
              <a:ext uri="{FF2B5EF4-FFF2-40B4-BE49-F238E27FC236}">
                <a16:creationId xmlns:a16="http://schemas.microsoft.com/office/drawing/2014/main" id="{FDDF2D88-42BC-D402-7D36-0F9C33528C80}"/>
              </a:ext>
            </a:extLst>
          </p:cNvPr>
          <p:cNvSpPr/>
          <p:nvPr/>
        </p:nvSpPr>
        <p:spPr>
          <a:xfrm>
            <a:off x="742084" y="5172465"/>
            <a:ext cx="3981450" cy="266700"/>
          </a:xfrm>
          <a:prstGeom prst="rect">
            <a:avLst/>
          </a:prstGeom>
          <a:noFill/>
          <a:ln/>
        </p:spPr>
        <p:txBody>
          <a:bodyPr wrap="square" lIns="0" tIns="0" rIns="0" bIns="0" rtlCol="0" anchor="ctr"/>
          <a:lstStyle/>
          <a:p>
            <a:pPr>
              <a:lnSpc>
                <a:spcPct val="130000"/>
              </a:lnSpc>
            </a:pPr>
            <a:r>
              <a:rPr lang="en-US" sz="1350" b="1" dirty="0">
                <a:solidFill>
                  <a:srgbClr val="4C7E9A"/>
                </a:solidFill>
                <a:latin typeface="Liter" pitchFamily="34" charset="0"/>
                <a:ea typeface="Liter" pitchFamily="34" charset="-122"/>
                <a:cs typeface="Liter" pitchFamily="34" charset="-120"/>
              </a:rPr>
              <a:t>Bull Score</a:t>
            </a:r>
            <a:endParaRPr lang="en-US" sz="1600" dirty="0"/>
          </a:p>
        </p:txBody>
      </p:sp>
      <p:sp>
        <p:nvSpPr>
          <p:cNvPr id="68" name="Text 4">
            <a:extLst>
              <a:ext uri="{FF2B5EF4-FFF2-40B4-BE49-F238E27FC236}">
                <a16:creationId xmlns:a16="http://schemas.microsoft.com/office/drawing/2014/main" id="{964EF918-DE3D-23AC-2EF3-F94C92845AC2}"/>
              </a:ext>
            </a:extLst>
          </p:cNvPr>
          <p:cNvSpPr/>
          <p:nvPr/>
        </p:nvSpPr>
        <p:spPr>
          <a:xfrm>
            <a:off x="549331" y="5439165"/>
            <a:ext cx="3042623" cy="2251272"/>
          </a:xfrm>
          <a:prstGeom prst="rect">
            <a:avLst/>
          </a:prstGeom>
          <a:noFill/>
          <a:ln/>
        </p:spPr>
        <p:txBody>
          <a:bodyPr wrap="square" lIns="0" tIns="0" rIns="0" bIns="0" rtlCol="0" anchor="t"/>
          <a:lstStyle/>
          <a:p>
            <a:pPr marL="171450" indent="-171450">
              <a:buFontTx/>
              <a:buChar char="-"/>
            </a:pPr>
            <a:r>
              <a:rPr lang="en-US" sz="1200" dirty="0">
                <a:solidFill>
                  <a:srgbClr val="DEE0E4"/>
                </a:solidFill>
                <a:latin typeface="Quattrocento Sans" panose="020B0502050000020003" pitchFamily="34" charset="0"/>
              </a:rPr>
              <a:t>Arrest Component</a:t>
            </a:r>
          </a:p>
          <a:p>
            <a:pPr marL="171450" indent="-171450">
              <a:buFontTx/>
              <a:buChar char="-"/>
            </a:pPr>
            <a:r>
              <a:rPr lang="en-US" sz="1200" dirty="0">
                <a:solidFill>
                  <a:srgbClr val="DEE0E4"/>
                </a:solidFill>
                <a:latin typeface="Quattrocento Sans" panose="020B0502050000020003" pitchFamily="34" charset="0"/>
              </a:rPr>
              <a:t>Walk-Back Component: Maximum of 0 and negative displacement along rush axis (OL backward movement only)</a:t>
            </a:r>
          </a:p>
          <a:p>
            <a:pPr marL="171450" indent="-171450">
              <a:buFontTx/>
              <a:buChar char="-"/>
            </a:pPr>
            <a:r>
              <a:rPr lang="en-US" sz="1200" dirty="0">
                <a:solidFill>
                  <a:srgbClr val="DEE0E4"/>
                </a:solidFill>
                <a:latin typeface="Quattrocento Sans" panose="020B0502050000020003" pitchFamily="34" charset="0"/>
              </a:rPr>
              <a:t>Bull Score = </a:t>
            </a:r>
            <a:r>
              <a:rPr lang="en-US" sz="1200" dirty="0" err="1">
                <a:solidFill>
                  <a:srgbClr val="DEE0E4"/>
                </a:solidFill>
                <a:latin typeface="Quattrocento Sans" panose="020B0502050000020003" pitchFamily="34" charset="0"/>
              </a:rPr>
              <a:t>z</a:t>
            </a:r>
            <a:r>
              <a:rPr lang="en-US" sz="1200" baseline="-25000" dirty="0" err="1">
                <a:solidFill>
                  <a:srgbClr val="DEE0E4"/>
                </a:solidFill>
                <a:latin typeface="Quattrocento Sans" panose="020B0502050000020003" pitchFamily="34" charset="0"/>
              </a:rPr>
              <a:t>Walk</a:t>
            </a:r>
            <a:r>
              <a:rPr lang="en-US" sz="1200" baseline="-25000" dirty="0">
                <a:solidFill>
                  <a:srgbClr val="DEE0E4"/>
                </a:solidFill>
                <a:latin typeface="Quattrocento Sans" panose="020B0502050000020003" pitchFamily="34" charset="0"/>
              </a:rPr>
              <a:t>-Back</a:t>
            </a:r>
            <a:r>
              <a:rPr lang="en-US" sz="1200" dirty="0">
                <a:solidFill>
                  <a:srgbClr val="DEE0E4"/>
                </a:solidFill>
                <a:latin typeface="Quattrocento Sans" panose="020B0502050000020003" pitchFamily="34" charset="0"/>
              </a:rPr>
              <a:t> + 0.25*</a:t>
            </a:r>
            <a:r>
              <a:rPr lang="en-US" sz="1200" dirty="0" err="1">
                <a:solidFill>
                  <a:srgbClr val="DEE0E4"/>
                </a:solidFill>
                <a:latin typeface="Quattrocento Sans" panose="020B0502050000020003" pitchFamily="34" charset="0"/>
              </a:rPr>
              <a:t>z</a:t>
            </a:r>
            <a:r>
              <a:rPr lang="en-US" sz="1200" baseline="-25000" dirty="0" err="1">
                <a:solidFill>
                  <a:srgbClr val="DEE0E4"/>
                </a:solidFill>
                <a:latin typeface="Quattrocento Sans" panose="020B0502050000020003" pitchFamily="34" charset="0"/>
              </a:rPr>
              <a:t>Arrest</a:t>
            </a:r>
            <a:endParaRPr lang="en-US" sz="1200" baseline="-25000" dirty="0">
              <a:solidFill>
                <a:srgbClr val="DEE0E4"/>
              </a:solidFill>
              <a:latin typeface="Quattrocento Sans" panose="020B0502050000020003" pitchFamily="34" charset="0"/>
            </a:endParaRPr>
          </a:p>
          <a:p>
            <a:r>
              <a:rPr lang="en-US" sz="1200" baseline="-25000" dirty="0">
                <a:solidFill>
                  <a:srgbClr val="DEE0E4"/>
                </a:solidFill>
                <a:latin typeface="Quattrocento Sans" panose="020B0502050000020003" pitchFamily="34" charset="0"/>
              </a:rPr>
              <a:t>(Weighting introduced to keep bull = walk-back given engagement)</a:t>
            </a:r>
          </a:p>
        </p:txBody>
      </p:sp>
      <p:pic>
        <p:nvPicPr>
          <p:cNvPr id="70" name="Graphic 69">
            <a:extLst>
              <a:ext uri="{FF2B5EF4-FFF2-40B4-BE49-F238E27FC236}">
                <a16:creationId xmlns:a16="http://schemas.microsoft.com/office/drawing/2014/main" id="{196EB825-A4B2-BDB0-7196-65F337E9D42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9430" y="5154245"/>
            <a:ext cx="266700" cy="266700"/>
          </a:xfrm>
          <a:prstGeom prst="rect">
            <a:avLst/>
          </a:prstGeom>
        </p:spPr>
      </p:pic>
      <p:sp>
        <p:nvSpPr>
          <p:cNvPr id="71" name="Shape 3">
            <a:extLst>
              <a:ext uri="{FF2B5EF4-FFF2-40B4-BE49-F238E27FC236}">
                <a16:creationId xmlns:a16="http://schemas.microsoft.com/office/drawing/2014/main" id="{BFB622A4-15AE-C395-5EC0-955C73789CD5}"/>
              </a:ext>
            </a:extLst>
          </p:cNvPr>
          <p:cNvSpPr/>
          <p:nvPr/>
        </p:nvSpPr>
        <p:spPr>
          <a:xfrm>
            <a:off x="4398029" y="1063152"/>
            <a:ext cx="215947" cy="215947"/>
          </a:xfrm>
          <a:custGeom>
            <a:avLst/>
            <a:gdLst/>
            <a:ahLst/>
            <a:cxnLst/>
            <a:rect l="l" t="t" r="r" b="b"/>
            <a:pathLst>
              <a:path w="215947" h="215947">
                <a:moveTo>
                  <a:pt x="107973" y="0"/>
                </a:moveTo>
                <a:cubicBezTo>
                  <a:pt x="109914" y="0"/>
                  <a:pt x="111854" y="422"/>
                  <a:pt x="113625" y="1223"/>
                </a:cubicBezTo>
                <a:lnTo>
                  <a:pt x="193087" y="34923"/>
                </a:lnTo>
                <a:cubicBezTo>
                  <a:pt x="202366" y="38845"/>
                  <a:pt x="209283" y="47998"/>
                  <a:pt x="209241" y="59048"/>
                </a:cubicBezTo>
                <a:cubicBezTo>
                  <a:pt x="209030" y="100888"/>
                  <a:pt x="191822" y="177439"/>
                  <a:pt x="119150" y="212235"/>
                </a:cubicBezTo>
                <a:cubicBezTo>
                  <a:pt x="112107" y="215609"/>
                  <a:pt x="103924" y="215609"/>
                  <a:pt x="96881" y="212235"/>
                </a:cubicBezTo>
                <a:cubicBezTo>
                  <a:pt x="24167" y="177439"/>
                  <a:pt x="7001" y="100888"/>
                  <a:pt x="6791" y="59048"/>
                </a:cubicBezTo>
                <a:cubicBezTo>
                  <a:pt x="6748" y="47998"/>
                  <a:pt x="13665" y="38845"/>
                  <a:pt x="22944" y="34923"/>
                </a:cubicBezTo>
                <a:lnTo>
                  <a:pt x="102364" y="1223"/>
                </a:lnTo>
                <a:cubicBezTo>
                  <a:pt x="104135" y="422"/>
                  <a:pt x="106033" y="0"/>
                  <a:pt x="107973" y="0"/>
                </a:cubicBezTo>
                <a:close/>
                <a:moveTo>
                  <a:pt x="107973" y="28174"/>
                </a:moveTo>
                <a:lnTo>
                  <a:pt x="107973" y="187646"/>
                </a:lnTo>
                <a:cubicBezTo>
                  <a:pt x="166178" y="159472"/>
                  <a:pt x="181826" y="97050"/>
                  <a:pt x="182205" y="59681"/>
                </a:cubicBezTo>
                <a:lnTo>
                  <a:pt x="107973" y="28216"/>
                </a:lnTo>
                <a:lnTo>
                  <a:pt x="107973" y="28216"/>
                </a:lnTo>
                <a:close/>
              </a:path>
            </a:pathLst>
          </a:custGeom>
          <a:solidFill>
            <a:srgbClr val="D8A03D"/>
          </a:solidFill>
          <a:ln/>
        </p:spPr>
        <p:txBody>
          <a:bodyPr/>
          <a:lstStyle/>
          <a:p>
            <a:endParaRPr lang="en-US"/>
          </a:p>
        </p:txBody>
      </p:sp>
      <p:sp>
        <p:nvSpPr>
          <p:cNvPr id="72" name="Text 4">
            <a:extLst>
              <a:ext uri="{FF2B5EF4-FFF2-40B4-BE49-F238E27FC236}">
                <a16:creationId xmlns:a16="http://schemas.microsoft.com/office/drawing/2014/main" id="{A84ABBCD-C4A9-BC1A-D189-175B8E588CF6}"/>
              </a:ext>
            </a:extLst>
          </p:cNvPr>
          <p:cNvSpPr/>
          <p:nvPr/>
        </p:nvSpPr>
        <p:spPr>
          <a:xfrm>
            <a:off x="4707899" y="1063152"/>
            <a:ext cx="2842654" cy="219273"/>
          </a:xfrm>
          <a:prstGeom prst="rect">
            <a:avLst/>
          </a:prstGeom>
          <a:noFill/>
          <a:ln/>
        </p:spPr>
        <p:txBody>
          <a:bodyPr wrap="square" lIns="0" tIns="0" rIns="0" bIns="0" rtlCol="0" anchor="ctr"/>
          <a:lstStyle/>
          <a:p>
            <a:pPr>
              <a:lnSpc>
                <a:spcPct val="130000"/>
              </a:lnSpc>
            </a:pPr>
            <a:r>
              <a:rPr lang="en-US" sz="1350" b="1" dirty="0">
                <a:solidFill>
                  <a:srgbClr val="D8A03D"/>
                </a:solidFill>
                <a:latin typeface="Liter" pitchFamily="34" charset="0"/>
                <a:ea typeface="Liter" pitchFamily="34" charset="-122"/>
                <a:cs typeface="Liter" pitchFamily="34" charset="-120"/>
              </a:rPr>
              <a:t>Top 3 OL by Stall Score</a:t>
            </a:r>
            <a:endParaRPr lang="en-US" sz="1600" dirty="0">
              <a:solidFill>
                <a:srgbClr val="D8A03D"/>
              </a:solidFill>
            </a:endParaRPr>
          </a:p>
        </p:txBody>
      </p:sp>
      <p:sp>
        <p:nvSpPr>
          <p:cNvPr id="73" name="Text 27">
            <a:extLst>
              <a:ext uri="{FF2B5EF4-FFF2-40B4-BE49-F238E27FC236}">
                <a16:creationId xmlns:a16="http://schemas.microsoft.com/office/drawing/2014/main" id="{31F3B4CD-5EDD-3107-D5BB-8EC07A0CC6FE}"/>
              </a:ext>
            </a:extLst>
          </p:cNvPr>
          <p:cNvSpPr/>
          <p:nvPr/>
        </p:nvSpPr>
        <p:spPr>
          <a:xfrm>
            <a:off x="4399720" y="1289639"/>
            <a:ext cx="978724" cy="228600"/>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Player</a:t>
            </a:r>
            <a:endParaRPr lang="en-US" sz="1000" dirty="0"/>
          </a:p>
        </p:txBody>
      </p:sp>
      <p:sp>
        <p:nvSpPr>
          <p:cNvPr id="74" name="Text 29">
            <a:extLst>
              <a:ext uri="{FF2B5EF4-FFF2-40B4-BE49-F238E27FC236}">
                <a16:creationId xmlns:a16="http://schemas.microsoft.com/office/drawing/2014/main" id="{5D060D69-A3C4-706E-3833-CD6BC50138BE}"/>
              </a:ext>
            </a:extLst>
          </p:cNvPr>
          <p:cNvSpPr/>
          <p:nvPr/>
        </p:nvSpPr>
        <p:spPr>
          <a:xfrm>
            <a:off x="4399720" y="1454016"/>
            <a:ext cx="1314450" cy="228600"/>
          </a:xfrm>
          <a:prstGeom prst="rect">
            <a:avLst/>
          </a:prstGeom>
          <a:noFill/>
          <a:ln/>
        </p:spPr>
        <p:txBody>
          <a:bodyPr wrap="square" lIns="0" tIns="0" rIns="0" bIns="0" rtlCol="0" anchor="ctr"/>
          <a:lstStyle/>
          <a:p>
            <a:pPr>
              <a:lnSpc>
                <a:spcPct val="130000"/>
              </a:lnSpc>
            </a:pPr>
            <a:r>
              <a:rPr lang="en-US" sz="1000" b="1" dirty="0" err="1">
                <a:solidFill>
                  <a:srgbClr val="E1E3E6"/>
                </a:solidFill>
                <a:latin typeface="Quattrocento Sans" pitchFamily="34" charset="0"/>
                <a:ea typeface="Quattrocento Sans" pitchFamily="34" charset="-122"/>
                <a:cs typeface="Quattrocento Sans" pitchFamily="34" charset="-120"/>
              </a:rPr>
              <a:t>Kaitori</a:t>
            </a:r>
            <a:r>
              <a:rPr lang="en-US" sz="1000" b="1" dirty="0">
                <a:solidFill>
                  <a:srgbClr val="E1E3E6"/>
                </a:solidFill>
                <a:latin typeface="Quattrocento Sans" pitchFamily="34" charset="0"/>
                <a:ea typeface="Quattrocento Sans" pitchFamily="34" charset="-122"/>
                <a:cs typeface="Quattrocento Sans" pitchFamily="34" charset="-120"/>
              </a:rPr>
              <a:t> Leveston</a:t>
            </a:r>
            <a:endParaRPr lang="en-US" sz="1000" dirty="0"/>
          </a:p>
        </p:txBody>
      </p:sp>
      <p:sp>
        <p:nvSpPr>
          <p:cNvPr id="78" name="Text 27">
            <a:extLst>
              <a:ext uri="{FF2B5EF4-FFF2-40B4-BE49-F238E27FC236}">
                <a16:creationId xmlns:a16="http://schemas.microsoft.com/office/drawing/2014/main" id="{6BD39D29-AE4A-4D2F-8F8D-E36F9AE04610}"/>
              </a:ext>
            </a:extLst>
          </p:cNvPr>
          <p:cNvSpPr/>
          <p:nvPr/>
        </p:nvSpPr>
        <p:spPr>
          <a:xfrm>
            <a:off x="6615029" y="1289639"/>
            <a:ext cx="978724" cy="228600"/>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Stall Score</a:t>
            </a:r>
            <a:endParaRPr lang="en-US" sz="1000" dirty="0"/>
          </a:p>
        </p:txBody>
      </p:sp>
      <p:sp>
        <p:nvSpPr>
          <p:cNvPr id="79" name="Text 29">
            <a:extLst>
              <a:ext uri="{FF2B5EF4-FFF2-40B4-BE49-F238E27FC236}">
                <a16:creationId xmlns:a16="http://schemas.microsoft.com/office/drawing/2014/main" id="{F0403F8D-4575-D4A8-2FEC-90204C2BF283}"/>
              </a:ext>
            </a:extLst>
          </p:cNvPr>
          <p:cNvSpPr/>
          <p:nvPr/>
        </p:nvSpPr>
        <p:spPr>
          <a:xfrm>
            <a:off x="6615029" y="1454016"/>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0.94</a:t>
            </a:r>
            <a:endParaRPr lang="en-US" sz="1000" dirty="0"/>
          </a:p>
        </p:txBody>
      </p:sp>
      <p:sp>
        <p:nvSpPr>
          <p:cNvPr id="80" name="Text 29">
            <a:extLst>
              <a:ext uri="{FF2B5EF4-FFF2-40B4-BE49-F238E27FC236}">
                <a16:creationId xmlns:a16="http://schemas.microsoft.com/office/drawing/2014/main" id="{82D68049-0893-FD0B-3BA4-67BCE45E0514}"/>
              </a:ext>
            </a:extLst>
          </p:cNvPr>
          <p:cNvSpPr/>
          <p:nvPr/>
        </p:nvSpPr>
        <p:spPr>
          <a:xfrm>
            <a:off x="4399720" y="1697939"/>
            <a:ext cx="2135942" cy="524095"/>
          </a:xfrm>
          <a:prstGeom prst="rect">
            <a:avLst/>
          </a:prstGeom>
          <a:noFill/>
          <a:ln/>
        </p:spPr>
        <p:txBody>
          <a:bodyPr wrap="square" lIns="0" tIns="0" rIns="0" bIns="0" rtlCol="0" anchor="t"/>
          <a:lstStyle/>
          <a:p>
            <a:r>
              <a:rPr lang="en-US" sz="1000" b="1" i="1" dirty="0">
                <a:solidFill>
                  <a:srgbClr val="DEE0E4"/>
                </a:solidFill>
                <a:latin typeface="Quattrocento Sans" panose="020B0502050000020003" pitchFamily="34" charset="0"/>
                <a:ea typeface="Quattrocento Sans" pitchFamily="34" charset="-122"/>
                <a:cs typeface="Quattrocento Sans" pitchFamily="34" charset="-120"/>
              </a:rPr>
              <a:t>“</a:t>
            </a:r>
            <a:r>
              <a:rPr lang="en-US" sz="1000" i="1" dirty="0">
                <a:solidFill>
                  <a:srgbClr val="DEE0E4"/>
                </a:solidFill>
                <a:latin typeface="Quattrocento Sans" panose="020B0502050000020003" pitchFamily="34" charset="0"/>
              </a:rPr>
              <a:t>Leveston showed an excellent punch in 1-on-1's and was able to sit down to absorb bull rushes.” </a:t>
            </a:r>
          </a:p>
          <a:p>
            <a:r>
              <a:rPr lang="en-US" sz="1000" i="1" dirty="0">
                <a:solidFill>
                  <a:srgbClr val="DEE0E4"/>
                </a:solidFill>
                <a:latin typeface="Quattrocento Sans" panose="020B0502050000020003" pitchFamily="34" charset="0"/>
              </a:rPr>
              <a:t>—</a:t>
            </a:r>
            <a:r>
              <a:rPr lang="en-US" sz="1000" i="1" dirty="0">
                <a:solidFill>
                  <a:srgbClr val="DEE0E4"/>
                </a:solidFill>
                <a:latin typeface="Quattrocento Sans" panose="020B0502050000020003" pitchFamily="34" charset="0"/>
                <a:hlinkClick r:id="rId7">
                  <a:extLst>
                    <a:ext uri="{A12FA001-AC4F-418D-AE19-62706E023703}">
                      <ahyp:hlinkClr xmlns:ahyp="http://schemas.microsoft.com/office/drawing/2018/hyperlinkcolor" val="tx"/>
                    </a:ext>
                  </a:extLst>
                </a:hlinkClick>
              </a:rPr>
              <a:t>Giants.com</a:t>
            </a:r>
            <a:r>
              <a:rPr lang="en-US" sz="1000" i="1" dirty="0">
                <a:solidFill>
                  <a:srgbClr val="DEE0E4"/>
                </a:solidFill>
                <a:latin typeface="Quattrocento Sans" panose="020B0502050000020003" pitchFamily="34" charset="0"/>
              </a:rPr>
              <a:t> (1/29/2024)</a:t>
            </a:r>
          </a:p>
        </p:txBody>
      </p:sp>
      <p:sp>
        <p:nvSpPr>
          <p:cNvPr id="81" name="Text 29">
            <a:extLst>
              <a:ext uri="{FF2B5EF4-FFF2-40B4-BE49-F238E27FC236}">
                <a16:creationId xmlns:a16="http://schemas.microsoft.com/office/drawing/2014/main" id="{59382A14-72F8-C340-2F9C-E75BA0188BD6}"/>
              </a:ext>
            </a:extLst>
          </p:cNvPr>
          <p:cNvSpPr/>
          <p:nvPr/>
        </p:nvSpPr>
        <p:spPr>
          <a:xfrm>
            <a:off x="4399720" y="2334237"/>
            <a:ext cx="1314450" cy="228600"/>
          </a:xfrm>
          <a:prstGeom prst="rect">
            <a:avLst/>
          </a:prstGeom>
          <a:noFill/>
          <a:ln/>
        </p:spPr>
        <p:txBody>
          <a:bodyPr wrap="square" lIns="0" tIns="0" rIns="0" bIns="0" rtlCol="0" anchor="ctr"/>
          <a:lstStyle/>
          <a:p>
            <a:pPr>
              <a:lnSpc>
                <a:spcPct val="130000"/>
              </a:lnSpc>
            </a:pPr>
            <a:r>
              <a:rPr lang="en-US" sz="1000" b="1" dirty="0" err="1">
                <a:solidFill>
                  <a:srgbClr val="E1E3E6"/>
                </a:solidFill>
                <a:latin typeface="Quattrocento Sans" pitchFamily="34" charset="0"/>
                <a:ea typeface="Quattrocento Sans" pitchFamily="34" charset="-122"/>
                <a:cs typeface="Quattrocento Sans" pitchFamily="34" charset="-120"/>
              </a:rPr>
              <a:t>Kaitori</a:t>
            </a:r>
            <a:r>
              <a:rPr lang="en-US" sz="1000" b="1" dirty="0">
                <a:solidFill>
                  <a:srgbClr val="E1E3E6"/>
                </a:solidFill>
                <a:latin typeface="Quattrocento Sans" pitchFamily="34" charset="0"/>
                <a:ea typeface="Quattrocento Sans" pitchFamily="34" charset="-122"/>
                <a:cs typeface="Quattrocento Sans" pitchFamily="34" charset="-120"/>
              </a:rPr>
              <a:t> Leveston</a:t>
            </a:r>
            <a:endParaRPr lang="en-US" sz="1000" dirty="0"/>
          </a:p>
        </p:txBody>
      </p:sp>
      <p:sp>
        <p:nvSpPr>
          <p:cNvPr id="82" name="Text 29">
            <a:extLst>
              <a:ext uri="{FF2B5EF4-FFF2-40B4-BE49-F238E27FC236}">
                <a16:creationId xmlns:a16="http://schemas.microsoft.com/office/drawing/2014/main" id="{AB535A6E-4DD1-A65D-7D33-688EBC44FE2A}"/>
              </a:ext>
            </a:extLst>
          </p:cNvPr>
          <p:cNvSpPr/>
          <p:nvPr/>
        </p:nvSpPr>
        <p:spPr>
          <a:xfrm>
            <a:off x="6615029" y="2334237"/>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0.87</a:t>
            </a:r>
            <a:endParaRPr lang="en-US" sz="1000" dirty="0"/>
          </a:p>
        </p:txBody>
      </p:sp>
      <p:sp>
        <p:nvSpPr>
          <p:cNvPr id="83" name="Text 29">
            <a:extLst>
              <a:ext uri="{FF2B5EF4-FFF2-40B4-BE49-F238E27FC236}">
                <a16:creationId xmlns:a16="http://schemas.microsoft.com/office/drawing/2014/main" id="{F3B02931-DAFD-9EC6-E936-C64584506281}"/>
              </a:ext>
            </a:extLst>
          </p:cNvPr>
          <p:cNvSpPr/>
          <p:nvPr/>
        </p:nvSpPr>
        <p:spPr>
          <a:xfrm>
            <a:off x="4399720" y="2578160"/>
            <a:ext cx="2135942" cy="524095"/>
          </a:xfrm>
          <a:prstGeom prst="rect">
            <a:avLst/>
          </a:prstGeom>
          <a:noFill/>
          <a:ln/>
        </p:spPr>
        <p:txBody>
          <a:bodyPr wrap="square" lIns="0" tIns="0" rIns="0" bIns="0" rtlCol="0" anchor="t"/>
          <a:lstStyle/>
          <a:p>
            <a:r>
              <a:rPr lang="en-US" sz="1000" b="1" i="1" dirty="0">
                <a:solidFill>
                  <a:srgbClr val="DEE0E4"/>
                </a:solidFill>
                <a:latin typeface="Quattrocento Sans" panose="020B0502050000020003" pitchFamily="34" charset="0"/>
                <a:ea typeface="Quattrocento Sans" pitchFamily="34" charset="-122"/>
                <a:cs typeface="Quattrocento Sans" pitchFamily="34" charset="-120"/>
              </a:rPr>
              <a:t>“</a:t>
            </a:r>
            <a:r>
              <a:rPr lang="en-US" sz="1000" i="1" dirty="0">
                <a:solidFill>
                  <a:srgbClr val="DEE0E4"/>
                </a:solidFill>
                <a:latin typeface="Quattrocento Sans" panose="020B0502050000020003" pitchFamily="34" charset="0"/>
              </a:rPr>
              <a:t>McCormick played both guard and center, showing power, good feet, and a nasty streak.” </a:t>
            </a:r>
          </a:p>
          <a:p>
            <a:r>
              <a:rPr lang="en-US" sz="1000" i="1" dirty="0">
                <a:solidFill>
                  <a:srgbClr val="DEE0E4"/>
                </a:solidFill>
                <a:latin typeface="Quattrocento Sans" panose="020B0502050000020003" pitchFamily="34" charset="0"/>
              </a:rPr>
              <a:t>—</a:t>
            </a:r>
            <a:r>
              <a:rPr lang="en-US" sz="1000" i="1" dirty="0">
                <a:solidFill>
                  <a:srgbClr val="DEE0E4"/>
                </a:solidFill>
                <a:latin typeface="Quattrocento Sans" panose="020B0502050000020003" pitchFamily="34" charset="0"/>
                <a:hlinkClick r:id="rId7">
                  <a:extLst>
                    <a:ext uri="{A12FA001-AC4F-418D-AE19-62706E023703}">
                      <ahyp:hlinkClr xmlns:ahyp="http://schemas.microsoft.com/office/drawing/2018/hyperlinkcolor" val="tx"/>
                    </a:ext>
                  </a:extLst>
                </a:hlinkClick>
              </a:rPr>
              <a:t>Giants.com</a:t>
            </a:r>
            <a:r>
              <a:rPr lang="en-US" sz="1000" i="1" dirty="0">
                <a:solidFill>
                  <a:srgbClr val="DEE0E4"/>
                </a:solidFill>
                <a:latin typeface="Quattrocento Sans" panose="020B0502050000020003" pitchFamily="34" charset="0"/>
              </a:rPr>
              <a:t> (1/29/2024)</a:t>
            </a:r>
          </a:p>
        </p:txBody>
      </p:sp>
      <p:sp>
        <p:nvSpPr>
          <p:cNvPr id="84" name="Text 29">
            <a:extLst>
              <a:ext uri="{FF2B5EF4-FFF2-40B4-BE49-F238E27FC236}">
                <a16:creationId xmlns:a16="http://schemas.microsoft.com/office/drawing/2014/main" id="{05D05019-A867-D88C-F812-CC57F0D6F7AC}"/>
              </a:ext>
            </a:extLst>
          </p:cNvPr>
          <p:cNvSpPr/>
          <p:nvPr/>
        </p:nvSpPr>
        <p:spPr>
          <a:xfrm>
            <a:off x="4399720" y="3218251"/>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Christian Mahogany</a:t>
            </a:r>
            <a:endParaRPr lang="en-US" sz="1000" dirty="0"/>
          </a:p>
        </p:txBody>
      </p:sp>
      <p:sp>
        <p:nvSpPr>
          <p:cNvPr id="85" name="Text 29">
            <a:extLst>
              <a:ext uri="{FF2B5EF4-FFF2-40B4-BE49-F238E27FC236}">
                <a16:creationId xmlns:a16="http://schemas.microsoft.com/office/drawing/2014/main" id="{FD325D34-B034-C274-986B-D93494066EBF}"/>
              </a:ext>
            </a:extLst>
          </p:cNvPr>
          <p:cNvSpPr/>
          <p:nvPr/>
        </p:nvSpPr>
        <p:spPr>
          <a:xfrm>
            <a:off x="6615029" y="3187255"/>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0.54</a:t>
            </a:r>
            <a:endParaRPr lang="en-US" sz="1000" dirty="0"/>
          </a:p>
        </p:txBody>
      </p:sp>
      <p:sp>
        <p:nvSpPr>
          <p:cNvPr id="86" name="Text 29">
            <a:extLst>
              <a:ext uri="{FF2B5EF4-FFF2-40B4-BE49-F238E27FC236}">
                <a16:creationId xmlns:a16="http://schemas.microsoft.com/office/drawing/2014/main" id="{7D8AF448-8C8B-AE57-D564-479437376ACA}"/>
              </a:ext>
            </a:extLst>
          </p:cNvPr>
          <p:cNvSpPr/>
          <p:nvPr/>
        </p:nvSpPr>
        <p:spPr>
          <a:xfrm>
            <a:off x="4399720" y="3431178"/>
            <a:ext cx="2135942" cy="524095"/>
          </a:xfrm>
          <a:prstGeom prst="rect">
            <a:avLst/>
          </a:prstGeom>
          <a:noFill/>
          <a:ln/>
        </p:spPr>
        <p:txBody>
          <a:bodyPr wrap="square" lIns="0" tIns="0" rIns="0" bIns="0" rtlCol="0" anchor="t"/>
          <a:lstStyle/>
          <a:p>
            <a:r>
              <a:rPr lang="en-US" sz="1000" b="1" i="1" dirty="0">
                <a:solidFill>
                  <a:srgbClr val="DEE0E4"/>
                </a:solidFill>
                <a:latin typeface="Quattrocento Sans" panose="020B0502050000020003" pitchFamily="34" charset="0"/>
                <a:ea typeface="Quattrocento Sans" pitchFamily="34" charset="-122"/>
                <a:cs typeface="Quattrocento Sans" pitchFamily="34" charset="-120"/>
              </a:rPr>
              <a:t>“</a:t>
            </a:r>
            <a:r>
              <a:rPr lang="en-US" sz="1000" i="1" dirty="0">
                <a:solidFill>
                  <a:srgbClr val="DEE0E4"/>
                </a:solidFill>
                <a:latin typeface="Quattrocento Sans" panose="020B0502050000020003" pitchFamily="34" charset="0"/>
                <a:ea typeface="Quattrocento Sans" pitchFamily="34" charset="-122"/>
                <a:cs typeface="Quattrocento Sans" pitchFamily="34" charset="-120"/>
              </a:rPr>
              <a:t>H</a:t>
            </a:r>
            <a:r>
              <a:rPr lang="en-US" sz="1000" i="1" dirty="0">
                <a:solidFill>
                  <a:srgbClr val="DEE0E4"/>
                </a:solidFill>
                <a:latin typeface="Quattrocento Sans" panose="020B0502050000020003" pitchFamily="34" charset="0"/>
              </a:rPr>
              <a:t>is raw power has people buzzing.” —</a:t>
            </a:r>
            <a:r>
              <a:rPr lang="en-US" sz="1000" i="1" dirty="0">
                <a:solidFill>
                  <a:srgbClr val="DEE0E4"/>
                </a:solidFill>
                <a:latin typeface="Quattrocento Sans" panose="020B0502050000020003" pitchFamily="34" charset="0"/>
                <a:hlinkClick r:id="rId8">
                  <a:extLst>
                    <a:ext uri="{A12FA001-AC4F-418D-AE19-62706E023703}">
                      <ahyp:hlinkClr xmlns:ahyp="http://schemas.microsoft.com/office/drawing/2018/hyperlinkcolor" val="tx"/>
                    </a:ext>
                  </a:extLst>
                </a:hlinkClick>
              </a:rPr>
              <a:t>Windy City Gridiron</a:t>
            </a:r>
            <a:r>
              <a:rPr lang="en-US" sz="1000" i="1" dirty="0">
                <a:solidFill>
                  <a:srgbClr val="DEE0E4"/>
                </a:solidFill>
                <a:latin typeface="Quattrocento Sans" panose="020B0502050000020003" pitchFamily="34" charset="0"/>
              </a:rPr>
              <a:t> (1/27/2024)</a:t>
            </a:r>
          </a:p>
        </p:txBody>
      </p:sp>
      <p:sp>
        <p:nvSpPr>
          <p:cNvPr id="89" name="Text 27">
            <a:extLst>
              <a:ext uri="{FF2B5EF4-FFF2-40B4-BE49-F238E27FC236}">
                <a16:creationId xmlns:a16="http://schemas.microsoft.com/office/drawing/2014/main" id="{9D129E8B-EF0A-2116-0536-A5906862C964}"/>
              </a:ext>
            </a:extLst>
          </p:cNvPr>
          <p:cNvSpPr/>
          <p:nvPr/>
        </p:nvSpPr>
        <p:spPr>
          <a:xfrm>
            <a:off x="4399720" y="4163156"/>
            <a:ext cx="978724" cy="228600"/>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Player</a:t>
            </a:r>
            <a:endParaRPr lang="en-US" sz="1000" dirty="0"/>
          </a:p>
        </p:txBody>
      </p:sp>
      <p:sp>
        <p:nvSpPr>
          <p:cNvPr id="90" name="Text 29">
            <a:extLst>
              <a:ext uri="{FF2B5EF4-FFF2-40B4-BE49-F238E27FC236}">
                <a16:creationId xmlns:a16="http://schemas.microsoft.com/office/drawing/2014/main" id="{FCF81FDF-25C2-0820-2F93-FD638306AADE}"/>
              </a:ext>
            </a:extLst>
          </p:cNvPr>
          <p:cNvSpPr/>
          <p:nvPr/>
        </p:nvSpPr>
        <p:spPr>
          <a:xfrm>
            <a:off x="4399720" y="4327533"/>
            <a:ext cx="1314450" cy="228600"/>
          </a:xfrm>
          <a:prstGeom prst="rect">
            <a:avLst/>
          </a:prstGeom>
          <a:noFill/>
          <a:ln/>
        </p:spPr>
        <p:txBody>
          <a:bodyPr wrap="square" lIns="0" tIns="0" rIns="0" bIns="0" rtlCol="0" anchor="ctr"/>
          <a:lstStyle/>
          <a:p>
            <a:pPr>
              <a:lnSpc>
                <a:spcPct val="130000"/>
              </a:lnSpc>
            </a:pPr>
            <a:r>
              <a:rPr lang="en-US" sz="1000" b="1" dirty="0" err="1">
                <a:solidFill>
                  <a:srgbClr val="E1E3E6"/>
                </a:solidFill>
                <a:latin typeface="Quattrocento Sans" pitchFamily="34" charset="0"/>
                <a:ea typeface="Quattrocento Sans" pitchFamily="34" charset="-122"/>
                <a:cs typeface="Quattrocento Sans" pitchFamily="34" charset="-120"/>
              </a:rPr>
              <a:t>Jowon</a:t>
            </a:r>
            <a:r>
              <a:rPr lang="en-US" sz="1000" b="1" dirty="0">
                <a:solidFill>
                  <a:srgbClr val="E1E3E6"/>
                </a:solidFill>
                <a:latin typeface="Quattrocento Sans" pitchFamily="34" charset="0"/>
                <a:ea typeface="Quattrocento Sans" pitchFamily="34" charset="-122"/>
                <a:cs typeface="Quattrocento Sans" pitchFamily="34" charset="-120"/>
              </a:rPr>
              <a:t> Briggs</a:t>
            </a:r>
            <a:endParaRPr lang="en-US" sz="1000" dirty="0"/>
          </a:p>
        </p:txBody>
      </p:sp>
      <p:sp>
        <p:nvSpPr>
          <p:cNvPr id="91" name="Text 27">
            <a:extLst>
              <a:ext uri="{FF2B5EF4-FFF2-40B4-BE49-F238E27FC236}">
                <a16:creationId xmlns:a16="http://schemas.microsoft.com/office/drawing/2014/main" id="{8584516D-4338-B5DD-B12A-76B275EE7C1B}"/>
              </a:ext>
            </a:extLst>
          </p:cNvPr>
          <p:cNvSpPr/>
          <p:nvPr/>
        </p:nvSpPr>
        <p:spPr>
          <a:xfrm>
            <a:off x="6615029" y="4163156"/>
            <a:ext cx="978724" cy="228600"/>
          </a:xfrm>
          <a:prstGeom prst="rect">
            <a:avLst/>
          </a:prstGeom>
          <a:noFill/>
          <a:ln/>
        </p:spPr>
        <p:txBody>
          <a:bodyPr wrap="square" lIns="0" tIns="0" rIns="0" bIns="0" rtlCol="0" anchor="ctr"/>
          <a:lstStyle/>
          <a:p>
            <a:pPr>
              <a:lnSpc>
                <a:spcPct val="130000"/>
              </a:lnSpc>
            </a:pPr>
            <a:r>
              <a:rPr lang="en-US" sz="1000" b="1" dirty="0">
                <a:solidFill>
                  <a:srgbClr val="4C7E9A"/>
                </a:solidFill>
                <a:latin typeface="Liter" pitchFamily="34" charset="0"/>
                <a:ea typeface="Liter" pitchFamily="34" charset="-122"/>
                <a:cs typeface="Liter" pitchFamily="34" charset="-120"/>
              </a:rPr>
              <a:t>Bull Score</a:t>
            </a:r>
            <a:endParaRPr lang="en-US" sz="1000" dirty="0"/>
          </a:p>
        </p:txBody>
      </p:sp>
      <p:sp>
        <p:nvSpPr>
          <p:cNvPr id="92" name="Text 29">
            <a:extLst>
              <a:ext uri="{FF2B5EF4-FFF2-40B4-BE49-F238E27FC236}">
                <a16:creationId xmlns:a16="http://schemas.microsoft.com/office/drawing/2014/main" id="{1938F6F1-B827-75EB-3974-0CFEC85F0620}"/>
              </a:ext>
            </a:extLst>
          </p:cNvPr>
          <p:cNvSpPr/>
          <p:nvPr/>
        </p:nvSpPr>
        <p:spPr>
          <a:xfrm>
            <a:off x="4399720" y="4571456"/>
            <a:ext cx="2135942" cy="524095"/>
          </a:xfrm>
          <a:prstGeom prst="rect">
            <a:avLst/>
          </a:prstGeom>
          <a:noFill/>
          <a:ln/>
        </p:spPr>
        <p:txBody>
          <a:bodyPr wrap="square" lIns="0" tIns="0" rIns="0" bIns="0" rtlCol="0" anchor="t"/>
          <a:lstStyle/>
          <a:p>
            <a:r>
              <a:rPr lang="en-US" sz="1000" b="1" i="1" dirty="0">
                <a:solidFill>
                  <a:srgbClr val="DEE0E4"/>
                </a:solidFill>
                <a:latin typeface="Quattrocento Sans" panose="020B0502050000020003" pitchFamily="34" charset="0"/>
                <a:ea typeface="Quattrocento Sans" pitchFamily="34" charset="-122"/>
                <a:cs typeface="Quattrocento Sans" pitchFamily="34" charset="-120"/>
              </a:rPr>
              <a:t>“</a:t>
            </a:r>
            <a:r>
              <a:rPr lang="en-US" sz="1000" i="1" dirty="0">
                <a:solidFill>
                  <a:srgbClr val="DEE0E4"/>
                </a:solidFill>
                <a:latin typeface="Quattrocento Sans" panose="020B0502050000020003" pitchFamily="34" charset="0"/>
              </a:rPr>
              <a:t>Briggs won twice in OL/DL 1v1 with his bull rush. Powerful player.”</a:t>
            </a:r>
          </a:p>
          <a:p>
            <a:r>
              <a:rPr lang="en-US" sz="1000" i="1" dirty="0">
                <a:solidFill>
                  <a:srgbClr val="DEE0E4"/>
                </a:solidFill>
                <a:latin typeface="Quattrocento Sans" panose="020B0502050000020003" pitchFamily="34" charset="0"/>
              </a:rPr>
              <a:t> —</a:t>
            </a:r>
            <a:r>
              <a:rPr lang="en-US" sz="1000" i="1" dirty="0">
                <a:solidFill>
                  <a:srgbClr val="DEE0E4"/>
                </a:solidFill>
                <a:latin typeface="Quattrocento Sans" panose="020B0502050000020003" pitchFamily="34" charset="0"/>
                <a:hlinkClick r:id="rId9">
                  <a:extLst>
                    <a:ext uri="{A12FA001-AC4F-418D-AE19-62706E023703}">
                      <ahyp:hlinkClr xmlns:ahyp="http://schemas.microsoft.com/office/drawing/2018/hyperlinkcolor" val="tx"/>
                    </a:ext>
                  </a:extLst>
                </a:hlinkClick>
              </a:rPr>
              <a:t>Steelers Depot</a:t>
            </a:r>
            <a:r>
              <a:rPr lang="en-US" sz="1000" i="1" dirty="0">
                <a:solidFill>
                  <a:srgbClr val="DEE0E4"/>
                </a:solidFill>
                <a:latin typeface="Quattrocento Sans" panose="020B0502050000020003" pitchFamily="34" charset="0"/>
              </a:rPr>
              <a:t> (1/27/2024)</a:t>
            </a:r>
          </a:p>
        </p:txBody>
      </p:sp>
      <p:sp>
        <p:nvSpPr>
          <p:cNvPr id="93" name="Text 29">
            <a:extLst>
              <a:ext uri="{FF2B5EF4-FFF2-40B4-BE49-F238E27FC236}">
                <a16:creationId xmlns:a16="http://schemas.microsoft.com/office/drawing/2014/main" id="{19F4F91C-E18D-CDF4-4C2B-FCA0AE245F55}"/>
              </a:ext>
            </a:extLst>
          </p:cNvPr>
          <p:cNvSpPr/>
          <p:nvPr/>
        </p:nvSpPr>
        <p:spPr>
          <a:xfrm>
            <a:off x="4399720" y="5068272"/>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Tuli </a:t>
            </a:r>
            <a:r>
              <a:rPr lang="en-US" sz="1000" b="1" dirty="0" err="1">
                <a:solidFill>
                  <a:srgbClr val="E1E3E6"/>
                </a:solidFill>
                <a:latin typeface="Quattrocento Sans" pitchFamily="34" charset="0"/>
                <a:ea typeface="Quattrocento Sans" pitchFamily="34" charset="-122"/>
                <a:cs typeface="Quattrocento Sans" pitchFamily="34" charset="-120"/>
              </a:rPr>
              <a:t>Letuligasenoa</a:t>
            </a:r>
            <a:endParaRPr lang="en-US" sz="1000" dirty="0"/>
          </a:p>
        </p:txBody>
      </p:sp>
      <p:sp>
        <p:nvSpPr>
          <p:cNvPr id="94" name="Text 29">
            <a:extLst>
              <a:ext uri="{FF2B5EF4-FFF2-40B4-BE49-F238E27FC236}">
                <a16:creationId xmlns:a16="http://schemas.microsoft.com/office/drawing/2014/main" id="{477B624F-D430-D777-2828-778FA601D24E}"/>
              </a:ext>
            </a:extLst>
          </p:cNvPr>
          <p:cNvSpPr/>
          <p:nvPr/>
        </p:nvSpPr>
        <p:spPr>
          <a:xfrm>
            <a:off x="6615029" y="5068272"/>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0.98</a:t>
            </a:r>
            <a:endParaRPr lang="en-US" sz="1000" dirty="0"/>
          </a:p>
        </p:txBody>
      </p:sp>
      <p:sp>
        <p:nvSpPr>
          <p:cNvPr id="95" name="Text 29">
            <a:extLst>
              <a:ext uri="{FF2B5EF4-FFF2-40B4-BE49-F238E27FC236}">
                <a16:creationId xmlns:a16="http://schemas.microsoft.com/office/drawing/2014/main" id="{95A270FA-E166-6311-B7DE-8745C343873A}"/>
              </a:ext>
            </a:extLst>
          </p:cNvPr>
          <p:cNvSpPr/>
          <p:nvPr/>
        </p:nvSpPr>
        <p:spPr>
          <a:xfrm>
            <a:off x="4399720" y="5312195"/>
            <a:ext cx="2135942" cy="524095"/>
          </a:xfrm>
          <a:prstGeom prst="rect">
            <a:avLst/>
          </a:prstGeom>
          <a:noFill/>
          <a:ln/>
        </p:spPr>
        <p:txBody>
          <a:bodyPr wrap="square" lIns="0" tIns="0" rIns="0" bIns="0" rtlCol="0" anchor="t"/>
          <a:lstStyle/>
          <a:p>
            <a:r>
              <a:rPr lang="en-US" sz="1000" b="1" i="1" dirty="0">
                <a:solidFill>
                  <a:srgbClr val="DEE0E4"/>
                </a:solidFill>
                <a:latin typeface="Quattrocento Sans" panose="020B0502050000020003" pitchFamily="34" charset="0"/>
                <a:ea typeface="Quattrocento Sans" pitchFamily="34" charset="-122"/>
                <a:cs typeface="Quattrocento Sans" pitchFamily="34" charset="-120"/>
              </a:rPr>
              <a:t>“</a:t>
            </a:r>
            <a:r>
              <a:rPr lang="en-US" sz="1000" i="1" dirty="0" err="1">
                <a:solidFill>
                  <a:srgbClr val="DEE0E4"/>
                </a:solidFill>
                <a:latin typeface="Quattrocento Sans" panose="020B0502050000020003" pitchFamily="34" charset="0"/>
              </a:rPr>
              <a:t>Letuligasenoa</a:t>
            </a:r>
            <a:r>
              <a:rPr lang="en-US" sz="1000" i="1" dirty="0">
                <a:solidFill>
                  <a:srgbClr val="DEE0E4"/>
                </a:solidFill>
                <a:latin typeface="Quattrocento Sans" panose="020B0502050000020003" pitchFamily="34" charset="0"/>
              </a:rPr>
              <a:t> showed off an impressive bull rush.”</a:t>
            </a:r>
          </a:p>
          <a:p>
            <a:r>
              <a:rPr lang="en-US" sz="1000" i="1" dirty="0">
                <a:solidFill>
                  <a:srgbClr val="DEE0E4"/>
                </a:solidFill>
                <a:latin typeface="Quattrocento Sans" panose="020B0502050000020003" pitchFamily="34" charset="0"/>
              </a:rPr>
              <a:t>—</a:t>
            </a:r>
            <a:r>
              <a:rPr lang="en-US" sz="1000" i="1" dirty="0">
                <a:solidFill>
                  <a:srgbClr val="DEE0E4"/>
                </a:solidFill>
                <a:latin typeface="Quattrocento Sans" panose="020B0502050000020003" pitchFamily="34" charset="0"/>
                <a:hlinkClick r:id="rId9">
                  <a:extLst>
                    <a:ext uri="{A12FA001-AC4F-418D-AE19-62706E023703}">
                      <ahyp:hlinkClr xmlns:ahyp="http://schemas.microsoft.com/office/drawing/2018/hyperlinkcolor" val="tx"/>
                    </a:ext>
                  </a:extLst>
                </a:hlinkClick>
              </a:rPr>
              <a:t>Steelers Depot</a:t>
            </a:r>
            <a:r>
              <a:rPr lang="en-US" sz="1000" i="1" dirty="0">
                <a:solidFill>
                  <a:srgbClr val="DEE0E4"/>
                </a:solidFill>
                <a:latin typeface="Quattrocento Sans" panose="020B0502050000020003" pitchFamily="34" charset="0"/>
              </a:rPr>
              <a:t> (1/27/2024)</a:t>
            </a:r>
          </a:p>
        </p:txBody>
      </p:sp>
      <p:sp>
        <p:nvSpPr>
          <p:cNvPr id="96" name="Text 29">
            <a:extLst>
              <a:ext uri="{FF2B5EF4-FFF2-40B4-BE49-F238E27FC236}">
                <a16:creationId xmlns:a16="http://schemas.microsoft.com/office/drawing/2014/main" id="{8FE5C645-1EAB-A07B-1162-825CEFEBD278}"/>
              </a:ext>
            </a:extLst>
          </p:cNvPr>
          <p:cNvSpPr/>
          <p:nvPr/>
        </p:nvSpPr>
        <p:spPr>
          <a:xfrm>
            <a:off x="4399720" y="5812804"/>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Myles Murphy</a:t>
            </a:r>
            <a:endParaRPr lang="en-US" sz="1000" dirty="0"/>
          </a:p>
        </p:txBody>
      </p:sp>
      <p:sp>
        <p:nvSpPr>
          <p:cNvPr id="97" name="Text 29">
            <a:extLst>
              <a:ext uri="{FF2B5EF4-FFF2-40B4-BE49-F238E27FC236}">
                <a16:creationId xmlns:a16="http://schemas.microsoft.com/office/drawing/2014/main" id="{225B8649-1B5D-085F-D0EB-18E2EE0703F5}"/>
              </a:ext>
            </a:extLst>
          </p:cNvPr>
          <p:cNvSpPr/>
          <p:nvPr/>
        </p:nvSpPr>
        <p:spPr>
          <a:xfrm>
            <a:off x="6615029" y="5812804"/>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0.97</a:t>
            </a:r>
            <a:endParaRPr lang="en-US" sz="1000" dirty="0"/>
          </a:p>
        </p:txBody>
      </p:sp>
      <p:sp>
        <p:nvSpPr>
          <p:cNvPr id="98" name="Text 29">
            <a:extLst>
              <a:ext uri="{FF2B5EF4-FFF2-40B4-BE49-F238E27FC236}">
                <a16:creationId xmlns:a16="http://schemas.microsoft.com/office/drawing/2014/main" id="{86A84876-0B4E-B347-D463-34517F2CCCBA}"/>
              </a:ext>
            </a:extLst>
          </p:cNvPr>
          <p:cNvSpPr/>
          <p:nvPr/>
        </p:nvSpPr>
        <p:spPr>
          <a:xfrm>
            <a:off x="4399720" y="6056727"/>
            <a:ext cx="2135942" cy="524095"/>
          </a:xfrm>
          <a:prstGeom prst="rect">
            <a:avLst/>
          </a:prstGeom>
          <a:noFill/>
          <a:ln/>
        </p:spPr>
        <p:txBody>
          <a:bodyPr wrap="square" lIns="0" tIns="0" rIns="0" bIns="0" rtlCol="0" anchor="t"/>
          <a:lstStyle/>
          <a:p>
            <a:r>
              <a:rPr lang="en-US" sz="1000" b="1" i="1" dirty="0">
                <a:solidFill>
                  <a:srgbClr val="DEE0E4"/>
                </a:solidFill>
                <a:latin typeface="Quattrocento Sans" panose="020B0502050000020003" pitchFamily="34" charset="0"/>
                <a:ea typeface="Quattrocento Sans" pitchFamily="34" charset="-122"/>
                <a:cs typeface="Quattrocento Sans" pitchFamily="34" charset="-120"/>
              </a:rPr>
              <a:t>“</a:t>
            </a:r>
            <a:r>
              <a:rPr lang="en-US" sz="1000" dirty="0">
                <a:solidFill>
                  <a:srgbClr val="DEE0E4"/>
                </a:solidFill>
                <a:latin typeface="Quattrocento Sans" panose="020B0502050000020003" pitchFamily="34" charset="0"/>
              </a:rPr>
              <a:t>Murphy … played like a bowling ball with spikes during 1-on-1 matchups.” </a:t>
            </a:r>
            <a:r>
              <a:rPr lang="en-US" sz="1000" i="1" dirty="0">
                <a:solidFill>
                  <a:srgbClr val="DEE0E4"/>
                </a:solidFill>
                <a:latin typeface="Quattrocento Sans" panose="020B0502050000020003" pitchFamily="34" charset="0"/>
              </a:rPr>
              <a:t>—</a:t>
            </a:r>
            <a:r>
              <a:rPr lang="en-US" sz="1000" i="1" dirty="0">
                <a:solidFill>
                  <a:srgbClr val="DEE0E4"/>
                </a:solidFill>
                <a:latin typeface="Quattrocento Sans" panose="020B0502050000020003" pitchFamily="34" charset="0"/>
                <a:hlinkClick r:id="rId10">
                  <a:extLst>
                    <a:ext uri="{A12FA001-AC4F-418D-AE19-62706E023703}">
                      <ahyp:hlinkClr xmlns:ahyp="http://schemas.microsoft.com/office/drawing/2018/hyperlinkcolor" val="tx"/>
                    </a:ext>
                  </a:extLst>
                </a:hlinkClick>
              </a:rPr>
              <a:t>All Access Football</a:t>
            </a:r>
            <a:r>
              <a:rPr lang="en-US" sz="1000" i="1" dirty="0">
                <a:solidFill>
                  <a:srgbClr val="DEE0E4"/>
                </a:solidFill>
                <a:latin typeface="Quattrocento Sans" panose="020B0502050000020003" pitchFamily="34" charset="0"/>
              </a:rPr>
              <a:t> (2/7/2024)</a:t>
            </a:r>
          </a:p>
        </p:txBody>
      </p:sp>
      <p:sp>
        <p:nvSpPr>
          <p:cNvPr id="99" name="Text 29">
            <a:extLst>
              <a:ext uri="{FF2B5EF4-FFF2-40B4-BE49-F238E27FC236}">
                <a16:creationId xmlns:a16="http://schemas.microsoft.com/office/drawing/2014/main" id="{549CAA96-753F-8B6D-82ED-FDFF9FEB96E4}"/>
              </a:ext>
            </a:extLst>
          </p:cNvPr>
          <p:cNvSpPr/>
          <p:nvPr/>
        </p:nvSpPr>
        <p:spPr>
          <a:xfrm>
            <a:off x="6607283" y="4343142"/>
            <a:ext cx="1314450" cy="228600"/>
          </a:xfrm>
          <a:prstGeom prst="rect">
            <a:avLst/>
          </a:prstGeom>
          <a:noFill/>
          <a:ln/>
        </p:spPr>
        <p:txBody>
          <a:bodyPr wrap="square" lIns="0" tIns="0" rIns="0" bIns="0" rtlCol="0" anchor="ctr"/>
          <a:lstStyle/>
          <a:p>
            <a:pPr>
              <a:lnSpc>
                <a:spcPct val="130000"/>
              </a:lnSpc>
            </a:pPr>
            <a:r>
              <a:rPr lang="en-US" sz="1000" b="1" dirty="0">
                <a:solidFill>
                  <a:srgbClr val="E1E3E6"/>
                </a:solidFill>
                <a:latin typeface="Quattrocento Sans" pitchFamily="34" charset="0"/>
                <a:ea typeface="Quattrocento Sans" pitchFamily="34" charset="-122"/>
                <a:cs typeface="Quattrocento Sans" pitchFamily="34" charset="-120"/>
              </a:rPr>
              <a:t>1.23</a:t>
            </a:r>
            <a:endParaRPr lang="en-US" sz="1000" dirty="0"/>
          </a:p>
        </p:txBody>
      </p:sp>
      <p:sp>
        <p:nvSpPr>
          <p:cNvPr id="101" name="Text 4">
            <a:extLst>
              <a:ext uri="{FF2B5EF4-FFF2-40B4-BE49-F238E27FC236}">
                <a16:creationId xmlns:a16="http://schemas.microsoft.com/office/drawing/2014/main" id="{862EE689-AFFC-6937-5348-4C4DBD61E5C3}"/>
              </a:ext>
            </a:extLst>
          </p:cNvPr>
          <p:cNvSpPr/>
          <p:nvPr/>
        </p:nvSpPr>
        <p:spPr>
          <a:xfrm>
            <a:off x="4707899" y="3905426"/>
            <a:ext cx="2842654" cy="219273"/>
          </a:xfrm>
          <a:prstGeom prst="rect">
            <a:avLst/>
          </a:prstGeom>
          <a:noFill/>
          <a:ln/>
        </p:spPr>
        <p:txBody>
          <a:bodyPr wrap="square" lIns="0" tIns="0" rIns="0" bIns="0" rtlCol="0" anchor="ctr"/>
          <a:lstStyle/>
          <a:p>
            <a:pPr>
              <a:lnSpc>
                <a:spcPct val="130000"/>
              </a:lnSpc>
            </a:pPr>
            <a:r>
              <a:rPr lang="en-US" sz="1350" b="1" dirty="0">
                <a:solidFill>
                  <a:srgbClr val="D8A03D"/>
                </a:solidFill>
                <a:latin typeface="Liter" pitchFamily="34" charset="0"/>
                <a:ea typeface="Liter" pitchFamily="34" charset="-122"/>
                <a:cs typeface="Liter" pitchFamily="34" charset="-120"/>
              </a:rPr>
              <a:t>Top 3 DL by Bull Score</a:t>
            </a:r>
            <a:endParaRPr lang="en-US" sz="1600" dirty="0">
              <a:solidFill>
                <a:srgbClr val="D8A03D"/>
              </a:solidFill>
            </a:endParaRPr>
          </a:p>
        </p:txBody>
      </p:sp>
      <p:pic>
        <p:nvPicPr>
          <p:cNvPr id="102" name="Graphic 101">
            <a:extLst>
              <a:ext uri="{FF2B5EF4-FFF2-40B4-BE49-F238E27FC236}">
                <a16:creationId xmlns:a16="http://schemas.microsoft.com/office/drawing/2014/main" id="{DA8694EB-C00E-0A67-07E5-EC7C38F18B1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372652" y="3881251"/>
            <a:ext cx="266700" cy="266700"/>
          </a:xfrm>
          <a:prstGeom prst="rect">
            <a:avLst/>
          </a:prstGeom>
        </p:spPr>
      </p:pic>
      <p:pic>
        <p:nvPicPr>
          <p:cNvPr id="112" name="Picture 111" descr="A screenshot of a video game&#10;&#10;AI-generated content may be incorrect.">
            <a:extLst>
              <a:ext uri="{FF2B5EF4-FFF2-40B4-BE49-F238E27FC236}">
                <a16:creationId xmlns:a16="http://schemas.microsoft.com/office/drawing/2014/main" id="{6DC51783-3686-3E9C-EA04-9F34A845A16B}"/>
              </a:ext>
            </a:extLst>
          </p:cNvPr>
          <p:cNvPicPr>
            <a:picLocks noChangeAspect="1"/>
          </p:cNvPicPr>
          <p:nvPr/>
        </p:nvPicPr>
        <p:blipFill>
          <a:blip r:embed="rId13"/>
          <a:stretch>
            <a:fillRect/>
          </a:stretch>
        </p:blipFill>
        <p:spPr>
          <a:xfrm>
            <a:off x="7689630" y="1196699"/>
            <a:ext cx="3644900" cy="2514600"/>
          </a:xfrm>
          <a:prstGeom prst="rect">
            <a:avLst/>
          </a:prstGeom>
        </p:spPr>
      </p:pic>
      <p:pic>
        <p:nvPicPr>
          <p:cNvPr id="114" name="Picture 113" descr="A screenshot of a video game&#10;&#10;AI-generated content may be incorrect.">
            <a:extLst>
              <a:ext uri="{FF2B5EF4-FFF2-40B4-BE49-F238E27FC236}">
                <a16:creationId xmlns:a16="http://schemas.microsoft.com/office/drawing/2014/main" id="{419EC7BD-C7B2-58AF-4EB1-8024218F5FEB}"/>
              </a:ext>
            </a:extLst>
          </p:cNvPr>
          <p:cNvPicPr>
            <a:picLocks noChangeAspect="1"/>
          </p:cNvPicPr>
          <p:nvPr/>
        </p:nvPicPr>
        <p:blipFill>
          <a:blip r:embed="rId14"/>
          <a:stretch>
            <a:fillRect/>
          </a:stretch>
        </p:blipFill>
        <p:spPr>
          <a:xfrm>
            <a:off x="7689630" y="3978134"/>
            <a:ext cx="3644900" cy="2514600"/>
          </a:xfrm>
          <a:prstGeom prst="rect">
            <a:avLst/>
          </a:prstGeom>
        </p:spPr>
      </p:pic>
      <p:sp>
        <p:nvSpPr>
          <p:cNvPr id="115" name="Text 4">
            <a:extLst>
              <a:ext uri="{FF2B5EF4-FFF2-40B4-BE49-F238E27FC236}">
                <a16:creationId xmlns:a16="http://schemas.microsoft.com/office/drawing/2014/main" id="{6B58FF6F-F9C6-89FC-1F0D-D73326B7E571}"/>
              </a:ext>
            </a:extLst>
          </p:cNvPr>
          <p:cNvSpPr/>
          <p:nvPr/>
        </p:nvSpPr>
        <p:spPr>
          <a:xfrm>
            <a:off x="7689630" y="972878"/>
            <a:ext cx="3644900" cy="219273"/>
          </a:xfrm>
          <a:prstGeom prst="rect">
            <a:avLst/>
          </a:prstGeom>
          <a:noFill/>
          <a:ln/>
        </p:spPr>
        <p:txBody>
          <a:bodyPr wrap="square" lIns="0" tIns="0" rIns="0" bIns="0" rtlCol="0" anchor="ctr"/>
          <a:lstStyle/>
          <a:p>
            <a:pPr algn="ctr">
              <a:lnSpc>
                <a:spcPct val="130000"/>
              </a:lnSpc>
            </a:pPr>
            <a:r>
              <a:rPr lang="en-US" sz="1350" b="1" dirty="0">
                <a:solidFill>
                  <a:srgbClr val="D8A03D"/>
                </a:solidFill>
                <a:latin typeface="Liter" pitchFamily="34" charset="0"/>
                <a:ea typeface="Liter" pitchFamily="34" charset="-122"/>
                <a:cs typeface="Liter" pitchFamily="34" charset="-120"/>
              </a:rPr>
              <a:t>Top 6 Reps by Stall Score</a:t>
            </a:r>
            <a:endParaRPr lang="en-US" sz="1600" dirty="0">
              <a:solidFill>
                <a:srgbClr val="D8A03D"/>
              </a:solidFill>
            </a:endParaRPr>
          </a:p>
        </p:txBody>
      </p:sp>
      <p:sp>
        <p:nvSpPr>
          <p:cNvPr id="116" name="Text 4">
            <a:extLst>
              <a:ext uri="{FF2B5EF4-FFF2-40B4-BE49-F238E27FC236}">
                <a16:creationId xmlns:a16="http://schemas.microsoft.com/office/drawing/2014/main" id="{13C31FFA-3548-8A48-1B1E-102109959552}"/>
              </a:ext>
            </a:extLst>
          </p:cNvPr>
          <p:cNvSpPr/>
          <p:nvPr/>
        </p:nvSpPr>
        <p:spPr>
          <a:xfrm>
            <a:off x="7689630" y="3760489"/>
            <a:ext cx="3644900" cy="217645"/>
          </a:xfrm>
          <a:prstGeom prst="rect">
            <a:avLst/>
          </a:prstGeom>
          <a:noFill/>
          <a:ln/>
        </p:spPr>
        <p:txBody>
          <a:bodyPr wrap="square" lIns="0" tIns="0" rIns="0" bIns="0" rtlCol="0" anchor="ctr"/>
          <a:lstStyle/>
          <a:p>
            <a:pPr algn="ctr">
              <a:lnSpc>
                <a:spcPct val="130000"/>
              </a:lnSpc>
            </a:pPr>
            <a:r>
              <a:rPr lang="en-US" sz="1350" b="1" dirty="0">
                <a:solidFill>
                  <a:srgbClr val="D8A03D"/>
                </a:solidFill>
                <a:latin typeface="Liter" pitchFamily="34" charset="0"/>
                <a:ea typeface="Liter" pitchFamily="34" charset="-122"/>
                <a:cs typeface="Liter" pitchFamily="34" charset="-120"/>
              </a:rPr>
              <a:t>Top 6 Reps by Bull Score</a:t>
            </a:r>
            <a:endParaRPr lang="en-US" sz="1600" dirty="0">
              <a:solidFill>
                <a:srgbClr val="D8A03D"/>
              </a:solidFill>
            </a:endParaRPr>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317"/>
        </a:solidFill>
        <a:effectLst/>
      </p:bgPr>
    </p:bg>
    <p:spTree>
      <p:nvGrpSpPr>
        <p:cNvPr id="1" name=""/>
        <p:cNvGrpSpPr/>
        <p:nvPr/>
      </p:nvGrpSpPr>
      <p:grpSpPr>
        <a:xfrm>
          <a:off x="0" y="0"/>
          <a:ext cx="0" cy="0"/>
          <a:chOff x="0" y="0"/>
          <a:chExt cx="0" cy="0"/>
        </a:xfrm>
      </p:grpSpPr>
      <p:sp>
        <p:nvSpPr>
          <p:cNvPr id="2" name="Text 0"/>
          <p:cNvSpPr/>
          <p:nvPr/>
        </p:nvSpPr>
        <p:spPr>
          <a:xfrm>
            <a:off x="319790" y="319790"/>
            <a:ext cx="11608383" cy="159895"/>
          </a:xfrm>
          <a:prstGeom prst="rect">
            <a:avLst/>
          </a:prstGeom>
          <a:noFill/>
          <a:ln/>
        </p:spPr>
        <p:txBody>
          <a:bodyPr wrap="square" lIns="0" tIns="0" rIns="0" bIns="0" rtlCol="0" anchor="ctr"/>
          <a:lstStyle/>
          <a:p>
            <a:pPr>
              <a:lnSpc>
                <a:spcPct val="120000"/>
              </a:lnSpc>
            </a:pPr>
            <a:r>
              <a:rPr lang="en-US" sz="881" b="1" kern="0" spc="220" dirty="0">
                <a:solidFill>
                  <a:srgbClr val="D8A03D"/>
                </a:solidFill>
                <a:latin typeface="Quattrocento Sans" pitchFamily="34" charset="0"/>
              </a:rPr>
              <a:t>CONCLUSION</a:t>
            </a:r>
            <a:endParaRPr lang="en-US" sz="1600" dirty="0"/>
          </a:p>
        </p:txBody>
      </p:sp>
      <p:sp>
        <p:nvSpPr>
          <p:cNvPr id="3" name="Text 1"/>
          <p:cNvSpPr/>
          <p:nvPr/>
        </p:nvSpPr>
        <p:spPr>
          <a:xfrm>
            <a:off x="319790" y="543643"/>
            <a:ext cx="11696325" cy="319790"/>
          </a:xfrm>
          <a:prstGeom prst="rect">
            <a:avLst/>
          </a:prstGeom>
          <a:noFill/>
          <a:ln/>
        </p:spPr>
        <p:txBody>
          <a:bodyPr wrap="square" lIns="0" tIns="0" rIns="0" bIns="0" rtlCol="0" anchor="ctr"/>
          <a:lstStyle/>
          <a:p>
            <a:pPr>
              <a:lnSpc>
                <a:spcPct val="90000"/>
              </a:lnSpc>
            </a:pPr>
            <a:r>
              <a:rPr lang="en-US" sz="2266" b="1" dirty="0">
                <a:solidFill>
                  <a:srgbClr val="E1E3E6"/>
                </a:solidFill>
                <a:latin typeface="Liter" pitchFamily="34" charset="0"/>
                <a:ea typeface="Liter" pitchFamily="34" charset="-122"/>
                <a:cs typeface="Liter" pitchFamily="34" charset="-120"/>
              </a:rPr>
              <a:t>Important Notes, Recap, and Final Thoughts</a:t>
            </a:r>
            <a:endParaRPr lang="en-US" sz="1600" dirty="0"/>
          </a:p>
        </p:txBody>
      </p:sp>
      <p:sp>
        <p:nvSpPr>
          <p:cNvPr id="64" name="Shape 46">
            <a:extLst>
              <a:ext uri="{FF2B5EF4-FFF2-40B4-BE49-F238E27FC236}">
                <a16:creationId xmlns:a16="http://schemas.microsoft.com/office/drawing/2014/main" id="{67F94198-9D0B-CDD4-7383-7368B47B79D8}"/>
              </a:ext>
            </a:extLst>
          </p:cNvPr>
          <p:cNvSpPr/>
          <p:nvPr/>
        </p:nvSpPr>
        <p:spPr>
          <a:xfrm>
            <a:off x="319790" y="961261"/>
            <a:ext cx="45719" cy="2893100"/>
          </a:xfrm>
          <a:custGeom>
            <a:avLst/>
            <a:gdLst/>
            <a:ahLst/>
            <a:cxnLst/>
            <a:rect l="l" t="t" r="r" b="b"/>
            <a:pathLst>
              <a:path w="37058" h="1334079">
                <a:moveTo>
                  <a:pt x="37058" y="0"/>
                </a:moveTo>
                <a:lnTo>
                  <a:pt x="37058" y="0"/>
                </a:lnTo>
                <a:lnTo>
                  <a:pt x="37058" y="1334079"/>
                </a:lnTo>
                <a:lnTo>
                  <a:pt x="37058" y="1334079"/>
                </a:lnTo>
                <a:cubicBezTo>
                  <a:pt x="16591" y="1334079"/>
                  <a:pt x="0" y="1317488"/>
                  <a:pt x="0" y="1297021"/>
                </a:cubicBezTo>
                <a:lnTo>
                  <a:pt x="0" y="37058"/>
                </a:lnTo>
                <a:cubicBezTo>
                  <a:pt x="0" y="16591"/>
                  <a:pt x="16591" y="0"/>
                  <a:pt x="37058" y="0"/>
                </a:cubicBezTo>
                <a:close/>
              </a:path>
            </a:pathLst>
          </a:custGeom>
          <a:solidFill>
            <a:srgbClr val="D8A03D"/>
          </a:solidFill>
          <a:ln/>
        </p:spPr>
        <p:txBody>
          <a:bodyPr/>
          <a:lstStyle/>
          <a:p>
            <a:endParaRPr lang="en-US"/>
          </a:p>
        </p:txBody>
      </p:sp>
      <p:sp>
        <p:nvSpPr>
          <p:cNvPr id="65" name="Text 48">
            <a:extLst>
              <a:ext uri="{FF2B5EF4-FFF2-40B4-BE49-F238E27FC236}">
                <a16:creationId xmlns:a16="http://schemas.microsoft.com/office/drawing/2014/main" id="{551E4FE0-100B-CD85-13DC-E466AC3C84F3}"/>
              </a:ext>
            </a:extLst>
          </p:cNvPr>
          <p:cNvSpPr/>
          <p:nvPr/>
        </p:nvSpPr>
        <p:spPr>
          <a:xfrm>
            <a:off x="759325" y="959619"/>
            <a:ext cx="3038736" cy="259404"/>
          </a:xfrm>
          <a:prstGeom prst="rect">
            <a:avLst/>
          </a:prstGeom>
          <a:noFill/>
          <a:ln/>
        </p:spPr>
        <p:txBody>
          <a:bodyPr wrap="square" lIns="0" tIns="0" rIns="0" bIns="0" rtlCol="0" anchor="ctr"/>
          <a:lstStyle/>
          <a:p>
            <a:pPr>
              <a:lnSpc>
                <a:spcPct val="130000"/>
              </a:lnSpc>
            </a:pPr>
            <a:r>
              <a:rPr lang="en-US" sz="1400" b="1" dirty="0">
                <a:solidFill>
                  <a:srgbClr val="E1E3E6"/>
                </a:solidFill>
                <a:latin typeface="Quattrocento Sans" panose="020B0502050000020003" pitchFamily="34" charset="0"/>
                <a:ea typeface="Liter" pitchFamily="34" charset="-122"/>
                <a:cs typeface="Liter" pitchFamily="34" charset="-120"/>
              </a:rPr>
              <a:t>Limitations</a:t>
            </a:r>
            <a:endParaRPr lang="en-US" sz="1400" dirty="0">
              <a:latin typeface="Quattrocento Sans" panose="020B0502050000020003" pitchFamily="34" charset="0"/>
            </a:endParaRPr>
          </a:p>
        </p:txBody>
      </p:sp>
      <p:pic>
        <p:nvPicPr>
          <p:cNvPr id="66" name="Graphic 65" descr="Information with solid fill">
            <a:extLst>
              <a:ext uri="{FF2B5EF4-FFF2-40B4-BE49-F238E27FC236}">
                <a16:creationId xmlns:a16="http://schemas.microsoft.com/office/drawing/2014/main" id="{40B8EF57-97CF-0BA6-2328-E58A2F0318E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6167" y="946202"/>
            <a:ext cx="309109" cy="309109"/>
          </a:xfrm>
          <a:prstGeom prst="rect">
            <a:avLst/>
          </a:prstGeom>
        </p:spPr>
      </p:pic>
      <p:sp>
        <p:nvSpPr>
          <p:cNvPr id="67" name="TextBox 66">
            <a:extLst>
              <a:ext uri="{FF2B5EF4-FFF2-40B4-BE49-F238E27FC236}">
                <a16:creationId xmlns:a16="http://schemas.microsoft.com/office/drawing/2014/main" id="{7E8DC2E1-E014-D7C5-1035-F19FFB7CED3E}"/>
              </a:ext>
            </a:extLst>
          </p:cNvPr>
          <p:cNvSpPr txBox="1"/>
          <p:nvPr/>
        </p:nvSpPr>
        <p:spPr>
          <a:xfrm>
            <a:off x="406167" y="1277472"/>
            <a:ext cx="5689833" cy="2893100"/>
          </a:xfrm>
          <a:prstGeom prst="rect">
            <a:avLst/>
          </a:prstGeom>
          <a:noFill/>
        </p:spPr>
        <p:txBody>
          <a:bodyPr wrap="square" rtlCol="0">
            <a:spAutoFit/>
          </a:bodyPr>
          <a:lstStyle/>
          <a:p>
            <a:r>
              <a:rPr lang="en-US" sz="1400" b="1" dirty="0">
                <a:solidFill>
                  <a:srgbClr val="DEE0E4"/>
                </a:solidFill>
                <a:latin typeface="Quattrocento Sans" panose="020B0502050000020003" pitchFamily="34" charset="0"/>
              </a:rPr>
              <a:t>Small sample size. </a:t>
            </a:r>
            <a:r>
              <a:rPr lang="en-US" sz="1400" dirty="0">
                <a:solidFill>
                  <a:srgbClr val="DEE0E4"/>
                </a:solidFill>
                <a:latin typeface="Quattrocento Sans" panose="020B0502050000020003" pitchFamily="34" charset="0"/>
              </a:rPr>
              <a:t>Reps have been pulled from 2024 East-West Shrine Bowl practice alone, and many players only have around three or four reps. 10 seconds worth of data (or ~2 seconds for the secondary metrics!)</a:t>
            </a:r>
            <a:r>
              <a:rPr lang="en-US" sz="1400" b="1" dirty="0">
                <a:solidFill>
                  <a:srgbClr val="DEE0E4"/>
                </a:solidFill>
                <a:latin typeface="Quattrocento Sans" panose="020B0502050000020003" pitchFamily="34" charset="0"/>
              </a:rPr>
              <a:t> </a:t>
            </a:r>
            <a:r>
              <a:rPr lang="en-US" sz="1400" dirty="0">
                <a:solidFill>
                  <a:srgbClr val="DEE0E4"/>
                </a:solidFill>
                <a:latin typeface="Quattrocento Sans" panose="020B0502050000020003" pitchFamily="34" charset="0"/>
              </a:rPr>
              <a:t>can’t paint a full picture or be used as a comprehensive evaluation. Without more data, the metrics are best seen as tracking-based proxies for interior OL/DL performance.</a:t>
            </a:r>
          </a:p>
          <a:p>
            <a:endParaRPr lang="en-US" sz="1400" dirty="0">
              <a:solidFill>
                <a:srgbClr val="DEE0E4"/>
              </a:solidFill>
              <a:latin typeface="Quattrocento Sans" panose="020B0502050000020003" pitchFamily="34" charset="0"/>
            </a:endParaRPr>
          </a:p>
          <a:p>
            <a:r>
              <a:rPr lang="en-US" sz="1400" b="1" dirty="0">
                <a:solidFill>
                  <a:srgbClr val="DEE0E4"/>
                </a:solidFill>
                <a:latin typeface="Quattrocento Sans" panose="020B0502050000020003" pitchFamily="34" charset="0"/>
              </a:rPr>
              <a:t>Lack of film-based validation. </a:t>
            </a:r>
            <a:r>
              <a:rPr lang="en-US" sz="1400" dirty="0">
                <a:solidFill>
                  <a:srgbClr val="DEE0E4"/>
                </a:solidFill>
                <a:latin typeface="Quattrocento Sans" panose="020B0502050000020003" pitchFamily="34" charset="0"/>
              </a:rPr>
              <a:t>The gold standard for manual labeling is to match the timestamps/frames of events with the same reference points on film. Features like rep start, rep end and contact onsets are rough approximations and are not validated against ground truth (film). Metrics can be sensitive to frame errors of three frames and beyond</a:t>
            </a:r>
            <a:endParaRPr lang="en-US" sz="1400" b="1" dirty="0">
              <a:solidFill>
                <a:srgbClr val="DEE0E4"/>
              </a:solidFill>
              <a:latin typeface="Quattrocento Sans" panose="020B0502050000020003" pitchFamily="34" charset="0"/>
            </a:endParaRPr>
          </a:p>
          <a:p>
            <a:endParaRPr lang="en-US" sz="1400" dirty="0">
              <a:solidFill>
                <a:srgbClr val="DEE0E4"/>
              </a:solidFill>
              <a:latin typeface="Quattrocento Sans" panose="020B0502050000020003" pitchFamily="34" charset="0"/>
            </a:endParaRPr>
          </a:p>
        </p:txBody>
      </p:sp>
      <p:sp>
        <p:nvSpPr>
          <p:cNvPr id="74" name="Shape 46">
            <a:extLst>
              <a:ext uri="{FF2B5EF4-FFF2-40B4-BE49-F238E27FC236}">
                <a16:creationId xmlns:a16="http://schemas.microsoft.com/office/drawing/2014/main" id="{2F988E2F-3BD1-4EBC-580B-D4E4B7FF4406}"/>
              </a:ext>
            </a:extLst>
          </p:cNvPr>
          <p:cNvSpPr/>
          <p:nvPr/>
        </p:nvSpPr>
        <p:spPr>
          <a:xfrm>
            <a:off x="6136658" y="974678"/>
            <a:ext cx="45719" cy="2893100"/>
          </a:xfrm>
          <a:custGeom>
            <a:avLst/>
            <a:gdLst/>
            <a:ahLst/>
            <a:cxnLst/>
            <a:rect l="l" t="t" r="r" b="b"/>
            <a:pathLst>
              <a:path w="37058" h="1334079">
                <a:moveTo>
                  <a:pt x="37058" y="0"/>
                </a:moveTo>
                <a:lnTo>
                  <a:pt x="37058" y="0"/>
                </a:lnTo>
                <a:lnTo>
                  <a:pt x="37058" y="1334079"/>
                </a:lnTo>
                <a:lnTo>
                  <a:pt x="37058" y="1334079"/>
                </a:lnTo>
                <a:cubicBezTo>
                  <a:pt x="16591" y="1334079"/>
                  <a:pt x="0" y="1317488"/>
                  <a:pt x="0" y="1297021"/>
                </a:cubicBezTo>
                <a:lnTo>
                  <a:pt x="0" y="37058"/>
                </a:lnTo>
                <a:cubicBezTo>
                  <a:pt x="0" y="16591"/>
                  <a:pt x="16591" y="0"/>
                  <a:pt x="37058" y="0"/>
                </a:cubicBezTo>
                <a:close/>
              </a:path>
            </a:pathLst>
          </a:custGeom>
          <a:solidFill>
            <a:srgbClr val="D8A03D"/>
          </a:solidFill>
          <a:ln/>
        </p:spPr>
        <p:txBody>
          <a:bodyPr/>
          <a:lstStyle/>
          <a:p>
            <a:endParaRPr lang="en-US"/>
          </a:p>
        </p:txBody>
      </p:sp>
      <p:sp>
        <p:nvSpPr>
          <p:cNvPr id="75" name="Text 48">
            <a:extLst>
              <a:ext uri="{FF2B5EF4-FFF2-40B4-BE49-F238E27FC236}">
                <a16:creationId xmlns:a16="http://schemas.microsoft.com/office/drawing/2014/main" id="{7D1D6CA6-E25C-5A82-56E4-AE3C0631F629}"/>
              </a:ext>
            </a:extLst>
          </p:cNvPr>
          <p:cNvSpPr/>
          <p:nvPr/>
        </p:nvSpPr>
        <p:spPr>
          <a:xfrm>
            <a:off x="6603086" y="973036"/>
            <a:ext cx="3831831" cy="304436"/>
          </a:xfrm>
          <a:prstGeom prst="rect">
            <a:avLst/>
          </a:prstGeom>
          <a:noFill/>
          <a:ln/>
        </p:spPr>
        <p:txBody>
          <a:bodyPr wrap="square" lIns="0" tIns="0" rIns="0" bIns="0" rtlCol="0" anchor="ctr"/>
          <a:lstStyle/>
          <a:p>
            <a:pPr>
              <a:lnSpc>
                <a:spcPct val="130000"/>
              </a:lnSpc>
            </a:pPr>
            <a:r>
              <a:rPr lang="en-US" sz="1400" b="1" dirty="0">
                <a:solidFill>
                  <a:srgbClr val="E1E3E6"/>
                </a:solidFill>
                <a:latin typeface="Quattrocento Sans" panose="020B0502050000020003" pitchFamily="34" charset="0"/>
                <a:ea typeface="Liter" pitchFamily="34" charset="-122"/>
                <a:cs typeface="Liter" pitchFamily="34" charset="-120"/>
              </a:rPr>
              <a:t>Extensions of the Framework (Not Pursued)</a:t>
            </a:r>
            <a:endParaRPr lang="en-US" sz="1400" dirty="0">
              <a:latin typeface="Quattrocento Sans" panose="020B0502050000020003" pitchFamily="34" charset="0"/>
            </a:endParaRPr>
          </a:p>
        </p:txBody>
      </p:sp>
      <p:pic>
        <p:nvPicPr>
          <p:cNvPr id="79" name="Graphic 78">
            <a:extLst>
              <a:ext uri="{FF2B5EF4-FFF2-40B4-BE49-F238E27FC236}">
                <a16:creationId xmlns:a16="http://schemas.microsoft.com/office/drawing/2014/main" id="{E3C44645-5DDE-5DA7-A864-886C4FB812F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58572" y="990102"/>
            <a:ext cx="259405" cy="259405"/>
          </a:xfrm>
          <a:prstGeom prst="rect">
            <a:avLst/>
          </a:prstGeom>
        </p:spPr>
      </p:pic>
      <p:sp>
        <p:nvSpPr>
          <p:cNvPr id="87" name="TextBox 86">
            <a:extLst>
              <a:ext uri="{FF2B5EF4-FFF2-40B4-BE49-F238E27FC236}">
                <a16:creationId xmlns:a16="http://schemas.microsoft.com/office/drawing/2014/main" id="{E70F7C44-58C6-7BAE-0BDD-98F1195FCA6E}"/>
              </a:ext>
            </a:extLst>
          </p:cNvPr>
          <p:cNvSpPr txBox="1"/>
          <p:nvPr/>
        </p:nvSpPr>
        <p:spPr>
          <a:xfrm>
            <a:off x="6178059" y="1277472"/>
            <a:ext cx="5689833" cy="2462213"/>
          </a:xfrm>
          <a:prstGeom prst="rect">
            <a:avLst/>
          </a:prstGeom>
          <a:noFill/>
        </p:spPr>
        <p:txBody>
          <a:bodyPr wrap="square" rtlCol="0">
            <a:spAutoFit/>
          </a:bodyPr>
          <a:lstStyle/>
          <a:p>
            <a:r>
              <a:rPr lang="en-US" sz="1400" b="1" dirty="0">
                <a:solidFill>
                  <a:srgbClr val="DEE0E4"/>
                </a:solidFill>
                <a:latin typeface="Quattrocento Sans" panose="020B0502050000020003" pitchFamily="34" charset="0"/>
              </a:rPr>
              <a:t>Analyze edge reps</a:t>
            </a:r>
            <a:r>
              <a:rPr lang="en-US" sz="1400" dirty="0">
                <a:solidFill>
                  <a:srgbClr val="DEE0E4"/>
                </a:solidFill>
                <a:latin typeface="Quattrocento Sans" panose="020B0502050000020003" pitchFamily="34" charset="0"/>
              </a:rPr>
              <a:t>. DE-OT reps have a different texture (wider rush axis) and require different metrics that appropriately handle lateral displacement. The data is there to quantify  “bend” (i.e., speed and tightness through a turn while “gaining” on an OL).</a:t>
            </a:r>
          </a:p>
          <a:p>
            <a:endParaRPr lang="en-US" sz="1400" b="1" dirty="0">
              <a:solidFill>
                <a:srgbClr val="DEE0E4"/>
              </a:solidFill>
              <a:latin typeface="Quattrocento Sans" panose="020B0502050000020003" pitchFamily="34" charset="0"/>
            </a:endParaRPr>
          </a:p>
          <a:p>
            <a:r>
              <a:rPr lang="en-US" sz="1400" b="1" dirty="0">
                <a:solidFill>
                  <a:srgbClr val="DEE0E4"/>
                </a:solidFill>
                <a:latin typeface="Quattrocento Sans" panose="020B0502050000020003" pitchFamily="34" charset="0"/>
              </a:rPr>
              <a:t>Use general pipeline idea for other individual reps.</a:t>
            </a:r>
            <a:r>
              <a:rPr lang="en-US" sz="1400" dirty="0">
                <a:solidFill>
                  <a:srgbClr val="DEE0E4"/>
                </a:solidFill>
                <a:latin typeface="Quattrocento Sans" panose="020B0502050000020003" pitchFamily="34" charset="0"/>
              </a:rPr>
              <a:t> The automated pipeline was developed by taking advantage of the specific movement signatures of 1-on-1 OL-DL reps, like a DL always crossing a specific yardage threshold if they are involved in a rep. Other reps are obviously different, but repeated movement specifics may be found. (Or, if there’s a snap of the football, even better.)</a:t>
            </a:r>
            <a:endParaRPr lang="en-US" sz="1400" b="1" dirty="0">
              <a:solidFill>
                <a:srgbClr val="DEE0E4"/>
              </a:solidFill>
              <a:latin typeface="Quattrocento Sans" panose="020B0502050000020003" pitchFamily="34" charset="0"/>
            </a:endParaRPr>
          </a:p>
        </p:txBody>
      </p:sp>
      <p:sp>
        <p:nvSpPr>
          <p:cNvPr id="88" name="TextBox 87">
            <a:extLst>
              <a:ext uri="{FF2B5EF4-FFF2-40B4-BE49-F238E27FC236}">
                <a16:creationId xmlns:a16="http://schemas.microsoft.com/office/drawing/2014/main" id="{58F86494-19F8-9CD0-E27C-EBB5B4BC54B8}"/>
              </a:ext>
            </a:extLst>
          </p:cNvPr>
          <p:cNvSpPr txBox="1"/>
          <p:nvPr/>
        </p:nvSpPr>
        <p:spPr>
          <a:xfrm>
            <a:off x="0" y="3948460"/>
            <a:ext cx="12192000" cy="461665"/>
          </a:xfrm>
          <a:prstGeom prst="rect">
            <a:avLst/>
          </a:prstGeom>
          <a:noFill/>
        </p:spPr>
        <p:txBody>
          <a:bodyPr wrap="square" rtlCol="0">
            <a:spAutoFit/>
          </a:bodyPr>
          <a:lstStyle/>
          <a:p>
            <a:pPr algn="ctr"/>
            <a:r>
              <a:rPr lang="en-US" sz="2400" dirty="0">
                <a:solidFill>
                  <a:srgbClr val="D8A03D"/>
                </a:solidFill>
                <a:latin typeface="Quattrocento Sans" panose="020B0502050000020003" pitchFamily="34" charset="0"/>
              </a:rPr>
              <a:t>RECAP</a:t>
            </a:r>
          </a:p>
        </p:txBody>
      </p:sp>
      <p:pic>
        <p:nvPicPr>
          <p:cNvPr id="90" name="Picture 89">
            <a:extLst>
              <a:ext uri="{FF2B5EF4-FFF2-40B4-BE49-F238E27FC236}">
                <a16:creationId xmlns:a16="http://schemas.microsoft.com/office/drawing/2014/main" id="{399D6C9B-053B-F768-5B81-ED2CBEC0A927}"/>
              </a:ext>
            </a:extLst>
          </p:cNvPr>
          <p:cNvPicPr>
            <a:picLocks noChangeAspect="1"/>
          </p:cNvPicPr>
          <p:nvPr/>
        </p:nvPicPr>
        <p:blipFill>
          <a:blip r:embed="rId7"/>
          <a:stretch>
            <a:fillRect/>
          </a:stretch>
        </p:blipFill>
        <p:spPr>
          <a:xfrm>
            <a:off x="984040" y="4699021"/>
            <a:ext cx="2162572" cy="1091784"/>
          </a:xfrm>
          <a:prstGeom prst="rect">
            <a:avLst/>
          </a:prstGeom>
        </p:spPr>
      </p:pic>
      <p:sp>
        <p:nvSpPr>
          <p:cNvPr id="91" name="TextBox 90">
            <a:extLst>
              <a:ext uri="{FF2B5EF4-FFF2-40B4-BE49-F238E27FC236}">
                <a16:creationId xmlns:a16="http://schemas.microsoft.com/office/drawing/2014/main" id="{93FDDDA4-3F27-A530-6FD3-21B12818C1E7}"/>
              </a:ext>
            </a:extLst>
          </p:cNvPr>
          <p:cNvSpPr txBox="1"/>
          <p:nvPr/>
        </p:nvSpPr>
        <p:spPr>
          <a:xfrm>
            <a:off x="693317" y="4340339"/>
            <a:ext cx="3236758" cy="307777"/>
          </a:xfrm>
          <a:prstGeom prst="rect">
            <a:avLst/>
          </a:prstGeom>
          <a:noFill/>
        </p:spPr>
        <p:txBody>
          <a:bodyPr wrap="square" rtlCol="0">
            <a:spAutoFit/>
          </a:bodyPr>
          <a:lstStyle/>
          <a:p>
            <a:pPr algn="ctr"/>
            <a:r>
              <a:rPr lang="en-US" sz="1400" dirty="0">
                <a:solidFill>
                  <a:srgbClr val="D8A03D"/>
                </a:solidFill>
                <a:latin typeface="Quattrocento Sans" panose="020B0502050000020003" pitchFamily="34" charset="0"/>
              </a:rPr>
              <a:t>Unstructured Data to Segmented Reps</a:t>
            </a:r>
          </a:p>
        </p:txBody>
      </p:sp>
      <p:sp>
        <p:nvSpPr>
          <p:cNvPr id="92" name="TextBox 91">
            <a:extLst>
              <a:ext uri="{FF2B5EF4-FFF2-40B4-BE49-F238E27FC236}">
                <a16:creationId xmlns:a16="http://schemas.microsoft.com/office/drawing/2014/main" id="{B68CF721-E70A-F3DA-40A7-0AE53FAF975A}"/>
              </a:ext>
            </a:extLst>
          </p:cNvPr>
          <p:cNvSpPr txBox="1"/>
          <p:nvPr/>
        </p:nvSpPr>
        <p:spPr>
          <a:xfrm>
            <a:off x="627310" y="5930153"/>
            <a:ext cx="3236758" cy="830997"/>
          </a:xfrm>
          <a:prstGeom prst="rect">
            <a:avLst/>
          </a:prstGeom>
          <a:noFill/>
        </p:spPr>
        <p:txBody>
          <a:bodyPr wrap="square" rtlCol="0">
            <a:spAutoFit/>
          </a:bodyPr>
          <a:lstStyle/>
          <a:p>
            <a:pPr algn="ctr"/>
            <a:r>
              <a:rPr lang="en-US" sz="1200" dirty="0">
                <a:solidFill>
                  <a:srgbClr val="DEE0E4"/>
                </a:solidFill>
              </a:rPr>
              <a:t>Given a few manual inputs, an automated algorithm can loop through six practice sessions and return frames for the identified OL-DL pairs in a tidy format in less than a minute.</a:t>
            </a:r>
          </a:p>
        </p:txBody>
      </p:sp>
      <p:sp>
        <p:nvSpPr>
          <p:cNvPr id="93" name="TextBox 92">
            <a:extLst>
              <a:ext uri="{FF2B5EF4-FFF2-40B4-BE49-F238E27FC236}">
                <a16:creationId xmlns:a16="http://schemas.microsoft.com/office/drawing/2014/main" id="{A27B6008-2A5F-42A0-1602-A93A96B70477}"/>
              </a:ext>
            </a:extLst>
          </p:cNvPr>
          <p:cNvSpPr txBox="1"/>
          <p:nvPr/>
        </p:nvSpPr>
        <p:spPr>
          <a:xfrm>
            <a:off x="4411614" y="4332209"/>
            <a:ext cx="3387680" cy="307777"/>
          </a:xfrm>
          <a:prstGeom prst="rect">
            <a:avLst/>
          </a:prstGeom>
          <a:noFill/>
        </p:spPr>
        <p:txBody>
          <a:bodyPr wrap="square" rtlCol="0">
            <a:spAutoFit/>
          </a:bodyPr>
          <a:lstStyle/>
          <a:p>
            <a:pPr algn="ctr"/>
            <a:r>
              <a:rPr lang="en-US" sz="1400" dirty="0">
                <a:solidFill>
                  <a:srgbClr val="D8A03D"/>
                </a:solidFill>
                <a:latin typeface="Quattrocento Sans" panose="020B0502050000020003" pitchFamily="34" charset="0"/>
              </a:rPr>
              <a:t>Relevant Features from Segmented Data</a:t>
            </a:r>
          </a:p>
        </p:txBody>
      </p:sp>
      <p:sp>
        <p:nvSpPr>
          <p:cNvPr id="94" name="TextBox 93">
            <a:extLst>
              <a:ext uri="{FF2B5EF4-FFF2-40B4-BE49-F238E27FC236}">
                <a16:creationId xmlns:a16="http://schemas.microsoft.com/office/drawing/2014/main" id="{A245ABC3-C962-0D0A-3D93-3E323C90FAAD}"/>
              </a:ext>
            </a:extLst>
          </p:cNvPr>
          <p:cNvSpPr txBox="1"/>
          <p:nvPr/>
        </p:nvSpPr>
        <p:spPr>
          <a:xfrm>
            <a:off x="4411614" y="5922022"/>
            <a:ext cx="3236758" cy="830997"/>
          </a:xfrm>
          <a:prstGeom prst="rect">
            <a:avLst/>
          </a:prstGeom>
          <a:noFill/>
        </p:spPr>
        <p:txBody>
          <a:bodyPr wrap="square" rtlCol="0">
            <a:spAutoFit/>
          </a:bodyPr>
          <a:lstStyle/>
          <a:p>
            <a:pPr algn="ctr"/>
            <a:r>
              <a:rPr lang="en-US" sz="1200" dirty="0">
                <a:solidFill>
                  <a:srgbClr val="DEE0E4"/>
                </a:solidFill>
              </a:rPr>
              <a:t>Relevant observables, like the contact-onset point and matchup type, are extracted from the data and used to provide context-aware identifiers for use in building metrics</a:t>
            </a:r>
          </a:p>
        </p:txBody>
      </p:sp>
      <p:sp>
        <p:nvSpPr>
          <p:cNvPr id="95" name="TextBox 94">
            <a:extLst>
              <a:ext uri="{FF2B5EF4-FFF2-40B4-BE49-F238E27FC236}">
                <a16:creationId xmlns:a16="http://schemas.microsoft.com/office/drawing/2014/main" id="{72FC0707-DDEE-ED65-C1DD-5D5AC93A8B99}"/>
              </a:ext>
            </a:extLst>
          </p:cNvPr>
          <p:cNvSpPr txBox="1"/>
          <p:nvPr/>
        </p:nvSpPr>
        <p:spPr>
          <a:xfrm>
            <a:off x="8001000" y="4337278"/>
            <a:ext cx="3866892" cy="307777"/>
          </a:xfrm>
          <a:prstGeom prst="rect">
            <a:avLst/>
          </a:prstGeom>
          <a:noFill/>
        </p:spPr>
        <p:txBody>
          <a:bodyPr wrap="square" rtlCol="0">
            <a:spAutoFit/>
          </a:bodyPr>
          <a:lstStyle/>
          <a:p>
            <a:pPr algn="ctr"/>
            <a:r>
              <a:rPr lang="en-US" sz="1400" dirty="0">
                <a:solidFill>
                  <a:srgbClr val="D8A03D"/>
                </a:solidFill>
                <a:latin typeface="Quattrocento Sans" panose="020B0502050000020003" pitchFamily="34" charset="0"/>
              </a:rPr>
              <a:t>Meaningful Metrics that Quantify Interior Play</a:t>
            </a:r>
          </a:p>
        </p:txBody>
      </p:sp>
      <p:sp>
        <p:nvSpPr>
          <p:cNvPr id="96" name="TextBox 95">
            <a:extLst>
              <a:ext uri="{FF2B5EF4-FFF2-40B4-BE49-F238E27FC236}">
                <a16:creationId xmlns:a16="http://schemas.microsoft.com/office/drawing/2014/main" id="{9526443A-B7B0-CE41-C5C9-8F06698A35B5}"/>
              </a:ext>
            </a:extLst>
          </p:cNvPr>
          <p:cNvSpPr txBox="1"/>
          <p:nvPr/>
        </p:nvSpPr>
        <p:spPr>
          <a:xfrm>
            <a:off x="8261925" y="5927092"/>
            <a:ext cx="3236758" cy="830997"/>
          </a:xfrm>
          <a:prstGeom prst="rect">
            <a:avLst/>
          </a:prstGeom>
          <a:noFill/>
        </p:spPr>
        <p:txBody>
          <a:bodyPr wrap="square" rtlCol="0">
            <a:spAutoFit/>
          </a:bodyPr>
          <a:lstStyle/>
          <a:p>
            <a:pPr algn="ctr"/>
            <a:r>
              <a:rPr lang="en-US" sz="1200" dirty="0">
                <a:solidFill>
                  <a:srgbClr val="DEE0E4"/>
                </a:solidFill>
              </a:rPr>
              <a:t>Depth allowed at frame 25, as well as stall and bull score, show some correlation to NFL outcomes and what on-the-ground media report in their writeups</a:t>
            </a:r>
          </a:p>
        </p:txBody>
      </p:sp>
      <p:grpSp>
        <p:nvGrpSpPr>
          <p:cNvPr id="146" name="Graphic 101">
            <a:extLst>
              <a:ext uri="{FF2B5EF4-FFF2-40B4-BE49-F238E27FC236}">
                <a16:creationId xmlns:a16="http://schemas.microsoft.com/office/drawing/2014/main" id="{E024BE4C-5DDB-4EEB-89E1-593E2E34289C}"/>
              </a:ext>
            </a:extLst>
          </p:cNvPr>
          <p:cNvGrpSpPr/>
          <p:nvPr/>
        </p:nvGrpSpPr>
        <p:grpSpPr>
          <a:xfrm>
            <a:off x="9224710" y="4742247"/>
            <a:ext cx="1310660" cy="863963"/>
            <a:chOff x="9224710" y="4742247"/>
            <a:chExt cx="1310660" cy="863963"/>
          </a:xfrm>
          <a:solidFill>
            <a:schemeClr val="bg1"/>
          </a:solidFill>
        </p:grpSpPr>
        <p:sp>
          <p:nvSpPr>
            <p:cNvPr id="147" name="Oval 146">
              <a:extLst>
                <a:ext uri="{FF2B5EF4-FFF2-40B4-BE49-F238E27FC236}">
                  <a16:creationId xmlns:a16="http://schemas.microsoft.com/office/drawing/2014/main" id="{B8D8F636-0A9C-750C-E1CE-B426884C3CBD}"/>
                </a:ext>
              </a:extLst>
            </p:cNvPr>
            <p:cNvSpPr/>
            <p:nvPr/>
          </p:nvSpPr>
          <p:spPr>
            <a:xfrm>
              <a:off x="10100235" y="4857863"/>
              <a:ext cx="103002" cy="103002"/>
            </a:xfrm>
            <a:prstGeom prst="ellipse">
              <a:avLst/>
            </a:prstGeom>
            <a:solidFill>
              <a:srgbClr val="0096FF"/>
            </a:solidFill>
            <a:ln w="2611" cap="flat">
              <a:noFill/>
              <a:prstDash val="solid"/>
              <a:miter/>
            </a:ln>
          </p:spPr>
          <p:txBody>
            <a:bodyPr/>
            <a:lstStyle/>
            <a:p>
              <a:endParaRPr lang="en-US"/>
            </a:p>
          </p:txBody>
        </p:sp>
        <p:sp>
          <p:nvSpPr>
            <p:cNvPr id="148" name="Oval 147">
              <a:extLst>
                <a:ext uri="{FF2B5EF4-FFF2-40B4-BE49-F238E27FC236}">
                  <a16:creationId xmlns:a16="http://schemas.microsoft.com/office/drawing/2014/main" id="{E325B5D1-091A-72D8-6CF9-8684350BE0AD}"/>
                </a:ext>
              </a:extLst>
            </p:cNvPr>
            <p:cNvSpPr/>
            <p:nvPr/>
          </p:nvSpPr>
          <p:spPr>
            <a:xfrm>
              <a:off x="10432367" y="4742247"/>
              <a:ext cx="103002" cy="103002"/>
            </a:xfrm>
            <a:prstGeom prst="ellipse">
              <a:avLst/>
            </a:prstGeom>
            <a:solidFill>
              <a:srgbClr val="0096FF"/>
            </a:solidFill>
            <a:ln w="2611" cap="flat">
              <a:noFill/>
              <a:prstDash val="solid"/>
              <a:miter/>
            </a:ln>
          </p:spPr>
          <p:txBody>
            <a:bodyPr/>
            <a:lstStyle/>
            <a:p>
              <a:endParaRPr lang="en-US"/>
            </a:p>
          </p:txBody>
        </p:sp>
        <p:sp>
          <p:nvSpPr>
            <p:cNvPr id="149" name="Oval 148">
              <a:extLst>
                <a:ext uri="{FF2B5EF4-FFF2-40B4-BE49-F238E27FC236}">
                  <a16:creationId xmlns:a16="http://schemas.microsoft.com/office/drawing/2014/main" id="{495D951F-6792-5F00-7173-18C007CF78A8}"/>
                </a:ext>
              </a:extLst>
            </p:cNvPr>
            <p:cNvSpPr/>
            <p:nvPr/>
          </p:nvSpPr>
          <p:spPr>
            <a:xfrm>
              <a:off x="9837473" y="5189995"/>
              <a:ext cx="84084" cy="84084"/>
            </a:xfrm>
            <a:prstGeom prst="ellipse">
              <a:avLst/>
            </a:prstGeom>
            <a:solidFill>
              <a:srgbClr val="0096FF"/>
            </a:solidFill>
            <a:ln w="2611" cap="flat">
              <a:noFill/>
              <a:prstDash val="solid"/>
              <a:miter/>
            </a:ln>
          </p:spPr>
          <p:txBody>
            <a:bodyPr/>
            <a:lstStyle/>
            <a:p>
              <a:endParaRPr lang="en-US"/>
            </a:p>
          </p:txBody>
        </p:sp>
        <p:sp>
          <p:nvSpPr>
            <p:cNvPr id="150" name="Oval 149">
              <a:extLst>
                <a:ext uri="{FF2B5EF4-FFF2-40B4-BE49-F238E27FC236}">
                  <a16:creationId xmlns:a16="http://schemas.microsoft.com/office/drawing/2014/main" id="{C010CE26-462B-127A-E40A-CE1F97C65A38}"/>
                </a:ext>
              </a:extLst>
            </p:cNvPr>
            <p:cNvSpPr/>
            <p:nvPr/>
          </p:nvSpPr>
          <p:spPr>
            <a:xfrm>
              <a:off x="9568404" y="5147953"/>
              <a:ext cx="84084" cy="84084"/>
            </a:xfrm>
            <a:prstGeom prst="ellipse">
              <a:avLst/>
            </a:prstGeom>
            <a:solidFill>
              <a:srgbClr val="0096FF"/>
            </a:solidFill>
            <a:ln w="2611" cap="flat">
              <a:noFill/>
              <a:prstDash val="solid"/>
              <a:miter/>
            </a:ln>
          </p:spPr>
          <p:txBody>
            <a:bodyPr/>
            <a:lstStyle/>
            <a:p>
              <a:endParaRPr lang="en-US"/>
            </a:p>
          </p:txBody>
        </p:sp>
        <p:sp>
          <p:nvSpPr>
            <p:cNvPr id="151" name="Oval 150">
              <a:extLst>
                <a:ext uri="{FF2B5EF4-FFF2-40B4-BE49-F238E27FC236}">
                  <a16:creationId xmlns:a16="http://schemas.microsoft.com/office/drawing/2014/main" id="{94B59145-2B00-250B-A6A6-BF0E31FFB9E8}"/>
                </a:ext>
              </a:extLst>
            </p:cNvPr>
            <p:cNvSpPr/>
            <p:nvPr/>
          </p:nvSpPr>
          <p:spPr>
            <a:xfrm>
              <a:off x="9433869" y="5522127"/>
              <a:ext cx="84084" cy="84084"/>
            </a:xfrm>
            <a:prstGeom prst="ellipse">
              <a:avLst/>
            </a:prstGeom>
            <a:solidFill>
              <a:srgbClr val="0096FF"/>
            </a:solidFill>
            <a:ln w="2611" cap="flat">
              <a:noFill/>
              <a:prstDash val="solid"/>
              <a:miter/>
            </a:ln>
          </p:spPr>
          <p:txBody>
            <a:bodyPr/>
            <a:lstStyle/>
            <a:p>
              <a:endParaRPr lang="en-US"/>
            </a:p>
          </p:txBody>
        </p:sp>
        <p:sp>
          <p:nvSpPr>
            <p:cNvPr id="152" name="Oval 151">
              <a:extLst>
                <a:ext uri="{FF2B5EF4-FFF2-40B4-BE49-F238E27FC236}">
                  <a16:creationId xmlns:a16="http://schemas.microsoft.com/office/drawing/2014/main" id="{EA8B2AD9-1FC2-3729-7B90-85A117DCB4B3}"/>
                </a:ext>
              </a:extLst>
            </p:cNvPr>
            <p:cNvSpPr/>
            <p:nvPr/>
          </p:nvSpPr>
          <p:spPr>
            <a:xfrm>
              <a:off x="9224710" y="5387592"/>
              <a:ext cx="84084" cy="84084"/>
            </a:xfrm>
            <a:prstGeom prst="ellipse">
              <a:avLst/>
            </a:prstGeom>
            <a:solidFill>
              <a:srgbClr val="0096FF"/>
            </a:solidFill>
            <a:ln w="2611" cap="flat">
              <a:noFill/>
              <a:prstDash val="solid"/>
              <a:miter/>
            </a:ln>
          </p:spPr>
          <p:txBody>
            <a:bodyPr/>
            <a:lstStyle/>
            <a:p>
              <a:endParaRPr lang="en-US"/>
            </a:p>
          </p:txBody>
        </p:sp>
      </p:grpSp>
      <p:sp>
        <p:nvSpPr>
          <p:cNvPr id="153" name="Freeform 152">
            <a:extLst>
              <a:ext uri="{FF2B5EF4-FFF2-40B4-BE49-F238E27FC236}">
                <a16:creationId xmlns:a16="http://schemas.microsoft.com/office/drawing/2014/main" id="{6A6E943D-327D-D981-954D-EBF422F221E2}"/>
              </a:ext>
            </a:extLst>
          </p:cNvPr>
          <p:cNvSpPr/>
          <p:nvPr/>
        </p:nvSpPr>
        <p:spPr>
          <a:xfrm>
            <a:off x="10138073" y="4981886"/>
            <a:ext cx="21021" cy="903903"/>
          </a:xfrm>
          <a:custGeom>
            <a:avLst/>
            <a:gdLst>
              <a:gd name="csX0" fmla="*/ 0 w 21021"/>
              <a:gd name="csY0" fmla="*/ 893393 h 903903"/>
              <a:gd name="csX1" fmla="*/ 10511 w 21021"/>
              <a:gd name="csY1" fmla="*/ 882883 h 903903"/>
              <a:gd name="csX2" fmla="*/ 10511 w 21021"/>
              <a:gd name="csY2" fmla="*/ 882883 h 903903"/>
              <a:gd name="csX3" fmla="*/ 21021 w 21021"/>
              <a:gd name="csY3" fmla="*/ 893393 h 903903"/>
              <a:gd name="csX4" fmla="*/ 21021 w 21021"/>
              <a:gd name="csY4" fmla="*/ 893393 h 903903"/>
              <a:gd name="csX5" fmla="*/ 10511 w 21021"/>
              <a:gd name="csY5" fmla="*/ 903904 h 903903"/>
              <a:gd name="csX6" fmla="*/ 10511 w 21021"/>
              <a:gd name="csY6" fmla="*/ 903904 h 903903"/>
              <a:gd name="csX7" fmla="*/ 0 w 21021"/>
              <a:gd name="csY7" fmla="*/ 893393 h 903903"/>
              <a:gd name="csX8" fmla="*/ 0 w 21021"/>
              <a:gd name="csY8" fmla="*/ 861862 h 903903"/>
              <a:gd name="csX9" fmla="*/ 10511 w 21021"/>
              <a:gd name="csY9" fmla="*/ 851351 h 903903"/>
              <a:gd name="csX10" fmla="*/ 10511 w 21021"/>
              <a:gd name="csY10" fmla="*/ 851351 h 903903"/>
              <a:gd name="csX11" fmla="*/ 21021 w 21021"/>
              <a:gd name="csY11" fmla="*/ 861862 h 903903"/>
              <a:gd name="csX12" fmla="*/ 21021 w 21021"/>
              <a:gd name="csY12" fmla="*/ 861862 h 903903"/>
              <a:gd name="csX13" fmla="*/ 10511 w 21021"/>
              <a:gd name="csY13" fmla="*/ 872372 h 903903"/>
              <a:gd name="csX14" fmla="*/ 10511 w 21021"/>
              <a:gd name="csY14" fmla="*/ 872372 h 903903"/>
              <a:gd name="csX15" fmla="*/ 0 w 21021"/>
              <a:gd name="csY15" fmla="*/ 861862 h 903903"/>
              <a:gd name="csX16" fmla="*/ 0 w 21021"/>
              <a:gd name="csY16" fmla="*/ 830330 h 903903"/>
              <a:gd name="csX17" fmla="*/ 10511 w 21021"/>
              <a:gd name="csY17" fmla="*/ 819820 h 903903"/>
              <a:gd name="csX18" fmla="*/ 10511 w 21021"/>
              <a:gd name="csY18" fmla="*/ 819820 h 903903"/>
              <a:gd name="csX19" fmla="*/ 21021 w 21021"/>
              <a:gd name="csY19" fmla="*/ 830330 h 903903"/>
              <a:gd name="csX20" fmla="*/ 21021 w 21021"/>
              <a:gd name="csY20" fmla="*/ 830330 h 903903"/>
              <a:gd name="csX21" fmla="*/ 10511 w 21021"/>
              <a:gd name="csY21" fmla="*/ 840841 h 903903"/>
              <a:gd name="csX22" fmla="*/ 10511 w 21021"/>
              <a:gd name="csY22" fmla="*/ 840841 h 903903"/>
              <a:gd name="csX23" fmla="*/ 0 w 21021"/>
              <a:gd name="csY23" fmla="*/ 830330 h 903903"/>
              <a:gd name="csX24" fmla="*/ 0 w 21021"/>
              <a:gd name="csY24" fmla="*/ 798799 h 903903"/>
              <a:gd name="csX25" fmla="*/ 10511 w 21021"/>
              <a:gd name="csY25" fmla="*/ 788288 h 903903"/>
              <a:gd name="csX26" fmla="*/ 10511 w 21021"/>
              <a:gd name="csY26" fmla="*/ 788288 h 903903"/>
              <a:gd name="csX27" fmla="*/ 21021 w 21021"/>
              <a:gd name="csY27" fmla="*/ 798799 h 903903"/>
              <a:gd name="csX28" fmla="*/ 21021 w 21021"/>
              <a:gd name="csY28" fmla="*/ 798799 h 903903"/>
              <a:gd name="csX29" fmla="*/ 10511 w 21021"/>
              <a:gd name="csY29" fmla="*/ 809309 h 903903"/>
              <a:gd name="csX30" fmla="*/ 10511 w 21021"/>
              <a:gd name="csY30" fmla="*/ 809309 h 903903"/>
              <a:gd name="csX31" fmla="*/ 0 w 21021"/>
              <a:gd name="csY31" fmla="*/ 798799 h 903903"/>
              <a:gd name="csX32" fmla="*/ 0 w 21021"/>
              <a:gd name="csY32" fmla="*/ 767267 h 903903"/>
              <a:gd name="csX33" fmla="*/ 10511 w 21021"/>
              <a:gd name="csY33" fmla="*/ 756757 h 903903"/>
              <a:gd name="csX34" fmla="*/ 10511 w 21021"/>
              <a:gd name="csY34" fmla="*/ 756757 h 903903"/>
              <a:gd name="csX35" fmla="*/ 21021 w 21021"/>
              <a:gd name="csY35" fmla="*/ 767267 h 903903"/>
              <a:gd name="csX36" fmla="*/ 21021 w 21021"/>
              <a:gd name="csY36" fmla="*/ 767267 h 903903"/>
              <a:gd name="csX37" fmla="*/ 10511 w 21021"/>
              <a:gd name="csY37" fmla="*/ 777778 h 903903"/>
              <a:gd name="csX38" fmla="*/ 10511 w 21021"/>
              <a:gd name="csY38" fmla="*/ 777778 h 903903"/>
              <a:gd name="csX39" fmla="*/ 0 w 21021"/>
              <a:gd name="csY39" fmla="*/ 767267 h 903903"/>
              <a:gd name="csX40" fmla="*/ 0 w 21021"/>
              <a:gd name="csY40" fmla="*/ 735736 h 903903"/>
              <a:gd name="csX41" fmla="*/ 10511 w 21021"/>
              <a:gd name="csY41" fmla="*/ 725225 h 903903"/>
              <a:gd name="csX42" fmla="*/ 10511 w 21021"/>
              <a:gd name="csY42" fmla="*/ 725225 h 903903"/>
              <a:gd name="csX43" fmla="*/ 21021 w 21021"/>
              <a:gd name="csY43" fmla="*/ 735736 h 903903"/>
              <a:gd name="csX44" fmla="*/ 21021 w 21021"/>
              <a:gd name="csY44" fmla="*/ 735736 h 903903"/>
              <a:gd name="csX45" fmla="*/ 10511 w 21021"/>
              <a:gd name="csY45" fmla="*/ 746246 h 903903"/>
              <a:gd name="csX46" fmla="*/ 10511 w 21021"/>
              <a:gd name="csY46" fmla="*/ 746246 h 903903"/>
              <a:gd name="csX47" fmla="*/ 0 w 21021"/>
              <a:gd name="csY47" fmla="*/ 735736 h 903903"/>
              <a:gd name="csX48" fmla="*/ 0 w 21021"/>
              <a:gd name="csY48" fmla="*/ 704204 h 903903"/>
              <a:gd name="csX49" fmla="*/ 10511 w 21021"/>
              <a:gd name="csY49" fmla="*/ 693694 h 903903"/>
              <a:gd name="csX50" fmla="*/ 10511 w 21021"/>
              <a:gd name="csY50" fmla="*/ 693694 h 903903"/>
              <a:gd name="csX51" fmla="*/ 21021 w 21021"/>
              <a:gd name="csY51" fmla="*/ 704204 h 903903"/>
              <a:gd name="csX52" fmla="*/ 21021 w 21021"/>
              <a:gd name="csY52" fmla="*/ 704204 h 903903"/>
              <a:gd name="csX53" fmla="*/ 10511 w 21021"/>
              <a:gd name="csY53" fmla="*/ 714715 h 903903"/>
              <a:gd name="csX54" fmla="*/ 10511 w 21021"/>
              <a:gd name="csY54" fmla="*/ 714715 h 903903"/>
              <a:gd name="csX55" fmla="*/ 0 w 21021"/>
              <a:gd name="csY55" fmla="*/ 704204 h 903903"/>
              <a:gd name="csX56" fmla="*/ 0 w 21021"/>
              <a:gd name="csY56" fmla="*/ 672673 h 903903"/>
              <a:gd name="csX57" fmla="*/ 10511 w 21021"/>
              <a:gd name="csY57" fmla="*/ 662162 h 903903"/>
              <a:gd name="csX58" fmla="*/ 10511 w 21021"/>
              <a:gd name="csY58" fmla="*/ 662162 h 903903"/>
              <a:gd name="csX59" fmla="*/ 21021 w 21021"/>
              <a:gd name="csY59" fmla="*/ 672673 h 903903"/>
              <a:gd name="csX60" fmla="*/ 21021 w 21021"/>
              <a:gd name="csY60" fmla="*/ 672673 h 903903"/>
              <a:gd name="csX61" fmla="*/ 10511 w 21021"/>
              <a:gd name="csY61" fmla="*/ 683183 h 903903"/>
              <a:gd name="csX62" fmla="*/ 10511 w 21021"/>
              <a:gd name="csY62" fmla="*/ 683183 h 903903"/>
              <a:gd name="csX63" fmla="*/ 0 w 21021"/>
              <a:gd name="csY63" fmla="*/ 672673 h 903903"/>
              <a:gd name="csX64" fmla="*/ 0 w 21021"/>
              <a:gd name="csY64" fmla="*/ 641141 h 903903"/>
              <a:gd name="csX65" fmla="*/ 10511 w 21021"/>
              <a:gd name="csY65" fmla="*/ 630631 h 903903"/>
              <a:gd name="csX66" fmla="*/ 10511 w 21021"/>
              <a:gd name="csY66" fmla="*/ 630631 h 903903"/>
              <a:gd name="csX67" fmla="*/ 21021 w 21021"/>
              <a:gd name="csY67" fmla="*/ 641141 h 903903"/>
              <a:gd name="csX68" fmla="*/ 21021 w 21021"/>
              <a:gd name="csY68" fmla="*/ 641141 h 903903"/>
              <a:gd name="csX69" fmla="*/ 10511 w 21021"/>
              <a:gd name="csY69" fmla="*/ 651652 h 903903"/>
              <a:gd name="csX70" fmla="*/ 10511 w 21021"/>
              <a:gd name="csY70" fmla="*/ 651652 h 903903"/>
              <a:gd name="csX71" fmla="*/ 0 w 21021"/>
              <a:gd name="csY71" fmla="*/ 641141 h 903903"/>
              <a:gd name="csX72" fmla="*/ 0 w 21021"/>
              <a:gd name="csY72" fmla="*/ 609610 h 903903"/>
              <a:gd name="csX73" fmla="*/ 10511 w 21021"/>
              <a:gd name="csY73" fmla="*/ 599099 h 903903"/>
              <a:gd name="csX74" fmla="*/ 10511 w 21021"/>
              <a:gd name="csY74" fmla="*/ 599099 h 903903"/>
              <a:gd name="csX75" fmla="*/ 21021 w 21021"/>
              <a:gd name="csY75" fmla="*/ 609610 h 903903"/>
              <a:gd name="csX76" fmla="*/ 21021 w 21021"/>
              <a:gd name="csY76" fmla="*/ 609610 h 903903"/>
              <a:gd name="csX77" fmla="*/ 10511 w 21021"/>
              <a:gd name="csY77" fmla="*/ 620120 h 903903"/>
              <a:gd name="csX78" fmla="*/ 10511 w 21021"/>
              <a:gd name="csY78" fmla="*/ 620120 h 903903"/>
              <a:gd name="csX79" fmla="*/ 0 w 21021"/>
              <a:gd name="csY79" fmla="*/ 609610 h 903903"/>
              <a:gd name="csX80" fmla="*/ 0 w 21021"/>
              <a:gd name="csY80" fmla="*/ 578078 h 903903"/>
              <a:gd name="csX81" fmla="*/ 10511 w 21021"/>
              <a:gd name="csY81" fmla="*/ 567568 h 903903"/>
              <a:gd name="csX82" fmla="*/ 10511 w 21021"/>
              <a:gd name="csY82" fmla="*/ 567568 h 903903"/>
              <a:gd name="csX83" fmla="*/ 21021 w 21021"/>
              <a:gd name="csY83" fmla="*/ 578078 h 903903"/>
              <a:gd name="csX84" fmla="*/ 21021 w 21021"/>
              <a:gd name="csY84" fmla="*/ 578078 h 903903"/>
              <a:gd name="csX85" fmla="*/ 10511 w 21021"/>
              <a:gd name="csY85" fmla="*/ 588589 h 903903"/>
              <a:gd name="csX86" fmla="*/ 10511 w 21021"/>
              <a:gd name="csY86" fmla="*/ 588589 h 903903"/>
              <a:gd name="csX87" fmla="*/ 0 w 21021"/>
              <a:gd name="csY87" fmla="*/ 578078 h 903903"/>
              <a:gd name="csX88" fmla="*/ 0 w 21021"/>
              <a:gd name="csY88" fmla="*/ 546546 h 903903"/>
              <a:gd name="csX89" fmla="*/ 10511 w 21021"/>
              <a:gd name="csY89" fmla="*/ 536036 h 903903"/>
              <a:gd name="csX90" fmla="*/ 10511 w 21021"/>
              <a:gd name="csY90" fmla="*/ 536036 h 903903"/>
              <a:gd name="csX91" fmla="*/ 21021 w 21021"/>
              <a:gd name="csY91" fmla="*/ 546546 h 903903"/>
              <a:gd name="csX92" fmla="*/ 21021 w 21021"/>
              <a:gd name="csY92" fmla="*/ 546546 h 903903"/>
              <a:gd name="csX93" fmla="*/ 10511 w 21021"/>
              <a:gd name="csY93" fmla="*/ 557057 h 903903"/>
              <a:gd name="csX94" fmla="*/ 10511 w 21021"/>
              <a:gd name="csY94" fmla="*/ 557057 h 903903"/>
              <a:gd name="csX95" fmla="*/ 0 w 21021"/>
              <a:gd name="csY95" fmla="*/ 546546 h 903903"/>
              <a:gd name="csX96" fmla="*/ 0 w 21021"/>
              <a:gd name="csY96" fmla="*/ 515015 h 903903"/>
              <a:gd name="csX97" fmla="*/ 10511 w 21021"/>
              <a:gd name="csY97" fmla="*/ 504504 h 903903"/>
              <a:gd name="csX98" fmla="*/ 10511 w 21021"/>
              <a:gd name="csY98" fmla="*/ 504504 h 903903"/>
              <a:gd name="csX99" fmla="*/ 21021 w 21021"/>
              <a:gd name="csY99" fmla="*/ 515015 h 903903"/>
              <a:gd name="csX100" fmla="*/ 21021 w 21021"/>
              <a:gd name="csY100" fmla="*/ 515015 h 903903"/>
              <a:gd name="csX101" fmla="*/ 10511 w 21021"/>
              <a:gd name="csY101" fmla="*/ 525525 h 903903"/>
              <a:gd name="csX102" fmla="*/ 10511 w 21021"/>
              <a:gd name="csY102" fmla="*/ 525525 h 903903"/>
              <a:gd name="csX103" fmla="*/ 0 w 21021"/>
              <a:gd name="csY103" fmla="*/ 515015 h 903903"/>
              <a:gd name="csX104" fmla="*/ 0 w 21021"/>
              <a:gd name="csY104" fmla="*/ 483483 h 903903"/>
              <a:gd name="csX105" fmla="*/ 10511 w 21021"/>
              <a:gd name="csY105" fmla="*/ 472973 h 903903"/>
              <a:gd name="csX106" fmla="*/ 10511 w 21021"/>
              <a:gd name="csY106" fmla="*/ 472973 h 903903"/>
              <a:gd name="csX107" fmla="*/ 21021 w 21021"/>
              <a:gd name="csY107" fmla="*/ 483483 h 903903"/>
              <a:gd name="csX108" fmla="*/ 21021 w 21021"/>
              <a:gd name="csY108" fmla="*/ 483483 h 903903"/>
              <a:gd name="csX109" fmla="*/ 10511 w 21021"/>
              <a:gd name="csY109" fmla="*/ 493994 h 903903"/>
              <a:gd name="csX110" fmla="*/ 10511 w 21021"/>
              <a:gd name="csY110" fmla="*/ 493994 h 903903"/>
              <a:gd name="csX111" fmla="*/ 0 w 21021"/>
              <a:gd name="csY111" fmla="*/ 483483 h 903903"/>
              <a:gd name="csX112" fmla="*/ 0 w 21021"/>
              <a:gd name="csY112" fmla="*/ 451952 h 903903"/>
              <a:gd name="csX113" fmla="*/ 10511 w 21021"/>
              <a:gd name="csY113" fmla="*/ 441441 h 903903"/>
              <a:gd name="csX114" fmla="*/ 10511 w 21021"/>
              <a:gd name="csY114" fmla="*/ 441441 h 903903"/>
              <a:gd name="csX115" fmla="*/ 21021 w 21021"/>
              <a:gd name="csY115" fmla="*/ 451952 h 903903"/>
              <a:gd name="csX116" fmla="*/ 21021 w 21021"/>
              <a:gd name="csY116" fmla="*/ 451952 h 903903"/>
              <a:gd name="csX117" fmla="*/ 10511 w 21021"/>
              <a:gd name="csY117" fmla="*/ 462462 h 903903"/>
              <a:gd name="csX118" fmla="*/ 10511 w 21021"/>
              <a:gd name="csY118" fmla="*/ 462462 h 903903"/>
              <a:gd name="csX119" fmla="*/ 0 w 21021"/>
              <a:gd name="csY119" fmla="*/ 451952 h 903903"/>
              <a:gd name="csX120" fmla="*/ 0 w 21021"/>
              <a:gd name="csY120" fmla="*/ 420420 h 903903"/>
              <a:gd name="csX121" fmla="*/ 10511 w 21021"/>
              <a:gd name="csY121" fmla="*/ 409910 h 903903"/>
              <a:gd name="csX122" fmla="*/ 10511 w 21021"/>
              <a:gd name="csY122" fmla="*/ 409910 h 903903"/>
              <a:gd name="csX123" fmla="*/ 21021 w 21021"/>
              <a:gd name="csY123" fmla="*/ 420420 h 903903"/>
              <a:gd name="csX124" fmla="*/ 21021 w 21021"/>
              <a:gd name="csY124" fmla="*/ 420420 h 903903"/>
              <a:gd name="csX125" fmla="*/ 10511 w 21021"/>
              <a:gd name="csY125" fmla="*/ 430931 h 903903"/>
              <a:gd name="csX126" fmla="*/ 10511 w 21021"/>
              <a:gd name="csY126" fmla="*/ 430931 h 903903"/>
              <a:gd name="csX127" fmla="*/ 0 w 21021"/>
              <a:gd name="csY127" fmla="*/ 420420 h 903903"/>
              <a:gd name="csX128" fmla="*/ 0 w 21021"/>
              <a:gd name="csY128" fmla="*/ 388889 h 903903"/>
              <a:gd name="csX129" fmla="*/ 10511 w 21021"/>
              <a:gd name="csY129" fmla="*/ 378378 h 903903"/>
              <a:gd name="csX130" fmla="*/ 10511 w 21021"/>
              <a:gd name="csY130" fmla="*/ 378378 h 903903"/>
              <a:gd name="csX131" fmla="*/ 21021 w 21021"/>
              <a:gd name="csY131" fmla="*/ 388889 h 903903"/>
              <a:gd name="csX132" fmla="*/ 21021 w 21021"/>
              <a:gd name="csY132" fmla="*/ 388889 h 903903"/>
              <a:gd name="csX133" fmla="*/ 10511 w 21021"/>
              <a:gd name="csY133" fmla="*/ 399399 h 903903"/>
              <a:gd name="csX134" fmla="*/ 10511 w 21021"/>
              <a:gd name="csY134" fmla="*/ 399399 h 903903"/>
              <a:gd name="csX135" fmla="*/ 0 w 21021"/>
              <a:gd name="csY135" fmla="*/ 388889 h 903903"/>
              <a:gd name="csX136" fmla="*/ 0 w 21021"/>
              <a:gd name="csY136" fmla="*/ 357357 h 903903"/>
              <a:gd name="csX137" fmla="*/ 10511 w 21021"/>
              <a:gd name="csY137" fmla="*/ 346847 h 903903"/>
              <a:gd name="csX138" fmla="*/ 10511 w 21021"/>
              <a:gd name="csY138" fmla="*/ 346847 h 903903"/>
              <a:gd name="csX139" fmla="*/ 21021 w 21021"/>
              <a:gd name="csY139" fmla="*/ 357357 h 903903"/>
              <a:gd name="csX140" fmla="*/ 21021 w 21021"/>
              <a:gd name="csY140" fmla="*/ 357357 h 903903"/>
              <a:gd name="csX141" fmla="*/ 10511 w 21021"/>
              <a:gd name="csY141" fmla="*/ 367868 h 903903"/>
              <a:gd name="csX142" fmla="*/ 10511 w 21021"/>
              <a:gd name="csY142" fmla="*/ 367868 h 903903"/>
              <a:gd name="csX143" fmla="*/ 0 w 21021"/>
              <a:gd name="csY143" fmla="*/ 357357 h 903903"/>
              <a:gd name="csX144" fmla="*/ 0 w 21021"/>
              <a:gd name="csY144" fmla="*/ 325826 h 903903"/>
              <a:gd name="csX145" fmla="*/ 10511 w 21021"/>
              <a:gd name="csY145" fmla="*/ 315315 h 903903"/>
              <a:gd name="csX146" fmla="*/ 10511 w 21021"/>
              <a:gd name="csY146" fmla="*/ 315315 h 903903"/>
              <a:gd name="csX147" fmla="*/ 21021 w 21021"/>
              <a:gd name="csY147" fmla="*/ 325826 h 903903"/>
              <a:gd name="csX148" fmla="*/ 21021 w 21021"/>
              <a:gd name="csY148" fmla="*/ 325826 h 903903"/>
              <a:gd name="csX149" fmla="*/ 10511 w 21021"/>
              <a:gd name="csY149" fmla="*/ 336336 h 903903"/>
              <a:gd name="csX150" fmla="*/ 10511 w 21021"/>
              <a:gd name="csY150" fmla="*/ 336336 h 903903"/>
              <a:gd name="csX151" fmla="*/ 0 w 21021"/>
              <a:gd name="csY151" fmla="*/ 325826 h 903903"/>
              <a:gd name="csX152" fmla="*/ 0 w 21021"/>
              <a:gd name="csY152" fmla="*/ 294294 h 903903"/>
              <a:gd name="csX153" fmla="*/ 10511 w 21021"/>
              <a:gd name="csY153" fmla="*/ 283784 h 903903"/>
              <a:gd name="csX154" fmla="*/ 10511 w 21021"/>
              <a:gd name="csY154" fmla="*/ 283784 h 903903"/>
              <a:gd name="csX155" fmla="*/ 21021 w 21021"/>
              <a:gd name="csY155" fmla="*/ 294294 h 903903"/>
              <a:gd name="csX156" fmla="*/ 21021 w 21021"/>
              <a:gd name="csY156" fmla="*/ 294294 h 903903"/>
              <a:gd name="csX157" fmla="*/ 10511 w 21021"/>
              <a:gd name="csY157" fmla="*/ 304805 h 903903"/>
              <a:gd name="csX158" fmla="*/ 10511 w 21021"/>
              <a:gd name="csY158" fmla="*/ 304805 h 903903"/>
              <a:gd name="csX159" fmla="*/ 0 w 21021"/>
              <a:gd name="csY159" fmla="*/ 294294 h 903903"/>
              <a:gd name="csX160" fmla="*/ 0 w 21021"/>
              <a:gd name="csY160" fmla="*/ 262763 h 903903"/>
              <a:gd name="csX161" fmla="*/ 10511 w 21021"/>
              <a:gd name="csY161" fmla="*/ 252252 h 903903"/>
              <a:gd name="csX162" fmla="*/ 10511 w 21021"/>
              <a:gd name="csY162" fmla="*/ 252252 h 903903"/>
              <a:gd name="csX163" fmla="*/ 21021 w 21021"/>
              <a:gd name="csY163" fmla="*/ 262763 h 903903"/>
              <a:gd name="csX164" fmla="*/ 21021 w 21021"/>
              <a:gd name="csY164" fmla="*/ 262763 h 903903"/>
              <a:gd name="csX165" fmla="*/ 10511 w 21021"/>
              <a:gd name="csY165" fmla="*/ 273273 h 903903"/>
              <a:gd name="csX166" fmla="*/ 10511 w 21021"/>
              <a:gd name="csY166" fmla="*/ 273273 h 903903"/>
              <a:gd name="csX167" fmla="*/ 0 w 21021"/>
              <a:gd name="csY167" fmla="*/ 262763 h 903903"/>
              <a:gd name="csX168" fmla="*/ 0 w 21021"/>
              <a:gd name="csY168" fmla="*/ 231231 h 903903"/>
              <a:gd name="csX169" fmla="*/ 10511 w 21021"/>
              <a:gd name="csY169" fmla="*/ 220721 h 903903"/>
              <a:gd name="csX170" fmla="*/ 10511 w 21021"/>
              <a:gd name="csY170" fmla="*/ 220721 h 903903"/>
              <a:gd name="csX171" fmla="*/ 21021 w 21021"/>
              <a:gd name="csY171" fmla="*/ 231231 h 903903"/>
              <a:gd name="csX172" fmla="*/ 21021 w 21021"/>
              <a:gd name="csY172" fmla="*/ 231231 h 903903"/>
              <a:gd name="csX173" fmla="*/ 10511 w 21021"/>
              <a:gd name="csY173" fmla="*/ 241742 h 903903"/>
              <a:gd name="csX174" fmla="*/ 10511 w 21021"/>
              <a:gd name="csY174" fmla="*/ 241742 h 903903"/>
              <a:gd name="csX175" fmla="*/ 0 w 21021"/>
              <a:gd name="csY175" fmla="*/ 231231 h 903903"/>
              <a:gd name="csX176" fmla="*/ 0 w 21021"/>
              <a:gd name="csY176" fmla="*/ 199700 h 903903"/>
              <a:gd name="csX177" fmla="*/ 10511 w 21021"/>
              <a:gd name="csY177" fmla="*/ 189189 h 903903"/>
              <a:gd name="csX178" fmla="*/ 10511 w 21021"/>
              <a:gd name="csY178" fmla="*/ 189189 h 903903"/>
              <a:gd name="csX179" fmla="*/ 21021 w 21021"/>
              <a:gd name="csY179" fmla="*/ 199700 h 903903"/>
              <a:gd name="csX180" fmla="*/ 21021 w 21021"/>
              <a:gd name="csY180" fmla="*/ 199700 h 903903"/>
              <a:gd name="csX181" fmla="*/ 10511 w 21021"/>
              <a:gd name="csY181" fmla="*/ 210210 h 903903"/>
              <a:gd name="csX182" fmla="*/ 10511 w 21021"/>
              <a:gd name="csY182" fmla="*/ 210210 h 903903"/>
              <a:gd name="csX183" fmla="*/ 0 w 21021"/>
              <a:gd name="csY183" fmla="*/ 199700 h 903903"/>
              <a:gd name="csX184" fmla="*/ 0 w 21021"/>
              <a:gd name="csY184" fmla="*/ 168168 h 903903"/>
              <a:gd name="csX185" fmla="*/ 10511 w 21021"/>
              <a:gd name="csY185" fmla="*/ 157658 h 903903"/>
              <a:gd name="csX186" fmla="*/ 10511 w 21021"/>
              <a:gd name="csY186" fmla="*/ 157658 h 903903"/>
              <a:gd name="csX187" fmla="*/ 21021 w 21021"/>
              <a:gd name="csY187" fmla="*/ 168168 h 903903"/>
              <a:gd name="csX188" fmla="*/ 21021 w 21021"/>
              <a:gd name="csY188" fmla="*/ 168168 h 903903"/>
              <a:gd name="csX189" fmla="*/ 10511 w 21021"/>
              <a:gd name="csY189" fmla="*/ 178679 h 903903"/>
              <a:gd name="csX190" fmla="*/ 10511 w 21021"/>
              <a:gd name="csY190" fmla="*/ 178679 h 903903"/>
              <a:gd name="csX191" fmla="*/ 0 w 21021"/>
              <a:gd name="csY191" fmla="*/ 168168 h 903903"/>
              <a:gd name="csX192" fmla="*/ 0 w 21021"/>
              <a:gd name="csY192" fmla="*/ 136637 h 903903"/>
              <a:gd name="csX193" fmla="*/ 10511 w 21021"/>
              <a:gd name="csY193" fmla="*/ 126126 h 903903"/>
              <a:gd name="csX194" fmla="*/ 10511 w 21021"/>
              <a:gd name="csY194" fmla="*/ 126126 h 903903"/>
              <a:gd name="csX195" fmla="*/ 21021 w 21021"/>
              <a:gd name="csY195" fmla="*/ 136637 h 903903"/>
              <a:gd name="csX196" fmla="*/ 21021 w 21021"/>
              <a:gd name="csY196" fmla="*/ 136637 h 903903"/>
              <a:gd name="csX197" fmla="*/ 10511 w 21021"/>
              <a:gd name="csY197" fmla="*/ 147147 h 903903"/>
              <a:gd name="csX198" fmla="*/ 10511 w 21021"/>
              <a:gd name="csY198" fmla="*/ 147147 h 903903"/>
              <a:gd name="csX199" fmla="*/ 0 w 21021"/>
              <a:gd name="csY199" fmla="*/ 136637 h 903903"/>
              <a:gd name="csX200" fmla="*/ 0 w 21021"/>
              <a:gd name="csY200" fmla="*/ 105105 h 903903"/>
              <a:gd name="csX201" fmla="*/ 10511 w 21021"/>
              <a:gd name="csY201" fmla="*/ 94595 h 903903"/>
              <a:gd name="csX202" fmla="*/ 10511 w 21021"/>
              <a:gd name="csY202" fmla="*/ 94595 h 903903"/>
              <a:gd name="csX203" fmla="*/ 21021 w 21021"/>
              <a:gd name="csY203" fmla="*/ 105105 h 903903"/>
              <a:gd name="csX204" fmla="*/ 21021 w 21021"/>
              <a:gd name="csY204" fmla="*/ 105105 h 903903"/>
              <a:gd name="csX205" fmla="*/ 10511 w 21021"/>
              <a:gd name="csY205" fmla="*/ 115616 h 903903"/>
              <a:gd name="csX206" fmla="*/ 10511 w 21021"/>
              <a:gd name="csY206" fmla="*/ 115616 h 903903"/>
              <a:gd name="csX207" fmla="*/ 0 w 21021"/>
              <a:gd name="csY207" fmla="*/ 105105 h 903903"/>
              <a:gd name="csX208" fmla="*/ 0 w 21021"/>
              <a:gd name="csY208" fmla="*/ 73574 h 903903"/>
              <a:gd name="csX209" fmla="*/ 10511 w 21021"/>
              <a:gd name="csY209" fmla="*/ 63063 h 903903"/>
              <a:gd name="csX210" fmla="*/ 10511 w 21021"/>
              <a:gd name="csY210" fmla="*/ 63063 h 903903"/>
              <a:gd name="csX211" fmla="*/ 21021 w 21021"/>
              <a:gd name="csY211" fmla="*/ 73574 h 903903"/>
              <a:gd name="csX212" fmla="*/ 21021 w 21021"/>
              <a:gd name="csY212" fmla="*/ 73574 h 903903"/>
              <a:gd name="csX213" fmla="*/ 10511 w 21021"/>
              <a:gd name="csY213" fmla="*/ 84084 h 903903"/>
              <a:gd name="csX214" fmla="*/ 10511 w 21021"/>
              <a:gd name="csY214" fmla="*/ 84084 h 903903"/>
              <a:gd name="csX215" fmla="*/ 0 w 21021"/>
              <a:gd name="csY215" fmla="*/ 73574 h 903903"/>
              <a:gd name="csX216" fmla="*/ 0 w 21021"/>
              <a:gd name="csY216" fmla="*/ 42042 h 903903"/>
              <a:gd name="csX217" fmla="*/ 10511 w 21021"/>
              <a:gd name="csY217" fmla="*/ 31532 h 903903"/>
              <a:gd name="csX218" fmla="*/ 10511 w 21021"/>
              <a:gd name="csY218" fmla="*/ 31532 h 903903"/>
              <a:gd name="csX219" fmla="*/ 21021 w 21021"/>
              <a:gd name="csY219" fmla="*/ 42042 h 903903"/>
              <a:gd name="csX220" fmla="*/ 21021 w 21021"/>
              <a:gd name="csY220" fmla="*/ 42042 h 903903"/>
              <a:gd name="csX221" fmla="*/ 10511 w 21021"/>
              <a:gd name="csY221" fmla="*/ 52553 h 903903"/>
              <a:gd name="csX222" fmla="*/ 10511 w 21021"/>
              <a:gd name="csY222" fmla="*/ 52553 h 903903"/>
              <a:gd name="csX223" fmla="*/ 0 w 21021"/>
              <a:gd name="csY223" fmla="*/ 42042 h 903903"/>
              <a:gd name="csX224" fmla="*/ 0 w 21021"/>
              <a:gd name="csY224" fmla="*/ 10511 h 903903"/>
              <a:gd name="csX225" fmla="*/ 10511 w 21021"/>
              <a:gd name="csY225" fmla="*/ 0 h 903903"/>
              <a:gd name="csX226" fmla="*/ 10511 w 21021"/>
              <a:gd name="csY226" fmla="*/ 0 h 903903"/>
              <a:gd name="csX227" fmla="*/ 21021 w 21021"/>
              <a:gd name="csY227" fmla="*/ 10511 h 903903"/>
              <a:gd name="csX228" fmla="*/ 21021 w 21021"/>
              <a:gd name="csY228" fmla="*/ 10511 h 903903"/>
              <a:gd name="csX229" fmla="*/ 10511 w 21021"/>
              <a:gd name="csY229" fmla="*/ 21021 h 903903"/>
              <a:gd name="csX230" fmla="*/ 10511 w 21021"/>
              <a:gd name="csY230" fmla="*/ 21021 h 903903"/>
              <a:gd name="csX231" fmla="*/ 0 w 21021"/>
              <a:gd name="csY231" fmla="*/ 10511 h 903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21021" h="903903">
                <a:moveTo>
                  <a:pt x="0" y="893393"/>
                </a:moveTo>
                <a:cubicBezTo>
                  <a:pt x="0" y="888138"/>
                  <a:pt x="5255" y="882883"/>
                  <a:pt x="10511" y="882883"/>
                </a:cubicBezTo>
                <a:lnTo>
                  <a:pt x="10511" y="882883"/>
                </a:lnTo>
                <a:cubicBezTo>
                  <a:pt x="15766" y="882883"/>
                  <a:pt x="21021" y="888138"/>
                  <a:pt x="21021" y="893393"/>
                </a:cubicBezTo>
                <a:lnTo>
                  <a:pt x="21021" y="893393"/>
                </a:lnTo>
                <a:cubicBezTo>
                  <a:pt x="21021" y="898649"/>
                  <a:pt x="15766" y="903904"/>
                  <a:pt x="10511" y="903904"/>
                </a:cubicBezTo>
                <a:lnTo>
                  <a:pt x="10511" y="903904"/>
                </a:lnTo>
                <a:cubicBezTo>
                  <a:pt x="5255" y="903904"/>
                  <a:pt x="0" y="898649"/>
                  <a:pt x="0" y="893393"/>
                </a:cubicBezTo>
                <a:close/>
                <a:moveTo>
                  <a:pt x="0" y="861862"/>
                </a:moveTo>
                <a:cubicBezTo>
                  <a:pt x="0" y="856607"/>
                  <a:pt x="5255" y="851351"/>
                  <a:pt x="10511" y="851351"/>
                </a:cubicBezTo>
                <a:lnTo>
                  <a:pt x="10511" y="851351"/>
                </a:lnTo>
                <a:cubicBezTo>
                  <a:pt x="15766" y="851351"/>
                  <a:pt x="21021" y="856607"/>
                  <a:pt x="21021" y="861862"/>
                </a:cubicBezTo>
                <a:lnTo>
                  <a:pt x="21021" y="861862"/>
                </a:lnTo>
                <a:cubicBezTo>
                  <a:pt x="21021" y="867117"/>
                  <a:pt x="15766" y="872372"/>
                  <a:pt x="10511" y="872372"/>
                </a:cubicBezTo>
                <a:lnTo>
                  <a:pt x="10511" y="872372"/>
                </a:lnTo>
                <a:cubicBezTo>
                  <a:pt x="5255" y="872372"/>
                  <a:pt x="0" y="867117"/>
                  <a:pt x="0" y="861862"/>
                </a:cubicBezTo>
                <a:close/>
                <a:moveTo>
                  <a:pt x="0" y="830330"/>
                </a:moveTo>
                <a:cubicBezTo>
                  <a:pt x="0" y="825075"/>
                  <a:pt x="5255" y="819820"/>
                  <a:pt x="10511" y="819820"/>
                </a:cubicBezTo>
                <a:lnTo>
                  <a:pt x="10511" y="819820"/>
                </a:lnTo>
                <a:cubicBezTo>
                  <a:pt x="15766" y="819820"/>
                  <a:pt x="21021" y="825075"/>
                  <a:pt x="21021" y="830330"/>
                </a:cubicBezTo>
                <a:lnTo>
                  <a:pt x="21021" y="830330"/>
                </a:lnTo>
                <a:cubicBezTo>
                  <a:pt x="21021" y="835585"/>
                  <a:pt x="15766" y="840841"/>
                  <a:pt x="10511" y="840841"/>
                </a:cubicBezTo>
                <a:lnTo>
                  <a:pt x="10511" y="840841"/>
                </a:lnTo>
                <a:cubicBezTo>
                  <a:pt x="5255" y="840841"/>
                  <a:pt x="0" y="835585"/>
                  <a:pt x="0" y="830330"/>
                </a:cubicBezTo>
                <a:close/>
                <a:moveTo>
                  <a:pt x="0" y="798799"/>
                </a:moveTo>
                <a:cubicBezTo>
                  <a:pt x="0" y="793543"/>
                  <a:pt x="5255" y="788288"/>
                  <a:pt x="10511" y="788288"/>
                </a:cubicBezTo>
                <a:lnTo>
                  <a:pt x="10511" y="788288"/>
                </a:lnTo>
                <a:cubicBezTo>
                  <a:pt x="15766" y="788288"/>
                  <a:pt x="21021" y="793543"/>
                  <a:pt x="21021" y="798799"/>
                </a:cubicBezTo>
                <a:lnTo>
                  <a:pt x="21021" y="798799"/>
                </a:lnTo>
                <a:cubicBezTo>
                  <a:pt x="21021" y="804054"/>
                  <a:pt x="15766" y="809309"/>
                  <a:pt x="10511" y="809309"/>
                </a:cubicBezTo>
                <a:lnTo>
                  <a:pt x="10511" y="809309"/>
                </a:lnTo>
                <a:cubicBezTo>
                  <a:pt x="5255" y="809309"/>
                  <a:pt x="0" y="804054"/>
                  <a:pt x="0" y="798799"/>
                </a:cubicBezTo>
                <a:close/>
                <a:moveTo>
                  <a:pt x="0" y="767267"/>
                </a:moveTo>
                <a:cubicBezTo>
                  <a:pt x="0" y="762012"/>
                  <a:pt x="5255" y="756757"/>
                  <a:pt x="10511" y="756757"/>
                </a:cubicBezTo>
                <a:lnTo>
                  <a:pt x="10511" y="756757"/>
                </a:lnTo>
                <a:cubicBezTo>
                  <a:pt x="15766" y="756757"/>
                  <a:pt x="21021" y="762012"/>
                  <a:pt x="21021" y="767267"/>
                </a:cubicBezTo>
                <a:lnTo>
                  <a:pt x="21021" y="767267"/>
                </a:lnTo>
                <a:cubicBezTo>
                  <a:pt x="21021" y="772522"/>
                  <a:pt x="15766" y="777778"/>
                  <a:pt x="10511" y="777778"/>
                </a:cubicBezTo>
                <a:lnTo>
                  <a:pt x="10511" y="777778"/>
                </a:lnTo>
                <a:cubicBezTo>
                  <a:pt x="5255" y="777778"/>
                  <a:pt x="0" y="772522"/>
                  <a:pt x="0" y="767267"/>
                </a:cubicBezTo>
                <a:close/>
                <a:moveTo>
                  <a:pt x="0" y="735736"/>
                </a:moveTo>
                <a:cubicBezTo>
                  <a:pt x="0" y="730480"/>
                  <a:pt x="5255" y="725225"/>
                  <a:pt x="10511" y="725225"/>
                </a:cubicBezTo>
                <a:lnTo>
                  <a:pt x="10511" y="725225"/>
                </a:lnTo>
                <a:cubicBezTo>
                  <a:pt x="15766" y="725225"/>
                  <a:pt x="21021" y="730480"/>
                  <a:pt x="21021" y="735736"/>
                </a:cubicBezTo>
                <a:lnTo>
                  <a:pt x="21021" y="735736"/>
                </a:lnTo>
                <a:cubicBezTo>
                  <a:pt x="21021" y="740991"/>
                  <a:pt x="15766" y="746246"/>
                  <a:pt x="10511" y="746246"/>
                </a:cubicBezTo>
                <a:lnTo>
                  <a:pt x="10511" y="746246"/>
                </a:lnTo>
                <a:cubicBezTo>
                  <a:pt x="5255" y="746246"/>
                  <a:pt x="0" y="740991"/>
                  <a:pt x="0" y="735736"/>
                </a:cubicBezTo>
                <a:close/>
                <a:moveTo>
                  <a:pt x="0" y="704204"/>
                </a:moveTo>
                <a:cubicBezTo>
                  <a:pt x="0" y="698949"/>
                  <a:pt x="5255" y="693694"/>
                  <a:pt x="10511" y="693694"/>
                </a:cubicBezTo>
                <a:lnTo>
                  <a:pt x="10511" y="693694"/>
                </a:lnTo>
                <a:cubicBezTo>
                  <a:pt x="15766" y="693694"/>
                  <a:pt x="21021" y="698949"/>
                  <a:pt x="21021" y="704204"/>
                </a:cubicBezTo>
                <a:lnTo>
                  <a:pt x="21021" y="704204"/>
                </a:lnTo>
                <a:cubicBezTo>
                  <a:pt x="21021" y="709459"/>
                  <a:pt x="15766" y="714715"/>
                  <a:pt x="10511" y="714715"/>
                </a:cubicBezTo>
                <a:lnTo>
                  <a:pt x="10511" y="714715"/>
                </a:lnTo>
                <a:cubicBezTo>
                  <a:pt x="5255" y="714715"/>
                  <a:pt x="0" y="709459"/>
                  <a:pt x="0" y="704204"/>
                </a:cubicBezTo>
                <a:close/>
                <a:moveTo>
                  <a:pt x="0" y="672673"/>
                </a:moveTo>
                <a:cubicBezTo>
                  <a:pt x="0" y="667417"/>
                  <a:pt x="5255" y="662162"/>
                  <a:pt x="10511" y="662162"/>
                </a:cubicBezTo>
                <a:lnTo>
                  <a:pt x="10511" y="662162"/>
                </a:lnTo>
                <a:cubicBezTo>
                  <a:pt x="15766" y="662162"/>
                  <a:pt x="21021" y="667417"/>
                  <a:pt x="21021" y="672673"/>
                </a:cubicBezTo>
                <a:lnTo>
                  <a:pt x="21021" y="672673"/>
                </a:lnTo>
                <a:cubicBezTo>
                  <a:pt x="21021" y="677928"/>
                  <a:pt x="15766" y="683183"/>
                  <a:pt x="10511" y="683183"/>
                </a:cubicBezTo>
                <a:lnTo>
                  <a:pt x="10511" y="683183"/>
                </a:lnTo>
                <a:cubicBezTo>
                  <a:pt x="5255" y="683183"/>
                  <a:pt x="0" y="677928"/>
                  <a:pt x="0" y="672673"/>
                </a:cubicBezTo>
                <a:close/>
                <a:moveTo>
                  <a:pt x="0" y="641141"/>
                </a:moveTo>
                <a:cubicBezTo>
                  <a:pt x="0" y="635886"/>
                  <a:pt x="5255" y="630631"/>
                  <a:pt x="10511" y="630631"/>
                </a:cubicBezTo>
                <a:lnTo>
                  <a:pt x="10511" y="630631"/>
                </a:lnTo>
                <a:cubicBezTo>
                  <a:pt x="15766" y="630631"/>
                  <a:pt x="21021" y="635886"/>
                  <a:pt x="21021" y="641141"/>
                </a:cubicBezTo>
                <a:lnTo>
                  <a:pt x="21021" y="641141"/>
                </a:lnTo>
                <a:cubicBezTo>
                  <a:pt x="21021" y="646396"/>
                  <a:pt x="15766" y="651652"/>
                  <a:pt x="10511" y="651652"/>
                </a:cubicBezTo>
                <a:lnTo>
                  <a:pt x="10511" y="651652"/>
                </a:lnTo>
                <a:cubicBezTo>
                  <a:pt x="5255" y="651652"/>
                  <a:pt x="0" y="646396"/>
                  <a:pt x="0" y="641141"/>
                </a:cubicBezTo>
                <a:close/>
                <a:moveTo>
                  <a:pt x="0" y="609610"/>
                </a:moveTo>
                <a:cubicBezTo>
                  <a:pt x="0" y="604354"/>
                  <a:pt x="5255" y="599099"/>
                  <a:pt x="10511" y="599099"/>
                </a:cubicBezTo>
                <a:lnTo>
                  <a:pt x="10511" y="599099"/>
                </a:lnTo>
                <a:cubicBezTo>
                  <a:pt x="15766" y="599099"/>
                  <a:pt x="21021" y="604354"/>
                  <a:pt x="21021" y="609610"/>
                </a:cubicBezTo>
                <a:lnTo>
                  <a:pt x="21021" y="609610"/>
                </a:lnTo>
                <a:cubicBezTo>
                  <a:pt x="21021" y="614865"/>
                  <a:pt x="15766" y="620120"/>
                  <a:pt x="10511" y="620120"/>
                </a:cubicBezTo>
                <a:lnTo>
                  <a:pt x="10511" y="620120"/>
                </a:lnTo>
                <a:cubicBezTo>
                  <a:pt x="5255" y="620120"/>
                  <a:pt x="0" y="614865"/>
                  <a:pt x="0" y="609610"/>
                </a:cubicBezTo>
                <a:close/>
                <a:moveTo>
                  <a:pt x="0" y="578078"/>
                </a:moveTo>
                <a:cubicBezTo>
                  <a:pt x="0" y="572823"/>
                  <a:pt x="5255" y="567568"/>
                  <a:pt x="10511" y="567568"/>
                </a:cubicBezTo>
                <a:lnTo>
                  <a:pt x="10511" y="567568"/>
                </a:lnTo>
                <a:cubicBezTo>
                  <a:pt x="15766" y="567568"/>
                  <a:pt x="21021" y="572823"/>
                  <a:pt x="21021" y="578078"/>
                </a:cubicBezTo>
                <a:lnTo>
                  <a:pt x="21021" y="578078"/>
                </a:lnTo>
                <a:cubicBezTo>
                  <a:pt x="21021" y="583333"/>
                  <a:pt x="15766" y="588589"/>
                  <a:pt x="10511" y="588589"/>
                </a:cubicBezTo>
                <a:lnTo>
                  <a:pt x="10511" y="588589"/>
                </a:lnTo>
                <a:cubicBezTo>
                  <a:pt x="5255" y="588589"/>
                  <a:pt x="0" y="583333"/>
                  <a:pt x="0" y="578078"/>
                </a:cubicBezTo>
                <a:close/>
                <a:moveTo>
                  <a:pt x="0" y="546546"/>
                </a:moveTo>
                <a:cubicBezTo>
                  <a:pt x="0" y="541291"/>
                  <a:pt x="5255" y="536036"/>
                  <a:pt x="10511" y="536036"/>
                </a:cubicBezTo>
                <a:lnTo>
                  <a:pt x="10511" y="536036"/>
                </a:lnTo>
                <a:cubicBezTo>
                  <a:pt x="15766" y="536036"/>
                  <a:pt x="21021" y="541291"/>
                  <a:pt x="21021" y="546546"/>
                </a:cubicBezTo>
                <a:lnTo>
                  <a:pt x="21021" y="546546"/>
                </a:lnTo>
                <a:cubicBezTo>
                  <a:pt x="21021" y="551802"/>
                  <a:pt x="15766" y="557057"/>
                  <a:pt x="10511" y="557057"/>
                </a:cubicBezTo>
                <a:lnTo>
                  <a:pt x="10511" y="557057"/>
                </a:lnTo>
                <a:cubicBezTo>
                  <a:pt x="5255" y="557057"/>
                  <a:pt x="0" y="551802"/>
                  <a:pt x="0" y="546546"/>
                </a:cubicBezTo>
                <a:close/>
                <a:moveTo>
                  <a:pt x="0" y="515015"/>
                </a:moveTo>
                <a:cubicBezTo>
                  <a:pt x="0" y="509760"/>
                  <a:pt x="5255" y="504504"/>
                  <a:pt x="10511" y="504504"/>
                </a:cubicBezTo>
                <a:lnTo>
                  <a:pt x="10511" y="504504"/>
                </a:lnTo>
                <a:cubicBezTo>
                  <a:pt x="15766" y="504504"/>
                  <a:pt x="21021" y="509760"/>
                  <a:pt x="21021" y="515015"/>
                </a:cubicBezTo>
                <a:lnTo>
                  <a:pt x="21021" y="515015"/>
                </a:lnTo>
                <a:cubicBezTo>
                  <a:pt x="21021" y="520270"/>
                  <a:pt x="15766" y="525525"/>
                  <a:pt x="10511" y="525525"/>
                </a:cubicBezTo>
                <a:lnTo>
                  <a:pt x="10511" y="525525"/>
                </a:lnTo>
                <a:cubicBezTo>
                  <a:pt x="5255" y="525525"/>
                  <a:pt x="0" y="520270"/>
                  <a:pt x="0" y="515015"/>
                </a:cubicBezTo>
                <a:close/>
                <a:moveTo>
                  <a:pt x="0" y="483483"/>
                </a:moveTo>
                <a:cubicBezTo>
                  <a:pt x="0" y="478228"/>
                  <a:pt x="5255" y="472973"/>
                  <a:pt x="10511" y="472973"/>
                </a:cubicBezTo>
                <a:lnTo>
                  <a:pt x="10511" y="472973"/>
                </a:lnTo>
                <a:cubicBezTo>
                  <a:pt x="15766" y="472973"/>
                  <a:pt x="21021" y="478228"/>
                  <a:pt x="21021" y="483483"/>
                </a:cubicBezTo>
                <a:lnTo>
                  <a:pt x="21021" y="483483"/>
                </a:lnTo>
                <a:cubicBezTo>
                  <a:pt x="21021" y="488739"/>
                  <a:pt x="15766" y="493994"/>
                  <a:pt x="10511" y="493994"/>
                </a:cubicBezTo>
                <a:lnTo>
                  <a:pt x="10511" y="493994"/>
                </a:lnTo>
                <a:cubicBezTo>
                  <a:pt x="5255" y="493994"/>
                  <a:pt x="0" y="488739"/>
                  <a:pt x="0" y="483483"/>
                </a:cubicBezTo>
                <a:close/>
                <a:moveTo>
                  <a:pt x="0" y="451952"/>
                </a:moveTo>
                <a:cubicBezTo>
                  <a:pt x="0" y="446697"/>
                  <a:pt x="5255" y="441441"/>
                  <a:pt x="10511" y="441441"/>
                </a:cubicBezTo>
                <a:lnTo>
                  <a:pt x="10511" y="441441"/>
                </a:lnTo>
                <a:cubicBezTo>
                  <a:pt x="15766" y="441441"/>
                  <a:pt x="21021" y="446697"/>
                  <a:pt x="21021" y="451952"/>
                </a:cubicBezTo>
                <a:lnTo>
                  <a:pt x="21021" y="451952"/>
                </a:lnTo>
                <a:cubicBezTo>
                  <a:pt x="21021" y="457207"/>
                  <a:pt x="15766" y="462462"/>
                  <a:pt x="10511" y="462462"/>
                </a:cubicBezTo>
                <a:lnTo>
                  <a:pt x="10511" y="462462"/>
                </a:lnTo>
                <a:cubicBezTo>
                  <a:pt x="5255" y="462462"/>
                  <a:pt x="0" y="457207"/>
                  <a:pt x="0" y="451952"/>
                </a:cubicBezTo>
                <a:close/>
                <a:moveTo>
                  <a:pt x="0" y="420420"/>
                </a:moveTo>
                <a:cubicBezTo>
                  <a:pt x="0" y="415165"/>
                  <a:pt x="5255" y="409910"/>
                  <a:pt x="10511" y="409910"/>
                </a:cubicBezTo>
                <a:lnTo>
                  <a:pt x="10511" y="409910"/>
                </a:lnTo>
                <a:cubicBezTo>
                  <a:pt x="15766" y="409910"/>
                  <a:pt x="21021" y="415165"/>
                  <a:pt x="21021" y="420420"/>
                </a:cubicBezTo>
                <a:lnTo>
                  <a:pt x="21021" y="420420"/>
                </a:lnTo>
                <a:cubicBezTo>
                  <a:pt x="21021" y="425676"/>
                  <a:pt x="15766" y="430931"/>
                  <a:pt x="10511" y="430931"/>
                </a:cubicBezTo>
                <a:lnTo>
                  <a:pt x="10511" y="430931"/>
                </a:lnTo>
                <a:cubicBezTo>
                  <a:pt x="5255" y="430931"/>
                  <a:pt x="0" y="425676"/>
                  <a:pt x="0" y="420420"/>
                </a:cubicBezTo>
                <a:close/>
                <a:moveTo>
                  <a:pt x="0" y="388889"/>
                </a:moveTo>
                <a:cubicBezTo>
                  <a:pt x="0" y="383634"/>
                  <a:pt x="5255" y="378378"/>
                  <a:pt x="10511" y="378378"/>
                </a:cubicBezTo>
                <a:lnTo>
                  <a:pt x="10511" y="378378"/>
                </a:lnTo>
                <a:cubicBezTo>
                  <a:pt x="15766" y="378378"/>
                  <a:pt x="21021" y="383634"/>
                  <a:pt x="21021" y="388889"/>
                </a:cubicBezTo>
                <a:lnTo>
                  <a:pt x="21021" y="388889"/>
                </a:lnTo>
                <a:cubicBezTo>
                  <a:pt x="21021" y="394144"/>
                  <a:pt x="15766" y="399399"/>
                  <a:pt x="10511" y="399399"/>
                </a:cubicBezTo>
                <a:lnTo>
                  <a:pt x="10511" y="399399"/>
                </a:lnTo>
                <a:cubicBezTo>
                  <a:pt x="5255" y="399399"/>
                  <a:pt x="0" y="394144"/>
                  <a:pt x="0" y="388889"/>
                </a:cubicBezTo>
                <a:close/>
                <a:moveTo>
                  <a:pt x="0" y="357357"/>
                </a:moveTo>
                <a:cubicBezTo>
                  <a:pt x="0" y="352102"/>
                  <a:pt x="5255" y="346847"/>
                  <a:pt x="10511" y="346847"/>
                </a:cubicBezTo>
                <a:lnTo>
                  <a:pt x="10511" y="346847"/>
                </a:lnTo>
                <a:cubicBezTo>
                  <a:pt x="15766" y="346847"/>
                  <a:pt x="21021" y="352102"/>
                  <a:pt x="21021" y="357357"/>
                </a:cubicBezTo>
                <a:lnTo>
                  <a:pt x="21021" y="357357"/>
                </a:lnTo>
                <a:cubicBezTo>
                  <a:pt x="21021" y="362613"/>
                  <a:pt x="15766" y="367868"/>
                  <a:pt x="10511" y="367868"/>
                </a:cubicBezTo>
                <a:lnTo>
                  <a:pt x="10511" y="367868"/>
                </a:lnTo>
                <a:cubicBezTo>
                  <a:pt x="5255" y="367868"/>
                  <a:pt x="0" y="362613"/>
                  <a:pt x="0" y="357357"/>
                </a:cubicBezTo>
                <a:close/>
                <a:moveTo>
                  <a:pt x="0" y="325826"/>
                </a:moveTo>
                <a:cubicBezTo>
                  <a:pt x="0" y="320571"/>
                  <a:pt x="5255" y="315315"/>
                  <a:pt x="10511" y="315315"/>
                </a:cubicBezTo>
                <a:lnTo>
                  <a:pt x="10511" y="315315"/>
                </a:lnTo>
                <a:cubicBezTo>
                  <a:pt x="15766" y="315315"/>
                  <a:pt x="21021" y="320571"/>
                  <a:pt x="21021" y="325826"/>
                </a:cubicBezTo>
                <a:lnTo>
                  <a:pt x="21021" y="325826"/>
                </a:lnTo>
                <a:cubicBezTo>
                  <a:pt x="21021" y="331081"/>
                  <a:pt x="15766" y="336336"/>
                  <a:pt x="10511" y="336336"/>
                </a:cubicBezTo>
                <a:lnTo>
                  <a:pt x="10511" y="336336"/>
                </a:lnTo>
                <a:cubicBezTo>
                  <a:pt x="5255" y="336336"/>
                  <a:pt x="0" y="331081"/>
                  <a:pt x="0" y="325826"/>
                </a:cubicBezTo>
                <a:close/>
                <a:moveTo>
                  <a:pt x="0" y="294294"/>
                </a:moveTo>
                <a:cubicBezTo>
                  <a:pt x="0" y="289039"/>
                  <a:pt x="5255" y="283784"/>
                  <a:pt x="10511" y="283784"/>
                </a:cubicBezTo>
                <a:lnTo>
                  <a:pt x="10511" y="283784"/>
                </a:lnTo>
                <a:cubicBezTo>
                  <a:pt x="15766" y="283784"/>
                  <a:pt x="21021" y="289039"/>
                  <a:pt x="21021" y="294294"/>
                </a:cubicBezTo>
                <a:lnTo>
                  <a:pt x="21021" y="294294"/>
                </a:lnTo>
                <a:cubicBezTo>
                  <a:pt x="21021" y="299550"/>
                  <a:pt x="15766" y="304805"/>
                  <a:pt x="10511" y="304805"/>
                </a:cubicBezTo>
                <a:lnTo>
                  <a:pt x="10511" y="304805"/>
                </a:lnTo>
                <a:cubicBezTo>
                  <a:pt x="5255" y="304805"/>
                  <a:pt x="0" y="299550"/>
                  <a:pt x="0" y="294294"/>
                </a:cubicBezTo>
                <a:close/>
                <a:moveTo>
                  <a:pt x="0" y="262763"/>
                </a:moveTo>
                <a:cubicBezTo>
                  <a:pt x="0" y="256456"/>
                  <a:pt x="5255" y="252252"/>
                  <a:pt x="10511" y="252252"/>
                </a:cubicBezTo>
                <a:lnTo>
                  <a:pt x="10511" y="252252"/>
                </a:lnTo>
                <a:cubicBezTo>
                  <a:pt x="15766" y="252252"/>
                  <a:pt x="21021" y="256456"/>
                  <a:pt x="21021" y="262763"/>
                </a:cubicBezTo>
                <a:lnTo>
                  <a:pt x="21021" y="262763"/>
                </a:lnTo>
                <a:cubicBezTo>
                  <a:pt x="21021" y="268018"/>
                  <a:pt x="15766" y="273273"/>
                  <a:pt x="10511" y="273273"/>
                </a:cubicBezTo>
                <a:lnTo>
                  <a:pt x="10511" y="273273"/>
                </a:lnTo>
                <a:cubicBezTo>
                  <a:pt x="5255" y="273273"/>
                  <a:pt x="0" y="268018"/>
                  <a:pt x="0" y="262763"/>
                </a:cubicBezTo>
                <a:close/>
                <a:moveTo>
                  <a:pt x="0" y="231231"/>
                </a:moveTo>
                <a:cubicBezTo>
                  <a:pt x="0" y="224925"/>
                  <a:pt x="5255" y="220721"/>
                  <a:pt x="10511" y="220721"/>
                </a:cubicBezTo>
                <a:lnTo>
                  <a:pt x="10511" y="220721"/>
                </a:lnTo>
                <a:cubicBezTo>
                  <a:pt x="15766" y="220721"/>
                  <a:pt x="21021" y="224925"/>
                  <a:pt x="21021" y="231231"/>
                </a:cubicBezTo>
                <a:lnTo>
                  <a:pt x="21021" y="231231"/>
                </a:lnTo>
                <a:cubicBezTo>
                  <a:pt x="21021" y="236486"/>
                  <a:pt x="15766" y="241742"/>
                  <a:pt x="10511" y="241742"/>
                </a:cubicBezTo>
                <a:lnTo>
                  <a:pt x="10511" y="241742"/>
                </a:lnTo>
                <a:cubicBezTo>
                  <a:pt x="5255" y="241742"/>
                  <a:pt x="0" y="236486"/>
                  <a:pt x="0" y="231231"/>
                </a:cubicBezTo>
                <a:close/>
                <a:moveTo>
                  <a:pt x="0" y="199700"/>
                </a:moveTo>
                <a:cubicBezTo>
                  <a:pt x="0" y="193393"/>
                  <a:pt x="5255" y="189189"/>
                  <a:pt x="10511" y="189189"/>
                </a:cubicBezTo>
                <a:lnTo>
                  <a:pt x="10511" y="189189"/>
                </a:lnTo>
                <a:cubicBezTo>
                  <a:pt x="15766" y="189189"/>
                  <a:pt x="21021" y="193393"/>
                  <a:pt x="21021" y="199700"/>
                </a:cubicBezTo>
                <a:lnTo>
                  <a:pt x="21021" y="199700"/>
                </a:lnTo>
                <a:cubicBezTo>
                  <a:pt x="21021" y="204955"/>
                  <a:pt x="15766" y="210210"/>
                  <a:pt x="10511" y="210210"/>
                </a:cubicBezTo>
                <a:lnTo>
                  <a:pt x="10511" y="210210"/>
                </a:lnTo>
                <a:cubicBezTo>
                  <a:pt x="5255" y="210210"/>
                  <a:pt x="0" y="204955"/>
                  <a:pt x="0" y="199700"/>
                </a:cubicBezTo>
                <a:close/>
                <a:moveTo>
                  <a:pt x="0" y="168168"/>
                </a:moveTo>
                <a:cubicBezTo>
                  <a:pt x="0" y="161862"/>
                  <a:pt x="5255" y="157658"/>
                  <a:pt x="10511" y="157658"/>
                </a:cubicBezTo>
                <a:lnTo>
                  <a:pt x="10511" y="157658"/>
                </a:lnTo>
                <a:cubicBezTo>
                  <a:pt x="15766" y="157658"/>
                  <a:pt x="21021" y="161862"/>
                  <a:pt x="21021" y="168168"/>
                </a:cubicBezTo>
                <a:lnTo>
                  <a:pt x="21021" y="168168"/>
                </a:lnTo>
                <a:cubicBezTo>
                  <a:pt x="21021" y="173423"/>
                  <a:pt x="15766" y="178679"/>
                  <a:pt x="10511" y="178679"/>
                </a:cubicBezTo>
                <a:lnTo>
                  <a:pt x="10511" y="178679"/>
                </a:lnTo>
                <a:cubicBezTo>
                  <a:pt x="5255" y="178679"/>
                  <a:pt x="0" y="173423"/>
                  <a:pt x="0" y="168168"/>
                </a:cubicBezTo>
                <a:close/>
                <a:moveTo>
                  <a:pt x="0" y="136637"/>
                </a:moveTo>
                <a:cubicBezTo>
                  <a:pt x="0" y="130330"/>
                  <a:pt x="5255" y="126126"/>
                  <a:pt x="10511" y="126126"/>
                </a:cubicBezTo>
                <a:lnTo>
                  <a:pt x="10511" y="126126"/>
                </a:lnTo>
                <a:cubicBezTo>
                  <a:pt x="15766" y="126126"/>
                  <a:pt x="21021" y="130330"/>
                  <a:pt x="21021" y="136637"/>
                </a:cubicBezTo>
                <a:lnTo>
                  <a:pt x="21021" y="136637"/>
                </a:lnTo>
                <a:cubicBezTo>
                  <a:pt x="21021" y="141892"/>
                  <a:pt x="15766" y="147147"/>
                  <a:pt x="10511" y="147147"/>
                </a:cubicBezTo>
                <a:lnTo>
                  <a:pt x="10511" y="147147"/>
                </a:lnTo>
                <a:cubicBezTo>
                  <a:pt x="5255" y="147147"/>
                  <a:pt x="0" y="141892"/>
                  <a:pt x="0" y="136637"/>
                </a:cubicBezTo>
                <a:close/>
                <a:moveTo>
                  <a:pt x="0" y="105105"/>
                </a:moveTo>
                <a:cubicBezTo>
                  <a:pt x="0" y="98799"/>
                  <a:pt x="5255" y="94595"/>
                  <a:pt x="10511" y="94595"/>
                </a:cubicBezTo>
                <a:lnTo>
                  <a:pt x="10511" y="94595"/>
                </a:lnTo>
                <a:cubicBezTo>
                  <a:pt x="15766" y="94595"/>
                  <a:pt x="21021" y="98799"/>
                  <a:pt x="21021" y="105105"/>
                </a:cubicBezTo>
                <a:lnTo>
                  <a:pt x="21021" y="105105"/>
                </a:lnTo>
                <a:cubicBezTo>
                  <a:pt x="21021" y="110360"/>
                  <a:pt x="15766" y="115616"/>
                  <a:pt x="10511" y="115616"/>
                </a:cubicBezTo>
                <a:lnTo>
                  <a:pt x="10511" y="115616"/>
                </a:lnTo>
                <a:cubicBezTo>
                  <a:pt x="5255" y="115616"/>
                  <a:pt x="0" y="110360"/>
                  <a:pt x="0" y="105105"/>
                </a:cubicBezTo>
                <a:close/>
                <a:moveTo>
                  <a:pt x="0" y="73574"/>
                </a:moveTo>
                <a:cubicBezTo>
                  <a:pt x="0" y="67267"/>
                  <a:pt x="5255" y="63063"/>
                  <a:pt x="10511" y="63063"/>
                </a:cubicBezTo>
                <a:lnTo>
                  <a:pt x="10511" y="63063"/>
                </a:lnTo>
                <a:cubicBezTo>
                  <a:pt x="15766" y="63063"/>
                  <a:pt x="21021" y="67267"/>
                  <a:pt x="21021" y="73574"/>
                </a:cubicBezTo>
                <a:lnTo>
                  <a:pt x="21021" y="73574"/>
                </a:lnTo>
                <a:cubicBezTo>
                  <a:pt x="21021" y="78829"/>
                  <a:pt x="15766" y="84084"/>
                  <a:pt x="10511" y="84084"/>
                </a:cubicBezTo>
                <a:lnTo>
                  <a:pt x="10511" y="84084"/>
                </a:lnTo>
                <a:cubicBezTo>
                  <a:pt x="5255" y="84084"/>
                  <a:pt x="0" y="78829"/>
                  <a:pt x="0" y="73574"/>
                </a:cubicBezTo>
                <a:close/>
                <a:moveTo>
                  <a:pt x="0" y="42042"/>
                </a:moveTo>
                <a:cubicBezTo>
                  <a:pt x="0" y="35736"/>
                  <a:pt x="5255" y="31532"/>
                  <a:pt x="10511" y="31532"/>
                </a:cubicBezTo>
                <a:lnTo>
                  <a:pt x="10511" y="31532"/>
                </a:lnTo>
                <a:cubicBezTo>
                  <a:pt x="15766" y="31532"/>
                  <a:pt x="21021" y="35736"/>
                  <a:pt x="21021" y="42042"/>
                </a:cubicBezTo>
                <a:lnTo>
                  <a:pt x="21021" y="42042"/>
                </a:lnTo>
                <a:cubicBezTo>
                  <a:pt x="21021" y="47297"/>
                  <a:pt x="15766" y="52553"/>
                  <a:pt x="10511" y="52553"/>
                </a:cubicBezTo>
                <a:lnTo>
                  <a:pt x="10511" y="52553"/>
                </a:lnTo>
                <a:cubicBezTo>
                  <a:pt x="5255" y="52553"/>
                  <a:pt x="0" y="47297"/>
                  <a:pt x="0" y="42042"/>
                </a:cubicBezTo>
                <a:close/>
                <a:moveTo>
                  <a:pt x="0" y="10511"/>
                </a:moveTo>
                <a:cubicBezTo>
                  <a:pt x="0" y="4204"/>
                  <a:pt x="5255" y="0"/>
                  <a:pt x="10511" y="0"/>
                </a:cubicBezTo>
                <a:lnTo>
                  <a:pt x="10511" y="0"/>
                </a:lnTo>
                <a:cubicBezTo>
                  <a:pt x="15766" y="0"/>
                  <a:pt x="21021" y="4204"/>
                  <a:pt x="21021" y="10511"/>
                </a:cubicBezTo>
                <a:lnTo>
                  <a:pt x="21021" y="10511"/>
                </a:lnTo>
                <a:cubicBezTo>
                  <a:pt x="21021" y="15766"/>
                  <a:pt x="15766" y="21021"/>
                  <a:pt x="10511" y="21021"/>
                </a:cubicBezTo>
                <a:lnTo>
                  <a:pt x="10511" y="21021"/>
                </a:lnTo>
                <a:cubicBezTo>
                  <a:pt x="5255" y="21021"/>
                  <a:pt x="0" y="15766"/>
                  <a:pt x="0" y="10511"/>
                </a:cubicBezTo>
                <a:close/>
              </a:path>
            </a:pathLst>
          </a:custGeom>
          <a:solidFill>
            <a:schemeClr val="bg1"/>
          </a:solidFill>
          <a:ln w="2611" cap="flat">
            <a:noFill/>
            <a:prstDash val="solid"/>
            <a:miter/>
          </a:ln>
        </p:spPr>
        <p:txBody>
          <a:bodyPr/>
          <a:lstStyle/>
          <a:p>
            <a:endParaRPr lang="en-US"/>
          </a:p>
        </p:txBody>
      </p:sp>
      <p:sp>
        <p:nvSpPr>
          <p:cNvPr id="154" name="Freeform 153">
            <a:extLst>
              <a:ext uri="{FF2B5EF4-FFF2-40B4-BE49-F238E27FC236}">
                <a16:creationId xmlns:a16="http://schemas.microsoft.com/office/drawing/2014/main" id="{862FD7B7-6DC8-6C8D-0E5A-C5DFDBC47B13}"/>
              </a:ext>
            </a:extLst>
          </p:cNvPr>
          <p:cNvSpPr/>
          <p:nvPr/>
        </p:nvSpPr>
        <p:spPr>
          <a:xfrm>
            <a:off x="10138073" y="4603508"/>
            <a:ext cx="21021" cy="241741"/>
          </a:xfrm>
          <a:custGeom>
            <a:avLst/>
            <a:gdLst>
              <a:gd name="csX0" fmla="*/ 0 w 21021"/>
              <a:gd name="csY0" fmla="*/ 231231 h 241741"/>
              <a:gd name="csX1" fmla="*/ 10511 w 21021"/>
              <a:gd name="csY1" fmla="*/ 220721 h 241741"/>
              <a:gd name="csX2" fmla="*/ 10511 w 21021"/>
              <a:gd name="csY2" fmla="*/ 220721 h 241741"/>
              <a:gd name="csX3" fmla="*/ 21021 w 21021"/>
              <a:gd name="csY3" fmla="*/ 231231 h 241741"/>
              <a:gd name="csX4" fmla="*/ 21021 w 21021"/>
              <a:gd name="csY4" fmla="*/ 231231 h 241741"/>
              <a:gd name="csX5" fmla="*/ 10511 w 21021"/>
              <a:gd name="csY5" fmla="*/ 241742 h 241741"/>
              <a:gd name="csX6" fmla="*/ 10511 w 21021"/>
              <a:gd name="csY6" fmla="*/ 241742 h 241741"/>
              <a:gd name="csX7" fmla="*/ 0 w 21021"/>
              <a:gd name="csY7" fmla="*/ 231231 h 241741"/>
              <a:gd name="csX8" fmla="*/ 0 w 21021"/>
              <a:gd name="csY8" fmla="*/ 199700 h 241741"/>
              <a:gd name="csX9" fmla="*/ 10511 w 21021"/>
              <a:gd name="csY9" fmla="*/ 189189 h 241741"/>
              <a:gd name="csX10" fmla="*/ 10511 w 21021"/>
              <a:gd name="csY10" fmla="*/ 189189 h 241741"/>
              <a:gd name="csX11" fmla="*/ 21021 w 21021"/>
              <a:gd name="csY11" fmla="*/ 199700 h 241741"/>
              <a:gd name="csX12" fmla="*/ 21021 w 21021"/>
              <a:gd name="csY12" fmla="*/ 199700 h 241741"/>
              <a:gd name="csX13" fmla="*/ 10511 w 21021"/>
              <a:gd name="csY13" fmla="*/ 210210 h 241741"/>
              <a:gd name="csX14" fmla="*/ 10511 w 21021"/>
              <a:gd name="csY14" fmla="*/ 210210 h 241741"/>
              <a:gd name="csX15" fmla="*/ 0 w 21021"/>
              <a:gd name="csY15" fmla="*/ 199700 h 241741"/>
              <a:gd name="csX16" fmla="*/ 0 w 21021"/>
              <a:gd name="csY16" fmla="*/ 168168 h 241741"/>
              <a:gd name="csX17" fmla="*/ 10511 w 21021"/>
              <a:gd name="csY17" fmla="*/ 157658 h 241741"/>
              <a:gd name="csX18" fmla="*/ 10511 w 21021"/>
              <a:gd name="csY18" fmla="*/ 157658 h 241741"/>
              <a:gd name="csX19" fmla="*/ 21021 w 21021"/>
              <a:gd name="csY19" fmla="*/ 168168 h 241741"/>
              <a:gd name="csX20" fmla="*/ 21021 w 21021"/>
              <a:gd name="csY20" fmla="*/ 168168 h 241741"/>
              <a:gd name="csX21" fmla="*/ 10511 w 21021"/>
              <a:gd name="csY21" fmla="*/ 178679 h 241741"/>
              <a:gd name="csX22" fmla="*/ 10511 w 21021"/>
              <a:gd name="csY22" fmla="*/ 178679 h 241741"/>
              <a:gd name="csX23" fmla="*/ 0 w 21021"/>
              <a:gd name="csY23" fmla="*/ 168168 h 241741"/>
              <a:gd name="csX24" fmla="*/ 0 w 21021"/>
              <a:gd name="csY24" fmla="*/ 136637 h 241741"/>
              <a:gd name="csX25" fmla="*/ 10511 w 21021"/>
              <a:gd name="csY25" fmla="*/ 126126 h 241741"/>
              <a:gd name="csX26" fmla="*/ 10511 w 21021"/>
              <a:gd name="csY26" fmla="*/ 126126 h 241741"/>
              <a:gd name="csX27" fmla="*/ 21021 w 21021"/>
              <a:gd name="csY27" fmla="*/ 136637 h 241741"/>
              <a:gd name="csX28" fmla="*/ 21021 w 21021"/>
              <a:gd name="csY28" fmla="*/ 136637 h 241741"/>
              <a:gd name="csX29" fmla="*/ 10511 w 21021"/>
              <a:gd name="csY29" fmla="*/ 147147 h 241741"/>
              <a:gd name="csX30" fmla="*/ 10511 w 21021"/>
              <a:gd name="csY30" fmla="*/ 147147 h 241741"/>
              <a:gd name="csX31" fmla="*/ 0 w 21021"/>
              <a:gd name="csY31" fmla="*/ 136637 h 241741"/>
              <a:gd name="csX32" fmla="*/ 0 w 21021"/>
              <a:gd name="csY32" fmla="*/ 105105 h 241741"/>
              <a:gd name="csX33" fmla="*/ 10511 w 21021"/>
              <a:gd name="csY33" fmla="*/ 94595 h 241741"/>
              <a:gd name="csX34" fmla="*/ 10511 w 21021"/>
              <a:gd name="csY34" fmla="*/ 94595 h 241741"/>
              <a:gd name="csX35" fmla="*/ 21021 w 21021"/>
              <a:gd name="csY35" fmla="*/ 105105 h 241741"/>
              <a:gd name="csX36" fmla="*/ 21021 w 21021"/>
              <a:gd name="csY36" fmla="*/ 105105 h 241741"/>
              <a:gd name="csX37" fmla="*/ 10511 w 21021"/>
              <a:gd name="csY37" fmla="*/ 115616 h 241741"/>
              <a:gd name="csX38" fmla="*/ 10511 w 21021"/>
              <a:gd name="csY38" fmla="*/ 115616 h 241741"/>
              <a:gd name="csX39" fmla="*/ 0 w 21021"/>
              <a:gd name="csY39" fmla="*/ 105105 h 241741"/>
              <a:gd name="csX40" fmla="*/ 0 w 21021"/>
              <a:gd name="csY40" fmla="*/ 73574 h 241741"/>
              <a:gd name="csX41" fmla="*/ 10511 w 21021"/>
              <a:gd name="csY41" fmla="*/ 63063 h 241741"/>
              <a:gd name="csX42" fmla="*/ 10511 w 21021"/>
              <a:gd name="csY42" fmla="*/ 63063 h 241741"/>
              <a:gd name="csX43" fmla="*/ 21021 w 21021"/>
              <a:gd name="csY43" fmla="*/ 73574 h 241741"/>
              <a:gd name="csX44" fmla="*/ 21021 w 21021"/>
              <a:gd name="csY44" fmla="*/ 73574 h 241741"/>
              <a:gd name="csX45" fmla="*/ 10511 w 21021"/>
              <a:gd name="csY45" fmla="*/ 84084 h 241741"/>
              <a:gd name="csX46" fmla="*/ 10511 w 21021"/>
              <a:gd name="csY46" fmla="*/ 84084 h 241741"/>
              <a:gd name="csX47" fmla="*/ 0 w 21021"/>
              <a:gd name="csY47" fmla="*/ 73574 h 241741"/>
              <a:gd name="csX48" fmla="*/ 0 w 21021"/>
              <a:gd name="csY48" fmla="*/ 42042 h 241741"/>
              <a:gd name="csX49" fmla="*/ 10511 w 21021"/>
              <a:gd name="csY49" fmla="*/ 31532 h 241741"/>
              <a:gd name="csX50" fmla="*/ 10511 w 21021"/>
              <a:gd name="csY50" fmla="*/ 31532 h 241741"/>
              <a:gd name="csX51" fmla="*/ 21021 w 21021"/>
              <a:gd name="csY51" fmla="*/ 42042 h 241741"/>
              <a:gd name="csX52" fmla="*/ 21021 w 21021"/>
              <a:gd name="csY52" fmla="*/ 42042 h 241741"/>
              <a:gd name="csX53" fmla="*/ 10511 w 21021"/>
              <a:gd name="csY53" fmla="*/ 52553 h 241741"/>
              <a:gd name="csX54" fmla="*/ 10511 w 21021"/>
              <a:gd name="csY54" fmla="*/ 52553 h 241741"/>
              <a:gd name="csX55" fmla="*/ 0 w 21021"/>
              <a:gd name="csY55" fmla="*/ 42042 h 241741"/>
              <a:gd name="csX56" fmla="*/ 0 w 21021"/>
              <a:gd name="csY56" fmla="*/ 10511 h 241741"/>
              <a:gd name="csX57" fmla="*/ 10511 w 21021"/>
              <a:gd name="csY57" fmla="*/ 0 h 241741"/>
              <a:gd name="csX58" fmla="*/ 10511 w 21021"/>
              <a:gd name="csY58" fmla="*/ 0 h 241741"/>
              <a:gd name="csX59" fmla="*/ 21021 w 21021"/>
              <a:gd name="csY59" fmla="*/ 10511 h 241741"/>
              <a:gd name="csX60" fmla="*/ 21021 w 21021"/>
              <a:gd name="csY60" fmla="*/ 10511 h 241741"/>
              <a:gd name="csX61" fmla="*/ 10511 w 21021"/>
              <a:gd name="csY61" fmla="*/ 21021 h 241741"/>
              <a:gd name="csX62" fmla="*/ 10511 w 21021"/>
              <a:gd name="csY62" fmla="*/ 21021 h 241741"/>
              <a:gd name="csX63" fmla="*/ 0 w 21021"/>
              <a:gd name="csY63" fmla="*/ 10511 h 2417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1021" h="241741">
                <a:moveTo>
                  <a:pt x="0" y="231231"/>
                </a:moveTo>
                <a:cubicBezTo>
                  <a:pt x="0" y="224925"/>
                  <a:pt x="5255" y="220721"/>
                  <a:pt x="10511" y="220721"/>
                </a:cubicBezTo>
                <a:lnTo>
                  <a:pt x="10511" y="220721"/>
                </a:lnTo>
                <a:cubicBezTo>
                  <a:pt x="15766" y="220721"/>
                  <a:pt x="21021" y="224925"/>
                  <a:pt x="21021" y="231231"/>
                </a:cubicBezTo>
                <a:lnTo>
                  <a:pt x="21021" y="231231"/>
                </a:lnTo>
                <a:cubicBezTo>
                  <a:pt x="21021" y="236486"/>
                  <a:pt x="15766" y="241742"/>
                  <a:pt x="10511" y="241742"/>
                </a:cubicBezTo>
                <a:lnTo>
                  <a:pt x="10511" y="241742"/>
                </a:lnTo>
                <a:cubicBezTo>
                  <a:pt x="5255" y="241742"/>
                  <a:pt x="0" y="236486"/>
                  <a:pt x="0" y="231231"/>
                </a:cubicBezTo>
                <a:close/>
                <a:moveTo>
                  <a:pt x="0" y="199700"/>
                </a:moveTo>
                <a:cubicBezTo>
                  <a:pt x="0" y="193393"/>
                  <a:pt x="5255" y="189189"/>
                  <a:pt x="10511" y="189189"/>
                </a:cubicBezTo>
                <a:lnTo>
                  <a:pt x="10511" y="189189"/>
                </a:lnTo>
                <a:cubicBezTo>
                  <a:pt x="15766" y="189189"/>
                  <a:pt x="21021" y="193393"/>
                  <a:pt x="21021" y="199700"/>
                </a:cubicBezTo>
                <a:lnTo>
                  <a:pt x="21021" y="199700"/>
                </a:lnTo>
                <a:cubicBezTo>
                  <a:pt x="21021" y="204955"/>
                  <a:pt x="15766" y="210210"/>
                  <a:pt x="10511" y="210210"/>
                </a:cubicBezTo>
                <a:lnTo>
                  <a:pt x="10511" y="210210"/>
                </a:lnTo>
                <a:cubicBezTo>
                  <a:pt x="5255" y="210210"/>
                  <a:pt x="0" y="204955"/>
                  <a:pt x="0" y="199700"/>
                </a:cubicBezTo>
                <a:close/>
                <a:moveTo>
                  <a:pt x="0" y="168168"/>
                </a:moveTo>
                <a:cubicBezTo>
                  <a:pt x="0" y="161862"/>
                  <a:pt x="5255" y="157658"/>
                  <a:pt x="10511" y="157658"/>
                </a:cubicBezTo>
                <a:lnTo>
                  <a:pt x="10511" y="157658"/>
                </a:lnTo>
                <a:cubicBezTo>
                  <a:pt x="15766" y="157658"/>
                  <a:pt x="21021" y="161862"/>
                  <a:pt x="21021" y="168168"/>
                </a:cubicBezTo>
                <a:lnTo>
                  <a:pt x="21021" y="168168"/>
                </a:lnTo>
                <a:cubicBezTo>
                  <a:pt x="21021" y="173423"/>
                  <a:pt x="15766" y="178679"/>
                  <a:pt x="10511" y="178679"/>
                </a:cubicBezTo>
                <a:lnTo>
                  <a:pt x="10511" y="178679"/>
                </a:lnTo>
                <a:cubicBezTo>
                  <a:pt x="5255" y="178679"/>
                  <a:pt x="0" y="173423"/>
                  <a:pt x="0" y="168168"/>
                </a:cubicBezTo>
                <a:close/>
                <a:moveTo>
                  <a:pt x="0" y="136637"/>
                </a:moveTo>
                <a:cubicBezTo>
                  <a:pt x="0" y="130330"/>
                  <a:pt x="5255" y="126126"/>
                  <a:pt x="10511" y="126126"/>
                </a:cubicBezTo>
                <a:lnTo>
                  <a:pt x="10511" y="126126"/>
                </a:lnTo>
                <a:cubicBezTo>
                  <a:pt x="15766" y="126126"/>
                  <a:pt x="21021" y="130330"/>
                  <a:pt x="21021" y="136637"/>
                </a:cubicBezTo>
                <a:lnTo>
                  <a:pt x="21021" y="136637"/>
                </a:lnTo>
                <a:cubicBezTo>
                  <a:pt x="21021" y="141892"/>
                  <a:pt x="15766" y="147147"/>
                  <a:pt x="10511" y="147147"/>
                </a:cubicBezTo>
                <a:lnTo>
                  <a:pt x="10511" y="147147"/>
                </a:lnTo>
                <a:cubicBezTo>
                  <a:pt x="5255" y="147147"/>
                  <a:pt x="0" y="141892"/>
                  <a:pt x="0" y="136637"/>
                </a:cubicBezTo>
                <a:close/>
                <a:moveTo>
                  <a:pt x="0" y="105105"/>
                </a:moveTo>
                <a:cubicBezTo>
                  <a:pt x="0" y="98799"/>
                  <a:pt x="5255" y="94595"/>
                  <a:pt x="10511" y="94595"/>
                </a:cubicBezTo>
                <a:lnTo>
                  <a:pt x="10511" y="94595"/>
                </a:lnTo>
                <a:cubicBezTo>
                  <a:pt x="15766" y="94595"/>
                  <a:pt x="21021" y="98799"/>
                  <a:pt x="21021" y="105105"/>
                </a:cubicBezTo>
                <a:lnTo>
                  <a:pt x="21021" y="105105"/>
                </a:lnTo>
                <a:cubicBezTo>
                  <a:pt x="21021" y="110360"/>
                  <a:pt x="15766" y="115616"/>
                  <a:pt x="10511" y="115616"/>
                </a:cubicBezTo>
                <a:lnTo>
                  <a:pt x="10511" y="115616"/>
                </a:lnTo>
                <a:cubicBezTo>
                  <a:pt x="5255" y="115616"/>
                  <a:pt x="0" y="110360"/>
                  <a:pt x="0" y="105105"/>
                </a:cubicBezTo>
                <a:close/>
                <a:moveTo>
                  <a:pt x="0" y="73574"/>
                </a:moveTo>
                <a:cubicBezTo>
                  <a:pt x="0" y="67267"/>
                  <a:pt x="5255" y="63063"/>
                  <a:pt x="10511" y="63063"/>
                </a:cubicBezTo>
                <a:lnTo>
                  <a:pt x="10511" y="63063"/>
                </a:lnTo>
                <a:cubicBezTo>
                  <a:pt x="15766" y="63063"/>
                  <a:pt x="21021" y="67267"/>
                  <a:pt x="21021" y="73574"/>
                </a:cubicBezTo>
                <a:lnTo>
                  <a:pt x="21021" y="73574"/>
                </a:lnTo>
                <a:cubicBezTo>
                  <a:pt x="21021" y="78829"/>
                  <a:pt x="15766" y="84084"/>
                  <a:pt x="10511" y="84084"/>
                </a:cubicBezTo>
                <a:lnTo>
                  <a:pt x="10511" y="84084"/>
                </a:lnTo>
                <a:cubicBezTo>
                  <a:pt x="5255" y="84084"/>
                  <a:pt x="0" y="78829"/>
                  <a:pt x="0" y="73574"/>
                </a:cubicBezTo>
                <a:close/>
                <a:moveTo>
                  <a:pt x="0" y="42042"/>
                </a:moveTo>
                <a:cubicBezTo>
                  <a:pt x="0" y="35736"/>
                  <a:pt x="5255" y="31532"/>
                  <a:pt x="10511" y="31532"/>
                </a:cubicBezTo>
                <a:lnTo>
                  <a:pt x="10511" y="31532"/>
                </a:lnTo>
                <a:cubicBezTo>
                  <a:pt x="15766" y="31532"/>
                  <a:pt x="21021" y="35736"/>
                  <a:pt x="21021" y="42042"/>
                </a:cubicBezTo>
                <a:lnTo>
                  <a:pt x="21021" y="42042"/>
                </a:lnTo>
                <a:cubicBezTo>
                  <a:pt x="21021" y="47297"/>
                  <a:pt x="15766" y="52553"/>
                  <a:pt x="10511" y="52553"/>
                </a:cubicBezTo>
                <a:lnTo>
                  <a:pt x="10511" y="52553"/>
                </a:lnTo>
                <a:cubicBezTo>
                  <a:pt x="5255" y="52553"/>
                  <a:pt x="0" y="47297"/>
                  <a:pt x="0" y="42042"/>
                </a:cubicBezTo>
                <a:close/>
                <a:moveTo>
                  <a:pt x="0" y="10511"/>
                </a:moveTo>
                <a:cubicBezTo>
                  <a:pt x="0" y="4204"/>
                  <a:pt x="5255" y="0"/>
                  <a:pt x="10511" y="0"/>
                </a:cubicBezTo>
                <a:lnTo>
                  <a:pt x="10511" y="0"/>
                </a:lnTo>
                <a:cubicBezTo>
                  <a:pt x="15766" y="0"/>
                  <a:pt x="21021" y="4204"/>
                  <a:pt x="21021" y="10511"/>
                </a:cubicBezTo>
                <a:lnTo>
                  <a:pt x="21021" y="10511"/>
                </a:lnTo>
                <a:cubicBezTo>
                  <a:pt x="21021" y="15766"/>
                  <a:pt x="15766" y="21021"/>
                  <a:pt x="10511" y="21021"/>
                </a:cubicBezTo>
                <a:lnTo>
                  <a:pt x="10511" y="21021"/>
                </a:lnTo>
                <a:cubicBezTo>
                  <a:pt x="5255" y="21021"/>
                  <a:pt x="0" y="15766"/>
                  <a:pt x="0" y="10511"/>
                </a:cubicBezTo>
                <a:close/>
              </a:path>
            </a:pathLst>
          </a:custGeom>
          <a:solidFill>
            <a:schemeClr val="bg1"/>
          </a:solidFill>
          <a:ln w="2611" cap="flat">
            <a:noFill/>
            <a:prstDash val="solid"/>
            <a:miter/>
          </a:ln>
        </p:spPr>
        <p:txBody>
          <a:bodyPr/>
          <a:lstStyle/>
          <a:p>
            <a:endParaRPr lang="en-US"/>
          </a:p>
        </p:txBody>
      </p:sp>
      <p:sp>
        <p:nvSpPr>
          <p:cNvPr id="155" name="Freeform 154">
            <a:extLst>
              <a:ext uri="{FF2B5EF4-FFF2-40B4-BE49-F238E27FC236}">
                <a16:creationId xmlns:a16="http://schemas.microsoft.com/office/drawing/2014/main" id="{FEF638E3-7DC8-5EB9-8540-D50E1D7950F4}"/>
              </a:ext>
            </a:extLst>
          </p:cNvPr>
          <p:cNvSpPr/>
          <p:nvPr/>
        </p:nvSpPr>
        <p:spPr>
          <a:xfrm>
            <a:off x="10089725" y="4848403"/>
            <a:ext cx="124023" cy="124024"/>
          </a:xfrm>
          <a:custGeom>
            <a:avLst/>
            <a:gdLst>
              <a:gd name="csX0" fmla="*/ 62012 w 124023"/>
              <a:gd name="csY0" fmla="*/ 124024 h 124024"/>
              <a:gd name="csX1" fmla="*/ 0 w 124023"/>
              <a:gd name="csY1" fmla="*/ 62012 h 124024"/>
              <a:gd name="csX2" fmla="*/ 62012 w 124023"/>
              <a:gd name="csY2" fmla="*/ 0 h 124024"/>
              <a:gd name="csX3" fmla="*/ 124024 w 124023"/>
              <a:gd name="csY3" fmla="*/ 62012 h 124024"/>
              <a:gd name="csX4" fmla="*/ 62012 w 124023"/>
              <a:gd name="csY4" fmla="*/ 124024 h 124024"/>
              <a:gd name="csX5" fmla="*/ 62012 w 124023"/>
              <a:gd name="csY5" fmla="*/ 19970 h 124024"/>
              <a:gd name="csX6" fmla="*/ 21021 w 124023"/>
              <a:gd name="csY6" fmla="*/ 60961 h 124024"/>
              <a:gd name="csX7" fmla="*/ 62012 w 124023"/>
              <a:gd name="csY7" fmla="*/ 101952 h 124024"/>
              <a:gd name="csX8" fmla="*/ 103003 w 124023"/>
              <a:gd name="csY8" fmla="*/ 60961 h 124024"/>
              <a:gd name="csX9" fmla="*/ 62012 w 124023"/>
              <a:gd name="csY9" fmla="*/ 19970 h 1240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4023" h="124024">
                <a:moveTo>
                  <a:pt x="62012" y="124024"/>
                </a:moveTo>
                <a:cubicBezTo>
                  <a:pt x="27327" y="124024"/>
                  <a:pt x="0" y="95646"/>
                  <a:pt x="0" y="62012"/>
                </a:cubicBezTo>
                <a:cubicBezTo>
                  <a:pt x="0" y="28378"/>
                  <a:pt x="28378" y="0"/>
                  <a:pt x="62012" y="0"/>
                </a:cubicBezTo>
                <a:cubicBezTo>
                  <a:pt x="96697" y="0"/>
                  <a:pt x="124024" y="28378"/>
                  <a:pt x="124024" y="62012"/>
                </a:cubicBezTo>
                <a:cubicBezTo>
                  <a:pt x="124024" y="95646"/>
                  <a:pt x="95646" y="124024"/>
                  <a:pt x="62012" y="124024"/>
                </a:cubicBezTo>
                <a:close/>
                <a:moveTo>
                  <a:pt x="62012" y="19970"/>
                </a:moveTo>
                <a:cubicBezTo>
                  <a:pt x="38889" y="19970"/>
                  <a:pt x="21021" y="38889"/>
                  <a:pt x="21021" y="60961"/>
                </a:cubicBezTo>
                <a:cubicBezTo>
                  <a:pt x="21021" y="84084"/>
                  <a:pt x="39940" y="101952"/>
                  <a:pt x="62012" y="101952"/>
                </a:cubicBezTo>
                <a:cubicBezTo>
                  <a:pt x="85135" y="101952"/>
                  <a:pt x="103003" y="83033"/>
                  <a:pt x="103003" y="60961"/>
                </a:cubicBezTo>
                <a:cubicBezTo>
                  <a:pt x="103003" y="38889"/>
                  <a:pt x="84084" y="19970"/>
                  <a:pt x="62012" y="19970"/>
                </a:cubicBezTo>
                <a:close/>
              </a:path>
            </a:pathLst>
          </a:custGeom>
          <a:solidFill>
            <a:schemeClr val="bg1"/>
          </a:solidFill>
          <a:ln w="2611" cap="flat">
            <a:noFill/>
            <a:prstDash val="solid"/>
            <a:miter/>
          </a:ln>
        </p:spPr>
        <p:txBody>
          <a:bodyPr/>
          <a:lstStyle/>
          <a:p>
            <a:endParaRPr lang="en-US"/>
          </a:p>
        </p:txBody>
      </p:sp>
      <p:sp>
        <p:nvSpPr>
          <p:cNvPr id="156" name="Freeform 155">
            <a:extLst>
              <a:ext uri="{FF2B5EF4-FFF2-40B4-BE49-F238E27FC236}">
                <a16:creationId xmlns:a16="http://schemas.microsoft.com/office/drawing/2014/main" id="{C1FEF7A7-D78A-4912-5DE2-2EC58EC1A5D3}"/>
              </a:ext>
            </a:extLst>
          </p:cNvPr>
          <p:cNvSpPr/>
          <p:nvPr/>
        </p:nvSpPr>
        <p:spPr>
          <a:xfrm>
            <a:off x="10421857" y="4732787"/>
            <a:ext cx="124023" cy="124024"/>
          </a:xfrm>
          <a:custGeom>
            <a:avLst/>
            <a:gdLst>
              <a:gd name="csX0" fmla="*/ 62012 w 124023"/>
              <a:gd name="csY0" fmla="*/ 124024 h 124024"/>
              <a:gd name="csX1" fmla="*/ 0 w 124023"/>
              <a:gd name="csY1" fmla="*/ 62012 h 124024"/>
              <a:gd name="csX2" fmla="*/ 62012 w 124023"/>
              <a:gd name="csY2" fmla="*/ 0 h 124024"/>
              <a:gd name="csX3" fmla="*/ 124024 w 124023"/>
              <a:gd name="csY3" fmla="*/ 62012 h 124024"/>
              <a:gd name="csX4" fmla="*/ 62012 w 124023"/>
              <a:gd name="csY4" fmla="*/ 124024 h 124024"/>
              <a:gd name="csX5" fmla="*/ 62012 w 124023"/>
              <a:gd name="csY5" fmla="*/ 19970 h 124024"/>
              <a:gd name="csX6" fmla="*/ 21021 w 124023"/>
              <a:gd name="csY6" fmla="*/ 60961 h 124024"/>
              <a:gd name="csX7" fmla="*/ 62012 w 124023"/>
              <a:gd name="csY7" fmla="*/ 101952 h 124024"/>
              <a:gd name="csX8" fmla="*/ 103003 w 124023"/>
              <a:gd name="csY8" fmla="*/ 60961 h 124024"/>
              <a:gd name="csX9" fmla="*/ 62012 w 124023"/>
              <a:gd name="csY9" fmla="*/ 19970 h 1240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4023" h="124024">
                <a:moveTo>
                  <a:pt x="62012" y="124024"/>
                </a:moveTo>
                <a:cubicBezTo>
                  <a:pt x="27327" y="124024"/>
                  <a:pt x="0" y="95646"/>
                  <a:pt x="0" y="62012"/>
                </a:cubicBezTo>
                <a:cubicBezTo>
                  <a:pt x="0" y="28378"/>
                  <a:pt x="28378" y="0"/>
                  <a:pt x="62012" y="0"/>
                </a:cubicBezTo>
                <a:cubicBezTo>
                  <a:pt x="96697" y="0"/>
                  <a:pt x="124024" y="28378"/>
                  <a:pt x="124024" y="62012"/>
                </a:cubicBezTo>
                <a:cubicBezTo>
                  <a:pt x="124024" y="95646"/>
                  <a:pt x="96697" y="124024"/>
                  <a:pt x="62012" y="124024"/>
                </a:cubicBezTo>
                <a:close/>
                <a:moveTo>
                  <a:pt x="62012" y="19970"/>
                </a:moveTo>
                <a:cubicBezTo>
                  <a:pt x="38889" y="19970"/>
                  <a:pt x="21021" y="38889"/>
                  <a:pt x="21021" y="60961"/>
                </a:cubicBezTo>
                <a:cubicBezTo>
                  <a:pt x="21021" y="84084"/>
                  <a:pt x="39940" y="101952"/>
                  <a:pt x="62012" y="101952"/>
                </a:cubicBezTo>
                <a:cubicBezTo>
                  <a:pt x="85135" y="101952"/>
                  <a:pt x="103003" y="83033"/>
                  <a:pt x="103003" y="60961"/>
                </a:cubicBezTo>
                <a:cubicBezTo>
                  <a:pt x="104054" y="38889"/>
                  <a:pt x="85135" y="19970"/>
                  <a:pt x="62012" y="19970"/>
                </a:cubicBezTo>
                <a:close/>
              </a:path>
            </a:pathLst>
          </a:custGeom>
          <a:solidFill>
            <a:schemeClr val="bg1"/>
          </a:solidFill>
          <a:ln w="2611" cap="flat">
            <a:noFill/>
            <a:prstDash val="solid"/>
            <a:miter/>
          </a:ln>
        </p:spPr>
        <p:txBody>
          <a:bodyPr/>
          <a:lstStyle/>
          <a:p>
            <a:endParaRPr lang="en-US"/>
          </a:p>
        </p:txBody>
      </p:sp>
      <p:sp>
        <p:nvSpPr>
          <p:cNvPr id="157" name="Freeform 156">
            <a:extLst>
              <a:ext uri="{FF2B5EF4-FFF2-40B4-BE49-F238E27FC236}">
                <a16:creationId xmlns:a16="http://schemas.microsoft.com/office/drawing/2014/main" id="{846777BA-6247-851D-0377-79A5562B4ADC}"/>
              </a:ext>
            </a:extLst>
          </p:cNvPr>
          <p:cNvSpPr/>
          <p:nvPr/>
        </p:nvSpPr>
        <p:spPr>
          <a:xfrm>
            <a:off x="9826962" y="5179484"/>
            <a:ext cx="105138" cy="105105"/>
          </a:xfrm>
          <a:custGeom>
            <a:avLst/>
            <a:gdLst>
              <a:gd name="csX0" fmla="*/ 52553 w 105138"/>
              <a:gd name="csY0" fmla="*/ 105105 h 105105"/>
              <a:gd name="csX1" fmla="*/ 0 w 105138"/>
              <a:gd name="csY1" fmla="*/ 52553 h 105105"/>
              <a:gd name="csX2" fmla="*/ 52553 w 105138"/>
              <a:gd name="csY2" fmla="*/ 0 h 105105"/>
              <a:gd name="csX3" fmla="*/ 105105 w 105138"/>
              <a:gd name="csY3" fmla="*/ 52553 h 105105"/>
              <a:gd name="csX4" fmla="*/ 52553 w 105138"/>
              <a:gd name="csY4" fmla="*/ 105105 h 105105"/>
              <a:gd name="csX5" fmla="*/ 52553 w 105138"/>
              <a:gd name="csY5" fmla="*/ 19970 h 105105"/>
              <a:gd name="csX6" fmla="*/ 21021 w 105138"/>
              <a:gd name="csY6" fmla="*/ 51501 h 105105"/>
              <a:gd name="csX7" fmla="*/ 52553 w 105138"/>
              <a:gd name="csY7" fmla="*/ 83033 h 105105"/>
              <a:gd name="csX8" fmla="*/ 84084 w 105138"/>
              <a:gd name="csY8" fmla="*/ 51501 h 105105"/>
              <a:gd name="csX9" fmla="*/ 52553 w 105138"/>
              <a:gd name="csY9" fmla="*/ 19970 h 1051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5138" h="105105">
                <a:moveTo>
                  <a:pt x="52553" y="105105"/>
                </a:moveTo>
                <a:cubicBezTo>
                  <a:pt x="23123" y="105105"/>
                  <a:pt x="0" y="80931"/>
                  <a:pt x="0" y="52553"/>
                </a:cubicBezTo>
                <a:cubicBezTo>
                  <a:pt x="0" y="23123"/>
                  <a:pt x="24174" y="0"/>
                  <a:pt x="52553" y="0"/>
                </a:cubicBezTo>
                <a:cubicBezTo>
                  <a:pt x="81982" y="0"/>
                  <a:pt x="105105" y="24174"/>
                  <a:pt x="105105" y="52553"/>
                </a:cubicBezTo>
                <a:cubicBezTo>
                  <a:pt x="106156" y="80931"/>
                  <a:pt x="81982" y="105105"/>
                  <a:pt x="52553" y="105105"/>
                </a:cubicBezTo>
                <a:close/>
                <a:moveTo>
                  <a:pt x="52553" y="19970"/>
                </a:moveTo>
                <a:cubicBezTo>
                  <a:pt x="34685" y="19970"/>
                  <a:pt x="21021" y="34685"/>
                  <a:pt x="21021" y="51501"/>
                </a:cubicBezTo>
                <a:cubicBezTo>
                  <a:pt x="21021" y="68318"/>
                  <a:pt x="35736" y="83033"/>
                  <a:pt x="52553" y="83033"/>
                </a:cubicBezTo>
                <a:cubicBezTo>
                  <a:pt x="69369" y="83033"/>
                  <a:pt x="84084" y="68318"/>
                  <a:pt x="84084" y="51501"/>
                </a:cubicBezTo>
                <a:cubicBezTo>
                  <a:pt x="84084" y="34685"/>
                  <a:pt x="70420" y="19970"/>
                  <a:pt x="52553" y="19970"/>
                </a:cubicBezTo>
                <a:close/>
              </a:path>
            </a:pathLst>
          </a:custGeom>
          <a:solidFill>
            <a:schemeClr val="bg1"/>
          </a:solidFill>
          <a:ln w="2611" cap="flat">
            <a:noFill/>
            <a:prstDash val="solid"/>
            <a:miter/>
          </a:ln>
        </p:spPr>
        <p:txBody>
          <a:bodyPr/>
          <a:lstStyle/>
          <a:p>
            <a:endParaRPr lang="en-US"/>
          </a:p>
        </p:txBody>
      </p:sp>
      <p:sp>
        <p:nvSpPr>
          <p:cNvPr id="158" name="Freeform 157">
            <a:extLst>
              <a:ext uri="{FF2B5EF4-FFF2-40B4-BE49-F238E27FC236}">
                <a16:creationId xmlns:a16="http://schemas.microsoft.com/office/drawing/2014/main" id="{03EBBB8D-25DC-E6E9-A72B-79547F231231}"/>
              </a:ext>
            </a:extLst>
          </p:cNvPr>
          <p:cNvSpPr/>
          <p:nvPr/>
        </p:nvSpPr>
        <p:spPr>
          <a:xfrm>
            <a:off x="9557893" y="5138493"/>
            <a:ext cx="105105" cy="105105"/>
          </a:xfrm>
          <a:custGeom>
            <a:avLst/>
            <a:gdLst>
              <a:gd name="csX0" fmla="*/ 52553 w 105105"/>
              <a:gd name="csY0" fmla="*/ 105105 h 105105"/>
              <a:gd name="csX1" fmla="*/ 0 w 105105"/>
              <a:gd name="csY1" fmla="*/ 52553 h 105105"/>
              <a:gd name="csX2" fmla="*/ 52553 w 105105"/>
              <a:gd name="csY2" fmla="*/ 0 h 105105"/>
              <a:gd name="csX3" fmla="*/ 105105 w 105105"/>
              <a:gd name="csY3" fmla="*/ 52553 h 105105"/>
              <a:gd name="csX4" fmla="*/ 52553 w 105105"/>
              <a:gd name="csY4" fmla="*/ 105105 h 105105"/>
              <a:gd name="csX5" fmla="*/ 52553 w 105105"/>
              <a:gd name="csY5" fmla="*/ 19970 h 105105"/>
              <a:gd name="csX6" fmla="*/ 21021 w 105105"/>
              <a:gd name="csY6" fmla="*/ 51502 h 105105"/>
              <a:gd name="csX7" fmla="*/ 52553 w 105105"/>
              <a:gd name="csY7" fmla="*/ 83033 h 105105"/>
              <a:gd name="csX8" fmla="*/ 84084 w 105105"/>
              <a:gd name="csY8" fmla="*/ 51502 h 105105"/>
              <a:gd name="csX9" fmla="*/ 52553 w 105105"/>
              <a:gd name="csY9" fmla="*/ 19970 h 1051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5105" h="105105">
                <a:moveTo>
                  <a:pt x="52553" y="105105"/>
                </a:moveTo>
                <a:cubicBezTo>
                  <a:pt x="23123" y="105105"/>
                  <a:pt x="0" y="80931"/>
                  <a:pt x="0" y="52553"/>
                </a:cubicBezTo>
                <a:cubicBezTo>
                  <a:pt x="0" y="24174"/>
                  <a:pt x="24174" y="0"/>
                  <a:pt x="52553" y="0"/>
                </a:cubicBezTo>
                <a:cubicBezTo>
                  <a:pt x="80931" y="0"/>
                  <a:pt x="105105" y="24174"/>
                  <a:pt x="105105" y="52553"/>
                </a:cubicBezTo>
                <a:cubicBezTo>
                  <a:pt x="105105" y="80931"/>
                  <a:pt x="80931" y="105105"/>
                  <a:pt x="52553" y="105105"/>
                </a:cubicBezTo>
                <a:close/>
                <a:moveTo>
                  <a:pt x="52553" y="19970"/>
                </a:moveTo>
                <a:cubicBezTo>
                  <a:pt x="34685" y="19970"/>
                  <a:pt x="21021" y="34685"/>
                  <a:pt x="21021" y="51502"/>
                </a:cubicBezTo>
                <a:cubicBezTo>
                  <a:pt x="21021" y="68318"/>
                  <a:pt x="35736" y="83033"/>
                  <a:pt x="52553" y="83033"/>
                </a:cubicBezTo>
                <a:cubicBezTo>
                  <a:pt x="69369" y="83033"/>
                  <a:pt x="84084" y="68318"/>
                  <a:pt x="84084" y="51502"/>
                </a:cubicBezTo>
                <a:cubicBezTo>
                  <a:pt x="84084" y="34685"/>
                  <a:pt x="69369" y="19970"/>
                  <a:pt x="52553" y="19970"/>
                </a:cubicBezTo>
                <a:close/>
              </a:path>
            </a:pathLst>
          </a:custGeom>
          <a:solidFill>
            <a:schemeClr val="bg1"/>
          </a:solidFill>
          <a:ln w="2611" cap="flat">
            <a:noFill/>
            <a:prstDash val="solid"/>
            <a:miter/>
          </a:ln>
        </p:spPr>
        <p:txBody>
          <a:bodyPr/>
          <a:lstStyle/>
          <a:p>
            <a:endParaRPr lang="en-US"/>
          </a:p>
        </p:txBody>
      </p:sp>
      <p:sp>
        <p:nvSpPr>
          <p:cNvPr id="159" name="Freeform 158">
            <a:extLst>
              <a:ext uri="{FF2B5EF4-FFF2-40B4-BE49-F238E27FC236}">
                <a16:creationId xmlns:a16="http://schemas.microsoft.com/office/drawing/2014/main" id="{ABE53659-E5C9-194D-FF79-C73E76C0DE99}"/>
              </a:ext>
            </a:extLst>
          </p:cNvPr>
          <p:cNvSpPr/>
          <p:nvPr/>
        </p:nvSpPr>
        <p:spPr>
          <a:xfrm>
            <a:off x="9423359" y="5511616"/>
            <a:ext cx="105105" cy="105105"/>
          </a:xfrm>
          <a:custGeom>
            <a:avLst/>
            <a:gdLst>
              <a:gd name="csX0" fmla="*/ 52553 w 105105"/>
              <a:gd name="csY0" fmla="*/ 105105 h 105105"/>
              <a:gd name="csX1" fmla="*/ 0 w 105105"/>
              <a:gd name="csY1" fmla="*/ 52553 h 105105"/>
              <a:gd name="csX2" fmla="*/ 52553 w 105105"/>
              <a:gd name="csY2" fmla="*/ 0 h 105105"/>
              <a:gd name="csX3" fmla="*/ 105105 w 105105"/>
              <a:gd name="csY3" fmla="*/ 52553 h 105105"/>
              <a:gd name="csX4" fmla="*/ 52553 w 105105"/>
              <a:gd name="csY4" fmla="*/ 105105 h 105105"/>
              <a:gd name="csX5" fmla="*/ 52553 w 105105"/>
              <a:gd name="csY5" fmla="*/ 21021 h 105105"/>
              <a:gd name="csX6" fmla="*/ 21021 w 105105"/>
              <a:gd name="csY6" fmla="*/ 52553 h 105105"/>
              <a:gd name="csX7" fmla="*/ 52553 w 105105"/>
              <a:gd name="csY7" fmla="*/ 84084 h 105105"/>
              <a:gd name="csX8" fmla="*/ 84084 w 105105"/>
              <a:gd name="csY8" fmla="*/ 52553 h 105105"/>
              <a:gd name="csX9" fmla="*/ 52553 w 105105"/>
              <a:gd name="csY9" fmla="*/ 21021 h 1051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5105" h="105105">
                <a:moveTo>
                  <a:pt x="52553" y="105105"/>
                </a:moveTo>
                <a:cubicBezTo>
                  <a:pt x="23123" y="105105"/>
                  <a:pt x="0" y="80931"/>
                  <a:pt x="0" y="52553"/>
                </a:cubicBezTo>
                <a:cubicBezTo>
                  <a:pt x="0" y="24174"/>
                  <a:pt x="24174" y="0"/>
                  <a:pt x="52553" y="0"/>
                </a:cubicBezTo>
                <a:cubicBezTo>
                  <a:pt x="80931" y="0"/>
                  <a:pt x="105105" y="24174"/>
                  <a:pt x="105105" y="52553"/>
                </a:cubicBezTo>
                <a:cubicBezTo>
                  <a:pt x="105105" y="80931"/>
                  <a:pt x="80931" y="105105"/>
                  <a:pt x="52553" y="105105"/>
                </a:cubicBezTo>
                <a:close/>
                <a:moveTo>
                  <a:pt x="52553" y="21021"/>
                </a:moveTo>
                <a:cubicBezTo>
                  <a:pt x="34685" y="21021"/>
                  <a:pt x="21021" y="35736"/>
                  <a:pt x="21021" y="52553"/>
                </a:cubicBezTo>
                <a:cubicBezTo>
                  <a:pt x="21021" y="69369"/>
                  <a:pt x="35736" y="84084"/>
                  <a:pt x="52553" y="84084"/>
                </a:cubicBezTo>
                <a:cubicBezTo>
                  <a:pt x="69369" y="84084"/>
                  <a:pt x="84084" y="69369"/>
                  <a:pt x="84084" y="52553"/>
                </a:cubicBezTo>
                <a:cubicBezTo>
                  <a:pt x="84084" y="35736"/>
                  <a:pt x="69369" y="21021"/>
                  <a:pt x="52553" y="21021"/>
                </a:cubicBezTo>
                <a:close/>
              </a:path>
            </a:pathLst>
          </a:custGeom>
          <a:solidFill>
            <a:schemeClr val="bg1"/>
          </a:solidFill>
          <a:ln w="2611" cap="flat">
            <a:noFill/>
            <a:prstDash val="solid"/>
            <a:miter/>
          </a:ln>
        </p:spPr>
        <p:txBody>
          <a:bodyPr/>
          <a:lstStyle/>
          <a:p>
            <a:endParaRPr lang="en-US"/>
          </a:p>
        </p:txBody>
      </p:sp>
      <p:sp>
        <p:nvSpPr>
          <p:cNvPr id="160" name="Freeform 159">
            <a:extLst>
              <a:ext uri="{FF2B5EF4-FFF2-40B4-BE49-F238E27FC236}">
                <a16:creationId xmlns:a16="http://schemas.microsoft.com/office/drawing/2014/main" id="{89076C47-1415-6BB9-95D6-840DF65792B5}"/>
              </a:ext>
            </a:extLst>
          </p:cNvPr>
          <p:cNvSpPr/>
          <p:nvPr/>
        </p:nvSpPr>
        <p:spPr>
          <a:xfrm>
            <a:off x="9214200" y="5377082"/>
            <a:ext cx="105105" cy="105105"/>
          </a:xfrm>
          <a:custGeom>
            <a:avLst/>
            <a:gdLst>
              <a:gd name="csX0" fmla="*/ 52553 w 105105"/>
              <a:gd name="csY0" fmla="*/ 105105 h 105105"/>
              <a:gd name="csX1" fmla="*/ 0 w 105105"/>
              <a:gd name="csY1" fmla="*/ 52553 h 105105"/>
              <a:gd name="csX2" fmla="*/ 52553 w 105105"/>
              <a:gd name="csY2" fmla="*/ 0 h 105105"/>
              <a:gd name="csX3" fmla="*/ 105105 w 105105"/>
              <a:gd name="csY3" fmla="*/ 52553 h 105105"/>
              <a:gd name="csX4" fmla="*/ 52553 w 105105"/>
              <a:gd name="csY4" fmla="*/ 105105 h 105105"/>
              <a:gd name="csX5" fmla="*/ 52553 w 105105"/>
              <a:gd name="csY5" fmla="*/ 19970 h 105105"/>
              <a:gd name="csX6" fmla="*/ 21021 w 105105"/>
              <a:gd name="csY6" fmla="*/ 51502 h 105105"/>
              <a:gd name="csX7" fmla="*/ 52553 w 105105"/>
              <a:gd name="csY7" fmla="*/ 83033 h 105105"/>
              <a:gd name="csX8" fmla="*/ 84084 w 105105"/>
              <a:gd name="csY8" fmla="*/ 51502 h 105105"/>
              <a:gd name="csX9" fmla="*/ 52553 w 105105"/>
              <a:gd name="csY9" fmla="*/ 19970 h 1051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5105" h="105105">
                <a:moveTo>
                  <a:pt x="52553" y="105105"/>
                </a:moveTo>
                <a:cubicBezTo>
                  <a:pt x="23123" y="105105"/>
                  <a:pt x="0" y="80931"/>
                  <a:pt x="0" y="52553"/>
                </a:cubicBezTo>
                <a:cubicBezTo>
                  <a:pt x="0" y="24174"/>
                  <a:pt x="24174" y="0"/>
                  <a:pt x="52553" y="0"/>
                </a:cubicBezTo>
                <a:cubicBezTo>
                  <a:pt x="80931" y="0"/>
                  <a:pt x="105105" y="24174"/>
                  <a:pt x="105105" y="52553"/>
                </a:cubicBezTo>
                <a:cubicBezTo>
                  <a:pt x="105105" y="80931"/>
                  <a:pt x="81982" y="105105"/>
                  <a:pt x="52553" y="105105"/>
                </a:cubicBezTo>
                <a:close/>
                <a:moveTo>
                  <a:pt x="52553" y="19970"/>
                </a:moveTo>
                <a:cubicBezTo>
                  <a:pt x="34685" y="19970"/>
                  <a:pt x="21021" y="34685"/>
                  <a:pt x="21021" y="51502"/>
                </a:cubicBezTo>
                <a:cubicBezTo>
                  <a:pt x="21021" y="69369"/>
                  <a:pt x="35736" y="83033"/>
                  <a:pt x="52553" y="83033"/>
                </a:cubicBezTo>
                <a:cubicBezTo>
                  <a:pt x="70420" y="83033"/>
                  <a:pt x="84084" y="68318"/>
                  <a:pt x="84084" y="51502"/>
                </a:cubicBezTo>
                <a:cubicBezTo>
                  <a:pt x="85135" y="34685"/>
                  <a:pt x="70420" y="19970"/>
                  <a:pt x="52553" y="19970"/>
                </a:cubicBezTo>
                <a:close/>
              </a:path>
            </a:pathLst>
          </a:custGeom>
          <a:solidFill>
            <a:schemeClr val="bg1"/>
          </a:solidFill>
          <a:ln w="2611" cap="flat">
            <a:noFill/>
            <a:prstDash val="solid"/>
            <a:miter/>
          </a:ln>
        </p:spPr>
        <p:txBody>
          <a:bodyPr/>
          <a:lstStyle/>
          <a:p>
            <a:endParaRPr lang="en-US"/>
          </a:p>
        </p:txBody>
      </p:sp>
      <p:sp>
        <p:nvSpPr>
          <p:cNvPr id="161" name="Freeform 160">
            <a:extLst>
              <a:ext uri="{FF2B5EF4-FFF2-40B4-BE49-F238E27FC236}">
                <a16:creationId xmlns:a16="http://schemas.microsoft.com/office/drawing/2014/main" id="{A71C6128-6811-951B-FA29-B2C1D1646994}"/>
              </a:ext>
            </a:extLst>
          </p:cNvPr>
          <p:cNvSpPr/>
          <p:nvPr/>
        </p:nvSpPr>
        <p:spPr>
          <a:xfrm>
            <a:off x="9292306" y="5441524"/>
            <a:ext cx="122316" cy="86908"/>
          </a:xfrm>
          <a:custGeom>
            <a:avLst/>
            <a:gdLst>
              <a:gd name="csX0" fmla="*/ 111083 w 122316"/>
              <a:gd name="csY0" fmla="*/ 86909 h 86908"/>
              <a:gd name="csX1" fmla="*/ 105828 w 122316"/>
              <a:gd name="csY1" fmla="*/ 84807 h 86908"/>
              <a:gd name="csX2" fmla="*/ 4927 w 122316"/>
              <a:gd name="csY2" fmla="*/ 19641 h 86908"/>
              <a:gd name="csX3" fmla="*/ 1774 w 122316"/>
              <a:gd name="csY3" fmla="*/ 4927 h 86908"/>
              <a:gd name="csX4" fmla="*/ 16488 w 122316"/>
              <a:gd name="csY4" fmla="*/ 1774 h 86908"/>
              <a:gd name="csX5" fmla="*/ 117389 w 122316"/>
              <a:gd name="csY5" fmla="*/ 66939 h 86908"/>
              <a:gd name="csX6" fmla="*/ 120542 w 122316"/>
              <a:gd name="csY6" fmla="*/ 81654 h 86908"/>
              <a:gd name="csX7" fmla="*/ 111083 w 122316"/>
              <a:gd name="csY7" fmla="*/ 86909 h 86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2316" h="86908">
                <a:moveTo>
                  <a:pt x="111083" y="86909"/>
                </a:moveTo>
                <a:cubicBezTo>
                  <a:pt x="108981" y="86909"/>
                  <a:pt x="106879" y="85858"/>
                  <a:pt x="105828" y="84807"/>
                </a:cubicBezTo>
                <a:lnTo>
                  <a:pt x="4927" y="19641"/>
                </a:lnTo>
                <a:cubicBezTo>
                  <a:pt x="-328" y="16488"/>
                  <a:pt x="-1380" y="10182"/>
                  <a:pt x="1774" y="4927"/>
                </a:cubicBezTo>
                <a:cubicBezTo>
                  <a:pt x="4927" y="-328"/>
                  <a:pt x="11233" y="-1380"/>
                  <a:pt x="16488" y="1774"/>
                </a:cubicBezTo>
                <a:lnTo>
                  <a:pt x="117389" y="66939"/>
                </a:lnTo>
                <a:cubicBezTo>
                  <a:pt x="122645" y="70092"/>
                  <a:pt x="123696" y="76398"/>
                  <a:pt x="120542" y="81654"/>
                </a:cubicBezTo>
                <a:cubicBezTo>
                  <a:pt x="117389" y="84807"/>
                  <a:pt x="114236" y="86909"/>
                  <a:pt x="111083" y="86909"/>
                </a:cubicBezTo>
                <a:close/>
              </a:path>
            </a:pathLst>
          </a:custGeom>
          <a:solidFill>
            <a:schemeClr val="bg1"/>
          </a:solidFill>
          <a:ln w="2611" cap="flat">
            <a:noFill/>
            <a:prstDash val="solid"/>
            <a:miter/>
          </a:ln>
        </p:spPr>
        <p:txBody>
          <a:bodyPr/>
          <a:lstStyle/>
          <a:p>
            <a:endParaRPr lang="en-US"/>
          </a:p>
        </p:txBody>
      </p:sp>
      <p:sp>
        <p:nvSpPr>
          <p:cNvPr id="162" name="Freeform 161">
            <a:extLst>
              <a:ext uri="{FF2B5EF4-FFF2-40B4-BE49-F238E27FC236}">
                <a16:creationId xmlns:a16="http://schemas.microsoft.com/office/drawing/2014/main" id="{9E6B60D3-2290-F4EC-9C49-9150AECCF334}"/>
              </a:ext>
            </a:extLst>
          </p:cNvPr>
          <p:cNvSpPr/>
          <p:nvPr/>
        </p:nvSpPr>
        <p:spPr>
          <a:xfrm>
            <a:off x="9480508" y="5253450"/>
            <a:ext cx="113779" cy="278135"/>
          </a:xfrm>
          <a:custGeom>
            <a:avLst/>
            <a:gdLst>
              <a:gd name="csX0" fmla="*/ 10118 w 113779"/>
              <a:gd name="csY0" fmla="*/ 278136 h 278135"/>
              <a:gd name="csX1" fmla="*/ 6965 w 113779"/>
              <a:gd name="csY1" fmla="*/ 277085 h 278135"/>
              <a:gd name="csX2" fmla="*/ 658 w 113779"/>
              <a:gd name="csY2" fmla="*/ 263421 h 278135"/>
              <a:gd name="csX3" fmla="*/ 93151 w 113779"/>
              <a:gd name="csY3" fmla="*/ 6965 h 278135"/>
              <a:gd name="csX4" fmla="*/ 106815 w 113779"/>
              <a:gd name="csY4" fmla="*/ 658 h 278135"/>
              <a:gd name="csX5" fmla="*/ 113121 w 113779"/>
              <a:gd name="csY5" fmla="*/ 14322 h 278135"/>
              <a:gd name="csX6" fmla="*/ 20628 w 113779"/>
              <a:gd name="csY6" fmla="*/ 270778 h 278135"/>
              <a:gd name="csX7" fmla="*/ 10118 w 113779"/>
              <a:gd name="csY7" fmla="*/ 278136 h 278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3779" h="278135">
                <a:moveTo>
                  <a:pt x="10118" y="278136"/>
                </a:moveTo>
                <a:cubicBezTo>
                  <a:pt x="9067" y="278136"/>
                  <a:pt x="8016" y="278136"/>
                  <a:pt x="6965" y="277085"/>
                </a:cubicBezTo>
                <a:cubicBezTo>
                  <a:pt x="1709" y="274983"/>
                  <a:pt x="-1444" y="268676"/>
                  <a:pt x="658" y="263421"/>
                </a:cubicBezTo>
                <a:lnTo>
                  <a:pt x="93151" y="6965"/>
                </a:lnTo>
                <a:cubicBezTo>
                  <a:pt x="95253" y="1709"/>
                  <a:pt x="101559" y="-1444"/>
                  <a:pt x="106815" y="658"/>
                </a:cubicBezTo>
                <a:cubicBezTo>
                  <a:pt x="112070" y="2761"/>
                  <a:pt x="115223" y="9067"/>
                  <a:pt x="113121" y="14322"/>
                </a:cubicBezTo>
                <a:lnTo>
                  <a:pt x="20628" y="270778"/>
                </a:lnTo>
                <a:cubicBezTo>
                  <a:pt x="18526" y="276034"/>
                  <a:pt x="14322" y="278136"/>
                  <a:pt x="10118" y="278136"/>
                </a:cubicBezTo>
                <a:close/>
              </a:path>
            </a:pathLst>
          </a:custGeom>
          <a:solidFill>
            <a:schemeClr val="bg1"/>
          </a:solidFill>
          <a:ln w="2611" cap="flat">
            <a:noFill/>
            <a:prstDash val="solid"/>
            <a:miter/>
          </a:ln>
        </p:spPr>
        <p:txBody>
          <a:bodyPr/>
          <a:lstStyle/>
          <a:p>
            <a:endParaRPr lang="en-US"/>
          </a:p>
        </p:txBody>
      </p:sp>
      <p:sp>
        <p:nvSpPr>
          <p:cNvPr id="163" name="Freeform 162">
            <a:extLst>
              <a:ext uri="{FF2B5EF4-FFF2-40B4-BE49-F238E27FC236}">
                <a16:creationId xmlns:a16="http://schemas.microsoft.com/office/drawing/2014/main" id="{39599FA1-88D9-2DBC-2EFC-5512ED937291}"/>
              </a:ext>
            </a:extLst>
          </p:cNvPr>
          <p:cNvSpPr/>
          <p:nvPr/>
        </p:nvSpPr>
        <p:spPr>
          <a:xfrm>
            <a:off x="9640764" y="5187730"/>
            <a:ext cx="166390" cy="42204"/>
          </a:xfrm>
          <a:custGeom>
            <a:avLst/>
            <a:gdLst>
              <a:gd name="csX0" fmla="*/ 156769 w 166390"/>
              <a:gd name="csY0" fmla="*/ 42204 h 42204"/>
              <a:gd name="csX1" fmla="*/ 154667 w 166390"/>
              <a:gd name="csY1" fmla="*/ 42204 h 42204"/>
              <a:gd name="csX2" fmla="*/ 8571 w 166390"/>
              <a:gd name="csY2" fmla="*/ 20132 h 42204"/>
              <a:gd name="csX3" fmla="*/ 162 w 166390"/>
              <a:gd name="csY3" fmla="*/ 8571 h 42204"/>
              <a:gd name="csX4" fmla="*/ 11724 w 166390"/>
              <a:gd name="csY4" fmla="*/ 162 h 42204"/>
              <a:gd name="csX5" fmla="*/ 157820 w 166390"/>
              <a:gd name="csY5" fmla="*/ 22234 h 42204"/>
              <a:gd name="csX6" fmla="*/ 166228 w 166390"/>
              <a:gd name="csY6" fmla="*/ 33796 h 42204"/>
              <a:gd name="csX7" fmla="*/ 156769 w 166390"/>
              <a:gd name="csY7" fmla="*/ 42204 h 422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6390" h="42204">
                <a:moveTo>
                  <a:pt x="156769" y="42204"/>
                </a:moveTo>
                <a:cubicBezTo>
                  <a:pt x="155718" y="42204"/>
                  <a:pt x="155718" y="42204"/>
                  <a:pt x="154667" y="42204"/>
                </a:cubicBezTo>
                <a:lnTo>
                  <a:pt x="8571" y="20132"/>
                </a:lnTo>
                <a:cubicBezTo>
                  <a:pt x="3315" y="19081"/>
                  <a:pt x="-889" y="13826"/>
                  <a:pt x="162" y="8571"/>
                </a:cubicBezTo>
                <a:cubicBezTo>
                  <a:pt x="1213" y="3315"/>
                  <a:pt x="6468" y="-889"/>
                  <a:pt x="11724" y="162"/>
                </a:cubicBezTo>
                <a:lnTo>
                  <a:pt x="157820" y="22234"/>
                </a:lnTo>
                <a:cubicBezTo>
                  <a:pt x="163075" y="23285"/>
                  <a:pt x="167279" y="28541"/>
                  <a:pt x="166228" y="33796"/>
                </a:cubicBezTo>
                <a:cubicBezTo>
                  <a:pt x="167279" y="38000"/>
                  <a:pt x="162024" y="42204"/>
                  <a:pt x="156769" y="42204"/>
                </a:cubicBezTo>
                <a:close/>
              </a:path>
            </a:pathLst>
          </a:custGeom>
          <a:solidFill>
            <a:schemeClr val="bg1"/>
          </a:solidFill>
          <a:ln w="2611" cap="flat">
            <a:noFill/>
            <a:prstDash val="solid"/>
            <a:miter/>
          </a:ln>
        </p:spPr>
        <p:txBody>
          <a:bodyPr/>
          <a:lstStyle/>
          <a:p>
            <a:endParaRPr lang="en-US"/>
          </a:p>
        </p:txBody>
      </p:sp>
      <p:sp>
        <p:nvSpPr>
          <p:cNvPr id="164" name="Freeform 163">
            <a:extLst>
              <a:ext uri="{FF2B5EF4-FFF2-40B4-BE49-F238E27FC236}">
                <a16:creationId xmlns:a16="http://schemas.microsoft.com/office/drawing/2014/main" id="{ADA381A7-8B60-0582-6A99-72E5BE8A7BE2}"/>
              </a:ext>
            </a:extLst>
          </p:cNvPr>
          <p:cNvSpPr/>
          <p:nvPr/>
        </p:nvSpPr>
        <p:spPr>
          <a:xfrm>
            <a:off x="9897859" y="4971853"/>
            <a:ext cx="205052" cy="237060"/>
          </a:xfrm>
          <a:custGeom>
            <a:avLst/>
            <a:gdLst>
              <a:gd name="csX0" fmla="*/ 10034 w 205052"/>
              <a:gd name="csY0" fmla="*/ 237061 h 237060"/>
              <a:gd name="csX1" fmla="*/ 3727 w 205052"/>
              <a:gd name="csY1" fmla="*/ 234959 h 237060"/>
              <a:gd name="csX2" fmla="*/ 2676 w 205052"/>
              <a:gd name="csY2" fmla="*/ 220244 h 237060"/>
              <a:gd name="csX3" fmla="*/ 186610 w 205052"/>
              <a:gd name="csY3" fmla="*/ 3727 h 237060"/>
              <a:gd name="csX4" fmla="*/ 201325 w 205052"/>
              <a:gd name="csY4" fmla="*/ 2676 h 237060"/>
              <a:gd name="csX5" fmla="*/ 202376 w 205052"/>
              <a:gd name="csY5" fmla="*/ 17391 h 237060"/>
              <a:gd name="csX6" fmla="*/ 18442 w 205052"/>
              <a:gd name="csY6" fmla="*/ 233908 h 237060"/>
              <a:gd name="csX7" fmla="*/ 10034 w 205052"/>
              <a:gd name="csY7" fmla="*/ 237061 h 23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5052" h="237060">
                <a:moveTo>
                  <a:pt x="10034" y="237061"/>
                </a:moveTo>
                <a:cubicBezTo>
                  <a:pt x="7932" y="237061"/>
                  <a:pt x="4778" y="236010"/>
                  <a:pt x="3727" y="234959"/>
                </a:cubicBezTo>
                <a:cubicBezTo>
                  <a:pt x="-477" y="230754"/>
                  <a:pt x="-1528" y="224448"/>
                  <a:pt x="2676" y="220244"/>
                </a:cubicBezTo>
                <a:lnTo>
                  <a:pt x="186610" y="3727"/>
                </a:lnTo>
                <a:cubicBezTo>
                  <a:pt x="190814" y="-477"/>
                  <a:pt x="197121" y="-1528"/>
                  <a:pt x="201325" y="2676"/>
                </a:cubicBezTo>
                <a:cubicBezTo>
                  <a:pt x="205529" y="6881"/>
                  <a:pt x="206580" y="13187"/>
                  <a:pt x="202376" y="17391"/>
                </a:cubicBezTo>
                <a:lnTo>
                  <a:pt x="18442" y="233908"/>
                </a:lnTo>
                <a:cubicBezTo>
                  <a:pt x="16340" y="236010"/>
                  <a:pt x="13187" y="237061"/>
                  <a:pt x="10034" y="237061"/>
                </a:cubicBezTo>
                <a:close/>
              </a:path>
            </a:pathLst>
          </a:custGeom>
          <a:solidFill>
            <a:schemeClr val="bg1"/>
          </a:solidFill>
          <a:ln w="2611" cap="flat">
            <a:noFill/>
            <a:prstDash val="solid"/>
            <a:miter/>
          </a:ln>
        </p:spPr>
        <p:txBody>
          <a:bodyPr/>
          <a:lstStyle/>
          <a:p>
            <a:endParaRPr lang="en-US"/>
          </a:p>
        </p:txBody>
      </p:sp>
      <p:sp>
        <p:nvSpPr>
          <p:cNvPr id="165" name="Freeform 164">
            <a:extLst>
              <a:ext uri="{FF2B5EF4-FFF2-40B4-BE49-F238E27FC236}">
                <a16:creationId xmlns:a16="http://schemas.microsoft.com/office/drawing/2014/main" id="{71DD2C5D-4D13-F26B-FB6B-021683BA8031}"/>
              </a:ext>
            </a:extLst>
          </p:cNvPr>
          <p:cNvSpPr/>
          <p:nvPr/>
        </p:nvSpPr>
        <p:spPr>
          <a:xfrm>
            <a:off x="10192069" y="4816213"/>
            <a:ext cx="210476" cy="88946"/>
          </a:xfrm>
          <a:custGeom>
            <a:avLst/>
            <a:gdLst>
              <a:gd name="csX0" fmla="*/ 10118 w 210476"/>
              <a:gd name="csY0" fmla="*/ 88947 h 88946"/>
              <a:gd name="csX1" fmla="*/ 658 w 210476"/>
              <a:gd name="csY1" fmla="*/ 81589 h 88946"/>
              <a:gd name="csX2" fmla="*/ 6965 w 210476"/>
              <a:gd name="csY2" fmla="*/ 67926 h 88946"/>
              <a:gd name="csX3" fmla="*/ 196154 w 210476"/>
              <a:gd name="csY3" fmla="*/ 658 h 88946"/>
              <a:gd name="csX4" fmla="*/ 209818 w 210476"/>
              <a:gd name="csY4" fmla="*/ 6965 h 88946"/>
              <a:gd name="csX5" fmla="*/ 203511 w 210476"/>
              <a:gd name="csY5" fmla="*/ 20628 h 88946"/>
              <a:gd name="csX6" fmla="*/ 14322 w 210476"/>
              <a:gd name="csY6" fmla="*/ 87896 h 88946"/>
              <a:gd name="csX7" fmla="*/ 10118 w 210476"/>
              <a:gd name="csY7" fmla="*/ 88947 h 88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0476" h="88946">
                <a:moveTo>
                  <a:pt x="10118" y="88947"/>
                </a:moveTo>
                <a:cubicBezTo>
                  <a:pt x="5914" y="88947"/>
                  <a:pt x="1709" y="85794"/>
                  <a:pt x="658" y="81589"/>
                </a:cubicBezTo>
                <a:cubicBezTo>
                  <a:pt x="-1444" y="76334"/>
                  <a:pt x="1709" y="70028"/>
                  <a:pt x="6965" y="67926"/>
                </a:cubicBezTo>
                <a:lnTo>
                  <a:pt x="196154" y="658"/>
                </a:lnTo>
                <a:cubicBezTo>
                  <a:pt x="201409" y="-1444"/>
                  <a:pt x="207716" y="1709"/>
                  <a:pt x="209818" y="6965"/>
                </a:cubicBezTo>
                <a:cubicBezTo>
                  <a:pt x="211920" y="12220"/>
                  <a:pt x="208767" y="18526"/>
                  <a:pt x="203511" y="20628"/>
                </a:cubicBezTo>
                <a:lnTo>
                  <a:pt x="14322" y="87896"/>
                </a:lnTo>
                <a:cubicBezTo>
                  <a:pt x="12220" y="88947"/>
                  <a:pt x="11169" y="88947"/>
                  <a:pt x="10118" y="88947"/>
                </a:cubicBezTo>
                <a:close/>
              </a:path>
            </a:pathLst>
          </a:custGeom>
          <a:solidFill>
            <a:schemeClr val="bg1"/>
          </a:solidFill>
          <a:ln w="2611" cap="flat">
            <a:noFill/>
            <a:prstDash val="solid"/>
            <a:miter/>
          </a:ln>
        </p:spPr>
        <p:txBody>
          <a:bodyPr/>
          <a:lstStyle/>
          <a:p>
            <a:endParaRPr lang="en-US"/>
          </a:p>
        </p:txBody>
      </p:sp>
      <p:pic>
        <p:nvPicPr>
          <p:cNvPr id="167" name="Graphic 166">
            <a:extLst>
              <a:ext uri="{FF2B5EF4-FFF2-40B4-BE49-F238E27FC236}">
                <a16:creationId xmlns:a16="http://schemas.microsoft.com/office/drawing/2014/main" id="{A492795A-8A49-80EA-55A1-5DF36E82715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500379" y="4713984"/>
            <a:ext cx="1059227" cy="1059227"/>
          </a:xfrm>
          <a:prstGeom prst="rect">
            <a:avLst/>
          </a:prstGeom>
        </p:spPr>
      </p:pic>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11317"/>
        </a:solidFill>
        <a:effectLst/>
      </p:bgPr>
    </p:bg>
    <p:spTree>
      <p:nvGrpSpPr>
        <p:cNvPr id="1" name="">
          <a:extLst>
            <a:ext uri="{FF2B5EF4-FFF2-40B4-BE49-F238E27FC236}">
              <a16:creationId xmlns:a16="http://schemas.microsoft.com/office/drawing/2014/main" id="{DCFDB859-F81E-FA57-1E3F-C87092825064}"/>
            </a:ext>
          </a:extLst>
        </p:cNvPr>
        <p:cNvGrpSpPr/>
        <p:nvPr/>
      </p:nvGrpSpPr>
      <p:grpSpPr>
        <a:xfrm>
          <a:off x="0" y="0"/>
          <a:ext cx="0" cy="0"/>
          <a:chOff x="0" y="0"/>
          <a:chExt cx="0" cy="0"/>
        </a:xfrm>
      </p:grpSpPr>
      <p:pic>
        <p:nvPicPr>
          <p:cNvPr id="10" name="Picture 9" descr="A green grid with red and blue dots&#10;&#10;AI-generated content may be incorrect.">
            <a:extLst>
              <a:ext uri="{FF2B5EF4-FFF2-40B4-BE49-F238E27FC236}">
                <a16:creationId xmlns:a16="http://schemas.microsoft.com/office/drawing/2014/main" id="{D20AA1B3-E3B9-FE47-8442-85631EF3C926}"/>
              </a:ext>
            </a:extLst>
          </p:cNvPr>
          <p:cNvPicPr>
            <a:picLocks noChangeAspect="1"/>
          </p:cNvPicPr>
          <p:nvPr/>
        </p:nvPicPr>
        <p:blipFill>
          <a:blip r:embed="rId3"/>
          <a:stretch>
            <a:fillRect/>
          </a:stretch>
        </p:blipFill>
        <p:spPr>
          <a:xfrm>
            <a:off x="6350" y="0"/>
            <a:ext cx="12185650" cy="6861574"/>
          </a:xfrm>
          <a:prstGeom prst="rect">
            <a:avLst/>
          </a:prstGeom>
        </p:spPr>
      </p:pic>
      <p:sp>
        <p:nvSpPr>
          <p:cNvPr id="11" name="TextBox 10">
            <a:extLst>
              <a:ext uri="{FF2B5EF4-FFF2-40B4-BE49-F238E27FC236}">
                <a16:creationId xmlns:a16="http://schemas.microsoft.com/office/drawing/2014/main" id="{E30DE71E-0921-C474-B8C2-D5F085B51D7D}"/>
              </a:ext>
            </a:extLst>
          </p:cNvPr>
          <p:cNvSpPr txBox="1"/>
          <p:nvPr/>
        </p:nvSpPr>
        <p:spPr>
          <a:xfrm>
            <a:off x="0" y="2937361"/>
            <a:ext cx="12179300" cy="923330"/>
          </a:xfrm>
          <a:prstGeom prst="rect">
            <a:avLst/>
          </a:prstGeom>
          <a:solidFill>
            <a:srgbClr val="1D2024"/>
          </a:solidFill>
        </p:spPr>
        <p:txBody>
          <a:bodyPr wrap="square" rtlCol="0">
            <a:spAutoFit/>
          </a:bodyPr>
          <a:lstStyle/>
          <a:p>
            <a:pPr algn="ctr"/>
            <a:r>
              <a:rPr lang="en-US" dirty="0">
                <a:solidFill>
                  <a:srgbClr val="DEE0E4"/>
                </a:solidFill>
                <a:latin typeface="Quattrocento Sans" panose="020B0502050000020003" pitchFamily="34" charset="0"/>
              </a:rPr>
              <a:t>Thank you!</a:t>
            </a:r>
          </a:p>
          <a:p>
            <a:pPr algn="ctr"/>
            <a:r>
              <a:rPr lang="en-US" dirty="0">
                <a:solidFill>
                  <a:srgbClr val="D8A03D"/>
                </a:solidFill>
                <a:latin typeface="Quattrocento Sans" panose="020B0502050000020003" pitchFamily="34" charset="0"/>
              </a:rPr>
              <a:t>Shrine Bowl x </a:t>
            </a:r>
            <a:r>
              <a:rPr lang="en-US" dirty="0" err="1">
                <a:solidFill>
                  <a:srgbClr val="D8A03D"/>
                </a:solidFill>
                <a:latin typeface="Quattrocento Sans" panose="020B0502050000020003" pitchFamily="34" charset="0"/>
              </a:rPr>
              <a:t>Sūmer</a:t>
            </a:r>
            <a:r>
              <a:rPr lang="en-US" dirty="0">
                <a:solidFill>
                  <a:srgbClr val="D8A03D"/>
                </a:solidFill>
                <a:latin typeface="Quattrocento Sans" panose="020B0502050000020003" pitchFamily="34" charset="0"/>
              </a:rPr>
              <a:t> Sports 2026 Analytics Competition</a:t>
            </a:r>
          </a:p>
          <a:p>
            <a:pPr algn="ctr"/>
            <a:r>
              <a:rPr lang="en-US" dirty="0">
                <a:solidFill>
                  <a:srgbClr val="DEE0E4"/>
                </a:solidFill>
                <a:latin typeface="Quattrocento Sans" panose="020B0502050000020003" pitchFamily="34" charset="0"/>
              </a:rPr>
              <a:t>Submission by Dan Falkenheim (@</a:t>
            </a:r>
            <a:r>
              <a:rPr lang="en-US" dirty="0" err="1">
                <a:solidFill>
                  <a:srgbClr val="DEE0E4"/>
                </a:solidFill>
                <a:latin typeface="Quattrocento Sans" panose="020B0502050000020003" pitchFamily="34" charset="0"/>
              </a:rPr>
              <a:t>thefalkon</a:t>
            </a:r>
            <a:r>
              <a:rPr lang="en-US" dirty="0">
                <a:solidFill>
                  <a:srgbClr val="DEE0E4"/>
                </a:solidFill>
                <a:latin typeface="Quattrocento Sans" panose="020B0502050000020003" pitchFamily="34" charset="0"/>
              </a:rPr>
              <a:t>)</a:t>
            </a:r>
          </a:p>
        </p:txBody>
      </p:sp>
    </p:spTree>
    <p:extLst>
      <p:ext uri="{BB962C8B-B14F-4D97-AF65-F5344CB8AC3E}">
        <p14:creationId xmlns:p14="http://schemas.microsoft.com/office/powerpoint/2010/main" val="2238663868"/>
      </p:ext>
    </p:extLst>
  </p:cSld>
  <p:clrMapOvr>
    <a:masterClrMapping/>
  </p:clrMapOvr>
  <p:transition>
    <p:fade/>
  </p:transition>
</p:sld>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1311</TotalTime>
  <Words>2599</Words>
  <Application>Microsoft Macintosh PowerPoint</Application>
  <PresentationFormat>Widescreen</PresentationFormat>
  <Paragraphs>340</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Quattrocento Sans</vt:lpstr>
      <vt:lpstr>Arial</vt:lpstr>
      <vt:lpstr>Liter</vt:lpstr>
      <vt:lpstr>Custom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Sumer x Shrine Analytics Competition</dc:title>
  <dc:subject>Sumer x Shrine Analytics Competition</dc:subject>
  <dc:creator>Kimi</dc:creator>
  <cp:lastModifiedBy>Falkenheim, Daniel J</cp:lastModifiedBy>
  <cp:revision>10</cp:revision>
  <dcterms:created xsi:type="dcterms:W3CDTF">2026-01-11T01:34:34Z</dcterms:created>
  <dcterms:modified xsi:type="dcterms:W3CDTF">2026-01-11T23:33:16Z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{"Label":"Sumer x Shrine Analytics Competition","ContentProducer":"001191110108MACG2KBH8F10000","ProduceID":"19baa8bf-0192-866b-8000-0000f9dd9b67","ReservedCode1":"","ContentPropagator":"001191110108MACG2KBH8F20000","PropagateID":"19baa8bf-0192-866b-8000-0000f9dd9b67","ReservedCode2":""}</vt:lpwstr>
  </property>
</Properties>
</file>